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2"/>
  </p:notesMasterIdLst>
  <p:sldIdLst>
    <p:sldId id="509" r:id="rId4"/>
    <p:sldId id="264" r:id="rId5"/>
    <p:sldId id="511" r:id="rId6"/>
    <p:sldId id="513" r:id="rId7"/>
    <p:sldId id="514" r:id="rId8"/>
    <p:sldId id="518" r:id="rId9"/>
    <p:sldId id="519" r:id="rId10"/>
    <p:sldId id="520" r:id="rId11"/>
    <p:sldId id="521" r:id="rId12"/>
    <p:sldId id="515" r:id="rId13"/>
    <p:sldId id="516" r:id="rId14"/>
    <p:sldId id="517" r:id="rId15"/>
    <p:sldId id="523" r:id="rId16"/>
    <p:sldId id="525" r:id="rId17"/>
    <p:sldId id="526" r:id="rId18"/>
    <p:sldId id="527" r:id="rId19"/>
    <p:sldId id="528" r:id="rId20"/>
    <p:sldId id="510" r:id="rId21"/>
  </p:sldIdLst>
  <p:sldSz cx="9144000" cy="51435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7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 磊" initials="徐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641"/>
    <p:restoredTop sz="93415"/>
  </p:normalViewPr>
  <p:slideViewPr>
    <p:cSldViewPr snapToGrid="0" showGuides="1">
      <p:cViewPr varScale="1">
        <p:scale>
          <a:sx n="143" d="100"/>
          <a:sy n="143" d="100"/>
        </p:scale>
        <p:origin x="1086" y="120"/>
      </p:cViewPr>
      <p:guideLst>
        <p:guide orient="horz" pos="1697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50:16.693" idx="2">
    <p:pos x="10" y="10"/>
    <p:text>目前新系统功能未实现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48:13.840" idx="1">
    <p:pos x="10" y="10"/>
    <p:text>这里面有未脱密数据，请注意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50:38.932" idx="3">
    <p:pos x="10" y="10"/>
    <p:text>目前新系统功能未实现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50:45.172" idx="4">
    <p:pos x="10" y="10"/>
    <p:text>目前新系统功能未实现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50:49.249" idx="5">
    <p:pos x="10" y="10"/>
    <p:text>目前新系统功能未实现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18T00:50:54.755" idx="6">
    <p:pos x="10" y="10"/>
    <p:text>目前新系统功能未实现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5605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1C36EFC-E3C2-412F-95BB-9D4A1F0E750E}" type="slidenum">
              <a:rPr kumimoji="0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lvl="1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lvl="2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lvl="3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lvl="4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lvl="5" indent="0">
      <a:defRPr sz="1200" kern="1200">
        <a:latin typeface="+mn-lt"/>
        <a:ea typeface="+mn-ea"/>
        <a:cs typeface="+mn-cs"/>
      </a:defRPr>
    </a:lvl6pPr>
    <a:lvl7pPr marL="2743200" lvl="6" indent="0">
      <a:defRPr sz="1200" kern="1200">
        <a:latin typeface="+mn-lt"/>
        <a:ea typeface="+mn-ea"/>
        <a:cs typeface="+mn-cs"/>
      </a:defRPr>
    </a:lvl7pPr>
    <a:lvl8pPr marL="3200400" lvl="7" indent="0">
      <a:defRPr sz="1200" kern="1200">
        <a:latin typeface="+mn-lt"/>
        <a:ea typeface="+mn-ea"/>
        <a:cs typeface="+mn-cs"/>
      </a:defRPr>
    </a:lvl8pPr>
    <a:lvl9pPr marL="3657600" lvl="8" indent="0">
      <a:defRPr sz="1200" kern="1200"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2" y="841921"/>
            <a:ext cx="6858010" cy="179101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2" y="2702005"/>
            <a:ext cx="6858010" cy="1242041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860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30"/>
            <a:ext cx="7886712" cy="213993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705"/>
            <a:ext cx="7886712" cy="112533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8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1" y="1369460"/>
            <a:ext cx="3886206" cy="326408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7" y="1369460"/>
            <a:ext cx="3886206" cy="326408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273892"/>
            <a:ext cx="7886712" cy="99434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4064"/>
            <a:ext cx="3655186" cy="618043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860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387"/>
            <a:ext cx="3655186" cy="264368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11" y="1334064"/>
            <a:ext cx="3673187" cy="618043"/>
          </a:xfrm>
        </p:spPr>
        <p:txBody>
          <a:bodyPr anchor="ctr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860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11" y="1999387"/>
            <a:ext cx="3673187" cy="264368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342961"/>
            <a:ext cx="2949182" cy="120036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7" y="740699"/>
            <a:ext cx="4629157" cy="365586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2" y="1543322"/>
            <a:ext cx="2949182" cy="285919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860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342961"/>
            <a:ext cx="3124016" cy="120036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7" y="342961"/>
            <a:ext cx="4629157" cy="405360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860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2" y="1543322"/>
            <a:ext cx="3124016" cy="2859196"/>
          </a:xfr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860" indent="0">
              <a:buNone/>
              <a:defRPr sz="790"/>
            </a:lvl8pPr>
            <a:lvl9pPr marL="2058035" indent="0">
              <a:buNone/>
              <a:defRPr sz="79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85" y="273892"/>
            <a:ext cx="1971678" cy="435964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273892"/>
            <a:ext cx="5800734" cy="435964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2" y="841921"/>
            <a:ext cx="6858010" cy="1791016"/>
          </a:xfrm>
          <a:prstGeom prst="rect">
            <a:avLst/>
          </a:prstGeo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2" y="2702005"/>
            <a:ext cx="6858010" cy="12420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860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6253"/>
            <a:ext cx="8229612" cy="857401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200362"/>
            <a:ext cx="8229612" cy="33953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30"/>
            <a:ext cx="7886712" cy="2139930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705"/>
            <a:ext cx="7886712" cy="11253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8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6253"/>
            <a:ext cx="8229612" cy="857401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1" y="1369460"/>
            <a:ext cx="3886206" cy="3264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7" y="1369460"/>
            <a:ext cx="3886206" cy="3264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273892"/>
            <a:ext cx="7886712" cy="99434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4064"/>
            <a:ext cx="3655186" cy="61804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860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387"/>
            <a:ext cx="3655186" cy="2643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11" y="1334064"/>
            <a:ext cx="3673187" cy="61804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575"/>
            </a:lvl1pPr>
            <a:lvl2pPr marL="257175" indent="0">
              <a:buNone/>
              <a:defRPr sz="1350"/>
            </a:lvl2pPr>
            <a:lvl3pPr marL="514350" indent="0">
              <a:buNone/>
              <a:defRPr sz="1125"/>
            </a:lvl3pPr>
            <a:lvl4pPr marL="771525" indent="0">
              <a:buNone/>
              <a:defRPr sz="1015"/>
            </a:lvl4pPr>
            <a:lvl5pPr marL="1028700" indent="0">
              <a:buNone/>
              <a:defRPr sz="1015"/>
            </a:lvl5pPr>
            <a:lvl6pPr marL="1285875" indent="0">
              <a:buNone/>
              <a:defRPr sz="1015"/>
            </a:lvl6pPr>
            <a:lvl7pPr marL="1543050" indent="0">
              <a:buNone/>
              <a:defRPr sz="1015"/>
            </a:lvl7pPr>
            <a:lvl8pPr marL="1800860" indent="0">
              <a:buNone/>
              <a:defRPr sz="1015"/>
            </a:lvl8pPr>
            <a:lvl9pPr marL="2058035" indent="0">
              <a:buNone/>
              <a:defRPr sz="101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11" y="1999387"/>
            <a:ext cx="3673187" cy="2643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6253"/>
            <a:ext cx="8229612" cy="857401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342961"/>
            <a:ext cx="2949182" cy="1200362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7" y="740699"/>
            <a:ext cx="4629157" cy="3655864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2" y="1543322"/>
            <a:ext cx="2949182" cy="2859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860" indent="0">
              <a:buNone/>
              <a:defRPr sz="565"/>
            </a:lvl8pPr>
            <a:lvl9pPr marL="2058035" indent="0">
              <a:buNone/>
              <a:defRPr sz="56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2" y="342961"/>
            <a:ext cx="3124016" cy="1200362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7" y="342961"/>
            <a:ext cx="4629157" cy="40536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860" indent="0">
              <a:buNone/>
              <a:defRPr sz="1125"/>
            </a:lvl8pPr>
            <a:lvl9pPr marL="2058035" indent="0">
              <a:buNone/>
              <a:defRPr sz="1125"/>
            </a:lvl9pPr>
          </a:lstStyle>
          <a:p>
            <a:pPr marL="0" marR="0" lvl="0" indent="0" algn="just" defTabSz="514350" rtl="0" eaLnBrk="0" fontAlgn="base" latinLnBrk="0" hangingPunct="0">
              <a:lnSpc>
                <a:spcPct val="110000"/>
              </a:lnSpc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2" y="1543322"/>
            <a:ext cx="3124016" cy="2859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/>
            </a:lvl1pPr>
            <a:lvl2pPr marL="257175" indent="0">
              <a:buNone/>
              <a:defRPr sz="1015"/>
            </a:lvl2pPr>
            <a:lvl3pPr marL="514350" indent="0">
              <a:buNone/>
              <a:defRPr sz="900"/>
            </a:lvl3pPr>
            <a:lvl4pPr marL="771525" indent="0">
              <a:buNone/>
              <a:defRPr sz="790"/>
            </a:lvl4pPr>
            <a:lvl5pPr marL="1028700" indent="0">
              <a:buNone/>
              <a:defRPr sz="790"/>
            </a:lvl5pPr>
            <a:lvl6pPr marL="1285875" indent="0">
              <a:buNone/>
              <a:defRPr sz="790"/>
            </a:lvl6pPr>
            <a:lvl7pPr marL="1543050" indent="0">
              <a:buNone/>
              <a:defRPr sz="790"/>
            </a:lvl7pPr>
            <a:lvl8pPr marL="1800860" indent="0">
              <a:buNone/>
              <a:defRPr sz="790"/>
            </a:lvl8pPr>
            <a:lvl9pPr marL="2058035" indent="0">
              <a:buNone/>
              <a:defRPr sz="79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6253"/>
            <a:ext cx="8229612" cy="857401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1200362"/>
            <a:ext cx="8229612" cy="339530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85" y="273892"/>
            <a:ext cx="1971678" cy="435964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273892"/>
            <a:ext cx="5800734" cy="435964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850"/>
            <a:ext cx="2057400" cy="2730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kumimoji="1" sz="90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850"/>
            <a:ext cx="3086100" cy="2730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kumimoji="1" sz="90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850"/>
            <a:ext cx="2057400" cy="2730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4E0DCA-4CC5-4F1C-BF8D-50278D21295F}" type="slidenum">
              <a:rPr kumimoji="0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  <a:sym typeface="Calibri" panose="020F0502020204030204" pitchFamily="34" charset="0"/>
        </a:defRPr>
      </a:lvl1pPr>
      <a:lvl2pPr marL="514350" lvl="1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  <a:sym typeface="Calibri" panose="020F0502020204030204" pitchFamily="34" charset="0"/>
        </a:defRPr>
      </a:lvl2pPr>
      <a:lvl3pPr marL="857250" lvl="2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  <a:sym typeface="Calibri" panose="020F0502020204030204" pitchFamily="34" charset="0"/>
        </a:defRPr>
      </a:lvl3pPr>
      <a:lvl4pPr marL="1200150" lvl="3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  <a:sym typeface="Calibri" panose="020F0502020204030204" pitchFamily="34" charset="0"/>
        </a:defRPr>
      </a:lvl4pPr>
      <a:lvl5pPr marL="1543050" lvl="4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  <a:sym typeface="Calibri" panose="020F0502020204030204" pitchFamily="34" charset="0"/>
        </a:defRPr>
      </a:lvl5pPr>
      <a:lvl6pPr marL="1886585" lvl="5" indent="-170815" algn="l" defTabSz="685800" eaLnBrk="1" fontAlgn="base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229485" lvl="6" indent="-170815" algn="l" defTabSz="685800" eaLnBrk="1" fontAlgn="base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2572385" lvl="7" indent="-170815" algn="l" defTabSz="685800" eaLnBrk="1" fontAlgn="base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2915285" lvl="8" indent="-170815" algn="l" defTabSz="685800" eaLnBrk="1" fontAlgn="base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6"/>
          <p:cNvGrpSpPr/>
          <p:nvPr/>
        </p:nvGrpSpPr>
        <p:grpSpPr>
          <a:xfrm>
            <a:off x="0" y="0"/>
            <a:ext cx="9144000" cy="5154613"/>
            <a:chOff x="0" y="0"/>
            <a:chExt cx="9144000" cy="6870700"/>
          </a:xfrm>
        </p:grpSpPr>
        <p:sp>
          <p:nvSpPr>
            <p:cNvPr id="13321" name="矩形 7"/>
            <p:cNvSpPr>
              <a:spLocks noChangeArrowheads="1"/>
            </p:cNvSpPr>
            <p:nvPr/>
          </p:nvSpPr>
          <p:spPr bwMode="auto">
            <a:xfrm>
              <a:off x="0" y="0"/>
              <a:ext cx="9144000" cy="685800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组合 9"/>
            <p:cNvGrpSpPr/>
            <p:nvPr userDrawn="1"/>
          </p:nvGrpSpPr>
          <p:grpSpPr>
            <a:xfrm>
              <a:off x="0" y="6677025"/>
              <a:ext cx="9144000" cy="193675"/>
              <a:chOff x="0" y="0"/>
              <a:chExt cx="12180336" cy="144000"/>
            </a:xfrm>
          </p:grpSpPr>
          <p:sp>
            <p:nvSpPr>
              <p:cNvPr id="13323" name="矩形 10"/>
              <p:cNvSpPr>
                <a:spLocks noChangeArrowheads="1"/>
              </p:cNvSpPr>
              <p:nvPr/>
            </p:nvSpPr>
            <p:spPr bwMode="auto">
              <a:xfrm>
                <a:off x="0" y="-742"/>
                <a:ext cx="3059887" cy="144742"/>
              </a:xfrm>
              <a:prstGeom prst="rect">
                <a:avLst/>
              </a:prstGeom>
              <a:solidFill>
                <a:srgbClr val="ADB6C7"/>
              </a:solidFill>
              <a:ln>
                <a:noFill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4" name="矩形 11"/>
              <p:cNvSpPr>
                <a:spLocks noChangeArrowheads="1"/>
              </p:cNvSpPr>
              <p:nvPr/>
            </p:nvSpPr>
            <p:spPr bwMode="auto">
              <a:xfrm>
                <a:off x="3047199" y="-742"/>
                <a:ext cx="3036625" cy="144742"/>
              </a:xfrm>
              <a:prstGeom prst="rect">
                <a:avLst/>
              </a:prstGeom>
              <a:solidFill>
                <a:srgbClr val="087AC0"/>
              </a:solidFill>
              <a:ln>
                <a:noFill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5" name="矩形 12"/>
              <p:cNvSpPr>
                <a:spLocks noChangeArrowheads="1"/>
              </p:cNvSpPr>
              <p:nvPr/>
            </p:nvSpPr>
            <p:spPr bwMode="auto">
              <a:xfrm>
                <a:off x="6073251" y="-742"/>
                <a:ext cx="3059887" cy="144742"/>
              </a:xfrm>
              <a:prstGeom prst="rect">
                <a:avLst/>
              </a:prstGeom>
              <a:solidFill>
                <a:srgbClr val="CBD1DB"/>
              </a:solidFill>
              <a:ln>
                <a:noFill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6" name="矩形 13"/>
              <p:cNvSpPr>
                <a:spLocks noChangeArrowheads="1"/>
              </p:cNvSpPr>
              <p:nvPr/>
            </p:nvSpPr>
            <p:spPr bwMode="auto">
              <a:xfrm>
                <a:off x="9120450" y="-742"/>
                <a:ext cx="3059886" cy="144742"/>
              </a:xfrm>
              <a:prstGeom prst="rect">
                <a:avLst/>
              </a:prstGeom>
              <a:solidFill>
                <a:srgbClr val="99CC00"/>
              </a:solidFill>
              <a:ln>
                <a:noFill/>
              </a:ln>
            </p:spPr>
            <p:txBody>
              <a:bodyPr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057" name="KSO_FD"/>
          <p:cNvSpPr>
            <a:spLocks noGrp="1"/>
          </p:cNvSpPr>
          <p:nvPr>
            <p:ph type="dt" sz="half" idx="2"/>
          </p:nvPr>
        </p:nvSpPr>
        <p:spPr>
          <a:xfrm>
            <a:off x="628650" y="4840288"/>
            <a:ext cx="2057400" cy="2730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kumimoji="1" sz="9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51400"/>
            <a:ext cx="3086100" cy="274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kumimoji="1" sz="9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9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40288"/>
            <a:ext cx="2057400" cy="2730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224A07-4DB3-44AF-AFAD-8B961D482A7B}" type="slidenum">
              <a:rPr kumimoji="0" altLang="zh-CN" sz="9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312738" y="127000"/>
            <a:ext cx="595313" cy="527050"/>
          </a:xfrm>
          <a:prstGeom prst="rect">
            <a:avLst/>
          </a:prstGeom>
          <a:solidFill>
            <a:srgbClr val="0070C0"/>
          </a:solidFill>
          <a:ln w="25400">
            <a:solidFill>
              <a:schemeClr val="bg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直接连接符 7"/>
          <p:cNvSpPr/>
          <p:nvPr userDrawn="1"/>
        </p:nvSpPr>
        <p:spPr>
          <a:xfrm flipV="1">
            <a:off x="231775" y="695325"/>
            <a:ext cx="8596313" cy="17463"/>
          </a:xfrm>
          <a:prstGeom prst="line">
            <a:avLst/>
          </a:prstGeom>
          <a:ln w="25400" cap="flat" cmpd="sng">
            <a:solidFill>
              <a:srgbClr val="7F7F7F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chemeClr val="accent1"/>
          </a:solidFill>
          <a:latin typeface="+mj-lt"/>
          <a:ea typeface="宋体" panose="02010600030101010101" pitchFamily="2" charset="-122"/>
          <a:cs typeface="宋体" panose="02010600030101010101" pitchFamily="2" charset="-122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271780" indent="-271780" algn="just" defTabSz="514350" rtl="0" eaLnBrk="0" fontAlgn="base" hangingPunct="0">
        <a:lnSpc>
          <a:spcPct val="110000"/>
        </a:lnSpc>
        <a:spcBef>
          <a:spcPts val="9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3200" b="1" kern="1200">
          <a:solidFill>
            <a:schemeClr val="accent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1pPr>
      <a:lvl2pPr marL="271780" lvl="1" indent="-271780" algn="l" defTabSz="514350" rtl="0" eaLnBrk="0" fontAlgn="base" hangingPunct="0">
        <a:lnSpc>
          <a:spcPct val="120000"/>
        </a:lnSpc>
        <a:spcBef>
          <a:spcPct val="0"/>
        </a:spcBef>
        <a:spcAft>
          <a:spcPts val="1200"/>
        </a:spcAft>
        <a:buClr>
          <a:srgbClr val="A6A1E0"/>
        </a:buClr>
        <a:buFont typeface="幼圆" panose="02010509060101010101" pitchFamily="49" charset="-122"/>
        <a:buChar char=" "/>
        <a:defRPr sz="12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2pPr>
      <a:lvl3pPr marL="643255" lvl="2" indent="-128905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3pPr>
      <a:lvl4pPr marL="900430" lvl="3" indent="-128905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4pPr>
      <a:lvl5pPr marL="1157605" lvl="4" indent="-128905" algn="l" defTabSz="514350" rtl="0" eaLnBrk="0" fontAlgn="base" hangingPunct="0">
        <a:lnSpc>
          <a:spcPct val="90000"/>
        </a:lnSpc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5pPr>
      <a:lvl6pPr marL="1886585" lvl="5" indent="-170815" algn="l" defTabSz="514350" eaLnBrk="1" fontAlgn="base" latinLnBrk="0" hangingPunct="1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229485" lvl="6" indent="-170815" algn="l" defTabSz="514350" eaLnBrk="1" fontAlgn="base" latinLnBrk="0" hangingPunct="1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72385" lvl="7" indent="-170815" algn="l" defTabSz="514350" eaLnBrk="1" fontAlgn="base" latinLnBrk="0" hangingPunct="1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15285" lvl="8" indent="-170815" algn="l" defTabSz="514350" eaLnBrk="1" fontAlgn="base" latinLnBrk="0" hangingPunct="1">
        <a:lnSpc>
          <a:spcPct val="90000"/>
        </a:lnSpc>
        <a:spcBef>
          <a:spcPts val="280"/>
        </a:spcBef>
        <a:spcAft>
          <a:spcPct val="0"/>
        </a:spcAft>
        <a:buFont typeface="Arial" panose="020B0604020202020204" pitchFamily="34" charset="0"/>
        <a:buChar char="•"/>
        <a:defRPr sz="97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lvl="1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lvl="2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028700" lvl="3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lvl="4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14500" lvl="5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8035" lvl="6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935" lvl="7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835" lvl="8" indent="0" algn="l" defTabSz="6858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098" name="组合 4097"/>
          <p:cNvGrpSpPr/>
          <p:nvPr/>
        </p:nvGrpSpPr>
        <p:grpSpPr>
          <a:xfrm>
            <a:off x="3236913" y="-3175"/>
            <a:ext cx="2606675" cy="752475"/>
            <a:chOff x="0" y="0"/>
            <a:chExt cx="4104" cy="2250"/>
          </a:xfrm>
        </p:grpSpPr>
        <p:sp>
          <p:nvSpPr>
            <p:cNvPr id="4104" name="椭圆 16"/>
            <p:cNvSpPr/>
            <p:nvPr/>
          </p:nvSpPr>
          <p:spPr>
            <a:xfrm>
              <a:off x="0" y="1224"/>
              <a:ext cx="1026" cy="1026"/>
            </a:xfrm>
            <a:prstGeom prst="ellipse">
              <a:avLst/>
            </a:prstGeom>
            <a:solidFill>
              <a:srgbClr val="ADB6C7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5" name="矩形 17"/>
            <p:cNvSpPr/>
            <p:nvPr/>
          </p:nvSpPr>
          <p:spPr>
            <a:xfrm>
              <a:off x="0" y="0"/>
              <a:ext cx="1026" cy="1737"/>
            </a:xfrm>
            <a:prstGeom prst="rect">
              <a:avLst/>
            </a:prstGeom>
            <a:solidFill>
              <a:srgbClr val="ADB6C7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6" name="椭圆 18"/>
            <p:cNvSpPr/>
            <p:nvPr/>
          </p:nvSpPr>
          <p:spPr>
            <a:xfrm>
              <a:off x="1026" y="1224"/>
              <a:ext cx="1026" cy="1026"/>
            </a:xfrm>
            <a:prstGeom prst="ellipse">
              <a:avLst/>
            </a:prstGeom>
            <a:solidFill>
              <a:srgbClr val="097FC8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7" name="矩形 19"/>
            <p:cNvSpPr/>
            <p:nvPr/>
          </p:nvSpPr>
          <p:spPr>
            <a:xfrm>
              <a:off x="1026" y="0"/>
              <a:ext cx="1026" cy="1737"/>
            </a:xfrm>
            <a:prstGeom prst="rect">
              <a:avLst/>
            </a:prstGeom>
            <a:solidFill>
              <a:srgbClr val="097FC8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8" name="椭圆 20"/>
            <p:cNvSpPr/>
            <p:nvPr/>
          </p:nvSpPr>
          <p:spPr>
            <a:xfrm>
              <a:off x="2052" y="1224"/>
              <a:ext cx="1026" cy="1026"/>
            </a:xfrm>
            <a:prstGeom prst="ellipse">
              <a:avLst/>
            </a:prstGeom>
            <a:solidFill>
              <a:srgbClr val="CBD1DB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9" name="矩形 21"/>
            <p:cNvSpPr/>
            <p:nvPr/>
          </p:nvSpPr>
          <p:spPr>
            <a:xfrm>
              <a:off x="2052" y="0"/>
              <a:ext cx="1026" cy="1737"/>
            </a:xfrm>
            <a:prstGeom prst="rect">
              <a:avLst/>
            </a:prstGeom>
            <a:solidFill>
              <a:srgbClr val="CBD1DB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10" name="椭圆 22"/>
            <p:cNvSpPr/>
            <p:nvPr/>
          </p:nvSpPr>
          <p:spPr>
            <a:xfrm>
              <a:off x="3078" y="1224"/>
              <a:ext cx="1027" cy="1026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90170" tIns="46990" rIns="90170" bIns="46990"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11" name="矩形 23"/>
            <p:cNvSpPr/>
            <p:nvPr/>
          </p:nvSpPr>
          <p:spPr>
            <a:xfrm>
              <a:off x="3078" y="0"/>
              <a:ext cx="1027" cy="1737"/>
            </a:xfrm>
            <a:prstGeom prst="rect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90170" tIns="46990" rIns="90170" bIns="46990"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099" name="KSO_BT1"/>
          <p:cNvSpPr>
            <a:spLocks noGrp="1"/>
          </p:cNvSpPr>
          <p:nvPr/>
        </p:nvSpPr>
        <p:spPr>
          <a:xfrm>
            <a:off x="3481388" y="1722438"/>
            <a:ext cx="5465762" cy="835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1" hangingPunct="1">
              <a:lnSpc>
                <a:spcPct val="9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ITSM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运维服务管理平台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01" name="图片 62" descr="移动互联矢量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2888"/>
            <a:ext cx="3349625" cy="3913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KSO_BT1"/>
          <p:cNvSpPr>
            <a:spLocks noGrp="1"/>
          </p:cNvSpPr>
          <p:nvPr/>
        </p:nvSpPr>
        <p:spPr>
          <a:xfrm>
            <a:off x="5573713" y="2414588"/>
            <a:ext cx="3354387" cy="835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系统介绍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03" name="图片 1" descr="logo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3910013"/>
            <a:ext cx="642938" cy="642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文本框 7"/>
          <p:cNvSpPr/>
          <p:nvPr/>
        </p:nvSpPr>
        <p:spPr>
          <a:xfrm>
            <a:off x="1085850" y="130175"/>
            <a:ext cx="893763" cy="5476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2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3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grpSp>
        <p:nvGrpSpPr>
          <p:cNvPr id="5124" name="组合 2"/>
          <p:cNvGrpSpPr/>
          <p:nvPr/>
        </p:nvGrpSpPr>
        <p:grpSpPr>
          <a:xfrm>
            <a:off x="760413" y="1517650"/>
            <a:ext cx="7469187" cy="2414588"/>
            <a:chOff x="569626" y="1148076"/>
            <a:chExt cx="6963190" cy="2414588"/>
          </a:xfrm>
        </p:grpSpPr>
        <p:grpSp>
          <p:nvGrpSpPr>
            <p:cNvPr id="5126" name="Group 34"/>
            <p:cNvGrpSpPr/>
            <p:nvPr/>
          </p:nvGrpSpPr>
          <p:grpSpPr>
            <a:xfrm>
              <a:off x="569626" y="1148076"/>
              <a:ext cx="2629515" cy="665162"/>
              <a:chOff x="0" y="0"/>
              <a:chExt cx="1864" cy="419"/>
            </a:xfrm>
          </p:grpSpPr>
          <p:grpSp>
            <p:nvGrpSpPr>
              <p:cNvPr id="5150" name="Group 2"/>
              <p:cNvGrpSpPr/>
              <p:nvPr/>
            </p:nvGrpSpPr>
            <p:grpSpPr>
              <a:xfrm>
                <a:off x="0" y="0"/>
                <a:ext cx="480" cy="419"/>
                <a:chOff x="0" y="0"/>
                <a:chExt cx="1549" cy="1351"/>
              </a:xfrm>
            </p:grpSpPr>
            <p:sp>
              <p:nvSpPr>
                <p:cNvPr id="5153" name="AutoShape 3"/>
                <p:cNvSpPr/>
                <p:nvPr/>
              </p:nvSpPr>
              <p:spPr>
                <a:xfrm>
                  <a:off x="13" y="23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54" name="AutoShape 4"/>
                <p:cNvSpPr/>
                <p:nvPr/>
              </p:nvSpPr>
              <p:spPr>
                <a:xfrm>
                  <a:off x="0" y="0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gradFill rotWithShape="1">
                  <a:gsLst>
                    <a:gs pos="0">
                      <a:srgbClr val="E6E6E6">
                        <a:alpha val="100000"/>
                      </a:srgbClr>
                    </a:gs>
                    <a:gs pos="7498">
                      <a:srgbClr val="7D8496">
                        <a:alpha val="100000"/>
                      </a:srgbClr>
                    </a:gs>
                    <a:gs pos="26500">
                      <a:srgbClr val="E6E6E6">
                        <a:alpha val="100000"/>
                      </a:srgbClr>
                    </a:gs>
                    <a:gs pos="34000">
                      <a:srgbClr val="7D8496">
                        <a:alpha val="100000"/>
                      </a:srgbClr>
                    </a:gs>
                    <a:gs pos="46500">
                      <a:srgbClr val="E6E6E6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53500">
                      <a:srgbClr val="E6E6E6">
                        <a:alpha val="100000"/>
                      </a:srgbClr>
                    </a:gs>
                    <a:gs pos="66000">
                      <a:srgbClr val="7D8496">
                        <a:alpha val="100000"/>
                      </a:srgbClr>
                    </a:gs>
                    <a:gs pos="73500">
                      <a:srgbClr val="E6E6E6">
                        <a:alpha val="100000"/>
                      </a:srgbClr>
                    </a:gs>
                    <a:gs pos="92502">
                      <a:srgbClr val="7D8496">
                        <a:alpha val="100000"/>
                      </a:srgbClr>
                    </a:gs>
                    <a:gs pos="100000">
                      <a:srgbClr val="E6E6E6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rgbClr val="C0C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55" name="AutoShape 5"/>
                <p:cNvSpPr/>
                <p:nvPr/>
              </p:nvSpPr>
              <p:spPr>
                <a:xfrm>
                  <a:off x="90" y="80"/>
                  <a:ext cx="1350" cy="1168"/>
                </a:xfrm>
                <a:prstGeom prst="hexagon">
                  <a:avLst>
                    <a:gd name="adj" fmla="val 28895"/>
                    <a:gd name="vf" fmla="val 115470"/>
                  </a:avLst>
                </a:prstGeom>
                <a:gradFill rotWithShape="1">
                  <a:gsLst>
                    <a:gs pos="0">
                      <a:srgbClr val="3399FF">
                        <a:alpha val="100000"/>
                      </a:srgbClr>
                    </a:gs>
                    <a:gs pos="64999">
                      <a:srgbClr val="3399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</p:grpSp>
          <p:sp>
            <p:nvSpPr>
              <p:cNvPr id="5151" name="Text Box 11"/>
              <p:cNvSpPr/>
              <p:nvPr/>
            </p:nvSpPr>
            <p:spPr>
              <a:xfrm>
                <a:off x="793" y="48"/>
                <a:ext cx="107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系统介绍</a:t>
                </a:r>
                <a:endParaRPr lang="zh-CN" altLang="en-US" sz="2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52" name="Text Box 12"/>
              <p:cNvSpPr/>
              <p:nvPr/>
            </p:nvSpPr>
            <p:spPr>
              <a:xfrm>
                <a:off x="124" y="62"/>
                <a:ext cx="22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1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27" name="Group 35"/>
            <p:cNvGrpSpPr/>
            <p:nvPr/>
          </p:nvGrpSpPr>
          <p:grpSpPr>
            <a:xfrm>
              <a:off x="569626" y="2076763"/>
              <a:ext cx="2622463" cy="665163"/>
              <a:chOff x="0" y="0"/>
              <a:chExt cx="1859" cy="419"/>
            </a:xfrm>
          </p:grpSpPr>
          <p:grpSp>
            <p:nvGrpSpPr>
              <p:cNvPr id="5144" name="Group 6"/>
              <p:cNvGrpSpPr/>
              <p:nvPr/>
            </p:nvGrpSpPr>
            <p:grpSpPr>
              <a:xfrm>
                <a:off x="0" y="0"/>
                <a:ext cx="480" cy="419"/>
                <a:chOff x="0" y="0"/>
                <a:chExt cx="1549" cy="1351"/>
              </a:xfrm>
            </p:grpSpPr>
            <p:sp>
              <p:nvSpPr>
                <p:cNvPr id="5147" name="AutoShape 7"/>
                <p:cNvSpPr/>
                <p:nvPr/>
              </p:nvSpPr>
              <p:spPr>
                <a:xfrm>
                  <a:off x="13" y="23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48" name="AutoShape 8"/>
                <p:cNvSpPr/>
                <p:nvPr/>
              </p:nvSpPr>
              <p:spPr>
                <a:xfrm>
                  <a:off x="0" y="0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gradFill rotWithShape="1">
                  <a:gsLst>
                    <a:gs pos="0">
                      <a:srgbClr val="E6E6E6">
                        <a:alpha val="100000"/>
                      </a:srgbClr>
                    </a:gs>
                    <a:gs pos="7498">
                      <a:srgbClr val="7D8496">
                        <a:alpha val="100000"/>
                      </a:srgbClr>
                    </a:gs>
                    <a:gs pos="26500">
                      <a:srgbClr val="E6E6E6">
                        <a:alpha val="100000"/>
                      </a:srgbClr>
                    </a:gs>
                    <a:gs pos="34000">
                      <a:srgbClr val="7D8496">
                        <a:alpha val="100000"/>
                      </a:srgbClr>
                    </a:gs>
                    <a:gs pos="46500">
                      <a:srgbClr val="E6E6E6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53500">
                      <a:srgbClr val="E6E6E6">
                        <a:alpha val="100000"/>
                      </a:srgbClr>
                    </a:gs>
                    <a:gs pos="66000">
                      <a:srgbClr val="7D8496">
                        <a:alpha val="100000"/>
                      </a:srgbClr>
                    </a:gs>
                    <a:gs pos="73500">
                      <a:srgbClr val="E6E6E6">
                        <a:alpha val="100000"/>
                      </a:srgbClr>
                    </a:gs>
                    <a:gs pos="92502">
                      <a:srgbClr val="7D8496">
                        <a:alpha val="100000"/>
                      </a:srgbClr>
                    </a:gs>
                    <a:gs pos="100000">
                      <a:srgbClr val="E6E6E6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rgbClr val="C0C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49" name="AutoShape 9"/>
                <p:cNvSpPr/>
                <p:nvPr/>
              </p:nvSpPr>
              <p:spPr>
                <a:xfrm>
                  <a:off x="90" y="80"/>
                  <a:ext cx="1350" cy="1168"/>
                </a:xfrm>
                <a:prstGeom prst="hexagon">
                  <a:avLst>
                    <a:gd name="adj" fmla="val 28895"/>
                    <a:gd name="vf" fmla="val 115470"/>
                  </a:avLst>
                </a:prstGeom>
                <a:gradFill rotWithShape="1">
                  <a:gsLst>
                    <a:gs pos="0">
                      <a:srgbClr val="472F74"/>
                    </a:gs>
                    <a:gs pos="100000">
                      <a:srgbClr val="9966FF"/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</p:grpSp>
          <p:sp>
            <p:nvSpPr>
              <p:cNvPr id="5145" name="Text Box 14"/>
              <p:cNvSpPr/>
              <p:nvPr/>
            </p:nvSpPr>
            <p:spPr>
              <a:xfrm>
                <a:off x="788" y="48"/>
                <a:ext cx="107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总体架构</a:t>
                </a:r>
                <a:endParaRPr lang="zh-CN" altLang="en-US" sz="2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46" name="Text Box 15"/>
              <p:cNvSpPr/>
              <p:nvPr/>
            </p:nvSpPr>
            <p:spPr>
              <a:xfrm>
                <a:off x="124" y="62"/>
                <a:ext cx="235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3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28" name="Text Box 18"/>
            <p:cNvSpPr/>
            <p:nvPr/>
          </p:nvSpPr>
          <p:spPr>
            <a:xfrm>
              <a:off x="744551" y="3105464"/>
              <a:ext cx="313172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129" name="Group 35"/>
            <p:cNvGrpSpPr/>
            <p:nvPr/>
          </p:nvGrpSpPr>
          <p:grpSpPr>
            <a:xfrm>
              <a:off x="4908467" y="1212154"/>
              <a:ext cx="1299241" cy="665162"/>
              <a:chOff x="0" y="0"/>
              <a:chExt cx="921" cy="419"/>
            </a:xfrm>
          </p:grpSpPr>
          <p:grpSp>
            <p:nvGrpSpPr>
              <p:cNvPr id="5138" name="Group 6"/>
              <p:cNvGrpSpPr/>
              <p:nvPr/>
            </p:nvGrpSpPr>
            <p:grpSpPr>
              <a:xfrm>
                <a:off x="0" y="0"/>
                <a:ext cx="480" cy="419"/>
                <a:chOff x="0" y="0"/>
                <a:chExt cx="1549" cy="1351"/>
              </a:xfrm>
            </p:grpSpPr>
            <p:sp>
              <p:nvSpPr>
                <p:cNvPr id="5141" name="AutoShape 7"/>
                <p:cNvSpPr/>
                <p:nvPr/>
              </p:nvSpPr>
              <p:spPr>
                <a:xfrm>
                  <a:off x="13" y="23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42" name="AutoShape 8"/>
                <p:cNvSpPr/>
                <p:nvPr/>
              </p:nvSpPr>
              <p:spPr>
                <a:xfrm>
                  <a:off x="0" y="0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gradFill rotWithShape="1">
                  <a:gsLst>
                    <a:gs pos="0">
                      <a:srgbClr val="E6E6E6">
                        <a:alpha val="100000"/>
                      </a:srgbClr>
                    </a:gs>
                    <a:gs pos="7498">
                      <a:srgbClr val="7D8496">
                        <a:alpha val="100000"/>
                      </a:srgbClr>
                    </a:gs>
                    <a:gs pos="26500">
                      <a:srgbClr val="E6E6E6">
                        <a:alpha val="100000"/>
                      </a:srgbClr>
                    </a:gs>
                    <a:gs pos="34000">
                      <a:srgbClr val="7D8496">
                        <a:alpha val="100000"/>
                      </a:srgbClr>
                    </a:gs>
                    <a:gs pos="46500">
                      <a:srgbClr val="E6E6E6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53500">
                      <a:srgbClr val="E6E6E6">
                        <a:alpha val="100000"/>
                      </a:srgbClr>
                    </a:gs>
                    <a:gs pos="66000">
                      <a:srgbClr val="7D8496">
                        <a:alpha val="100000"/>
                      </a:srgbClr>
                    </a:gs>
                    <a:gs pos="73500">
                      <a:srgbClr val="E6E6E6">
                        <a:alpha val="100000"/>
                      </a:srgbClr>
                    </a:gs>
                    <a:gs pos="92502">
                      <a:srgbClr val="7D8496">
                        <a:alpha val="100000"/>
                      </a:srgbClr>
                    </a:gs>
                    <a:gs pos="100000">
                      <a:srgbClr val="E6E6E6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rgbClr val="C0C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43" name="AutoShape 9"/>
                <p:cNvSpPr/>
                <p:nvPr/>
              </p:nvSpPr>
              <p:spPr>
                <a:xfrm>
                  <a:off x="90" y="80"/>
                  <a:ext cx="1350" cy="1168"/>
                </a:xfrm>
                <a:prstGeom prst="hexagon">
                  <a:avLst>
                    <a:gd name="adj" fmla="val 28895"/>
                    <a:gd name="vf" fmla="val 115470"/>
                  </a:avLst>
                </a:prstGeom>
                <a:gradFill rotWithShape="1">
                  <a:gsLst>
                    <a:gs pos="0">
                      <a:srgbClr val="472F74"/>
                    </a:gs>
                    <a:gs pos="100000">
                      <a:srgbClr val="9966FF"/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</p:grpSp>
          <p:sp>
            <p:nvSpPr>
              <p:cNvPr id="5139" name="Text Box 14"/>
              <p:cNvSpPr/>
              <p:nvPr/>
            </p:nvSpPr>
            <p:spPr>
              <a:xfrm>
                <a:off x="799" y="48"/>
                <a:ext cx="122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endParaRPr lang="zh-CN" altLang="en-US" sz="2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40" name="Text Box 15"/>
              <p:cNvSpPr/>
              <p:nvPr/>
            </p:nvSpPr>
            <p:spPr>
              <a:xfrm>
                <a:off x="124" y="62"/>
                <a:ext cx="235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2</a:t>
                </a:r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30" name="Group 36"/>
            <p:cNvGrpSpPr/>
            <p:nvPr/>
          </p:nvGrpSpPr>
          <p:grpSpPr>
            <a:xfrm>
              <a:off x="4889194" y="2118530"/>
              <a:ext cx="2643622" cy="665163"/>
              <a:chOff x="0" y="0"/>
              <a:chExt cx="1874" cy="419"/>
            </a:xfrm>
          </p:grpSpPr>
          <p:sp>
            <p:nvSpPr>
              <p:cNvPr id="5131" name="Text Box 17"/>
              <p:cNvSpPr/>
              <p:nvPr/>
            </p:nvSpPr>
            <p:spPr>
              <a:xfrm>
                <a:off x="803" y="50"/>
                <a:ext cx="1071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8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业务模型</a:t>
                </a:r>
                <a:endParaRPr lang="zh-CN" altLang="en-US" sz="2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32" name="Text Box 18"/>
              <p:cNvSpPr/>
              <p:nvPr/>
            </p:nvSpPr>
            <p:spPr>
              <a:xfrm>
                <a:off x="124" y="64"/>
                <a:ext cx="22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3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133" name="Group 24"/>
              <p:cNvGrpSpPr/>
              <p:nvPr/>
            </p:nvGrpSpPr>
            <p:grpSpPr>
              <a:xfrm>
                <a:off x="0" y="0"/>
                <a:ext cx="480" cy="419"/>
                <a:chOff x="-1" y="0"/>
                <a:chExt cx="1550" cy="1351"/>
              </a:xfrm>
            </p:grpSpPr>
            <p:sp>
              <p:nvSpPr>
                <p:cNvPr id="5135" name="AutoShape 25"/>
                <p:cNvSpPr/>
                <p:nvPr/>
              </p:nvSpPr>
              <p:spPr>
                <a:xfrm>
                  <a:off x="13" y="23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36" name="AutoShape 26"/>
                <p:cNvSpPr/>
                <p:nvPr/>
              </p:nvSpPr>
              <p:spPr>
                <a:xfrm>
                  <a:off x="-1" y="0"/>
                  <a:ext cx="1536" cy="1328"/>
                </a:xfrm>
                <a:prstGeom prst="hexagon">
                  <a:avLst>
                    <a:gd name="adj" fmla="val 28915"/>
                    <a:gd name="vf" fmla="val 115470"/>
                  </a:avLst>
                </a:prstGeom>
                <a:gradFill rotWithShape="1">
                  <a:gsLst>
                    <a:gs pos="0">
                      <a:srgbClr val="E6E6E6">
                        <a:alpha val="100000"/>
                      </a:srgbClr>
                    </a:gs>
                    <a:gs pos="7498">
                      <a:srgbClr val="7D8496">
                        <a:alpha val="100000"/>
                      </a:srgbClr>
                    </a:gs>
                    <a:gs pos="26500">
                      <a:srgbClr val="E6E6E6">
                        <a:alpha val="100000"/>
                      </a:srgbClr>
                    </a:gs>
                    <a:gs pos="34000">
                      <a:srgbClr val="7D8496">
                        <a:alpha val="100000"/>
                      </a:srgbClr>
                    </a:gs>
                    <a:gs pos="46500">
                      <a:srgbClr val="E6E6E6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53500">
                      <a:srgbClr val="E6E6E6">
                        <a:alpha val="100000"/>
                      </a:srgbClr>
                    </a:gs>
                    <a:gs pos="66000">
                      <a:srgbClr val="7D8496">
                        <a:alpha val="100000"/>
                      </a:srgbClr>
                    </a:gs>
                    <a:gs pos="73500">
                      <a:srgbClr val="E6E6E6">
                        <a:alpha val="100000"/>
                      </a:srgbClr>
                    </a:gs>
                    <a:gs pos="92502">
                      <a:srgbClr val="7D8496">
                        <a:alpha val="100000"/>
                      </a:srgbClr>
                    </a:gs>
                    <a:gs pos="100000">
                      <a:srgbClr val="E6E6E6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rgbClr val="C0C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5137" name="AutoShape 27"/>
                <p:cNvSpPr/>
                <p:nvPr/>
              </p:nvSpPr>
              <p:spPr>
                <a:xfrm>
                  <a:off x="90" y="80"/>
                  <a:ext cx="1350" cy="1168"/>
                </a:xfrm>
                <a:prstGeom prst="hexagon">
                  <a:avLst>
                    <a:gd name="adj" fmla="val 28895"/>
                    <a:gd name="vf" fmla="val 115470"/>
                  </a:avLst>
                </a:prstGeom>
                <a:gradFill rotWithShape="1">
                  <a:gsLst>
                    <a:gs pos="0">
                      <a:srgbClr val="3399FF">
                        <a:alpha val="100000"/>
                      </a:srgbClr>
                    </a:gs>
                    <a:gs pos="64999">
                      <a:srgbClr val="3399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solidFill>
                      <a:srgbClr val="000000"/>
                    </a:solidFill>
                    <a:latin typeface="Calibri" panose="020F0502020204030204" pitchFamily="34" charset="0"/>
                    <a:sym typeface="宋体" panose="02010600030101010101" pitchFamily="2" charset="-122"/>
                  </a:endParaRPr>
                </a:p>
              </p:txBody>
            </p:sp>
          </p:grpSp>
          <p:sp>
            <p:nvSpPr>
              <p:cNvPr id="5134" name="Text Box 28"/>
              <p:cNvSpPr/>
              <p:nvPr/>
            </p:nvSpPr>
            <p:spPr>
              <a:xfrm>
                <a:off x="124" y="64"/>
                <a:ext cx="235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b="1" dirty="0">
                    <a:solidFill>
                      <a:srgbClr val="FFFFFF"/>
                    </a:solidFill>
                    <a:latin typeface="Arial" panose="020B0604020202020204" pitchFamily="34" charset="0"/>
                  </a:rPr>
                  <a:t>4</a:t>
                </a:r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125" name="Text Box 17"/>
          <p:cNvSpPr/>
          <p:nvPr/>
        </p:nvSpPr>
        <p:spPr>
          <a:xfrm>
            <a:off x="6594475" y="1609725"/>
            <a:ext cx="162083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关键要素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文本框 7"/>
          <p:cNvSpPr/>
          <p:nvPr/>
        </p:nvSpPr>
        <p:spPr>
          <a:xfrm>
            <a:off x="1085850" y="130175"/>
            <a:ext cx="16208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系统介绍</a:t>
            </a:r>
            <a:endParaRPr lang="zh-CN" altLang="en-US" sz="2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47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9" name="TextBox 2"/>
          <p:cNvSpPr txBox="1"/>
          <p:nvPr/>
        </p:nvSpPr>
        <p:spPr>
          <a:xfrm>
            <a:off x="179388" y="692150"/>
            <a:ext cx="8710613" cy="509588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/>
          <a:p>
            <a:pPr marR="0" indent="360045" defTabSz="914400">
              <a:lnSpc>
                <a:spcPct val="150000"/>
              </a:lnSpc>
              <a:spcBef>
                <a:spcPct val="40000"/>
              </a:spcBef>
              <a:buClr>
                <a:srgbClr val="DA2421"/>
              </a:buClr>
              <a:buSzTx/>
              <a:buFontTx/>
              <a:buNone/>
              <a:defRPr/>
            </a:pPr>
            <a:r>
              <a:rPr kumimoji="0" lang="zh-CN" altLang="en-US" sz="105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050" kern="0" cap="none" spc="0" normalizeH="0" baseline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构建一体化运维管理模式，形成组织、流程、工具三位一体的运营体系，并通过</a:t>
            </a:r>
            <a:r>
              <a:rPr kumimoji="0" lang="en-US" altLang="zh-CN" sz="1050" kern="0" cap="none" spc="0" normalizeH="0" baseline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050" kern="0" cap="none" spc="0" normalizeH="0" baseline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监管控</a:t>
            </a:r>
            <a:r>
              <a:rPr kumimoji="0" lang="en-US" altLang="zh-CN" sz="1050" kern="0" cap="none" spc="0" normalizeH="0" baseline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050" kern="0" cap="none" spc="0" normalizeH="0" baseline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运维自动化提高工作效率，通过运维分析实现并辅助运维决策。</a:t>
            </a:r>
            <a:endParaRPr kumimoji="0" lang="zh-CN" altLang="en-US" sz="1050" kern="0" cap="none" spc="0" normalizeH="0" baseline="0" noProof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149" name="组合 81"/>
          <p:cNvGrpSpPr/>
          <p:nvPr/>
        </p:nvGrpSpPr>
        <p:grpSpPr>
          <a:xfrm>
            <a:off x="179388" y="1122363"/>
            <a:ext cx="8710612" cy="3683000"/>
            <a:chOff x="395361" y="1609420"/>
            <a:chExt cx="11314663" cy="3722400"/>
          </a:xfrm>
        </p:grpSpPr>
        <p:sp>
          <p:nvSpPr>
            <p:cNvPr id="51" name="TextBox 16"/>
            <p:cNvSpPr>
              <a:spLocks noChangeArrowheads="1"/>
            </p:cNvSpPr>
            <p:nvPr/>
          </p:nvSpPr>
          <p:spPr bwMode="auto">
            <a:xfrm>
              <a:off x="395361" y="1609420"/>
              <a:ext cx="11314663" cy="503808"/>
            </a:xfrm>
            <a:prstGeom prst="roundRect">
              <a:avLst>
                <a:gd name="adj" fmla="val 8176"/>
              </a:avLst>
            </a:prstGeom>
            <a:gradFill>
              <a:gsLst>
                <a:gs pos="0">
                  <a:srgbClr val="FFC000"/>
                </a:gs>
                <a:gs pos="80000">
                  <a:srgbClr val="FFC000"/>
                </a:gs>
                <a:gs pos="100000">
                  <a:srgbClr val="FFC000"/>
                </a:gs>
              </a:gsLst>
            </a:gra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 保运营：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面向用户交付稳定、安全、高效的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2" name="Freeform 37"/>
            <p:cNvSpPr/>
            <p:nvPr/>
          </p:nvSpPr>
          <p:spPr bwMode="auto">
            <a:xfrm>
              <a:off x="4762858" y="2063488"/>
              <a:ext cx="2903417" cy="611308"/>
            </a:xfrm>
            <a:custGeom>
              <a:avLst/>
              <a:gdLst>
                <a:gd name="T0" fmla="*/ 4572000 w 5760"/>
                <a:gd name="T1" fmla="*/ 0 h 2132"/>
                <a:gd name="T2" fmla="*/ 2916237 w 5760"/>
                <a:gd name="T3" fmla="*/ 720725 h 2132"/>
                <a:gd name="T4" fmla="*/ 3635375 w 5760"/>
                <a:gd name="T5" fmla="*/ 720725 h 2132"/>
                <a:gd name="T6" fmla="*/ 0 w 5760"/>
                <a:gd name="T7" fmla="*/ 1657350 h 2132"/>
                <a:gd name="T8" fmla="*/ 0 w 5760"/>
                <a:gd name="T9" fmla="*/ 3384550 h 2132"/>
                <a:gd name="T10" fmla="*/ 9144000 w 5760"/>
                <a:gd name="T11" fmla="*/ 3384550 h 2132"/>
                <a:gd name="T12" fmla="*/ 9144000 w 5760"/>
                <a:gd name="T13" fmla="*/ 1620837 h 2132"/>
                <a:gd name="T14" fmla="*/ 5472112 w 5760"/>
                <a:gd name="T15" fmla="*/ 720725 h 2132"/>
                <a:gd name="T16" fmla="*/ 6192837 w 5760"/>
                <a:gd name="T17" fmla="*/ 720725 h 2132"/>
                <a:gd name="T18" fmla="*/ 4572000 w 5760"/>
                <a:gd name="T19" fmla="*/ 0 h 21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760"/>
                <a:gd name="T31" fmla="*/ 0 h 2132"/>
                <a:gd name="T32" fmla="*/ 5760 w 5760"/>
                <a:gd name="T33" fmla="*/ 2132 h 213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760" h="2132">
                  <a:moveTo>
                    <a:pt x="2880" y="0"/>
                  </a:moveTo>
                  <a:lnTo>
                    <a:pt x="1837" y="454"/>
                  </a:lnTo>
                  <a:cubicBezTo>
                    <a:pt x="1837" y="454"/>
                    <a:pt x="2063" y="454"/>
                    <a:pt x="2290" y="454"/>
                  </a:cubicBezTo>
                  <a:cubicBezTo>
                    <a:pt x="1735" y="1140"/>
                    <a:pt x="0" y="1044"/>
                    <a:pt x="0" y="1044"/>
                  </a:cubicBezTo>
                  <a:lnTo>
                    <a:pt x="0" y="2132"/>
                  </a:lnTo>
                  <a:lnTo>
                    <a:pt x="5760" y="2132"/>
                  </a:lnTo>
                  <a:lnTo>
                    <a:pt x="5760" y="1021"/>
                  </a:lnTo>
                  <a:cubicBezTo>
                    <a:pt x="5760" y="1021"/>
                    <a:pt x="4283" y="1096"/>
                    <a:pt x="3447" y="454"/>
                  </a:cubicBezTo>
                  <a:cubicBezTo>
                    <a:pt x="3674" y="454"/>
                    <a:pt x="3901" y="454"/>
                    <a:pt x="3901" y="454"/>
                  </a:cubicBezTo>
                  <a:lnTo>
                    <a:pt x="288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4"/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455161" y="2366736"/>
              <a:ext cx="11254863" cy="2965084"/>
            </a:xfrm>
            <a:prstGeom prst="rect">
              <a:avLst/>
            </a:prstGeom>
            <a:solidFill>
              <a:srgbClr val="FEF9F4"/>
            </a:solidFill>
            <a:ln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圆角矩形 7"/>
            <p:cNvSpPr/>
            <p:nvPr/>
          </p:nvSpPr>
          <p:spPr>
            <a:xfrm>
              <a:off x="1636737" y="2451773"/>
              <a:ext cx="670177" cy="2772546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专业化运维支持团队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圆角矩形 8"/>
            <p:cNvSpPr/>
            <p:nvPr/>
          </p:nvSpPr>
          <p:spPr>
            <a:xfrm>
              <a:off x="2407957" y="2451773"/>
              <a:ext cx="8254528" cy="1939820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 Box 8"/>
            <p:cNvSpPr txBox="1">
              <a:spLocks noChangeArrowheads="1"/>
            </p:cNvSpPr>
            <p:nvPr/>
          </p:nvSpPr>
          <p:spPr bwMode="auto">
            <a:xfrm>
              <a:off x="5552636" y="2469423"/>
              <a:ext cx="1672352" cy="1861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1" lang="zh-CN" altLang="en-US" sz="12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一体化运维体系平台</a:t>
              </a:r>
              <a:endParaRPr kumimoji="1" lang="en-US" altLang="zh-CN" sz="1200" b="1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圆角矩形 10"/>
            <p:cNvSpPr/>
            <p:nvPr/>
          </p:nvSpPr>
          <p:spPr>
            <a:xfrm>
              <a:off x="2607978" y="2686027"/>
              <a:ext cx="7879230" cy="216606"/>
            </a:xfrm>
            <a:prstGeom prst="roundRect">
              <a:avLst>
                <a:gd name="adj" fmla="val 884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综合展示台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右大括号 72"/>
            <p:cNvSpPr/>
            <p:nvPr/>
          </p:nvSpPr>
          <p:spPr>
            <a:xfrm>
              <a:off x="10730534" y="2548042"/>
              <a:ext cx="307250" cy="2616912"/>
            </a:xfrm>
            <a:prstGeom prst="rightBrac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79" name="TextBox 39"/>
            <p:cNvSpPr txBox="1"/>
            <p:nvPr/>
          </p:nvSpPr>
          <p:spPr>
            <a:xfrm>
              <a:off x="11037509" y="3402994"/>
              <a:ext cx="520802" cy="12858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运维决策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6180" name="TextBox 40"/>
            <p:cNvSpPr txBox="1"/>
            <p:nvPr/>
          </p:nvSpPr>
          <p:spPr>
            <a:xfrm>
              <a:off x="801005" y="3166428"/>
              <a:ext cx="446402" cy="15716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组织体系一体化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181" name="组合 41"/>
            <p:cNvGrpSpPr/>
            <p:nvPr/>
          </p:nvGrpSpPr>
          <p:grpSpPr>
            <a:xfrm>
              <a:off x="1147256" y="2523486"/>
              <a:ext cx="300450" cy="2520000"/>
              <a:chOff x="3286116" y="1428736"/>
              <a:chExt cx="251438" cy="864794"/>
            </a:xfrm>
          </p:grpSpPr>
          <p:cxnSp>
            <p:nvCxnSpPr>
              <p:cNvPr id="112" name="直接连接符 111"/>
              <p:cNvCxnSpPr/>
              <p:nvPr/>
            </p:nvCxnSpPr>
            <p:spPr>
              <a:xfrm>
                <a:off x="3357511" y="1428904"/>
                <a:ext cx="179473" cy="165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3286756" y="1857281"/>
                <a:ext cx="72479" cy="165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3357511" y="2285659"/>
                <a:ext cx="179473" cy="165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rot="5400000">
                <a:off x="2926417" y="1860548"/>
                <a:ext cx="863913" cy="172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182" name="TextBox 16"/>
            <p:cNvSpPr/>
            <p:nvPr/>
          </p:nvSpPr>
          <p:spPr>
            <a:xfrm>
              <a:off x="5307811" y="165206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ap="flat" cmpd="sng">
              <a:solidFill>
                <a:srgbClr val="A5A5A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保全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问题不发生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83" name="TextBox 16"/>
            <p:cNvSpPr/>
            <p:nvPr/>
          </p:nvSpPr>
          <p:spPr>
            <a:xfrm>
              <a:off x="7384984" y="166342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ap="flat" cmpd="sng">
              <a:solidFill>
                <a:srgbClr val="A5A5A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保障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问题快速处理</a:t>
              </a:r>
              <a:endPara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84" name="TextBox 16"/>
            <p:cNvSpPr/>
            <p:nvPr/>
          </p:nvSpPr>
          <p:spPr>
            <a:xfrm>
              <a:off x="9514117" y="1663420"/>
              <a:ext cx="1917822" cy="396000"/>
            </a:xfrm>
            <a:prstGeom prst="roundRect">
              <a:avLst>
                <a:gd name="adj" fmla="val 8176"/>
              </a:avLst>
            </a:prstGeom>
            <a:noFill/>
            <a:ln w="19050" cap="flat" cmpd="sng">
              <a:solidFill>
                <a:srgbClr val="A5A5A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保值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信息资产降成保值</a:t>
              </a:r>
              <a:endPara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30" name="矩形 129"/>
          <p:cNvSpPr/>
          <p:nvPr/>
        </p:nvSpPr>
        <p:spPr>
          <a:xfrm>
            <a:off x="1882775" y="2509838"/>
            <a:ext cx="1368425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自助服务台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451225" y="2514600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服务请求管理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053013" y="2522538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597650" y="2528888"/>
            <a:ext cx="1366838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1881188" y="2860675"/>
            <a:ext cx="1368425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服务级别管理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1871663" y="3241675"/>
            <a:ext cx="1368425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设备台账管理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1884363" y="3592513"/>
            <a:ext cx="1366838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值班管理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451225" y="2855913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服务目录管理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3451225" y="3225800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451225" y="3592513"/>
            <a:ext cx="1368425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5051425" y="2846388"/>
            <a:ext cx="1366838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变更管理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5051425" y="3222625"/>
            <a:ext cx="1366838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5059363" y="3589338"/>
            <a:ext cx="1368425" cy="2127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6616700" y="2849563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信息发布管理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6616700" y="3230563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6616700" y="3595688"/>
            <a:ext cx="1368425" cy="214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查询统计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6" name="圆角矩形 8"/>
          <p:cNvSpPr/>
          <p:nvPr/>
        </p:nvSpPr>
        <p:spPr>
          <a:xfrm>
            <a:off x="1717675" y="4017963"/>
            <a:ext cx="6353175" cy="722313"/>
          </a:xfrm>
          <a:prstGeom prst="roundRect">
            <a:avLst>
              <a:gd name="adj" fmla="val 884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1897063" y="4143375"/>
            <a:ext cx="1404938" cy="249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安全性管理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3481388" y="4129088"/>
            <a:ext cx="1404938" cy="249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组件化管理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6561138" y="4135438"/>
            <a:ext cx="1403350" cy="249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集成化管理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5049838" y="4135438"/>
            <a:ext cx="1404938" cy="2492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负载管理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文本框 7"/>
          <p:cNvSpPr/>
          <p:nvPr/>
        </p:nvSpPr>
        <p:spPr>
          <a:xfrm>
            <a:off x="1085850" y="130175"/>
            <a:ext cx="16208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关键要素</a:t>
            </a:r>
            <a:endParaRPr lang="zh-CN" altLang="en-US" sz="2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1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7172" name="TextBox 51"/>
          <p:cNvSpPr txBox="1"/>
          <p:nvPr/>
        </p:nvSpPr>
        <p:spPr>
          <a:xfrm>
            <a:off x="179388" y="642938"/>
            <a:ext cx="8710612" cy="83026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运维服务针对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个要素展开活动，同时根据标准、流程、质量、绩效进行管理和监控，确保生产环境正常运行，及保运营。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73" name="组合 1"/>
          <p:cNvGrpSpPr/>
          <p:nvPr/>
        </p:nvGrpSpPr>
        <p:grpSpPr>
          <a:xfrm>
            <a:off x="179388" y="1341438"/>
            <a:ext cx="8786812" cy="3476625"/>
            <a:chOff x="179388" y="1341438"/>
            <a:chExt cx="8786812" cy="3476625"/>
          </a:xfrm>
        </p:grpSpPr>
        <p:sp>
          <p:nvSpPr>
            <p:cNvPr id="103" name="上下箭头 2"/>
            <p:cNvSpPr/>
            <p:nvPr/>
          </p:nvSpPr>
          <p:spPr>
            <a:xfrm rot="16200000">
              <a:off x="2435225" y="2178050"/>
              <a:ext cx="1046163" cy="1655763"/>
            </a:xfrm>
            <a:prstGeom prst="upDownArrow">
              <a:avLst>
                <a:gd name="adj1" fmla="val 68006"/>
                <a:gd name="adj2" fmla="val 23015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75" name="Rectangle 2"/>
            <p:cNvSpPr/>
            <p:nvPr/>
          </p:nvSpPr>
          <p:spPr>
            <a:xfrm>
              <a:off x="3751263" y="1670050"/>
              <a:ext cx="5191125" cy="314801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  <a:tileRect/>
            </a:gradFill>
            <a:ln w="9525" cap="flat" cmpd="sng">
              <a:solidFill>
                <a:srgbClr val="E6E6E6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7961" dir="2699999" algn="ctr" rotWithShape="0">
                <a:srgbClr val="A9A9A9"/>
              </a:outerShdw>
            </a:effectLst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176" name="组合 104"/>
            <p:cNvGrpSpPr/>
            <p:nvPr/>
          </p:nvGrpSpPr>
          <p:grpSpPr>
            <a:xfrm>
              <a:off x="4386263" y="1865313"/>
              <a:ext cx="3222625" cy="2813050"/>
              <a:chOff x="2574925" y="1989138"/>
              <a:chExt cx="4035425" cy="3756025"/>
            </a:xfrm>
          </p:grpSpPr>
          <p:grpSp>
            <p:nvGrpSpPr>
              <p:cNvPr id="7193" name="组合 105"/>
              <p:cNvGrpSpPr/>
              <p:nvPr/>
            </p:nvGrpSpPr>
            <p:grpSpPr>
              <a:xfrm>
                <a:off x="2574925" y="1989138"/>
                <a:ext cx="4035425" cy="3756025"/>
                <a:chOff x="2574925" y="1989138"/>
                <a:chExt cx="4035425" cy="3756025"/>
              </a:xfrm>
            </p:grpSpPr>
            <p:grpSp>
              <p:nvGrpSpPr>
                <p:cNvPr id="7199" name="组合 111"/>
                <p:cNvGrpSpPr/>
                <p:nvPr/>
              </p:nvGrpSpPr>
              <p:grpSpPr>
                <a:xfrm>
                  <a:off x="2574925" y="1989138"/>
                  <a:ext cx="4035425" cy="3756025"/>
                  <a:chOff x="2574925" y="1989138"/>
                  <a:chExt cx="4035425" cy="3756025"/>
                </a:xfrm>
              </p:grpSpPr>
              <p:grpSp>
                <p:nvGrpSpPr>
                  <p:cNvPr id="7205" name="组合 115"/>
                  <p:cNvGrpSpPr/>
                  <p:nvPr/>
                </p:nvGrpSpPr>
                <p:grpSpPr>
                  <a:xfrm>
                    <a:off x="2574925" y="1989138"/>
                    <a:ext cx="4035425" cy="3756025"/>
                    <a:chOff x="2574925" y="1989138"/>
                    <a:chExt cx="4035425" cy="3756025"/>
                  </a:xfrm>
                </p:grpSpPr>
                <p:sp>
                  <p:nvSpPr>
                    <p:cNvPr id="118" name="MH_Other_6"/>
                    <p:cNvSpPr/>
                    <p:nvPr>
                      <p:custDataLst>
                        <p:tags r:id="rId1"/>
                      </p:custDataLst>
                    </p:nvPr>
                  </p:nvSpPr>
                  <p:spPr bwMode="auto">
                    <a:xfrm rot="4320000">
                      <a:off x="3143776" y="1602577"/>
                      <a:ext cx="1365056" cy="2502758"/>
                    </a:xfrm>
                    <a:custGeom>
                      <a:avLst/>
                      <a:gdLst>
                        <a:gd name="T0" fmla="*/ 2147483646 w 1468"/>
                        <a:gd name="T1" fmla="*/ 2147483646 h 2692"/>
                        <a:gd name="T2" fmla="*/ 2147483646 w 1468"/>
                        <a:gd name="T3" fmla="*/ 2147483646 h 2692"/>
                        <a:gd name="T4" fmla="*/ 2147483646 w 1468"/>
                        <a:gd name="T5" fmla="*/ 2147483646 h 2692"/>
                        <a:gd name="T6" fmla="*/ 2147483646 w 1468"/>
                        <a:gd name="T7" fmla="*/ 0 h 2692"/>
                        <a:gd name="T8" fmla="*/ 2147483646 w 1468"/>
                        <a:gd name="T9" fmla="*/ 2147483646 h 2692"/>
                        <a:gd name="T10" fmla="*/ 2147483646 w 1468"/>
                        <a:gd name="T11" fmla="*/ 2147483646 h 2692"/>
                        <a:gd name="T12" fmla="*/ 2147483646 w 1468"/>
                        <a:gd name="T13" fmla="*/ 2147483646 h 2692"/>
                        <a:gd name="T14" fmla="*/ 2147483646 w 1468"/>
                        <a:gd name="T15" fmla="*/ 2147483646 h 269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1468" h="2692">
                          <a:moveTo>
                            <a:pt x="1069" y="2104"/>
                          </a:moveTo>
                          <a:cubicBezTo>
                            <a:pt x="1099" y="1845"/>
                            <a:pt x="1241" y="1097"/>
                            <a:pt x="1253" y="1036"/>
                          </a:cubicBezTo>
                          <a:cubicBezTo>
                            <a:pt x="1253" y="1032"/>
                            <a:pt x="1253" y="1032"/>
                            <a:pt x="1253" y="1032"/>
                          </a:cubicBezTo>
                          <a:cubicBezTo>
                            <a:pt x="204" y="0"/>
                            <a:pt x="204" y="0"/>
                            <a:pt x="204" y="0"/>
                          </a:cubicBezTo>
                          <a:cubicBezTo>
                            <a:pt x="34" y="392"/>
                            <a:pt x="0" y="821"/>
                            <a:pt x="90" y="1224"/>
                          </a:cubicBezTo>
                          <a:cubicBezTo>
                            <a:pt x="192" y="1678"/>
                            <a:pt x="454" y="2098"/>
                            <a:pt x="860" y="2393"/>
                          </a:cubicBezTo>
                          <a:cubicBezTo>
                            <a:pt x="1049" y="2531"/>
                            <a:pt x="1255" y="2630"/>
                            <a:pt x="1468" y="2692"/>
                          </a:cubicBezTo>
                          <a:cubicBezTo>
                            <a:pt x="1168" y="2531"/>
                            <a:pt x="1049" y="2280"/>
                            <a:pt x="1069" y="2104"/>
                          </a:cubicBezTo>
                          <a:close/>
                        </a:path>
                      </a:pathLst>
                    </a:custGeom>
                    <a:solidFill>
                      <a:srgbClr val="B9B824"/>
                    </a:solidFill>
                    <a:ln>
                      <a:noFill/>
                    </a:ln>
                    <a:effectLst>
                      <a:outerShdw blurRad="25400" dist="38100" dir="5400000" sx="102000" sy="102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19" name="MH_Other_7"/>
                    <p:cNvSpPr/>
                    <p:nvPr>
                      <p:custDataLst>
                        <p:tags r:id="rId2"/>
                      </p:custDataLst>
                    </p:nvPr>
                  </p:nvSpPr>
                  <p:spPr bwMode="auto">
                    <a:xfrm>
                      <a:off x="4065846" y="1989138"/>
                      <a:ext cx="2427218" cy="1443483"/>
                    </a:xfrm>
                    <a:custGeom>
                      <a:avLst/>
                      <a:gdLst>
                        <a:gd name="T0" fmla="*/ 2147483646 w 2605"/>
                        <a:gd name="T1" fmla="*/ 2147483646 h 1551"/>
                        <a:gd name="T2" fmla="*/ 2147483646 w 2605"/>
                        <a:gd name="T3" fmla="*/ 0 h 1551"/>
                        <a:gd name="T4" fmla="*/ 0 w 2605"/>
                        <a:gd name="T5" fmla="*/ 2147483646 h 1551"/>
                        <a:gd name="T6" fmla="*/ 2147483646 w 2605"/>
                        <a:gd name="T7" fmla="*/ 2147483646 h 1551"/>
                        <a:gd name="T8" fmla="*/ 2147483646 w 2605"/>
                        <a:gd name="T9" fmla="*/ 2147483646 h 1551"/>
                        <a:gd name="T10" fmla="*/ 2147483646 w 2605"/>
                        <a:gd name="T11" fmla="*/ 2147483646 h 1551"/>
                        <a:gd name="T12" fmla="*/ 2147483646 w 2605"/>
                        <a:gd name="T13" fmla="*/ 2147483646 h 1551"/>
                        <a:gd name="T14" fmla="*/ 2147483646 w 2605"/>
                        <a:gd name="T15" fmla="*/ 2147483646 h 155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2605" h="1551">
                          <a:moveTo>
                            <a:pt x="1978" y="494"/>
                          </a:moveTo>
                          <a:cubicBezTo>
                            <a:pt x="1629" y="186"/>
                            <a:pt x="1170" y="0"/>
                            <a:pt x="668" y="0"/>
                          </a:cubicBezTo>
                          <a:cubicBezTo>
                            <a:pt x="434" y="0"/>
                            <a:pt x="209" y="41"/>
                            <a:pt x="0" y="115"/>
                          </a:cubicBezTo>
                          <a:cubicBezTo>
                            <a:pt x="338" y="69"/>
                            <a:pt x="581" y="202"/>
                            <a:pt x="668" y="357"/>
                          </a:cubicBezTo>
                          <a:cubicBezTo>
                            <a:pt x="797" y="584"/>
                            <a:pt x="1122" y="1273"/>
                            <a:pt x="1148" y="1328"/>
                          </a:cubicBezTo>
                          <a:cubicBezTo>
                            <a:pt x="1150" y="1332"/>
                            <a:pt x="1150" y="1332"/>
                            <a:pt x="1150" y="1332"/>
                          </a:cubicBezTo>
                          <a:cubicBezTo>
                            <a:pt x="2605" y="1551"/>
                            <a:pt x="2605" y="1551"/>
                            <a:pt x="2605" y="1551"/>
                          </a:cubicBezTo>
                          <a:cubicBezTo>
                            <a:pt x="2512" y="1134"/>
                            <a:pt x="2288" y="766"/>
                            <a:pt x="1978" y="494"/>
                          </a:cubicBezTo>
                          <a:close/>
                        </a:path>
                      </a:pathLst>
                    </a:custGeom>
                    <a:solidFill>
                      <a:srgbClr val="58B7B2"/>
                    </a:solidFill>
                    <a:ln>
                      <a:noFill/>
                    </a:ln>
                    <a:effectLst>
                      <a:outerShdw blurRad="50800" dist="38100" dir="7200000" sx="101000" sy="101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20" name="MH_Other_8"/>
                    <p:cNvSpPr/>
                    <p:nvPr>
                      <p:custDataLst>
                        <p:tags r:id="rId3"/>
                      </p:custDataLst>
                    </p:nvPr>
                  </p:nvSpPr>
                  <p:spPr bwMode="auto">
                    <a:xfrm>
                      <a:off x="5405686" y="2733136"/>
                      <a:ext cx="1204664" cy="2721634"/>
                    </a:xfrm>
                    <a:custGeom>
                      <a:avLst/>
                      <a:gdLst>
                        <a:gd name="T0" fmla="*/ 2147483646 w 1295"/>
                        <a:gd name="T1" fmla="*/ 2147483646 h 2922"/>
                        <a:gd name="T2" fmla="*/ 2147483646 w 1295"/>
                        <a:gd name="T3" fmla="*/ 0 h 2922"/>
                        <a:gd name="T4" fmla="*/ 2147483646 w 1295"/>
                        <a:gd name="T5" fmla="*/ 2147483646 h 2922"/>
                        <a:gd name="T6" fmla="*/ 2147483646 w 1295"/>
                        <a:gd name="T7" fmla="*/ 2147483646 h 2922"/>
                        <a:gd name="T8" fmla="*/ 0 w 1295"/>
                        <a:gd name="T9" fmla="*/ 2147483646 h 2922"/>
                        <a:gd name="T10" fmla="*/ 2147483646 w 1295"/>
                        <a:gd name="T11" fmla="*/ 2147483646 h 2922"/>
                        <a:gd name="T12" fmla="*/ 2147483646 w 1295"/>
                        <a:gd name="T13" fmla="*/ 2147483646 h 2922"/>
                        <a:gd name="T14" fmla="*/ 2147483646 w 1295"/>
                        <a:gd name="T15" fmla="*/ 2147483646 h 292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1295" h="2922">
                          <a:moveTo>
                            <a:pt x="1139" y="613"/>
                          </a:moveTo>
                          <a:cubicBezTo>
                            <a:pt x="1067" y="390"/>
                            <a:pt x="962" y="176"/>
                            <a:pt x="826" y="0"/>
                          </a:cubicBezTo>
                          <a:cubicBezTo>
                            <a:pt x="974" y="307"/>
                            <a:pt x="900" y="580"/>
                            <a:pt x="779" y="710"/>
                          </a:cubicBezTo>
                          <a:cubicBezTo>
                            <a:pt x="603" y="903"/>
                            <a:pt x="49" y="1425"/>
                            <a:pt x="4" y="1467"/>
                          </a:cubicBezTo>
                          <a:cubicBezTo>
                            <a:pt x="0" y="1470"/>
                            <a:pt x="0" y="1470"/>
                            <a:pt x="0" y="1470"/>
                          </a:cubicBezTo>
                          <a:cubicBezTo>
                            <a:pt x="242" y="2922"/>
                            <a:pt x="242" y="2922"/>
                            <a:pt x="242" y="2922"/>
                          </a:cubicBezTo>
                          <a:cubicBezTo>
                            <a:pt x="610" y="2704"/>
                            <a:pt x="891" y="2377"/>
                            <a:pt x="1054" y="1998"/>
                          </a:cubicBezTo>
                          <a:cubicBezTo>
                            <a:pt x="1239" y="1571"/>
                            <a:pt x="1295" y="1091"/>
                            <a:pt x="1139" y="613"/>
                          </a:cubicBezTo>
                          <a:close/>
                        </a:path>
                      </a:pathLst>
                    </a:custGeom>
                    <a:solidFill>
                      <a:srgbClr val="A11B5A"/>
                    </a:solidFill>
                    <a:ln>
                      <a:noFill/>
                    </a:ln>
                    <a:effectLst>
                      <a:outerShdw blurRad="38100" dist="38100" dir="12600000" sx="101000" sy="101000" algn="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21" name="MH_Other_9"/>
                    <p:cNvSpPr/>
                    <p:nvPr>
                      <p:custDataLst>
                        <p:tags r:id="rId4"/>
                      </p:custDataLst>
                    </p:nvPr>
                  </p:nvSpPr>
                  <p:spPr bwMode="auto">
                    <a:xfrm>
                      <a:off x="3465502" y="4617508"/>
                      <a:ext cx="2747270" cy="1127655"/>
                    </a:xfrm>
                    <a:custGeom>
                      <a:avLst/>
                      <a:gdLst>
                        <a:gd name="T0" fmla="*/ 2147483646 w 2952"/>
                        <a:gd name="T1" fmla="*/ 2147483646 h 1208"/>
                        <a:gd name="T2" fmla="*/ 2147483646 w 2952"/>
                        <a:gd name="T3" fmla="*/ 2147483646 h 1208"/>
                        <a:gd name="T4" fmla="*/ 2147483646 w 2952"/>
                        <a:gd name="T5" fmla="*/ 0 h 1208"/>
                        <a:gd name="T6" fmla="*/ 0 w 2952"/>
                        <a:gd name="T7" fmla="*/ 2147483646 h 1208"/>
                        <a:gd name="T8" fmla="*/ 2147483646 w 2952"/>
                        <a:gd name="T9" fmla="*/ 2147483646 h 1208"/>
                        <a:gd name="T10" fmla="*/ 2147483646 w 2952"/>
                        <a:gd name="T11" fmla="*/ 2147483646 h 1208"/>
                        <a:gd name="T12" fmla="*/ 2147483646 w 2952"/>
                        <a:gd name="T13" fmla="*/ 2147483646 h 1208"/>
                        <a:gd name="T14" fmla="*/ 2147483646 w 2952"/>
                        <a:gd name="T15" fmla="*/ 2147483646 h 1208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2952" h="1208">
                          <a:moveTo>
                            <a:pt x="2269" y="506"/>
                          </a:moveTo>
                          <a:cubicBezTo>
                            <a:pt x="2032" y="398"/>
                            <a:pt x="1364" y="31"/>
                            <a:pt x="1310" y="2"/>
                          </a:cubicBezTo>
                          <a:cubicBezTo>
                            <a:pt x="1306" y="0"/>
                            <a:pt x="1306" y="0"/>
                            <a:pt x="1306" y="0"/>
                          </a:cubicBezTo>
                          <a:cubicBezTo>
                            <a:pt x="0" y="678"/>
                            <a:pt x="0" y="678"/>
                            <a:pt x="0" y="678"/>
                          </a:cubicBezTo>
                          <a:cubicBezTo>
                            <a:pt x="321" y="961"/>
                            <a:pt x="718" y="1127"/>
                            <a:pt x="1129" y="1165"/>
                          </a:cubicBezTo>
                          <a:cubicBezTo>
                            <a:pt x="1592" y="1208"/>
                            <a:pt x="2073" y="1090"/>
                            <a:pt x="2479" y="795"/>
                          </a:cubicBezTo>
                          <a:cubicBezTo>
                            <a:pt x="2669" y="657"/>
                            <a:pt x="2826" y="492"/>
                            <a:pt x="2952" y="309"/>
                          </a:cubicBezTo>
                          <a:cubicBezTo>
                            <a:pt x="2706" y="544"/>
                            <a:pt x="2431" y="580"/>
                            <a:pt x="2269" y="506"/>
                          </a:cubicBezTo>
                          <a:close/>
                        </a:path>
                      </a:pathLst>
                    </a:custGeom>
                    <a:solidFill>
                      <a:srgbClr val="CC4209"/>
                    </a:solidFill>
                    <a:ln>
                      <a:noFill/>
                    </a:ln>
                    <a:effectLst>
                      <a:outerShdw blurRad="38100" dist="38100" dir="16200000" sx="101000" sy="101000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22" name="MH_Other_10"/>
                    <p:cNvSpPr/>
                    <p:nvPr>
                      <p:custDataLst>
                        <p:tags r:id="rId5"/>
                      </p:custDataLst>
                    </p:nvPr>
                  </p:nvSpPr>
                  <p:spPr bwMode="auto">
                    <a:xfrm>
                      <a:off x="2803532" y="3131630"/>
                      <a:ext cx="1365684" cy="2505430"/>
                    </a:xfrm>
                    <a:custGeom>
                      <a:avLst/>
                      <a:gdLst>
                        <a:gd name="T0" fmla="*/ 2147483646 w 1468"/>
                        <a:gd name="T1" fmla="*/ 2147483646 h 2692"/>
                        <a:gd name="T2" fmla="*/ 2147483646 w 1468"/>
                        <a:gd name="T3" fmla="*/ 2147483646 h 2692"/>
                        <a:gd name="T4" fmla="*/ 2147483646 w 1468"/>
                        <a:gd name="T5" fmla="*/ 2147483646 h 2692"/>
                        <a:gd name="T6" fmla="*/ 2147483646 w 1468"/>
                        <a:gd name="T7" fmla="*/ 0 h 2692"/>
                        <a:gd name="T8" fmla="*/ 2147483646 w 1468"/>
                        <a:gd name="T9" fmla="*/ 2147483646 h 2692"/>
                        <a:gd name="T10" fmla="*/ 2147483646 w 1468"/>
                        <a:gd name="T11" fmla="*/ 2147483646 h 2692"/>
                        <a:gd name="T12" fmla="*/ 2147483646 w 1468"/>
                        <a:gd name="T13" fmla="*/ 2147483646 h 2692"/>
                        <a:gd name="T14" fmla="*/ 2147483646 w 1468"/>
                        <a:gd name="T15" fmla="*/ 2147483646 h 269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0" t="0" r="r" b="b"/>
                      <a:pathLst>
                        <a:path w="1468" h="2692">
                          <a:moveTo>
                            <a:pt x="1069" y="2104"/>
                          </a:moveTo>
                          <a:cubicBezTo>
                            <a:pt x="1099" y="1845"/>
                            <a:pt x="1241" y="1097"/>
                            <a:pt x="1253" y="1036"/>
                          </a:cubicBezTo>
                          <a:cubicBezTo>
                            <a:pt x="1253" y="1032"/>
                            <a:pt x="1253" y="1032"/>
                            <a:pt x="1253" y="1032"/>
                          </a:cubicBezTo>
                          <a:cubicBezTo>
                            <a:pt x="204" y="0"/>
                            <a:pt x="204" y="0"/>
                            <a:pt x="204" y="0"/>
                          </a:cubicBezTo>
                          <a:cubicBezTo>
                            <a:pt x="34" y="392"/>
                            <a:pt x="0" y="821"/>
                            <a:pt x="90" y="1224"/>
                          </a:cubicBezTo>
                          <a:cubicBezTo>
                            <a:pt x="192" y="1678"/>
                            <a:pt x="454" y="2098"/>
                            <a:pt x="860" y="2393"/>
                          </a:cubicBezTo>
                          <a:cubicBezTo>
                            <a:pt x="1049" y="2531"/>
                            <a:pt x="1255" y="2630"/>
                            <a:pt x="1468" y="2692"/>
                          </a:cubicBezTo>
                          <a:cubicBezTo>
                            <a:pt x="1168" y="2531"/>
                            <a:pt x="1049" y="2280"/>
                            <a:pt x="1069" y="2104"/>
                          </a:cubicBezTo>
                          <a:close/>
                        </a:path>
                      </a:pathLst>
                    </a:custGeom>
                    <a:solidFill>
                      <a:srgbClr val="F47C0D"/>
                    </a:solidFill>
                    <a:ln>
                      <a:noFill/>
                    </a:ln>
                    <a:effectLst>
                      <a:outerShdw blurRad="25400" dist="38100" dir="19200000" sx="102000" sy="102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7206" name="MH_Other_11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2838450" y="2257425"/>
                    <a:ext cx="1408113" cy="1644650"/>
                  </a:xfrm>
                  <a:custGeom>
                    <a:avLst/>
                    <a:gdLst/>
                    <a:ahLst/>
                    <a:cxnLst>
                      <a:cxn ang="0">
                        <a:pos x="2147483646" y="0"/>
                      </a:cxn>
                      <a:cxn ang="0">
                        <a:pos x="2147483646" y="2147483646"/>
                      </a:cxn>
                      <a:cxn ang="0">
                        <a:pos x="2147483646" y="2147483646"/>
                      </a:cxn>
                      <a:cxn ang="0">
                        <a:pos x="2147483646" y="2147483646"/>
                      </a:cxn>
                      <a:cxn ang="0">
                        <a:pos x="2147483646" y="2147483646"/>
                      </a:cxn>
                      <a:cxn ang="0">
                        <a:pos x="2147483646" y="0"/>
                      </a:cxn>
                    </a:cxnLst>
                    <a:pathLst>
                      <a:path w="1515" h="1764">
                        <a:moveTo>
                          <a:pt x="977" y="0"/>
                        </a:moveTo>
                        <a:cubicBezTo>
                          <a:pt x="577" y="238"/>
                          <a:pt x="258" y="616"/>
                          <a:pt x="103" y="1093"/>
                        </a:cubicBezTo>
                        <a:cubicBezTo>
                          <a:pt x="31" y="1316"/>
                          <a:pt x="0" y="1543"/>
                          <a:pt x="6" y="1764"/>
                        </a:cubicBezTo>
                        <a:cubicBezTo>
                          <a:pt x="67" y="1429"/>
                          <a:pt x="268" y="1239"/>
                          <a:pt x="443" y="1204"/>
                        </a:cubicBezTo>
                        <a:cubicBezTo>
                          <a:pt x="698" y="1152"/>
                          <a:pt x="1454" y="1056"/>
                          <a:pt x="1515" y="1048"/>
                        </a:cubicBez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rgbClr val="B9B824">
                      <a:alpha val="100000"/>
                    </a:srgbClr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grpSp>
              <p:nvGrpSpPr>
                <p:cNvPr id="7200" name="组合 112"/>
                <p:cNvGrpSpPr/>
                <p:nvPr/>
              </p:nvGrpSpPr>
              <p:grpSpPr>
                <a:xfrm>
                  <a:off x="4003678" y="3143248"/>
                  <a:ext cx="1425578" cy="1424344"/>
                  <a:chOff x="3646488" y="2878138"/>
                  <a:chExt cx="1833562" cy="1831975"/>
                </a:xfrm>
              </p:grpSpPr>
              <p:sp>
                <p:nvSpPr>
                  <p:cNvPr id="114" name="MH_Title_1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3875542" y="3097535"/>
                    <a:ext cx="1393175" cy="1393175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">
                      <a:rot lat="0" lon="0" rev="8700000"/>
                    </a:lightRig>
                  </a:scene3d>
                  <a:sp3d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>
                    <a:norm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13C13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数据</a:t>
                    </a: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B13C13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15" name="MH_Other_1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 rot="20634799" flipH="1">
                    <a:off x="3647185" y="2876828"/>
                    <a:ext cx="1833232" cy="1832056"/>
                  </a:xfrm>
                  <a:prstGeom prst="circularArrow">
                    <a:avLst>
                      <a:gd name="adj1" fmla="val 2596"/>
                      <a:gd name="adj2" fmla="val 610829"/>
                      <a:gd name="adj3" fmla="val 20723301"/>
                      <a:gd name="adj4" fmla="val 997241"/>
                      <a:gd name="adj5" fmla="val 4943"/>
                    </a:avLst>
                  </a:prstGeom>
                  <a:solidFill>
                    <a:schemeClr val="tx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7194" name="Text Box 99"/>
              <p:cNvSpPr txBox="1"/>
              <p:nvPr/>
            </p:nvSpPr>
            <p:spPr>
              <a:xfrm rot="-2307772">
                <a:off x="3527078" y="2522853"/>
                <a:ext cx="680676" cy="4109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业务</a:t>
                </a:r>
                <a:endParaRPr lang="en-US" altLang="ko-KR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95" name="Text Box 99"/>
              <p:cNvSpPr txBox="1"/>
              <p:nvPr/>
            </p:nvSpPr>
            <p:spPr>
              <a:xfrm rot="1798084">
                <a:off x="5127061" y="2408893"/>
                <a:ext cx="680676" cy="4109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人员</a:t>
                </a:r>
                <a:endParaRPr lang="en-US" altLang="ko-KR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96" name="Text Box 99"/>
              <p:cNvSpPr txBox="1"/>
              <p:nvPr/>
            </p:nvSpPr>
            <p:spPr>
              <a:xfrm>
                <a:off x="5622277" y="3980528"/>
                <a:ext cx="680676" cy="4109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环境</a:t>
                </a:r>
                <a:endParaRPr lang="en-US" altLang="ko-KR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97" name="Text Box 99"/>
              <p:cNvSpPr txBox="1"/>
              <p:nvPr/>
            </p:nvSpPr>
            <p:spPr>
              <a:xfrm>
                <a:off x="4346020" y="5025974"/>
                <a:ext cx="680676" cy="4109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设备</a:t>
                </a:r>
                <a:endParaRPr lang="en-US" altLang="ko-KR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98" name="Text Box 99"/>
              <p:cNvSpPr txBox="1"/>
              <p:nvPr/>
            </p:nvSpPr>
            <p:spPr>
              <a:xfrm>
                <a:off x="3060136" y="4025842"/>
                <a:ext cx="680676" cy="4109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软件</a:t>
                </a:r>
                <a:endParaRPr lang="en-US" altLang="ko-KR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3" name="AutoShape 13"/>
            <p:cNvSpPr/>
            <p:nvPr/>
          </p:nvSpPr>
          <p:spPr bwMode="gray">
            <a:xfrm flipH="1">
              <a:off x="7542213" y="2328863"/>
              <a:ext cx="1209675" cy="650875"/>
            </a:xfrm>
            <a:prstGeom prst="accentCallout2">
              <a:avLst>
                <a:gd name="adj1" fmla="val 11843"/>
                <a:gd name="adj2" fmla="val 103477"/>
                <a:gd name="adj3" fmla="val 13159"/>
                <a:gd name="adj4" fmla="val 145389"/>
                <a:gd name="adj5" fmla="val 44376"/>
                <a:gd name="adj6" fmla="val 166294"/>
              </a:avLst>
            </a:prstGeom>
            <a:noFill/>
            <a:ln w="9525">
              <a:solidFill>
                <a:srgbClr val="C11594"/>
              </a:solidFill>
              <a:miter lim="800000"/>
              <a:headEnd type="triangle" w="med" len="med"/>
              <a:tailEnd type="oval" w="med" len="med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业务用户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运维人员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供应商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储运商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·······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4" name="AutoShape 13"/>
            <p:cNvSpPr/>
            <p:nvPr/>
          </p:nvSpPr>
          <p:spPr bwMode="gray">
            <a:xfrm flipH="1">
              <a:off x="7180263" y="4418013"/>
              <a:ext cx="1055687" cy="358775"/>
            </a:xfrm>
            <a:prstGeom prst="accentCallout2">
              <a:avLst>
                <a:gd name="adj1" fmla="val 35532"/>
                <a:gd name="adj2" fmla="val 98040"/>
                <a:gd name="adj3" fmla="val 35536"/>
                <a:gd name="adj4" fmla="val 131554"/>
                <a:gd name="adj5" fmla="val 12748"/>
                <a:gd name="adj6" fmla="val 165185"/>
              </a:avLst>
            </a:prstGeom>
            <a:noFill/>
            <a:ln w="9525">
              <a:solidFill>
                <a:srgbClr val="C11594"/>
              </a:solidFill>
              <a:miter lim="800000"/>
              <a:headEnd type="triangle" w="med" len="med"/>
              <a:tailEnd type="oval" w="med" len="med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服务器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网络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桌面设备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·········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79" name="AutoShape 11"/>
            <p:cNvSpPr/>
            <p:nvPr/>
          </p:nvSpPr>
          <p:spPr>
            <a:xfrm flipH="1">
              <a:off x="3651250" y="2339975"/>
              <a:ext cx="1028700" cy="403225"/>
            </a:xfrm>
            <a:prstGeom prst="accentCallout2">
              <a:avLst>
                <a:gd name="adj1" fmla="val 19444"/>
                <a:gd name="adj2" fmla="val -2778"/>
                <a:gd name="adj3" fmla="val 25000"/>
                <a:gd name="adj4" fmla="val -28116"/>
                <a:gd name="adj5" fmla="val 91810"/>
                <a:gd name="adj6" fmla="val -56801"/>
              </a:avLst>
            </a:prstGeom>
            <a:noFill/>
            <a:ln w="9525" cap="flat" cmpd="sng">
              <a:solidFill>
                <a:srgbClr val="C11594"/>
              </a:solidFill>
              <a:prstDash val="solid"/>
              <a:miter/>
              <a:headEnd type="triangle" w="med" len="med"/>
              <a:tailEnd type="oval" w="med" len="med"/>
            </a:ln>
          </p:spPr>
          <p:txBody>
            <a:bodyPr anchor="ctr" anchorCtr="0"/>
            <a:p>
              <a:pPr algn="r"/>
              <a:r>
                <a:rPr lang="zh-CN" altLang="en-US" sz="1100" dirty="0">
                  <a:solidFill>
                    <a:srgbClr val="1C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业务场景</a:t>
              </a:r>
              <a:endParaRPr lang="en-US" altLang="zh-CN" sz="1100" dirty="0">
                <a:solidFill>
                  <a:srgbClr val="1C1C1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r>
                <a:rPr lang="zh-CN" altLang="en-US" sz="1100" dirty="0">
                  <a:solidFill>
                    <a:srgbClr val="1C1C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系统流程</a:t>
              </a:r>
              <a:endParaRPr lang="en-US" altLang="zh-CN" sz="1100" dirty="0">
                <a:solidFill>
                  <a:srgbClr val="1C1C1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AutoShape 11"/>
            <p:cNvSpPr/>
            <p:nvPr/>
          </p:nvSpPr>
          <p:spPr bwMode="gray">
            <a:xfrm flipH="1">
              <a:off x="3822700" y="4068763"/>
              <a:ext cx="1016000" cy="617537"/>
            </a:xfrm>
            <a:prstGeom prst="accentCallout2">
              <a:avLst>
                <a:gd name="adj1" fmla="val 45833"/>
                <a:gd name="adj2" fmla="val -2778"/>
                <a:gd name="adj3" fmla="val 35776"/>
                <a:gd name="adj4" fmla="val -26587"/>
                <a:gd name="adj5" fmla="val 4921"/>
                <a:gd name="adj6" fmla="val -30255"/>
              </a:avLst>
            </a:prstGeom>
            <a:noFill/>
            <a:ln w="9525">
              <a:solidFill>
                <a:srgbClr val="C11594"/>
              </a:solidFill>
              <a:miter lim="800000"/>
              <a:headEnd type="triangle" w="med" len="med"/>
              <a:tailEnd type="oval" w="med" len="med"/>
            </a:ln>
          </p:spPr>
          <p:txBody>
            <a:bodyPr anchor="ctr"/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应用软件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监控软件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管理平台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··········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7" name="AutoShape 13"/>
            <p:cNvSpPr/>
            <p:nvPr/>
          </p:nvSpPr>
          <p:spPr bwMode="gray">
            <a:xfrm flipH="1">
              <a:off x="7804150" y="3297238"/>
              <a:ext cx="1000125" cy="652462"/>
            </a:xfrm>
            <a:prstGeom prst="accentCallout2">
              <a:avLst>
                <a:gd name="adj1" fmla="val 11843"/>
                <a:gd name="adj2" fmla="val 103477"/>
                <a:gd name="adj3" fmla="val 11526"/>
                <a:gd name="adj4" fmla="val 124529"/>
                <a:gd name="adj5" fmla="val 28042"/>
                <a:gd name="adj6" fmla="val 141522"/>
              </a:avLst>
            </a:prstGeom>
            <a:noFill/>
            <a:ln w="9525">
              <a:solidFill>
                <a:srgbClr val="C11594"/>
              </a:solidFill>
              <a:miter lim="800000"/>
              <a:headEnd type="triangle" w="med" len="med"/>
              <a:tailEnd type="oval" w="med" len="med"/>
            </a:ln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互联网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物联网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涉密网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··········</a:t>
              </a:r>
              <a:endPara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82" name="Rectangle 2"/>
            <p:cNvSpPr/>
            <p:nvPr/>
          </p:nvSpPr>
          <p:spPr>
            <a:xfrm>
              <a:off x="179388" y="1670050"/>
              <a:ext cx="1928812" cy="314801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  <a:tileRect/>
            </a:gradFill>
            <a:ln w="9525" cap="flat" cmpd="sng">
              <a:solidFill>
                <a:srgbClr val="E6E6E6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7961" dir="2699999" algn="ctr" rotWithShape="0">
                <a:srgbClr val="A9A9A9"/>
              </a:outerShdw>
            </a:effectLst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9" name="流程图: 可选过程 128"/>
            <p:cNvSpPr/>
            <p:nvPr/>
          </p:nvSpPr>
          <p:spPr>
            <a:xfrm>
              <a:off x="3751263" y="1341438"/>
              <a:ext cx="5214937" cy="314325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运维管理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要素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0" name="流程图: 可选过程 129"/>
            <p:cNvSpPr/>
            <p:nvPr/>
          </p:nvSpPr>
          <p:spPr>
            <a:xfrm>
              <a:off x="179388" y="1341438"/>
              <a:ext cx="1928812" cy="314325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对象组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424767" y="1713638"/>
              <a:ext cx="1469257" cy="826894"/>
              <a:chOff x="463065" y="1419182"/>
              <a:chExt cx="1213949" cy="1224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32" name="AutoShape 51"/>
              <p:cNvSpPr>
                <a:spLocks noChangeArrowheads="1"/>
              </p:cNvSpPr>
              <p:nvPr/>
            </p:nvSpPr>
            <p:spPr bwMode="auto">
              <a:xfrm>
                <a:off x="463065" y="1419182"/>
                <a:ext cx="592008" cy="1224000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数据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3" name="AutoShape 51"/>
              <p:cNvSpPr>
                <a:spLocks noChangeArrowheads="1"/>
              </p:cNvSpPr>
              <p:nvPr/>
            </p:nvSpPr>
            <p:spPr bwMode="auto">
              <a:xfrm>
                <a:off x="1000100" y="2209623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正常流转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4" name="AutoShape 51"/>
              <p:cNvSpPr>
                <a:spLocks noChangeArrowheads="1"/>
              </p:cNvSpPr>
              <p:nvPr/>
            </p:nvSpPr>
            <p:spPr bwMode="auto">
              <a:xfrm>
                <a:off x="1000100" y="1829374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安全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5" name="AutoShape 51"/>
              <p:cNvSpPr>
                <a:spLocks noChangeArrowheads="1"/>
              </p:cNvSpPr>
              <p:nvPr/>
            </p:nvSpPr>
            <p:spPr bwMode="auto">
              <a:xfrm>
                <a:off x="1000100" y="1428736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备份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418671" y="2623314"/>
              <a:ext cx="1469257" cy="1021458"/>
              <a:chOff x="463065" y="814611"/>
              <a:chExt cx="1213949" cy="1512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37" name="AutoShape 51"/>
              <p:cNvSpPr>
                <a:spLocks noChangeArrowheads="1"/>
              </p:cNvSpPr>
              <p:nvPr/>
            </p:nvSpPr>
            <p:spPr bwMode="auto">
              <a:xfrm>
                <a:off x="463065" y="814611"/>
                <a:ext cx="592008" cy="1512000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软件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设备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环境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8" name="AutoShape 51"/>
              <p:cNvSpPr>
                <a:spLocks noChangeArrowheads="1"/>
              </p:cNvSpPr>
              <p:nvPr/>
            </p:nvSpPr>
            <p:spPr bwMode="auto">
              <a:xfrm>
                <a:off x="1000100" y="1886181"/>
                <a:ext cx="676914" cy="433558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适应改善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9" name="AutoShape 51"/>
              <p:cNvSpPr>
                <a:spLocks noChangeArrowheads="1"/>
              </p:cNvSpPr>
              <p:nvPr/>
            </p:nvSpPr>
            <p:spPr bwMode="auto">
              <a:xfrm>
                <a:off x="1000100" y="1528991"/>
                <a:ext cx="676914" cy="433558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预警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0" name="AutoShape 51"/>
              <p:cNvSpPr>
                <a:spLocks noChangeArrowheads="1"/>
              </p:cNvSpPr>
              <p:nvPr/>
            </p:nvSpPr>
            <p:spPr bwMode="auto">
              <a:xfrm>
                <a:off x="1000100" y="1171802"/>
                <a:ext cx="676914" cy="433558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快速恢复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1" name="AutoShape 51"/>
              <p:cNvSpPr>
                <a:spLocks noChangeArrowheads="1"/>
              </p:cNvSpPr>
              <p:nvPr/>
            </p:nvSpPr>
            <p:spPr bwMode="auto">
              <a:xfrm>
                <a:off x="1000100" y="824164"/>
                <a:ext cx="676914" cy="433558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正常运行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424767" y="3779632"/>
              <a:ext cx="1469257" cy="826894"/>
              <a:chOff x="463065" y="1419182"/>
              <a:chExt cx="1213949" cy="122400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43" name="AutoShape 51"/>
              <p:cNvSpPr>
                <a:spLocks noChangeArrowheads="1"/>
              </p:cNvSpPr>
              <p:nvPr/>
            </p:nvSpPr>
            <p:spPr bwMode="auto">
              <a:xfrm>
                <a:off x="463065" y="1419182"/>
                <a:ext cx="592008" cy="1224000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人员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业务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4" name="AutoShape 51"/>
              <p:cNvSpPr>
                <a:spLocks noChangeArrowheads="1"/>
              </p:cNvSpPr>
              <p:nvPr/>
            </p:nvSpPr>
            <p:spPr bwMode="auto">
              <a:xfrm>
                <a:off x="1000100" y="2209623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快速解决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5" name="AutoShape 51"/>
              <p:cNvSpPr>
                <a:spLocks noChangeArrowheads="1"/>
              </p:cNvSpPr>
              <p:nvPr/>
            </p:nvSpPr>
            <p:spPr bwMode="auto">
              <a:xfrm>
                <a:off x="1000100" y="1829374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技能梯队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6" name="AutoShape 51"/>
              <p:cNvSpPr>
                <a:spLocks noChangeArrowheads="1"/>
              </p:cNvSpPr>
              <p:nvPr/>
            </p:nvSpPr>
            <p:spPr bwMode="auto">
              <a:xfrm>
                <a:off x="1000100" y="1428736"/>
                <a:ext cx="676914" cy="433559"/>
              </a:xfrm>
              <a:prstGeom prst="cube">
                <a:avLst>
                  <a:gd name="adj" fmla="val 25000"/>
                </a:avLst>
              </a:pr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体制化团队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147" name="圆角矩形 46"/>
            <p:cNvSpPr/>
            <p:nvPr/>
          </p:nvSpPr>
          <p:spPr bwMode="auto">
            <a:xfrm>
              <a:off x="2465388" y="1846263"/>
              <a:ext cx="1000125" cy="2316162"/>
            </a:xfrm>
            <a:prstGeom prst="roundRect">
              <a:avLst>
                <a:gd name="adj" fmla="val 12164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800000" scaled="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89" name="TextBox 47"/>
            <p:cNvSpPr txBox="1"/>
            <p:nvPr/>
          </p:nvSpPr>
          <p:spPr>
            <a:xfrm>
              <a:off x="2543175" y="1885950"/>
              <a:ext cx="360363" cy="110807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47058"/>
                </a:schemeClr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运维服务管理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90" name="TextBox 48"/>
            <p:cNvSpPr txBox="1"/>
            <p:nvPr/>
          </p:nvSpPr>
          <p:spPr>
            <a:xfrm>
              <a:off x="2971800" y="1885950"/>
              <a:ext cx="360363" cy="110807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47058"/>
                </a:schemeClr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运维规划管理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91" name="TextBox 49"/>
            <p:cNvSpPr txBox="1"/>
            <p:nvPr/>
          </p:nvSpPr>
          <p:spPr>
            <a:xfrm>
              <a:off x="2971800" y="2992438"/>
              <a:ext cx="360363" cy="110807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47058"/>
                </a:schemeClr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运维绩效管理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92" name="TextBox 50"/>
            <p:cNvSpPr txBox="1"/>
            <p:nvPr/>
          </p:nvSpPr>
          <p:spPr>
            <a:xfrm>
              <a:off x="2543175" y="3016250"/>
              <a:ext cx="360363" cy="1108075"/>
            </a:xfrm>
            <a:prstGeom prst="rect">
              <a:avLst/>
            </a:prstGeom>
            <a:noFill/>
            <a:ln w="9525" cap="flat" cmpd="sng">
              <a:solidFill>
                <a:schemeClr val="tx1">
                  <a:alpha val="47058"/>
                </a:schemeClr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运维质量监控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文本框 7"/>
          <p:cNvSpPr/>
          <p:nvPr/>
        </p:nvSpPr>
        <p:spPr>
          <a:xfrm>
            <a:off x="1085850" y="130175"/>
            <a:ext cx="162083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总体架构</a:t>
            </a:r>
            <a:endParaRPr lang="zh-CN" altLang="en-US" sz="2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95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pic>
        <p:nvPicPr>
          <p:cNvPr id="819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88" y="741363"/>
            <a:ext cx="8645525" cy="4111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文本框 7"/>
          <p:cNvSpPr/>
          <p:nvPr/>
        </p:nvSpPr>
        <p:spPr>
          <a:xfrm>
            <a:off x="1085850" y="130175"/>
            <a:ext cx="35877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设备台账管理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219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0825" y="735013"/>
            <a:ext cx="8642350" cy="928688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>
            <a:defPPr>
              <a:defRPr lang="zh-CN"/>
            </a:defPPr>
            <a:lvl1pPr indent="360045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备台账管理的对象包括固定资产、抵值常用、低值易耗等硬件类资产，还包括应用系统、数据库、业务系统等软件类资产，也包括诸如人员、共饮商、文档、合同等与运维服务相关的无形资产。对涉密台账的管理要求完成软硬件类的设备台账的全生命周期管理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22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0" y="1200150"/>
            <a:ext cx="3148013" cy="11382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405063"/>
            <a:ext cx="3148013" cy="833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3" name="文本框 4"/>
          <p:cNvSpPr txBox="1"/>
          <p:nvPr/>
        </p:nvSpPr>
        <p:spPr>
          <a:xfrm>
            <a:off x="430213" y="1517650"/>
            <a:ext cx="4691062" cy="887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设备分类管理：</a:t>
            </a:r>
            <a:r>
              <a:rPr lang="zh-CN" altLang="zh-CN" sz="1200" dirty="0">
                <a:latin typeface="Arial" panose="020B0604020202020204" pitchFamily="34" charset="0"/>
              </a:rPr>
              <a:t>平台实现支持对设备分类维护、支持对设备分类进行更改，对应台账属性进行更改，同时对设的分类进行更改</a:t>
            </a:r>
            <a:r>
              <a:rPr lang="en-US" altLang="zh-CN" sz="1200" dirty="0">
                <a:latin typeface="Arial" panose="020B0604020202020204" pitchFamily="34" charset="0"/>
              </a:rPr>
              <a:t>,</a:t>
            </a:r>
            <a:r>
              <a:rPr lang="zh-CN" altLang="zh-CN" sz="1200" dirty="0">
                <a:latin typeface="Arial" panose="020B0604020202020204" pitchFamily="34" charset="0"/>
              </a:rPr>
              <a:t>对应台账属性相应地进行更改</a:t>
            </a:r>
            <a:r>
              <a:rPr lang="zh-CN" altLang="en-US" sz="1200" dirty="0">
                <a:latin typeface="Arial" panose="020B0604020202020204" pitchFamily="34" charset="0"/>
              </a:rPr>
              <a:t>。</a:t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4" name="文本框 8"/>
          <p:cNvSpPr txBox="1"/>
          <p:nvPr/>
        </p:nvSpPr>
        <p:spPr>
          <a:xfrm>
            <a:off x="323850" y="3444875"/>
            <a:ext cx="4691063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设备台账信息管理：</a:t>
            </a:r>
            <a:r>
              <a:rPr lang="zh-CN" altLang="zh-CN" sz="1200" dirty="0">
                <a:latin typeface="Arial" panose="020B0604020202020204" pitchFamily="34" charset="0"/>
              </a:rPr>
              <a:t>平台根据设置好的权限可按角色、组织机构、群组以及指定的台账属性授予用户可以管理、查看设备台账信息。完善的管理方案，实现设备高效、可靠，安全的运行，大大降低设备管理维护成本</a:t>
            </a:r>
            <a:endParaRPr lang="zh-CN" altLang="en-US" sz="1200" dirty="0">
              <a:latin typeface="Arial" panose="020B0604020202020204" pitchFamily="34" charset="0"/>
            </a:endParaRPr>
          </a:p>
        </p:txBody>
      </p:sp>
      <p:sp>
        <p:nvSpPr>
          <p:cNvPr id="9225" name="文本框 9"/>
          <p:cNvSpPr txBox="1"/>
          <p:nvPr/>
        </p:nvSpPr>
        <p:spPr>
          <a:xfrm>
            <a:off x="323850" y="4378325"/>
            <a:ext cx="4691063" cy="611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zh-CN" altLang="zh-CN" sz="1200" b="1" dirty="0">
                <a:solidFill>
                  <a:srgbClr val="000000"/>
                </a:solidFill>
                <a:latin typeface="Arial" panose="020B0604020202020204" pitchFamily="34" charset="0"/>
              </a:rPr>
              <a:t>设备台账管理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1200" dirty="0">
                <a:latin typeface="Arial" panose="020B0604020202020204" pitchFamily="34" charset="0"/>
              </a:rPr>
              <a:t>平台支持设备台账全生命周期管理，流程遵循标准的管理要求。</a:t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6" name="文本框 10"/>
          <p:cNvSpPr txBox="1"/>
          <p:nvPr/>
        </p:nvSpPr>
        <p:spPr>
          <a:xfrm>
            <a:off x="314325" y="2571750"/>
            <a:ext cx="4806950" cy="611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zh-CN" altLang="zh-CN" sz="1200" b="1" dirty="0">
                <a:solidFill>
                  <a:srgbClr val="000000"/>
                </a:solidFill>
                <a:latin typeface="Arial" panose="020B0604020202020204" pitchFamily="34" charset="0"/>
              </a:rPr>
              <a:t>设备关联关系管理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1200" dirty="0">
                <a:latin typeface="Arial" panose="020B0604020202020204" pitchFamily="34" charset="0"/>
              </a:rPr>
              <a:t>关联设备间关联关系的维护、主从设备间的关联关系的展示、及组合查询与展示。关联设备关系管理及维护。</a:t>
            </a:r>
            <a:endParaRPr lang="zh-CN" altLang="zh-CN" sz="1200" dirty="0">
              <a:latin typeface="Arial" panose="020B0604020202020204" pitchFamily="34" charset="0"/>
            </a:endParaRPr>
          </a:p>
        </p:txBody>
      </p:sp>
      <p:pic>
        <p:nvPicPr>
          <p:cNvPr id="922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3265488"/>
            <a:ext cx="3148013" cy="1139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文本框 7"/>
          <p:cNvSpPr/>
          <p:nvPr/>
        </p:nvSpPr>
        <p:spPr>
          <a:xfrm>
            <a:off x="1085850" y="130175"/>
            <a:ext cx="27670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配置管理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43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0825" y="735013"/>
            <a:ext cx="8642350" cy="4278313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>
            <a:defPPr>
              <a:defRPr lang="zh-CN"/>
            </a:defPPr>
            <a:lvl1pPr indent="360045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配置管理过程是对处于不断演化、完善过程中的软件的管理过程。一致性、可追溯性，使产品极大程度地与用户需求相吻合。它通过控制、记录、追踪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对软件的修改和每个修改生成的软件组成部件来实现对软件产品的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管理功能。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配置对象管理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平台实现支持对设备分类维护、支持对设备分类进行更改，对应台账属性进行更改，同时对设的分类进行更改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对应台账属性相应地进行更改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配置管理流程与其它服务管理流程（如变更管理流程）的自动关联，并进行流程的整体展示，流程技术指标，支持配置管理流程引发的配置变更自动执行，配置管理流程引发的配置变更能自动更新配置项的信息，无需人工参与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配置关系管理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配置对象之间关联关系的维护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业务关联视图自动生成与展示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配置对象关联关系组合查询与展示。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7"/>
          <p:cNvSpPr/>
          <p:nvPr/>
        </p:nvSpPr>
        <p:spPr>
          <a:xfrm>
            <a:off x="1085850" y="130175"/>
            <a:ext cx="276701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服务级别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267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0825" y="735013"/>
            <a:ext cx="8642350" cy="4171950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>
            <a:defPPr>
              <a:defRPr lang="zh-CN"/>
            </a:defPPr>
            <a:lvl1pPr indent="360045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SLA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指标定义了服务的目标，当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SLA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指标建立后，可用于监控事件处理过程的达成情况，也可用于为延迟、逾期等不同状态的事件进行预警。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指标管理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支持增删查改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的分类与管理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支持增删查改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的关联关系映射管理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支持定义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SLO,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支持建立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与服务申请管理、事件管理的关联关系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支持服务级别用户展示、自动报表生成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服务级别管理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SLA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的关联关系映射管理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支持定义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SLO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申请级别</a:t>
            </a: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平台支持运维工程师使用本模块进行申请级别的基础数据的维护，同时维护申请级别数据时，运维工程师需对每申请级别的指标进行详细的定义。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ts val="24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用户星级</a:t>
            </a: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提供给运维管理人员设置用户星级，并设置不同级别上对应指标的值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26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6688" y="2924175"/>
            <a:ext cx="3897312" cy="2041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7"/>
          <p:cNvSpPr/>
          <p:nvPr/>
        </p:nvSpPr>
        <p:spPr>
          <a:xfrm>
            <a:off x="1085850" y="130175"/>
            <a:ext cx="32797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服务目录管理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291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50825" y="735013"/>
            <a:ext cx="8642350" cy="2959100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>
            <a:defPPr>
              <a:defRPr lang="zh-CN"/>
            </a:defPPr>
            <a:lvl1pPr indent="360045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360045" algn="l" defTabSz="914400" rtl="0" eaLnBrk="0" fontAlgn="base" latinLnBrk="0" hangingPunct="0">
              <a:lnSpc>
                <a:spcPct val="20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服务目录是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运维服务管理的核心。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指导建立服务目录，而建立服务目录是为了实现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360045" algn="l" defTabSz="914400" rtl="0" eaLnBrk="0" fontAlgn="ctr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服务对象配置判断：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对象完整，分类正确，对象配置清单齐全，对象配置内容正确完整。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ctr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服务质量目标判断：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指标范围明确，计算公式正确，目标值设定合理且能够支撑达成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和业务的目标。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ctr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服务目录判断：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服务内容分类正确，分工正确，所需岗位与级别，技术手册完整，产出物完整，所需岗位完整，岗位对应的级别正确，频率与工时设计合理且能够达成服务质量目标。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ctr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运维体制判断：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体制设定结构合理，组织完整，岗位完整，与服务目录保持一致，职责描述清楚明且职责与服务目录中的内容不冲突。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2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0" y="3082925"/>
            <a:ext cx="4048125" cy="193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7"/>
          <p:cNvSpPr/>
          <p:nvPr/>
        </p:nvSpPr>
        <p:spPr>
          <a:xfrm>
            <a:off x="1085850" y="130175"/>
            <a:ext cx="2971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问题管理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315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50825" y="735013"/>
            <a:ext cx="8642350" cy="2959100"/>
          </a:xfrm>
          <a:prstGeom prst="rect">
            <a:avLst/>
          </a:prstGeom>
          <a:noFill/>
          <a:ln w="0">
            <a:noFill/>
            <a:prstDash val="dash"/>
          </a:ln>
        </p:spPr>
        <p:txBody>
          <a:bodyPr lIns="0" tIns="0" rIns="0" bIns="0"/>
          <a:lstStyle>
            <a:defPPr>
              <a:defRPr lang="zh-CN"/>
            </a:defPPr>
            <a:lvl1pPr indent="360045" eaLnBrk="0" hangingPunct="0">
              <a:lnSpc>
                <a:spcPct val="120000"/>
              </a:lnSpc>
              <a:spcBef>
                <a:spcPct val="40000"/>
              </a:spcBef>
              <a:buClr>
                <a:srgbClr val="DA2421"/>
              </a:buCl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360045" algn="l" defTabSz="914400" rtl="0" eaLnBrk="0" fontAlgn="base" latinLnBrk="0" hangingPunct="0">
              <a:lnSpc>
                <a:spcPct val="20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通过问题和事件的分离，可以使得突发事件和常见问题得以分开处理，避免重复处理类似问题或者已知错误，大大减去了支持人员的工作量。通过对常见事件总结成问题，可以对运维经验进行积累。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20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</a:t>
            </a: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问题提交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主动防止事件和问题发生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知识库管理关联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自动巡检发现问题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系统支持问题新增、修改与提交功能，或由事件升级为问题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问题审批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系统支持问题审批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系统支持问题审批通过后，分析查找问题原因，提出解决方案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问题转变更：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系统支持问题升级为变更，转入变更流程并问题关闭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5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问题概览：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通过图表和分类统计展示问题管理关键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KPI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，对重要关注的问题重点显示。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360045" algn="l" defTabSz="914400" rtl="0" eaLnBrk="0" fontAlgn="base" latinLnBrk="0" hangingPunct="0">
              <a:lnSpc>
                <a:spcPct val="120000"/>
              </a:lnSpc>
              <a:spcBef>
                <a:spcPct val="40000"/>
              </a:spcBef>
              <a:spcAft>
                <a:spcPct val="0"/>
              </a:spcAft>
              <a:buClr>
                <a:srgbClr val="DA2421"/>
              </a:buClr>
              <a:buSzTx/>
              <a:buFontTx/>
              <a:buNone/>
              <a:defRPr/>
            </a:pP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文本框 7"/>
          <p:cNvSpPr/>
          <p:nvPr/>
        </p:nvSpPr>
        <p:spPr>
          <a:xfrm>
            <a:off x="1085850" y="130175"/>
            <a:ext cx="2971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值班管理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339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2" name="矩形 1"/>
          <p:cNvSpPr/>
          <p:nvPr/>
        </p:nvSpPr>
        <p:spPr>
          <a:xfrm>
            <a:off x="285750" y="773113"/>
            <a:ext cx="8547100" cy="19685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平台支持定制值班模板的增删该查与发布管理、支持人员排班、值班、交接班、任务推送管理，支持任务引发变更管理、配置管理，支持多种方式查询、统计，支持报表的批量生成及打印。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模板管理：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用来定制各区域部门使用固定排班模板，启用、停用、修改已存在的模板内容。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值班记录维护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平台支持对已安排的值班，进行当天值班情况反馈，查看已处理和待处理的值班信息记录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文本框 7"/>
          <p:cNvSpPr/>
          <p:nvPr/>
        </p:nvSpPr>
        <p:spPr>
          <a:xfrm>
            <a:off x="1085850" y="130175"/>
            <a:ext cx="2971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363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41227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平台支持任务管理（非例行任务）模块用于任务的新增、修改、删除、查询、分派等功能操作。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支持任务增删查改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支持任务管理流程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流程技术指标参见技术要求表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支持任务管理流程跟踪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支持任务引发变更管理、配置管理等流程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支持任务实际发起人、任务流程发起人、任务确认人的区分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支持与任务管理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KPI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相关的信息收集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支持按角色、组织机构、群组授予用户访间权限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支持基本查询、高级查询功能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支持按指定字段进行统计分析的功能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支持报表生成、导出、打印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文本框 7"/>
          <p:cNvSpPr/>
          <p:nvPr/>
        </p:nvSpPr>
        <p:spPr>
          <a:xfrm>
            <a:off x="1085850" y="130175"/>
            <a:ext cx="36957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信息发布管理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387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26146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平台信息发布（通知公告）模块，支持信息分类管理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支持增删查改、支持信息增删查改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信息发布管理：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支持按信息类别进行对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平台信息发布（通知公告）模块，支持信息分类管理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支持增删查改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满意度调查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满意度调查模板管理，支持单选型、多选型、问答型、选填型、必填型等多种方式的组合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意见反馈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实现用户新增、删除、处理、反馈单及反馈内容的查看、修改功能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意见反馈对应的任务自动推送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3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432050"/>
            <a:ext cx="4619625" cy="24082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775" y="2432050"/>
            <a:ext cx="4059238" cy="24082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文本框 7"/>
          <p:cNvSpPr/>
          <p:nvPr/>
        </p:nvSpPr>
        <p:spPr>
          <a:xfrm>
            <a:off x="1085850" y="130175"/>
            <a:ext cx="2971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知识管理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411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3554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以服务目录为核心，构建结构化的知识库。实现知识的创建、储存、共享；实现知识对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IT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运维服务管理的价值和作用。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知识分类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维护知识库类型的新增、修改、删除、查看，并按树形展示，为知识库的新增提供基础数据来源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文档管理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制度、标准、规范、规程、操作手册等，自动归档其他应用如任务协作反馈中附件文档到您的文档库，也可以另行分类建立属于自己的个人文件夹，可实现文档版本管理、文档密级管理，同时多终端同步所有文件信息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支持知识管理与事件管理、问题管理、服务申请管理、变更管理等流程关联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支持将过程转化为知识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支持知识在流程中应用。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知识查询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平台支持查询所有知识库记录，最新知识库，及使用次数最多的热门知识库。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知识培训管理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支持知识学习，考题管理、自测、模拟考试及多维度的统计分析。</a:t>
            </a:r>
            <a:endParaRPr kumimoji="1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文本框 7"/>
          <p:cNvSpPr/>
          <p:nvPr/>
        </p:nvSpPr>
        <p:spPr>
          <a:xfrm>
            <a:off x="1085850" y="130175"/>
            <a:ext cx="32797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供应商管理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435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27686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平台支持供应商信息管理，支持供应商合同管理，与事件管理、问题管理等模块关联自动计算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UC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相关指标并评估指标达成情况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供应商信息管理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支持维护合作供应商和合作伙伴的信息，给三线提供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支撑。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供应商合同管理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支持集中管理企业所有合同，方便管理调用，建立标准化的合同流程，安全规范管理，合同自定义，满足各行各业的个性化需求，自动生成统计报表，实时查看合同相关信息的数据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588" y="2582863"/>
            <a:ext cx="5311775" cy="2393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文本框 7"/>
          <p:cNvSpPr/>
          <p:nvPr/>
        </p:nvSpPr>
        <p:spPr>
          <a:xfrm>
            <a:off x="1085850" y="130175"/>
            <a:ext cx="29718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客户管理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459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2800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支持客户信息管理，支持客户合同管理，与事件管理、间题管理等模块关联，自动计算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SLA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相关指标并评估指标达成情况。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客户信息管理：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支持维护合作供应商和合作伙伴的信息，给三线提供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支撑。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客户合同管理：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支持集中管理企业所有合同，方便管理调用，建立标准化的合同流程，安全规范管理，合同自定义，满足各行各业的个性化需求，自动生成统计报表，实时查看合同相关信息的数据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46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2620963"/>
            <a:ext cx="5095875" cy="2392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文本框 7"/>
          <p:cNvSpPr/>
          <p:nvPr/>
        </p:nvSpPr>
        <p:spPr>
          <a:xfrm>
            <a:off x="1085850" y="130175"/>
            <a:ext cx="38957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业务模型</a:t>
            </a:r>
            <a:r>
              <a:rPr lang="en-US" altLang="zh-CN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自助服务台管理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483" name="灯片编号占位符 1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" altLang="zh-CN" sz="900" dirty="0"/>
            </a:fld>
            <a:endParaRPr lang="" altLang="zh-CN" sz="900" dirty="0"/>
          </a:p>
        </p:txBody>
      </p:sp>
      <p:sp>
        <p:nvSpPr>
          <p:cNvPr id="4" name="矩形 3"/>
          <p:cNvSpPr/>
          <p:nvPr/>
        </p:nvSpPr>
        <p:spPr>
          <a:xfrm>
            <a:off x="285750" y="773113"/>
            <a:ext cx="8547100" cy="2938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自助服务台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是向运维人员提供一站式、集中管理的工作窗口。工作台汇集待办、已办、通知、公告等。运维信息公告栏，发布运维通知、动态信息、组织信息等重要信息，满足运维人员查阅和信息共享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自助服务台应以不同图标的形式为用户提供服务入口，具体包括各类服务申请、故障申报、个人服务跟踪、历史服务查询等功能。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服务申请可按需配置是否显示、显示图标、对应的审批流程等。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支持用户根据个人喜好选择并配置关注的事项到个人首页。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48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0" y="2636838"/>
            <a:ext cx="4718050" cy="238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1506" name="组合 7169"/>
          <p:cNvGrpSpPr/>
          <p:nvPr/>
        </p:nvGrpSpPr>
        <p:grpSpPr>
          <a:xfrm>
            <a:off x="3187700" y="-3175"/>
            <a:ext cx="2606675" cy="728663"/>
            <a:chOff x="0" y="0"/>
            <a:chExt cx="4104" cy="2250"/>
          </a:xfrm>
        </p:grpSpPr>
        <p:sp>
          <p:nvSpPr>
            <p:cNvPr id="21509" name="椭圆 16"/>
            <p:cNvSpPr/>
            <p:nvPr/>
          </p:nvSpPr>
          <p:spPr>
            <a:xfrm>
              <a:off x="0" y="1224"/>
              <a:ext cx="1026" cy="1026"/>
            </a:xfrm>
            <a:prstGeom prst="ellipse">
              <a:avLst/>
            </a:prstGeom>
            <a:solidFill>
              <a:srgbClr val="ADB6C7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0" name="矩形 17"/>
            <p:cNvSpPr/>
            <p:nvPr/>
          </p:nvSpPr>
          <p:spPr>
            <a:xfrm>
              <a:off x="0" y="0"/>
              <a:ext cx="1026" cy="1737"/>
            </a:xfrm>
            <a:prstGeom prst="rect">
              <a:avLst/>
            </a:prstGeom>
            <a:solidFill>
              <a:srgbClr val="ADB6C7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1" name="椭圆 18"/>
            <p:cNvSpPr/>
            <p:nvPr/>
          </p:nvSpPr>
          <p:spPr>
            <a:xfrm>
              <a:off x="1026" y="1224"/>
              <a:ext cx="1026" cy="1026"/>
            </a:xfrm>
            <a:prstGeom prst="ellipse">
              <a:avLst/>
            </a:prstGeom>
            <a:solidFill>
              <a:srgbClr val="097FC8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2" name="矩形 19"/>
            <p:cNvSpPr/>
            <p:nvPr/>
          </p:nvSpPr>
          <p:spPr>
            <a:xfrm>
              <a:off x="1026" y="0"/>
              <a:ext cx="1026" cy="1737"/>
            </a:xfrm>
            <a:prstGeom prst="rect">
              <a:avLst/>
            </a:prstGeom>
            <a:solidFill>
              <a:srgbClr val="097FC8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3" name="椭圆 20"/>
            <p:cNvSpPr/>
            <p:nvPr/>
          </p:nvSpPr>
          <p:spPr>
            <a:xfrm>
              <a:off x="2052" y="1224"/>
              <a:ext cx="1026" cy="1026"/>
            </a:xfrm>
            <a:prstGeom prst="ellipse">
              <a:avLst/>
            </a:prstGeom>
            <a:solidFill>
              <a:srgbClr val="CBD1DB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4" name="矩形 21"/>
            <p:cNvSpPr/>
            <p:nvPr/>
          </p:nvSpPr>
          <p:spPr>
            <a:xfrm>
              <a:off x="2052" y="0"/>
              <a:ext cx="1026" cy="1737"/>
            </a:xfrm>
            <a:prstGeom prst="rect">
              <a:avLst/>
            </a:prstGeom>
            <a:solidFill>
              <a:srgbClr val="CBD1DB"/>
            </a:solidFill>
            <a:ln w="9525">
              <a:noFill/>
            </a:ln>
          </p:spPr>
          <p:txBody>
            <a:bodyPr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5" name="椭圆 22"/>
            <p:cNvSpPr/>
            <p:nvPr/>
          </p:nvSpPr>
          <p:spPr>
            <a:xfrm>
              <a:off x="3078" y="1224"/>
              <a:ext cx="1027" cy="1026"/>
            </a:xfrm>
            <a:prstGeom prst="ellipse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90170" tIns="46990" rIns="90170" bIns="46990"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16" name="矩形 23"/>
            <p:cNvSpPr/>
            <p:nvPr/>
          </p:nvSpPr>
          <p:spPr>
            <a:xfrm>
              <a:off x="3078" y="0"/>
              <a:ext cx="1027" cy="1737"/>
            </a:xfrm>
            <a:prstGeom prst="rect">
              <a:avLst/>
            </a:prstGeom>
            <a:solidFill>
              <a:srgbClr val="99CC00"/>
            </a:solidFill>
            <a:ln w="9525">
              <a:noFill/>
            </a:ln>
          </p:spPr>
          <p:txBody>
            <a:bodyPr lIns="90170" tIns="46990" rIns="90170" bIns="46990" anchor="ctr" anchorCtr="0"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507" name="文本框 7"/>
          <p:cNvSpPr/>
          <p:nvPr/>
        </p:nvSpPr>
        <p:spPr>
          <a:xfrm>
            <a:off x="2962275" y="1635125"/>
            <a:ext cx="3189288" cy="1168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6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  <a:endParaRPr lang="en-US" altLang="zh-CN" sz="6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8" name="文本框 5"/>
          <p:cNvSpPr/>
          <p:nvPr/>
        </p:nvSpPr>
        <p:spPr>
          <a:xfrm>
            <a:off x="2962275" y="2989263"/>
            <a:ext cx="41846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四川邦辰信息科技有限公司</a:t>
            </a:r>
            <a:endParaRPr lang="en-US" altLang="zh-CN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地址：四川省绵阳市中国（绵阳）科技城创新中心二期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邮编： 621000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电话：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86-</a:t>
            </a: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0816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-2697988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28134533"/>
  <p:tag name="MH_LIBRARY" val="GRAPHIC"/>
  <p:tag name="MH_TYPE" val="Other"/>
  <p:tag name="MH_ORDER" val="6"/>
</p:tagLst>
</file>

<file path=ppt/tags/tag2.xml><?xml version="1.0" encoding="utf-8"?>
<p:tagLst xmlns:p="http://schemas.openxmlformats.org/presentationml/2006/main">
  <p:tag name="MH" val="20170828134533"/>
  <p:tag name="MH_LIBRARY" val="GRAPHIC"/>
  <p:tag name="MH_TYPE" val="Other"/>
  <p:tag name="MH_ORDER" val="7"/>
</p:tagLst>
</file>

<file path=ppt/tags/tag3.xml><?xml version="1.0" encoding="utf-8"?>
<p:tagLst xmlns:p="http://schemas.openxmlformats.org/presentationml/2006/main">
  <p:tag name="MH" val="20170828134533"/>
  <p:tag name="MH_LIBRARY" val="GRAPHIC"/>
  <p:tag name="MH_TYPE" val="Other"/>
  <p:tag name="MH_ORDER" val="8"/>
</p:tagLst>
</file>

<file path=ppt/tags/tag4.xml><?xml version="1.0" encoding="utf-8"?>
<p:tagLst xmlns:p="http://schemas.openxmlformats.org/presentationml/2006/main">
  <p:tag name="MH" val="20170828134533"/>
  <p:tag name="MH_LIBRARY" val="GRAPHIC"/>
  <p:tag name="MH_TYPE" val="Other"/>
  <p:tag name="MH_ORDER" val="9"/>
</p:tagLst>
</file>

<file path=ppt/tags/tag5.xml><?xml version="1.0" encoding="utf-8"?>
<p:tagLst xmlns:p="http://schemas.openxmlformats.org/presentationml/2006/main">
  <p:tag name="MH" val="20170828134533"/>
  <p:tag name="MH_LIBRARY" val="GRAPHIC"/>
  <p:tag name="MH_TYPE" val="Other"/>
  <p:tag name="MH_ORDER" val="10"/>
</p:tagLst>
</file>

<file path=ppt/tags/tag6.xml><?xml version="1.0" encoding="utf-8"?>
<p:tagLst xmlns:p="http://schemas.openxmlformats.org/presentationml/2006/main">
  <p:tag name="MH" val="20170828134533"/>
  <p:tag name="MH_LIBRARY" val="GRAPHIC"/>
  <p:tag name="MH_TYPE" val="Other"/>
  <p:tag name="MH_ORDER" val="11"/>
</p:tagLst>
</file>

<file path=ppt/tags/tag7.xml><?xml version="1.0" encoding="utf-8"?>
<p:tagLst xmlns:p="http://schemas.openxmlformats.org/presentationml/2006/main">
  <p:tag name="MH" val="20170828134547"/>
  <p:tag name="MH_LIBRARY" val="GRAPHIC"/>
  <p:tag name="MH_TYPE" val="Title"/>
  <p:tag name="MH_ORDER" val="1"/>
</p:tagLst>
</file>

<file path=ppt/tags/tag8.xml><?xml version="1.0" encoding="utf-8"?>
<p:tagLst xmlns:p="http://schemas.openxmlformats.org/presentationml/2006/main">
  <p:tag name="MH" val="20170828134547"/>
  <p:tag name="MH_LIBRARY" val="GRAPHIC"/>
  <p:tag name="MH_TYPE" val="Other"/>
  <p:tag name="MH_ORDER" val="1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40530A99PPBG">
  <a:themeElements>
    <a:clrScheme name="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0070C0"/>
      </a:accent1>
      <a:accent2>
        <a:srgbClr val="6A63CB"/>
      </a:accent2>
      <a:accent3>
        <a:srgbClr val="FFFFFF"/>
      </a:accent3>
      <a:accent4>
        <a:srgbClr val="333537"/>
      </a:accent4>
      <a:accent5>
        <a:srgbClr val="AABCDC"/>
      </a:accent5>
      <a:accent6>
        <a:srgbClr val="5E58B6"/>
      </a:accent6>
      <a:hlink>
        <a:srgbClr val="00B0F0"/>
      </a:hlink>
      <a:folHlink>
        <a:srgbClr val="AFB2B4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A000120140530A99PPBG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0070C0"/>
        </a:accent1>
        <a:accent2>
          <a:srgbClr val="6A63CB"/>
        </a:accent2>
        <a:accent3>
          <a:srgbClr val="FFFFFF"/>
        </a:accent3>
        <a:accent4>
          <a:srgbClr val="333436"/>
        </a:accent4>
        <a:accent5>
          <a:srgbClr val="AABBDC"/>
        </a:accent5>
        <a:accent6>
          <a:srgbClr val="5F59B8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3774</Words>
  <Application>WPS 演示</Application>
  <PresentationFormat>全屏显示(16:9)</PresentationFormat>
  <Paragraphs>355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Calibri Light</vt:lpstr>
      <vt:lpstr>Calibri</vt:lpstr>
      <vt:lpstr>幼圆</vt:lpstr>
      <vt:lpstr>微软雅黑</vt:lpstr>
      <vt:lpstr>Times New Roman</vt:lpstr>
      <vt:lpstr>Arial Unicode MS</vt:lpstr>
      <vt:lpstr>Office 主题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徐磊</cp:lastModifiedBy>
  <cp:revision>1290</cp:revision>
  <dcterms:created xsi:type="dcterms:W3CDTF">2013-11-04T03:48:00Z</dcterms:created>
  <dcterms:modified xsi:type="dcterms:W3CDTF">2026-04-27T07:25:24Z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774BAD9DE1AB4A40AA3E55D2347F3EAA_12</vt:lpwstr>
  </property>
</Properties>
</file>