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docProps/custom.xml" ContentType="application/vnd.openxmlformats-officedocument.custom-propertie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68.xml" ContentType="application/vnd.openxmlformats-officedocument.presentationml.tags+xml"/>
  <Default Extension="emf" ContentType="image/x-emf"/>
  <Override PartName="/ppt/tags/tag86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57.xml" ContentType="application/vnd.openxmlformats-officedocument.presentationml.tags+xml"/>
  <Override PartName="/ppt/tags/tag75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64.xml" ContentType="application/vnd.openxmlformats-officedocument.presentationml.tags+xml"/>
  <Override PartName="/ppt/notesSlides/notesSlide13.xml" ContentType="application/vnd.openxmlformats-officedocument.presentationml.notesSlide+xml"/>
  <Override PartName="/ppt/tags/tag8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71.xml" ContentType="application/vnd.openxmlformats-officedocument.presentationml.tag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0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Default Extension="wmf" ContentType="image/x-wmf"/>
  <Override PartName="/ppt/tags/tag87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notesSlides/notesSlide9.xml" ContentType="application/vnd.openxmlformats-officedocument.presentationml.notesSlide+xml"/>
  <Override PartName="/ppt/tags/tag90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tags/tag59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66.xml" ContentType="application/vnd.openxmlformats-officedocument.presentationml.tags+xml"/>
  <Override PartName="/ppt/notesSlides/notesSlide15.xml" ContentType="application/vnd.openxmlformats-officedocument.presentationml.notesSlide+xml"/>
  <Override PartName="/ppt/tags/tag84.xml" ContentType="application/vnd.openxmlformats-officedocument.presentationml.tags+xml"/>
  <Override PartName="/ppt/slides/slide20.xml" ContentType="application/vnd.openxmlformats-officedocument.presentationml.slide+xml"/>
  <Override PartName="/ppt/tags/tag26.xml" ContentType="application/vnd.openxmlformats-officedocument.presentationml.tags+xml"/>
  <Override PartName="/ppt/tags/tag55.xml" ContentType="application/vnd.openxmlformats-officedocument.presentationml.tags+xml"/>
  <Override PartName="/ppt/tags/tag7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415" r:id="rId3"/>
    <p:sldId id="418" r:id="rId4"/>
    <p:sldId id="455" r:id="rId5"/>
    <p:sldId id="421" r:id="rId6"/>
    <p:sldId id="419" r:id="rId7"/>
    <p:sldId id="420" r:id="rId8"/>
    <p:sldId id="460" r:id="rId9"/>
    <p:sldId id="425" r:id="rId10"/>
    <p:sldId id="422" r:id="rId11"/>
    <p:sldId id="452" r:id="rId12"/>
    <p:sldId id="451" r:id="rId13"/>
    <p:sldId id="461" r:id="rId14"/>
    <p:sldId id="462" r:id="rId15"/>
    <p:sldId id="463" r:id="rId16"/>
    <p:sldId id="459" r:id="rId17"/>
    <p:sldId id="429" r:id="rId18"/>
    <p:sldId id="442" r:id="rId19"/>
    <p:sldId id="439" r:id="rId20"/>
    <p:sldId id="447" r:id="rId21"/>
    <p:sldId id="445" r:id="rId22"/>
    <p:sldId id="444" r:id="rId23"/>
    <p:sldId id="449" r:id="rId24"/>
    <p:sldId id="438" r:id="rId25"/>
    <p:sldId id="448" r:id="rId26"/>
    <p:sldId id="423" r:id="rId27"/>
    <p:sldId id="458" r:id="rId28"/>
    <p:sldId id="465" r:id="rId29"/>
    <p:sldId id="466" r:id="rId30"/>
    <p:sldId id="361" r:id="rId31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66FFCC"/>
    <a:srgbClr val="FFB8A7"/>
    <a:srgbClr val="FF3300"/>
    <a:srgbClr val="0066FF"/>
    <a:srgbClr val="0000FF"/>
    <a:srgbClr val="00FF00"/>
    <a:srgbClr val="00CC00"/>
    <a:srgbClr val="00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191" autoAdjust="0"/>
    <p:restoredTop sz="94063" autoAdjust="0"/>
  </p:normalViewPr>
  <p:slideViewPr>
    <p:cSldViewPr>
      <p:cViewPr>
        <p:scale>
          <a:sx n="110" d="100"/>
          <a:sy n="110" d="100"/>
        </p:scale>
        <p:origin x="-39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67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E0314-124F-4DA6-BE2B-6CB1F0B36169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45FC1-735C-415D-90DB-6E99BF3107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95305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E3CBA-A104-46AA-8A92-EE3580595837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72888-C21A-4E54-BDDD-A71847AF55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2966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IT</a:t>
            </a:r>
            <a:r>
              <a:rPr lang="zh-CN" altLang="en-US" dirty="0" smtClean="0"/>
              <a:t>运维管理发展趋势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、运维管理对象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要素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、运维管理体系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3.1</a:t>
            </a:r>
            <a:r>
              <a:rPr lang="zh-CN" altLang="en-US" dirty="0" smtClean="0"/>
              <a:t>运维管理框架</a:t>
            </a:r>
            <a:r>
              <a:rPr lang="en-US" altLang="zh-CN" dirty="0" smtClean="0"/>
              <a:t>-----------</a:t>
            </a:r>
            <a:r>
              <a:rPr lang="zh-CN" altLang="en-US" dirty="0" smtClean="0"/>
              <a:t>流程（</a:t>
            </a:r>
            <a:r>
              <a:rPr lang="en-US" altLang="zh-CN" dirty="0" smtClean="0"/>
              <a:t>|</a:t>
            </a:r>
            <a:r>
              <a:rPr lang="zh-CN" altLang="en-US" dirty="0" smtClean="0"/>
              <a:t>）、服务包（</a:t>
            </a:r>
            <a:r>
              <a:rPr lang="en-US" altLang="zh-CN" dirty="0" smtClean="0"/>
              <a:t>-</a:t>
            </a:r>
            <a:r>
              <a:rPr lang="zh-CN" altLang="en-US" dirty="0" smtClean="0"/>
              <a:t>）</a:t>
            </a:r>
            <a:r>
              <a:rPr lang="en-US" altLang="zh-CN" dirty="0" smtClean="0"/>
              <a:t>--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个或多个项目。服务对象、</a:t>
            </a:r>
            <a:r>
              <a:rPr lang="en-US" altLang="zh-CN" dirty="0" smtClean="0"/>
              <a:t>SLA</a:t>
            </a:r>
            <a:r>
              <a:rPr lang="zh-CN" altLang="en-US" dirty="0" smtClean="0"/>
              <a:t>等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3.2</a:t>
            </a:r>
            <a:r>
              <a:rPr lang="zh-CN" altLang="en-US" dirty="0" smtClean="0"/>
              <a:t>运维服务管理方法（知识转移</a:t>
            </a:r>
            <a:r>
              <a:rPr lang="en-US" altLang="zh-CN" dirty="0" smtClean="0"/>
              <a:t>-</a:t>
            </a:r>
            <a:r>
              <a:rPr lang="zh-CN" altLang="en-US" dirty="0" smtClean="0"/>
              <a:t>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执行）</a:t>
            </a:r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、运维业务模型设计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4.1</a:t>
            </a:r>
            <a:r>
              <a:rPr lang="zh-CN" altLang="en-US" dirty="0" smtClean="0"/>
              <a:t>配置模型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4.2</a:t>
            </a:r>
            <a:r>
              <a:rPr lang="zh-CN" altLang="en-US" dirty="0" smtClean="0"/>
              <a:t>服务目录</a:t>
            </a:r>
            <a:r>
              <a:rPr lang="en-US" altLang="zh-CN" dirty="0" smtClean="0"/>
              <a:t>(</a:t>
            </a:r>
            <a:r>
              <a:rPr lang="zh-CN" altLang="en-US" dirty="0" smtClean="0"/>
              <a:t>服务包、服务目录、服务活动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4.3</a:t>
            </a:r>
            <a:r>
              <a:rPr lang="zh-CN" altLang="en-US" dirty="0" smtClean="0"/>
              <a:t>知识库</a:t>
            </a:r>
            <a:r>
              <a:rPr lang="en-US" altLang="zh-CN" dirty="0" smtClean="0"/>
              <a:t>(</a:t>
            </a:r>
            <a:r>
              <a:rPr lang="zh-CN" altLang="en-US" dirty="0" smtClean="0"/>
              <a:t>来源、知识库规则、知库应用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 4.4</a:t>
            </a:r>
            <a:r>
              <a:rPr lang="zh-CN" altLang="en-US" dirty="0" smtClean="0"/>
              <a:t>监控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4.5</a:t>
            </a:r>
            <a:r>
              <a:rPr lang="zh-CN" altLang="en-US" dirty="0" smtClean="0"/>
              <a:t>核心流程设计</a:t>
            </a:r>
          </a:p>
          <a:p>
            <a:endParaRPr lang="zh-CN" altLang="en-US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、系统整体规划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5.1</a:t>
            </a:r>
            <a:r>
              <a:rPr lang="zh-CN" altLang="en-US" dirty="0" smtClean="0"/>
              <a:t>整体规划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5.1</a:t>
            </a:r>
            <a:r>
              <a:rPr lang="zh-CN" altLang="en-US" dirty="0" smtClean="0"/>
              <a:t>功能构想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5.2</a:t>
            </a:r>
            <a:r>
              <a:rPr lang="zh-CN" altLang="en-US" dirty="0" smtClean="0"/>
              <a:t>功能结构</a:t>
            </a:r>
          </a:p>
          <a:p>
            <a:r>
              <a:rPr lang="zh-CN" altLang="en-US" dirty="0" smtClean="0"/>
              <a:t> </a:t>
            </a:r>
            <a:r>
              <a:rPr lang="en-US" altLang="zh-CN" dirty="0" smtClean="0"/>
              <a:t>5.3</a:t>
            </a:r>
            <a:r>
              <a:rPr lang="zh-CN" altLang="en-US" dirty="0" smtClean="0"/>
              <a:t>实施策略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62791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en-US" altLang="zh-CN" dirty="0" smtClean="0"/>
          </a:p>
          <a:p>
            <a:r>
              <a:rPr lang="zh-CN" altLang="en-US" dirty="0" smtClean="0"/>
              <a:t>运维服务针对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个要素展开活动，同时根据标准、流程、质量、绩效进行管理和监控，确保生产环境正常运行，及保运营。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修改过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878231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有调整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有修改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32265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772888-C21A-4E54-BDDD-A71847AF5519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3226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ja-JP" smtClean="0"/>
              <a:t>All Rights Reserved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0"/>
            <a:ext cx="8496944" cy="6206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2017/8/30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smtClean="0"/>
              <a:t>All Rights Reserved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6606024"/>
            <a:ext cx="9144000" cy="252000"/>
            <a:chOff x="0" y="6669360"/>
            <a:chExt cx="9144000" cy="188640"/>
          </a:xfrm>
          <a:solidFill>
            <a:srgbClr val="C00000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6669360"/>
              <a:ext cx="9144000" cy="1886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五边形 11"/>
            <p:cNvSpPr/>
            <p:nvPr userDrawn="1"/>
          </p:nvSpPr>
          <p:spPr>
            <a:xfrm flipH="1">
              <a:off x="6732240" y="6669360"/>
              <a:ext cx="2411760" cy="188640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22460" y="0"/>
            <a:ext cx="9166460" cy="6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35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5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0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9.png"/><Relationship Id="rId5" Type="http://schemas.openxmlformats.org/officeDocument/2006/relationships/tags" Target="../tags/tag59.xml"/><Relationship Id="rId10" Type="http://schemas.openxmlformats.org/officeDocument/2006/relationships/image" Target="../media/image8.png"/><Relationship Id="rId4" Type="http://schemas.openxmlformats.org/officeDocument/2006/relationships/tags" Target="../tags/tag58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package" Target="../embeddings/Microsoft_Office_Excel____1.xls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wmf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0.wmf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图片1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" y="620688"/>
            <a:ext cx="9143999" cy="6023022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effectLst>
            <a:outerShdw blurRad="63500" dist="38100" dir="2700000" algn="tl" rotWithShape="0">
              <a:prstClr val="black">
                <a:alpha val="6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altLang="zh-CN" sz="5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ITSM</a:t>
            </a:r>
            <a:r>
              <a:rPr lang="zh-CN" altLang="en-US" sz="5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整体规划</a:t>
            </a:r>
            <a:endParaRPr lang="zh-CN" altLang="en-US" sz="5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213243" y="1161304"/>
            <a:ext cx="5879976" cy="5004000"/>
            <a:chOff x="1213243" y="1161304"/>
            <a:chExt cx="5879976" cy="5004000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2917362" y="1393008"/>
              <a:ext cx="550238" cy="549944"/>
            </a:xfrm>
            <a:prstGeom prst="rect">
              <a:avLst/>
            </a:prstGeom>
            <a:noFill/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 b="1">
                <a:solidFill>
                  <a:srgbClr val="C0332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3588487" y="1393008"/>
              <a:ext cx="3504732" cy="549944"/>
            </a:xfrm>
            <a:prstGeom prst="rect">
              <a:avLst/>
            </a:prstGeom>
            <a:solidFill>
              <a:srgbClr val="C03321"/>
            </a:solidFill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IT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运维管理发展趋势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MH_Number_3"/>
            <p:cNvSpPr/>
            <p:nvPr>
              <p:custDataLst>
                <p:tags r:id="rId4"/>
              </p:custDataLst>
            </p:nvPr>
          </p:nvSpPr>
          <p:spPr>
            <a:xfrm>
              <a:off x="2917362" y="3396172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MH_Entry_3"/>
            <p:cNvSpPr/>
            <p:nvPr>
              <p:custDataLst>
                <p:tags r:id="rId5"/>
              </p:custDataLst>
            </p:nvPr>
          </p:nvSpPr>
          <p:spPr>
            <a:xfrm>
              <a:off x="3588487" y="3396172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运维管理体系</a:t>
              </a:r>
            </a:p>
          </p:txBody>
        </p:sp>
        <p:sp>
          <p:nvSpPr>
            <p:cNvPr id="12" name="MH_Number_5"/>
            <p:cNvSpPr/>
            <p:nvPr>
              <p:custDataLst>
                <p:tags r:id="rId6"/>
              </p:custDataLst>
            </p:nvPr>
          </p:nvSpPr>
          <p:spPr>
            <a:xfrm>
              <a:off x="2917362" y="5399336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05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" name="MH_Entry_5"/>
            <p:cNvSpPr/>
            <p:nvPr>
              <p:custDataLst>
                <p:tags r:id="rId7"/>
              </p:custDataLst>
            </p:nvPr>
          </p:nvSpPr>
          <p:spPr>
            <a:xfrm>
              <a:off x="3588487" y="5399336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系统整体规划</a:t>
              </a:r>
            </a:p>
          </p:txBody>
        </p:sp>
        <p:sp>
          <p:nvSpPr>
            <p:cNvPr id="21" name="MH_Number_2"/>
            <p:cNvSpPr/>
            <p:nvPr>
              <p:custDataLst>
                <p:tags r:id="rId8"/>
              </p:custDataLst>
            </p:nvPr>
          </p:nvSpPr>
          <p:spPr>
            <a:xfrm>
              <a:off x="2917362" y="2394590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MH_Entry_2"/>
            <p:cNvSpPr/>
            <p:nvPr>
              <p:custDataLst>
                <p:tags r:id="rId9"/>
              </p:custDataLst>
            </p:nvPr>
          </p:nvSpPr>
          <p:spPr>
            <a:xfrm>
              <a:off x="3588487" y="2394590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运维管理对象</a:t>
              </a:r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要素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MH_Number_4"/>
            <p:cNvSpPr/>
            <p:nvPr>
              <p:custDataLst>
                <p:tags r:id="rId10"/>
              </p:custDataLst>
            </p:nvPr>
          </p:nvSpPr>
          <p:spPr>
            <a:xfrm>
              <a:off x="2917362" y="4397754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" name="MH_Entry_4"/>
            <p:cNvSpPr/>
            <p:nvPr>
              <p:custDataLst>
                <p:tags r:id="rId11"/>
              </p:custDataLst>
            </p:nvPr>
          </p:nvSpPr>
          <p:spPr>
            <a:xfrm>
              <a:off x="3588487" y="4397754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运维业务模型设计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5" name="MH_Others_1"/>
            <p:cNvCxnSpPr/>
            <p:nvPr>
              <p:custDataLst>
                <p:tags r:id="rId12"/>
              </p:custDataLst>
            </p:nvPr>
          </p:nvCxnSpPr>
          <p:spPr>
            <a:xfrm>
              <a:off x="2380336" y="1161304"/>
              <a:ext cx="0" cy="5004000"/>
            </a:xfrm>
            <a:prstGeom prst="line">
              <a:avLst/>
            </a:prstGeom>
            <a:ln w="41275">
              <a:solidFill>
                <a:srgbClr val="C033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1213243" y="1320643"/>
              <a:ext cx="1054501" cy="4196589"/>
              <a:chOff x="943190" y="632970"/>
              <a:chExt cx="1054501" cy="4196589"/>
            </a:xfrm>
          </p:grpSpPr>
          <p:sp>
            <p:nvSpPr>
              <p:cNvPr id="38" name="MH_Others_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43190" y="632970"/>
                <a:ext cx="1054501" cy="1188575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0">
                <a:noAutofit/>
              </a:bodyPr>
              <a:lstStyle/>
              <a:p>
                <a:r>
                  <a:rPr lang="en-US" altLang="zh-CN" sz="880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C</a:t>
                </a:r>
                <a:endParaRPr lang="zh-CN" altLang="en-US" sz="440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39" name="MH_Others_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32778" y="3331096"/>
                <a:ext cx="693893" cy="1498463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目</a:t>
                </a:r>
                <a:endParaRPr lang="en-US" altLang="zh-CN" sz="4800" b="1" dirty="0" smtClean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录</a:t>
                </a:r>
                <a:endParaRPr lang="zh-CN" altLang="en-US" sz="4800" b="1" dirty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MH_Others_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71949" y="1384476"/>
                <a:ext cx="615553" cy="2062424"/>
              </a:xfrm>
              <a:prstGeom prst="rect">
                <a:avLst/>
              </a:prstGeom>
            </p:spPr>
            <p:txBody>
              <a:bodyPr vert="eaVert" wrap="square">
                <a:noAutofit/>
              </a:bodyPr>
              <a:lstStyle/>
              <a:p>
                <a:r>
                  <a:rPr lang="en-US" altLang="zh-CN" sz="2800" spc="500">
                    <a:solidFill>
                      <a:srgbClr val="C0C0C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ONTENTS</a:t>
                </a:r>
                <a:endParaRPr lang="zh-CN" altLang="en-US" sz="2800" spc="500">
                  <a:solidFill>
                    <a:srgbClr val="C0C0C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xmlns="" val="192110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1.1 IT</a:t>
            </a:r>
            <a:r>
              <a:rPr lang="zh-CN" altLang="en-US" dirty="0" smtClean="0"/>
              <a:t>运维管理发展趋势</a:t>
            </a:r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-36511" y="1606128"/>
            <a:ext cx="9195146" cy="4775200"/>
            <a:chOff x="-36511" y="1606128"/>
            <a:chExt cx="9195146" cy="4775200"/>
          </a:xfrm>
        </p:grpSpPr>
        <p:sp>
          <p:nvSpPr>
            <p:cNvPr id="4" name="Freeform 3"/>
            <p:cNvSpPr>
              <a:spLocks/>
            </p:cNvSpPr>
            <p:nvPr/>
          </p:nvSpPr>
          <p:spPr bwMode="auto">
            <a:xfrm>
              <a:off x="337862" y="1766451"/>
              <a:ext cx="7339034" cy="4395802"/>
            </a:xfrm>
            <a:custGeom>
              <a:avLst/>
              <a:gdLst/>
              <a:ahLst/>
              <a:cxnLst>
                <a:cxn ang="0">
                  <a:pos x="27705" y="86"/>
                </a:cxn>
                <a:cxn ang="0">
                  <a:pos x="27590" y="222"/>
                </a:cxn>
                <a:cxn ang="0">
                  <a:pos x="27451" y="383"/>
                </a:cxn>
                <a:cxn ang="0">
                  <a:pos x="27286" y="568"/>
                </a:cxn>
                <a:cxn ang="0">
                  <a:pos x="26949" y="930"/>
                </a:cxn>
                <a:cxn ang="0">
                  <a:pos x="26532" y="1362"/>
                </a:cxn>
                <a:cxn ang="0">
                  <a:pos x="26075" y="1813"/>
                </a:cxn>
                <a:cxn ang="0">
                  <a:pos x="25582" y="2285"/>
                </a:cxn>
                <a:cxn ang="0">
                  <a:pos x="24812" y="2993"/>
                </a:cxn>
                <a:cxn ang="0">
                  <a:pos x="23911" y="3787"/>
                </a:cxn>
                <a:cxn ang="0">
                  <a:pos x="22956" y="4594"/>
                </a:cxn>
                <a:cxn ang="0">
                  <a:pos x="21948" y="5414"/>
                </a:cxn>
                <a:cxn ang="0">
                  <a:pos x="20884" y="6247"/>
                </a:cxn>
                <a:cxn ang="0">
                  <a:pos x="19766" y="7093"/>
                </a:cxn>
                <a:cxn ang="0">
                  <a:pos x="18596" y="7952"/>
                </a:cxn>
                <a:cxn ang="0">
                  <a:pos x="17371" y="8824"/>
                </a:cxn>
                <a:cxn ang="0">
                  <a:pos x="16529" y="9402"/>
                </a:cxn>
                <a:cxn ang="0">
                  <a:pos x="15812" y="9861"/>
                </a:cxn>
                <a:cxn ang="0">
                  <a:pos x="15264" y="10191"/>
                </a:cxn>
                <a:cxn ang="0">
                  <a:pos x="14661" y="10535"/>
                </a:cxn>
                <a:cxn ang="0">
                  <a:pos x="14379" y="10690"/>
                </a:cxn>
                <a:cxn ang="0">
                  <a:pos x="14144" y="10818"/>
                </a:cxn>
                <a:cxn ang="0">
                  <a:pos x="13471" y="11160"/>
                </a:cxn>
                <a:cxn ang="0">
                  <a:pos x="13082" y="11349"/>
                </a:cxn>
                <a:cxn ang="0">
                  <a:pos x="12689" y="11534"/>
                </a:cxn>
                <a:cxn ang="0">
                  <a:pos x="12293" y="11712"/>
                </a:cxn>
                <a:cxn ang="0">
                  <a:pos x="11841" y="11907"/>
                </a:cxn>
                <a:cxn ang="0">
                  <a:pos x="11589" y="12013"/>
                </a:cxn>
                <a:cxn ang="0">
                  <a:pos x="11283" y="12137"/>
                </a:cxn>
                <a:cxn ang="0">
                  <a:pos x="10645" y="12384"/>
                </a:cxn>
                <a:cxn ang="0">
                  <a:pos x="10103" y="12578"/>
                </a:cxn>
                <a:cxn ang="0">
                  <a:pos x="9728" y="12709"/>
                </a:cxn>
                <a:cxn ang="0">
                  <a:pos x="9307" y="12849"/>
                </a:cxn>
                <a:cxn ang="0">
                  <a:pos x="8969" y="12956"/>
                </a:cxn>
                <a:cxn ang="0">
                  <a:pos x="8628" y="13059"/>
                </a:cxn>
                <a:cxn ang="0">
                  <a:pos x="7943" y="13255"/>
                </a:cxn>
                <a:cxn ang="0">
                  <a:pos x="6904" y="13522"/>
                </a:cxn>
                <a:cxn ang="0">
                  <a:pos x="6114" y="13700"/>
                </a:cxn>
                <a:cxn ang="0">
                  <a:pos x="5673" y="13792"/>
                </a:cxn>
                <a:cxn ang="0">
                  <a:pos x="4738" y="13964"/>
                </a:cxn>
                <a:cxn ang="0">
                  <a:pos x="3739" y="14119"/>
                </a:cxn>
                <a:cxn ang="0">
                  <a:pos x="2751" y="14239"/>
                </a:cxn>
                <a:cxn ang="0">
                  <a:pos x="1773" y="14325"/>
                </a:cxn>
                <a:cxn ang="0">
                  <a:pos x="1181" y="14361"/>
                </a:cxn>
                <a:cxn ang="0">
                  <a:pos x="862" y="14376"/>
                </a:cxn>
                <a:cxn ang="0">
                  <a:pos x="616" y="14383"/>
                </a:cxn>
                <a:cxn ang="0">
                  <a:pos x="389" y="14387"/>
                </a:cxn>
                <a:cxn ang="0">
                  <a:pos x="70" y="14387"/>
                </a:cxn>
              </a:cxnLst>
              <a:rect l="0" t="0" r="r" b="b"/>
              <a:pathLst>
                <a:path w="27775" h="14389">
                  <a:moveTo>
                    <a:pt x="27775" y="0"/>
                  </a:moveTo>
                  <a:lnTo>
                    <a:pt x="27753" y="26"/>
                  </a:lnTo>
                  <a:lnTo>
                    <a:pt x="27730" y="55"/>
                  </a:lnTo>
                  <a:lnTo>
                    <a:pt x="27705" y="86"/>
                  </a:lnTo>
                  <a:lnTo>
                    <a:pt x="27679" y="118"/>
                  </a:lnTo>
                  <a:lnTo>
                    <a:pt x="27651" y="150"/>
                  </a:lnTo>
                  <a:lnTo>
                    <a:pt x="27622" y="186"/>
                  </a:lnTo>
                  <a:lnTo>
                    <a:pt x="27590" y="222"/>
                  </a:lnTo>
                  <a:lnTo>
                    <a:pt x="27559" y="261"/>
                  </a:lnTo>
                  <a:lnTo>
                    <a:pt x="27524" y="300"/>
                  </a:lnTo>
                  <a:lnTo>
                    <a:pt x="27488" y="341"/>
                  </a:lnTo>
                  <a:lnTo>
                    <a:pt x="27451" y="383"/>
                  </a:lnTo>
                  <a:lnTo>
                    <a:pt x="27413" y="428"/>
                  </a:lnTo>
                  <a:lnTo>
                    <a:pt x="27371" y="472"/>
                  </a:lnTo>
                  <a:lnTo>
                    <a:pt x="27329" y="520"/>
                  </a:lnTo>
                  <a:lnTo>
                    <a:pt x="27286" y="568"/>
                  </a:lnTo>
                  <a:lnTo>
                    <a:pt x="27240" y="620"/>
                  </a:lnTo>
                  <a:lnTo>
                    <a:pt x="27145" y="722"/>
                  </a:lnTo>
                  <a:lnTo>
                    <a:pt x="27049" y="826"/>
                  </a:lnTo>
                  <a:lnTo>
                    <a:pt x="26949" y="930"/>
                  </a:lnTo>
                  <a:lnTo>
                    <a:pt x="26850" y="1037"/>
                  </a:lnTo>
                  <a:lnTo>
                    <a:pt x="26746" y="1144"/>
                  </a:lnTo>
                  <a:lnTo>
                    <a:pt x="26640" y="1253"/>
                  </a:lnTo>
                  <a:lnTo>
                    <a:pt x="26532" y="1362"/>
                  </a:lnTo>
                  <a:lnTo>
                    <a:pt x="26422" y="1474"/>
                  </a:lnTo>
                  <a:lnTo>
                    <a:pt x="26307" y="1585"/>
                  </a:lnTo>
                  <a:lnTo>
                    <a:pt x="26193" y="1699"/>
                  </a:lnTo>
                  <a:lnTo>
                    <a:pt x="26075" y="1813"/>
                  </a:lnTo>
                  <a:lnTo>
                    <a:pt x="25956" y="1930"/>
                  </a:lnTo>
                  <a:lnTo>
                    <a:pt x="25833" y="2047"/>
                  </a:lnTo>
                  <a:lnTo>
                    <a:pt x="25709" y="2166"/>
                  </a:lnTo>
                  <a:lnTo>
                    <a:pt x="25582" y="2285"/>
                  </a:lnTo>
                  <a:lnTo>
                    <a:pt x="25453" y="2407"/>
                  </a:lnTo>
                  <a:lnTo>
                    <a:pt x="25243" y="2601"/>
                  </a:lnTo>
                  <a:lnTo>
                    <a:pt x="25030" y="2797"/>
                  </a:lnTo>
                  <a:lnTo>
                    <a:pt x="24812" y="2993"/>
                  </a:lnTo>
                  <a:lnTo>
                    <a:pt x="24592" y="3191"/>
                  </a:lnTo>
                  <a:lnTo>
                    <a:pt x="24368" y="3388"/>
                  </a:lnTo>
                  <a:lnTo>
                    <a:pt x="24141" y="3587"/>
                  </a:lnTo>
                  <a:lnTo>
                    <a:pt x="23911" y="3787"/>
                  </a:lnTo>
                  <a:lnTo>
                    <a:pt x="23678" y="3988"/>
                  </a:lnTo>
                  <a:lnTo>
                    <a:pt x="23441" y="4189"/>
                  </a:lnTo>
                  <a:lnTo>
                    <a:pt x="23200" y="4391"/>
                  </a:lnTo>
                  <a:lnTo>
                    <a:pt x="22956" y="4594"/>
                  </a:lnTo>
                  <a:lnTo>
                    <a:pt x="22710" y="4799"/>
                  </a:lnTo>
                  <a:lnTo>
                    <a:pt x="22459" y="5003"/>
                  </a:lnTo>
                  <a:lnTo>
                    <a:pt x="22205" y="5208"/>
                  </a:lnTo>
                  <a:lnTo>
                    <a:pt x="21948" y="5414"/>
                  </a:lnTo>
                  <a:lnTo>
                    <a:pt x="21687" y="5622"/>
                  </a:lnTo>
                  <a:lnTo>
                    <a:pt x="21423" y="5829"/>
                  </a:lnTo>
                  <a:lnTo>
                    <a:pt x="21155" y="6038"/>
                  </a:lnTo>
                  <a:lnTo>
                    <a:pt x="20884" y="6247"/>
                  </a:lnTo>
                  <a:lnTo>
                    <a:pt x="20610" y="6458"/>
                  </a:lnTo>
                  <a:lnTo>
                    <a:pt x="20332" y="6668"/>
                  </a:lnTo>
                  <a:lnTo>
                    <a:pt x="20051" y="6880"/>
                  </a:lnTo>
                  <a:lnTo>
                    <a:pt x="19766" y="7093"/>
                  </a:lnTo>
                  <a:lnTo>
                    <a:pt x="19480" y="7307"/>
                  </a:lnTo>
                  <a:lnTo>
                    <a:pt x="19188" y="7521"/>
                  </a:lnTo>
                  <a:lnTo>
                    <a:pt x="18894" y="7736"/>
                  </a:lnTo>
                  <a:lnTo>
                    <a:pt x="18596" y="7952"/>
                  </a:lnTo>
                  <a:lnTo>
                    <a:pt x="18296" y="8169"/>
                  </a:lnTo>
                  <a:lnTo>
                    <a:pt x="17991" y="8386"/>
                  </a:lnTo>
                  <a:lnTo>
                    <a:pt x="17683" y="8605"/>
                  </a:lnTo>
                  <a:lnTo>
                    <a:pt x="17371" y="8824"/>
                  </a:lnTo>
                  <a:lnTo>
                    <a:pt x="17057" y="9045"/>
                  </a:lnTo>
                  <a:lnTo>
                    <a:pt x="16881" y="9165"/>
                  </a:lnTo>
                  <a:lnTo>
                    <a:pt x="16706" y="9285"/>
                  </a:lnTo>
                  <a:lnTo>
                    <a:pt x="16529" y="9402"/>
                  </a:lnTo>
                  <a:lnTo>
                    <a:pt x="16353" y="9519"/>
                  </a:lnTo>
                  <a:lnTo>
                    <a:pt x="16173" y="9634"/>
                  </a:lnTo>
                  <a:lnTo>
                    <a:pt x="15993" y="9748"/>
                  </a:lnTo>
                  <a:lnTo>
                    <a:pt x="15812" y="9861"/>
                  </a:lnTo>
                  <a:lnTo>
                    <a:pt x="15722" y="9916"/>
                  </a:lnTo>
                  <a:lnTo>
                    <a:pt x="15632" y="9973"/>
                  </a:lnTo>
                  <a:lnTo>
                    <a:pt x="15448" y="10082"/>
                  </a:lnTo>
                  <a:lnTo>
                    <a:pt x="15264" y="10191"/>
                  </a:lnTo>
                  <a:lnTo>
                    <a:pt x="15080" y="10298"/>
                  </a:lnTo>
                  <a:lnTo>
                    <a:pt x="14895" y="10405"/>
                  </a:lnTo>
                  <a:lnTo>
                    <a:pt x="14708" y="10510"/>
                  </a:lnTo>
                  <a:lnTo>
                    <a:pt x="14661" y="10535"/>
                  </a:lnTo>
                  <a:lnTo>
                    <a:pt x="14614" y="10561"/>
                  </a:lnTo>
                  <a:lnTo>
                    <a:pt x="14521" y="10614"/>
                  </a:lnTo>
                  <a:lnTo>
                    <a:pt x="14427" y="10664"/>
                  </a:lnTo>
                  <a:lnTo>
                    <a:pt x="14379" y="10690"/>
                  </a:lnTo>
                  <a:lnTo>
                    <a:pt x="14333" y="10716"/>
                  </a:lnTo>
                  <a:lnTo>
                    <a:pt x="14238" y="10766"/>
                  </a:lnTo>
                  <a:lnTo>
                    <a:pt x="14190" y="10792"/>
                  </a:lnTo>
                  <a:lnTo>
                    <a:pt x="14144" y="10818"/>
                  </a:lnTo>
                  <a:lnTo>
                    <a:pt x="13952" y="10917"/>
                  </a:lnTo>
                  <a:lnTo>
                    <a:pt x="13760" y="11016"/>
                  </a:lnTo>
                  <a:lnTo>
                    <a:pt x="13568" y="11113"/>
                  </a:lnTo>
                  <a:lnTo>
                    <a:pt x="13471" y="11160"/>
                  </a:lnTo>
                  <a:lnTo>
                    <a:pt x="13375" y="11208"/>
                  </a:lnTo>
                  <a:lnTo>
                    <a:pt x="13277" y="11255"/>
                  </a:lnTo>
                  <a:lnTo>
                    <a:pt x="13180" y="11302"/>
                  </a:lnTo>
                  <a:lnTo>
                    <a:pt x="13082" y="11349"/>
                  </a:lnTo>
                  <a:lnTo>
                    <a:pt x="12985" y="11396"/>
                  </a:lnTo>
                  <a:lnTo>
                    <a:pt x="12886" y="11442"/>
                  </a:lnTo>
                  <a:lnTo>
                    <a:pt x="12788" y="11488"/>
                  </a:lnTo>
                  <a:lnTo>
                    <a:pt x="12689" y="11534"/>
                  </a:lnTo>
                  <a:lnTo>
                    <a:pt x="12591" y="11580"/>
                  </a:lnTo>
                  <a:lnTo>
                    <a:pt x="12393" y="11669"/>
                  </a:lnTo>
                  <a:lnTo>
                    <a:pt x="12342" y="11690"/>
                  </a:lnTo>
                  <a:lnTo>
                    <a:pt x="12293" y="11712"/>
                  </a:lnTo>
                  <a:lnTo>
                    <a:pt x="12194" y="11757"/>
                  </a:lnTo>
                  <a:lnTo>
                    <a:pt x="11993" y="11843"/>
                  </a:lnTo>
                  <a:lnTo>
                    <a:pt x="11892" y="11886"/>
                  </a:lnTo>
                  <a:lnTo>
                    <a:pt x="11841" y="11907"/>
                  </a:lnTo>
                  <a:lnTo>
                    <a:pt x="11792" y="11929"/>
                  </a:lnTo>
                  <a:lnTo>
                    <a:pt x="11740" y="11949"/>
                  </a:lnTo>
                  <a:lnTo>
                    <a:pt x="11690" y="11971"/>
                  </a:lnTo>
                  <a:lnTo>
                    <a:pt x="11589" y="12013"/>
                  </a:lnTo>
                  <a:lnTo>
                    <a:pt x="11538" y="12033"/>
                  </a:lnTo>
                  <a:lnTo>
                    <a:pt x="11487" y="12054"/>
                  </a:lnTo>
                  <a:lnTo>
                    <a:pt x="11386" y="12097"/>
                  </a:lnTo>
                  <a:lnTo>
                    <a:pt x="11283" y="12137"/>
                  </a:lnTo>
                  <a:lnTo>
                    <a:pt x="11232" y="12157"/>
                  </a:lnTo>
                  <a:lnTo>
                    <a:pt x="11181" y="12179"/>
                  </a:lnTo>
                  <a:lnTo>
                    <a:pt x="10976" y="12259"/>
                  </a:lnTo>
                  <a:lnTo>
                    <a:pt x="10645" y="12384"/>
                  </a:lnTo>
                  <a:lnTo>
                    <a:pt x="10479" y="12445"/>
                  </a:lnTo>
                  <a:lnTo>
                    <a:pt x="10313" y="12506"/>
                  </a:lnTo>
                  <a:lnTo>
                    <a:pt x="10146" y="12564"/>
                  </a:lnTo>
                  <a:lnTo>
                    <a:pt x="10103" y="12578"/>
                  </a:lnTo>
                  <a:lnTo>
                    <a:pt x="10062" y="12593"/>
                  </a:lnTo>
                  <a:lnTo>
                    <a:pt x="9979" y="12624"/>
                  </a:lnTo>
                  <a:lnTo>
                    <a:pt x="9811" y="12681"/>
                  </a:lnTo>
                  <a:lnTo>
                    <a:pt x="9728" y="12709"/>
                  </a:lnTo>
                  <a:lnTo>
                    <a:pt x="9645" y="12739"/>
                  </a:lnTo>
                  <a:lnTo>
                    <a:pt x="9475" y="12793"/>
                  </a:lnTo>
                  <a:lnTo>
                    <a:pt x="9391" y="12821"/>
                  </a:lnTo>
                  <a:lnTo>
                    <a:pt x="9307" y="12849"/>
                  </a:lnTo>
                  <a:lnTo>
                    <a:pt x="9137" y="12902"/>
                  </a:lnTo>
                  <a:lnTo>
                    <a:pt x="9052" y="12929"/>
                  </a:lnTo>
                  <a:lnTo>
                    <a:pt x="9010" y="12942"/>
                  </a:lnTo>
                  <a:lnTo>
                    <a:pt x="8969" y="12956"/>
                  </a:lnTo>
                  <a:lnTo>
                    <a:pt x="8925" y="12968"/>
                  </a:lnTo>
                  <a:lnTo>
                    <a:pt x="8883" y="12981"/>
                  </a:lnTo>
                  <a:lnTo>
                    <a:pt x="8798" y="13007"/>
                  </a:lnTo>
                  <a:lnTo>
                    <a:pt x="8628" y="13059"/>
                  </a:lnTo>
                  <a:lnTo>
                    <a:pt x="8287" y="13160"/>
                  </a:lnTo>
                  <a:lnTo>
                    <a:pt x="8200" y="13183"/>
                  </a:lnTo>
                  <a:lnTo>
                    <a:pt x="8115" y="13207"/>
                  </a:lnTo>
                  <a:lnTo>
                    <a:pt x="7943" y="13255"/>
                  </a:lnTo>
                  <a:lnTo>
                    <a:pt x="7598" y="13347"/>
                  </a:lnTo>
                  <a:lnTo>
                    <a:pt x="7424" y="13392"/>
                  </a:lnTo>
                  <a:lnTo>
                    <a:pt x="7252" y="13436"/>
                  </a:lnTo>
                  <a:lnTo>
                    <a:pt x="6904" y="13522"/>
                  </a:lnTo>
                  <a:lnTo>
                    <a:pt x="6729" y="13562"/>
                  </a:lnTo>
                  <a:lnTo>
                    <a:pt x="6554" y="13603"/>
                  </a:lnTo>
                  <a:lnTo>
                    <a:pt x="6203" y="13682"/>
                  </a:lnTo>
                  <a:lnTo>
                    <a:pt x="6114" y="13700"/>
                  </a:lnTo>
                  <a:lnTo>
                    <a:pt x="6070" y="13709"/>
                  </a:lnTo>
                  <a:lnTo>
                    <a:pt x="6026" y="13719"/>
                  </a:lnTo>
                  <a:lnTo>
                    <a:pt x="5850" y="13756"/>
                  </a:lnTo>
                  <a:lnTo>
                    <a:pt x="5673" y="13792"/>
                  </a:lnTo>
                  <a:lnTo>
                    <a:pt x="5496" y="13828"/>
                  </a:lnTo>
                  <a:lnTo>
                    <a:pt x="5243" y="13875"/>
                  </a:lnTo>
                  <a:lnTo>
                    <a:pt x="4990" y="13921"/>
                  </a:lnTo>
                  <a:lnTo>
                    <a:pt x="4738" y="13964"/>
                  </a:lnTo>
                  <a:lnTo>
                    <a:pt x="4488" y="14007"/>
                  </a:lnTo>
                  <a:lnTo>
                    <a:pt x="4237" y="14046"/>
                  </a:lnTo>
                  <a:lnTo>
                    <a:pt x="3988" y="14083"/>
                  </a:lnTo>
                  <a:lnTo>
                    <a:pt x="3739" y="14119"/>
                  </a:lnTo>
                  <a:lnTo>
                    <a:pt x="3491" y="14152"/>
                  </a:lnTo>
                  <a:lnTo>
                    <a:pt x="3243" y="14182"/>
                  </a:lnTo>
                  <a:lnTo>
                    <a:pt x="2997" y="14212"/>
                  </a:lnTo>
                  <a:lnTo>
                    <a:pt x="2751" y="14239"/>
                  </a:lnTo>
                  <a:lnTo>
                    <a:pt x="2505" y="14264"/>
                  </a:lnTo>
                  <a:lnTo>
                    <a:pt x="2260" y="14285"/>
                  </a:lnTo>
                  <a:lnTo>
                    <a:pt x="2017" y="14306"/>
                  </a:lnTo>
                  <a:lnTo>
                    <a:pt x="1773" y="14325"/>
                  </a:lnTo>
                  <a:lnTo>
                    <a:pt x="1531" y="14342"/>
                  </a:lnTo>
                  <a:lnTo>
                    <a:pt x="1411" y="14348"/>
                  </a:lnTo>
                  <a:lnTo>
                    <a:pt x="1295" y="14355"/>
                  </a:lnTo>
                  <a:lnTo>
                    <a:pt x="1181" y="14361"/>
                  </a:lnTo>
                  <a:lnTo>
                    <a:pt x="1072" y="14367"/>
                  </a:lnTo>
                  <a:lnTo>
                    <a:pt x="965" y="14371"/>
                  </a:lnTo>
                  <a:lnTo>
                    <a:pt x="912" y="14373"/>
                  </a:lnTo>
                  <a:lnTo>
                    <a:pt x="862" y="14376"/>
                  </a:lnTo>
                  <a:lnTo>
                    <a:pt x="810" y="14377"/>
                  </a:lnTo>
                  <a:lnTo>
                    <a:pt x="761" y="14379"/>
                  </a:lnTo>
                  <a:lnTo>
                    <a:pt x="664" y="14383"/>
                  </a:lnTo>
                  <a:lnTo>
                    <a:pt x="616" y="14383"/>
                  </a:lnTo>
                  <a:lnTo>
                    <a:pt x="569" y="14384"/>
                  </a:lnTo>
                  <a:lnTo>
                    <a:pt x="478" y="14386"/>
                  </a:lnTo>
                  <a:lnTo>
                    <a:pt x="433" y="14386"/>
                  </a:lnTo>
                  <a:lnTo>
                    <a:pt x="389" y="14387"/>
                  </a:lnTo>
                  <a:lnTo>
                    <a:pt x="306" y="14389"/>
                  </a:lnTo>
                  <a:lnTo>
                    <a:pt x="224" y="14388"/>
                  </a:lnTo>
                  <a:lnTo>
                    <a:pt x="146" y="14388"/>
                  </a:lnTo>
                  <a:lnTo>
                    <a:pt x="70" y="14387"/>
                  </a:lnTo>
                  <a:lnTo>
                    <a:pt x="34" y="14386"/>
                  </a:lnTo>
                  <a:lnTo>
                    <a:pt x="0" y="14386"/>
                  </a:lnTo>
                </a:path>
              </a:pathLst>
            </a:custGeom>
            <a:noFill/>
            <a:ln w="41275">
              <a:solidFill>
                <a:srgbClr val="009999"/>
              </a:solidFill>
              <a:prstDash val="solid"/>
              <a:round/>
              <a:headEnd type="triangle" w="lg" len="lg"/>
              <a:tailEnd type="none" w="med" len="med"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33149" y="5555828"/>
              <a:ext cx="2047875" cy="625475"/>
              <a:chOff x="506" y="3926"/>
              <a:chExt cx="1290" cy="394"/>
            </a:xfrm>
          </p:grpSpPr>
          <p:pic>
            <p:nvPicPr>
              <p:cNvPr id="6" name="Picture 5" descr="Untitled-3 copy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06" y="3926"/>
                <a:ext cx="1290" cy="394"/>
              </a:xfrm>
              <a:prstGeom prst="rect">
                <a:avLst/>
              </a:prstGeom>
              <a:noFill/>
            </p:spPr>
          </p:pic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930" y="4008"/>
                <a:ext cx="50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600" b="1" dirty="0" smtClean="0">
                    <a:latin typeface="微软雅黑" pitchFamily="34" charset="-122"/>
                    <a:ea typeface="微软雅黑" pitchFamily="34" charset="-122"/>
                  </a:rPr>
                  <a:t>救火队</a:t>
                </a:r>
                <a:endParaRPr lang="zh-CN" altLang="en-US" sz="16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3098524" y="4638253"/>
              <a:ext cx="2047875" cy="625475"/>
              <a:chOff x="2076" y="3318"/>
              <a:chExt cx="1290" cy="394"/>
            </a:xfrm>
          </p:grpSpPr>
          <p:pic>
            <p:nvPicPr>
              <p:cNvPr id="9" name="Picture 8" descr="Untitled-6 copy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076" y="3318"/>
                <a:ext cx="1290" cy="394"/>
              </a:xfrm>
              <a:prstGeom prst="rect">
                <a:avLst/>
              </a:prstGeom>
              <a:noFill/>
            </p:spPr>
          </p:pic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2350" y="3400"/>
                <a:ext cx="63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600" b="1" dirty="0" smtClean="0">
                    <a:latin typeface="微软雅黑" pitchFamily="34" charset="-122"/>
                    <a:ea typeface="微软雅黑" pitchFamily="34" charset="-122"/>
                  </a:rPr>
                  <a:t>热线服务</a:t>
                </a:r>
                <a:endParaRPr lang="zh-CN" altLang="en-US" sz="16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4962252" y="3409525"/>
              <a:ext cx="2047875" cy="625475"/>
              <a:chOff x="3236" y="2691"/>
              <a:chExt cx="1290" cy="394"/>
            </a:xfrm>
          </p:grpSpPr>
          <p:pic>
            <p:nvPicPr>
              <p:cNvPr id="12" name="Picture 11" descr="Untitled-5 copy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3236" y="2691"/>
                <a:ext cx="1290" cy="394"/>
              </a:xfrm>
              <a:prstGeom prst="rect">
                <a:avLst/>
              </a:prstGeom>
              <a:noFill/>
            </p:spPr>
          </p:pic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3305" y="2754"/>
                <a:ext cx="115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600" b="1" dirty="0" smtClean="0">
                    <a:latin typeface="微软雅黑" pitchFamily="34" charset="-122"/>
                    <a:ea typeface="微软雅黑" pitchFamily="34" charset="-122"/>
                  </a:rPr>
                  <a:t>集成化运营中心</a:t>
                </a:r>
                <a:endParaRPr lang="zh-CN" altLang="en-US" sz="16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6451352" y="2195079"/>
              <a:ext cx="2047875" cy="625475"/>
              <a:chOff x="4289" y="1849"/>
              <a:chExt cx="1290" cy="394"/>
            </a:xfrm>
          </p:grpSpPr>
          <p:pic>
            <p:nvPicPr>
              <p:cNvPr id="15" name="Picture 14" descr="Untitled-4 copy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289" y="1849"/>
                <a:ext cx="1290" cy="394"/>
              </a:xfrm>
              <a:prstGeom prst="rect">
                <a:avLst/>
              </a:prstGeom>
              <a:noFill/>
            </p:spPr>
          </p:pic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4331" y="1942"/>
                <a:ext cx="121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600" b="1" dirty="0" smtClean="0">
                    <a:latin typeface="微软雅黑" pitchFamily="34" charset="-122"/>
                    <a:ea typeface="微软雅黑" pitchFamily="34" charset="-122"/>
                  </a:rPr>
                  <a:t>主动</a:t>
                </a:r>
                <a:r>
                  <a:rPr lang="en-US" altLang="zh-CN" sz="1600" b="1" dirty="0" smtClean="0"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600" b="1" dirty="0" smtClean="0">
                    <a:latin typeface="微软雅黑" pitchFamily="34" charset="-122"/>
                    <a:ea typeface="微软雅黑" pitchFamily="34" charset="-122"/>
                  </a:rPr>
                  <a:t>自动服务管理</a:t>
                </a:r>
                <a:endParaRPr lang="zh-CN" altLang="en-US" sz="16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7" name="Line 16"/>
            <p:cNvSpPr>
              <a:spLocks noChangeShapeType="1"/>
            </p:cNvSpPr>
            <p:nvPr/>
          </p:nvSpPr>
          <p:spPr bwMode="blackWhite">
            <a:xfrm>
              <a:off x="353737" y="6374978"/>
              <a:ext cx="84248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blackWhite">
            <a:xfrm>
              <a:off x="8178850" y="6023753"/>
              <a:ext cx="46487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50000"/>
                </a:spcBef>
                <a:buClr>
                  <a:srgbClr val="FF3300"/>
                </a:buClr>
              </a:pPr>
              <a:r>
                <a:rPr lang="zh-CN" altLang="en-US" sz="1800" b="1" dirty="0" smtClean="0">
                  <a:solidFill>
                    <a:srgbClr val="003366"/>
                  </a:solidFill>
                  <a:latin typeface="微软雅黑" pitchFamily="34" charset="-122"/>
                  <a:ea typeface="微软雅黑" pitchFamily="34" charset="-122"/>
                </a:rPr>
                <a:t>时间</a:t>
              </a:r>
              <a:endParaRPr lang="en-GB" sz="1800" b="1" dirty="0">
                <a:solidFill>
                  <a:srgbClr val="00336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blackWhite">
            <a:xfrm flipV="1">
              <a:off x="347387" y="1606128"/>
              <a:ext cx="6350" cy="47752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 rot="16200000">
              <a:off x="-176614" y="3394725"/>
              <a:ext cx="6495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003366"/>
                  </a:solidFill>
                  <a:latin typeface="微软雅黑" pitchFamily="34" charset="-122"/>
                  <a:ea typeface="微软雅黑" pitchFamily="34" charset="-122"/>
                </a:rPr>
                <a:t>效率</a:t>
              </a:r>
              <a:endParaRPr lang="en-US" altLang="zh-CN" sz="1800" b="1" dirty="0">
                <a:solidFill>
                  <a:srgbClr val="00336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90220" y="1629172"/>
              <a:ext cx="4407934" cy="1852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TextBox 21"/>
            <p:cNvSpPr txBox="1"/>
            <p:nvPr/>
          </p:nvSpPr>
          <p:spPr>
            <a:xfrm>
              <a:off x="747410" y="4537375"/>
              <a:ext cx="1470274" cy="10291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存在监控盲点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缺少主动预警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缺少事件分析机制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</a:rPr>
                <a:t>·············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115115" y="3478336"/>
              <a:ext cx="1435008" cy="1269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统一服务窗口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事件无遗漏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及时受理和反馈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有效跟踪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en-US" altLang="zh-CN" sz="1200" dirty="0">
                  <a:latin typeface="微软雅黑" pitchFamily="34" charset="-122"/>
                  <a:ea typeface="微软雅黑" pitchFamily="34" charset="-122"/>
                </a:rPr>
                <a:t>·············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574353" y="4054400"/>
              <a:ext cx="1568058" cy="10291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en-US" altLang="zh-CN" sz="1200" dirty="0">
                  <a:latin typeface="微软雅黑" pitchFamily="34" charset="-122"/>
                  <a:ea typeface="微软雅黑" pitchFamily="34" charset="-122"/>
                </a:rPr>
                <a:t>IT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服务管理体系化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团队管理体制化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流程标准化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en-US" altLang="zh-CN" sz="1200" dirty="0">
                  <a:latin typeface="微软雅黑" pitchFamily="34" charset="-122"/>
                  <a:ea typeface="微软雅黑" pitchFamily="34" charset="-122"/>
                </a:rPr>
                <a:t>·············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08074" y="2781300"/>
              <a:ext cx="2050561" cy="17493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自动化与工作调度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主动发现问题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服务目录与服务级别设计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与客户满意度密切结合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自定义化配置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知识智能推送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indent="-171450">
                <a:lnSpc>
                  <a:spcPct val="130000"/>
                </a:lnSpc>
                <a:buFont typeface="Arial" pitchFamily="34" charset="0"/>
                <a:buChar char="•"/>
              </a:pPr>
              <a:r>
                <a:rPr lang="en-US" altLang="zh-CN" sz="1200" dirty="0">
                  <a:latin typeface="微软雅黑" pitchFamily="34" charset="-122"/>
                  <a:ea typeface="微软雅黑" pitchFamily="34" charset="-122"/>
                </a:rPr>
                <a:t>·············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79512" y="692696"/>
            <a:ext cx="8711038" cy="830997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 lvl="0" indent="360000" eaLnBrk="0" hangingPunct="0">
              <a:lnSpc>
                <a:spcPct val="150000"/>
              </a:lnSpc>
              <a:spcBef>
                <a:spcPct val="40000"/>
              </a:spcBef>
              <a:buClr>
                <a:srgbClr val="DA2421"/>
              </a:buClr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以客户为导向，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逐步优化运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维管理流程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，完善一体化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运维服务体系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，提供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高质量的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服务。 </a:t>
            </a:r>
          </a:p>
        </p:txBody>
      </p:sp>
    </p:spTree>
    <p:extLst>
      <p:ext uri="{BB962C8B-B14F-4D97-AF65-F5344CB8AC3E}">
        <p14:creationId xmlns:p14="http://schemas.microsoft.com/office/powerpoint/2010/main" xmlns="" val="64424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kern="0" dirty="0" smtClean="0"/>
              <a:t>1.2 </a:t>
            </a:r>
            <a:r>
              <a:rPr lang="zh-CN" altLang="en-US" kern="0" dirty="0" smtClean="0"/>
              <a:t>一体化</a:t>
            </a:r>
            <a:r>
              <a:rPr lang="zh-CN" altLang="en-US" kern="0" dirty="0" smtClean="0"/>
              <a:t>运维管理模式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692696"/>
            <a:ext cx="8711038" cy="830997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 indent="360000" eaLnBrk="0" hangingPunct="0">
              <a:lnSpc>
                <a:spcPct val="150000"/>
              </a:lnSpc>
              <a:spcBef>
                <a:spcPct val="40000"/>
              </a:spcBef>
              <a:buClr>
                <a:srgbClr val="DA2421"/>
              </a:buClr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构建一体化运维管理模</a:t>
            </a:r>
            <a:r>
              <a:rPr lang="zh-CN" altLang="en-US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式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形成组织、流程、工具三位一体的运营体系，并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监管控</a:t>
            </a:r>
            <a:r>
              <a:rPr lang="en-US" altLang="zh-CN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运</a:t>
            </a:r>
            <a:r>
              <a:rPr lang="zh-CN" altLang="en-US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维自动化提高工作效率，通过运维分析实现并辅助运维决策。</a:t>
            </a:r>
          </a:p>
        </p:txBody>
      </p:sp>
      <p:grpSp>
        <p:nvGrpSpPr>
          <p:cNvPr id="21" name="组合 81"/>
          <p:cNvGrpSpPr/>
          <p:nvPr/>
        </p:nvGrpSpPr>
        <p:grpSpPr>
          <a:xfrm>
            <a:off x="179512" y="1556792"/>
            <a:ext cx="8750206" cy="4803030"/>
            <a:chOff x="395361" y="1609420"/>
            <a:chExt cx="11365538" cy="4803030"/>
          </a:xfrm>
        </p:grpSpPr>
        <p:sp>
          <p:nvSpPr>
            <p:cNvPr id="4" name="TextBox 16"/>
            <p:cNvSpPr>
              <a:spLocks noChangeArrowheads="1"/>
            </p:cNvSpPr>
            <p:nvPr/>
          </p:nvSpPr>
          <p:spPr bwMode="auto">
            <a:xfrm>
              <a:off x="395361" y="1609420"/>
              <a:ext cx="11314662" cy="504000"/>
            </a:xfrm>
            <a:prstGeom prst="roundRect">
              <a:avLst>
                <a:gd name="adj" fmla="val 8176"/>
              </a:avLst>
            </a:prstGeom>
            <a:gradFill>
              <a:gsLst>
                <a:gs pos="0">
                  <a:srgbClr val="FFC000"/>
                </a:gs>
                <a:gs pos="80000">
                  <a:srgbClr val="FFC000"/>
                </a:gs>
                <a:gs pos="100000">
                  <a:srgbClr val="FFC000"/>
                </a:gs>
              </a:gsLst>
            </a:gradFill>
            <a:ln>
              <a:solidFill>
                <a:srgbClr val="FFC000"/>
              </a:solidFill>
              <a:headEnd/>
              <a:tailEnd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 保运营：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面向用户交付稳定、安全、高效的</a:t>
              </a:r>
              <a:r>
                <a:rPr lang="en-US" altLang="zh-CN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IT</a:t>
              </a:r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</a:t>
              </a:r>
              <a:endParaRPr lang="zh-CN" altLang="en-US" sz="1200" b="1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5" name="Freeform 37"/>
            <p:cNvSpPr>
              <a:spLocks/>
            </p:cNvSpPr>
            <p:nvPr/>
          </p:nvSpPr>
          <p:spPr bwMode="auto">
            <a:xfrm>
              <a:off x="4761890" y="2063142"/>
              <a:ext cx="2904354" cy="612000"/>
            </a:xfrm>
            <a:custGeom>
              <a:avLst/>
              <a:gdLst>
                <a:gd name="T0" fmla="*/ 4572000 w 5760"/>
                <a:gd name="T1" fmla="*/ 0 h 2132"/>
                <a:gd name="T2" fmla="*/ 2916237 w 5760"/>
                <a:gd name="T3" fmla="*/ 720725 h 2132"/>
                <a:gd name="T4" fmla="*/ 3635375 w 5760"/>
                <a:gd name="T5" fmla="*/ 720725 h 2132"/>
                <a:gd name="T6" fmla="*/ 0 w 5760"/>
                <a:gd name="T7" fmla="*/ 1657350 h 2132"/>
                <a:gd name="T8" fmla="*/ 0 w 5760"/>
                <a:gd name="T9" fmla="*/ 3384550 h 2132"/>
                <a:gd name="T10" fmla="*/ 9144000 w 5760"/>
                <a:gd name="T11" fmla="*/ 3384550 h 2132"/>
                <a:gd name="T12" fmla="*/ 9144000 w 5760"/>
                <a:gd name="T13" fmla="*/ 1620837 h 2132"/>
                <a:gd name="T14" fmla="*/ 5472112 w 5760"/>
                <a:gd name="T15" fmla="*/ 720725 h 2132"/>
                <a:gd name="T16" fmla="*/ 6192837 w 5760"/>
                <a:gd name="T17" fmla="*/ 720725 h 2132"/>
                <a:gd name="T18" fmla="*/ 4572000 w 5760"/>
                <a:gd name="T19" fmla="*/ 0 h 2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760"/>
                <a:gd name="T31" fmla="*/ 0 h 2132"/>
                <a:gd name="T32" fmla="*/ 5760 w 5760"/>
                <a:gd name="T33" fmla="*/ 2132 h 213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760" h="2132">
                  <a:moveTo>
                    <a:pt x="2880" y="0"/>
                  </a:moveTo>
                  <a:lnTo>
                    <a:pt x="1837" y="454"/>
                  </a:lnTo>
                  <a:cubicBezTo>
                    <a:pt x="1837" y="454"/>
                    <a:pt x="2063" y="454"/>
                    <a:pt x="2290" y="454"/>
                  </a:cubicBezTo>
                  <a:cubicBezTo>
                    <a:pt x="1735" y="1140"/>
                    <a:pt x="0" y="1044"/>
                    <a:pt x="0" y="1044"/>
                  </a:cubicBezTo>
                  <a:lnTo>
                    <a:pt x="0" y="2132"/>
                  </a:lnTo>
                  <a:lnTo>
                    <a:pt x="5760" y="2132"/>
                  </a:lnTo>
                  <a:lnTo>
                    <a:pt x="5760" y="1021"/>
                  </a:lnTo>
                  <a:cubicBezTo>
                    <a:pt x="5760" y="1021"/>
                    <a:pt x="4283" y="1096"/>
                    <a:pt x="3447" y="454"/>
                  </a:cubicBezTo>
                  <a:cubicBezTo>
                    <a:pt x="3674" y="454"/>
                    <a:pt x="3901" y="454"/>
                    <a:pt x="3901" y="454"/>
                  </a:cubicBezTo>
                  <a:lnTo>
                    <a:pt x="288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4"/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55434" y="2366894"/>
              <a:ext cx="11254590" cy="2964926"/>
            </a:xfrm>
            <a:prstGeom prst="rect">
              <a:avLst/>
            </a:prstGeom>
            <a:solidFill>
              <a:srgbClr val="FEF9F4"/>
            </a:solidFill>
            <a:ln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408070" y="2452048"/>
              <a:ext cx="6910360" cy="1214445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637731" y="2452048"/>
              <a:ext cx="668740" cy="2772000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专业化运维支持团队</a:t>
              </a: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408070" y="3666493"/>
              <a:ext cx="6910360" cy="1583439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4811674" y="3737932"/>
              <a:ext cx="1674008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kumimoji="1" lang="zh-CN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一体化运维体系平台</a:t>
              </a:r>
              <a:endParaRPr kumimoji="1" lang="en-US" altLang="zh-CN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606839" y="3952246"/>
              <a:ext cx="6510503" cy="216000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统一</a:t>
              </a:r>
              <a:r>
                <a:rPr lang="zh-CN" altLang="en-US" sz="11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的运维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服务台</a:t>
              </a:r>
              <a:endParaRPr lang="zh-CN" altLang="en-US" sz="11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608370" y="4210702"/>
              <a:ext cx="6510503" cy="324000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817969" y="4266806"/>
              <a:ext cx="1800000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运行分析</a:t>
              </a:r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971196" y="4266806"/>
              <a:ext cx="1800000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性能分析</a:t>
              </a:r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124424" y="4253158"/>
              <a:ext cx="1800000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安全分析</a:t>
              </a:r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626632" y="4627254"/>
              <a:ext cx="1823639" cy="25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统一监控平台</a:t>
              </a:r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926602" y="4627254"/>
              <a:ext cx="1823639" cy="25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运维管理平台</a:t>
              </a:r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214191" y="4627254"/>
              <a:ext cx="1823639" cy="252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审计归档平台</a:t>
              </a:r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2608370" y="4952378"/>
              <a:ext cx="6510503" cy="216000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CMDB</a:t>
              </a:r>
              <a:endParaRPr lang="zh-CN" altLang="en-US" sz="11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7" name="组合 20"/>
            <p:cNvGrpSpPr/>
            <p:nvPr/>
          </p:nvGrpSpPr>
          <p:grpSpPr>
            <a:xfrm flipH="1">
              <a:off x="9263839" y="2594924"/>
              <a:ext cx="248405" cy="864794"/>
              <a:chOff x="3286116" y="1428736"/>
              <a:chExt cx="251438" cy="864794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3357554" y="1428736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3286116" y="1857364"/>
                <a:ext cx="72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3357554" y="2285992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5400000">
                <a:off x="2926348" y="1860736"/>
                <a:ext cx="864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9372229" y="2889430"/>
              <a:ext cx="14670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流程管理一体化</a:t>
              </a:r>
              <a:endPara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组合 26"/>
            <p:cNvGrpSpPr/>
            <p:nvPr/>
          </p:nvGrpSpPr>
          <p:grpSpPr>
            <a:xfrm flipH="1">
              <a:off x="9070025" y="4595188"/>
              <a:ext cx="248405" cy="324000"/>
              <a:chOff x="3286116" y="1428736"/>
              <a:chExt cx="251438" cy="864794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3357554" y="1428736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3286116" y="1857364"/>
                <a:ext cx="72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3357554" y="2285992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5400000">
                <a:off x="2926348" y="1860736"/>
                <a:ext cx="864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/>
            <p:cNvSpPr txBox="1"/>
            <p:nvPr/>
          </p:nvSpPr>
          <p:spPr>
            <a:xfrm>
              <a:off x="9245578" y="4595189"/>
              <a:ext cx="7347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监管控</a:t>
              </a:r>
              <a:endPara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2" name="组合 32"/>
            <p:cNvGrpSpPr/>
            <p:nvPr/>
          </p:nvGrpSpPr>
          <p:grpSpPr>
            <a:xfrm flipH="1">
              <a:off x="9964890" y="3833006"/>
              <a:ext cx="248405" cy="1296000"/>
              <a:chOff x="3286116" y="1428736"/>
              <a:chExt cx="251438" cy="864794"/>
            </a:xfrm>
          </p:grpSpPr>
          <p:cxnSp>
            <p:nvCxnSpPr>
              <p:cNvPr id="34" name="直接连接符 33"/>
              <p:cNvCxnSpPr/>
              <p:nvPr/>
            </p:nvCxnSpPr>
            <p:spPr>
              <a:xfrm>
                <a:off x="3357554" y="1428736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286116" y="1857364"/>
                <a:ext cx="72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3357554" y="2285992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5400000">
                <a:off x="2926348" y="1860736"/>
                <a:ext cx="864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10135913" y="4237999"/>
              <a:ext cx="95557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工具平台</a:t>
              </a:r>
              <a:endPara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zh-CN" altLang="en-US" sz="11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一体化</a:t>
              </a:r>
              <a:endPara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右大括号 38"/>
            <p:cNvSpPr/>
            <p:nvPr/>
          </p:nvSpPr>
          <p:spPr>
            <a:xfrm>
              <a:off x="10990404" y="3006322"/>
              <a:ext cx="306545" cy="1476000"/>
            </a:xfrm>
            <a:prstGeom prst="rightBrac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prstClr val="black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240097" y="3380742"/>
              <a:ext cx="520802" cy="128588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1600" b="1" dirty="0" smtClean="0">
                  <a:latin typeface="微软雅黑" pitchFamily="34" charset="-122"/>
                  <a:ea typeface="微软雅黑" pitchFamily="34" charset="-122"/>
                </a:rPr>
                <a:t>运维决策</a:t>
              </a:r>
              <a:endParaRPr lang="zh-CN" altLang="en-US"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1005" y="3166428"/>
              <a:ext cx="446402" cy="157163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组织体系一体化</a:t>
              </a:r>
            </a:p>
          </p:txBody>
        </p:sp>
        <p:grpSp>
          <p:nvGrpSpPr>
            <p:cNvPr id="66" name="组合 41"/>
            <p:cNvGrpSpPr/>
            <p:nvPr/>
          </p:nvGrpSpPr>
          <p:grpSpPr>
            <a:xfrm>
              <a:off x="1147256" y="2523486"/>
              <a:ext cx="300450" cy="2520000"/>
              <a:chOff x="3286116" y="1428736"/>
              <a:chExt cx="251438" cy="864794"/>
            </a:xfrm>
          </p:grpSpPr>
          <p:cxnSp>
            <p:nvCxnSpPr>
              <p:cNvPr id="43" name="直接连接符 42"/>
              <p:cNvCxnSpPr/>
              <p:nvPr/>
            </p:nvCxnSpPr>
            <p:spPr>
              <a:xfrm>
                <a:off x="3357554" y="1428736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3286116" y="1857364"/>
                <a:ext cx="72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3357554" y="2285992"/>
                <a:ext cx="180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5400000">
                <a:off x="2926348" y="1860736"/>
                <a:ext cx="864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7" name="Text Box 8"/>
            <p:cNvSpPr txBox="1">
              <a:spLocks noChangeArrowheads="1"/>
            </p:cNvSpPr>
            <p:nvPr/>
          </p:nvSpPr>
          <p:spPr bwMode="auto">
            <a:xfrm>
              <a:off x="4952661" y="2491579"/>
              <a:ext cx="130200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1" lang="zh-CN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精细化管理流程</a:t>
              </a:r>
              <a:endParaRPr kumimoji="1"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604470" y="2767683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事件管理</a:t>
              </a:r>
            </a:p>
          </p:txBody>
        </p:sp>
        <p:sp>
          <p:nvSpPr>
            <p:cNvPr id="49" name="矩形 48"/>
            <p:cNvSpPr/>
            <p:nvPr/>
          </p:nvSpPr>
          <p:spPr>
            <a:xfrm>
              <a:off x="2604470" y="3052592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问题管理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2604470" y="3337501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变更管理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939133" y="2767683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服务目录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939133" y="3052592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配置管理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938780" y="3337501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发布管理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6618931" y="3356499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服务级别管理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273797" y="3052592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持续性管理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273090" y="3337501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可用性管理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TextBox 16"/>
            <p:cNvSpPr>
              <a:spLocks noChangeArrowheads="1"/>
            </p:cNvSpPr>
            <p:nvPr/>
          </p:nvSpPr>
          <p:spPr bwMode="auto">
            <a:xfrm>
              <a:off x="5307811" y="1652060"/>
              <a:ext cx="1917822" cy="396000"/>
            </a:xfrm>
            <a:prstGeom prst="roundRect">
              <a:avLst>
                <a:gd name="adj" fmla="val 8176"/>
              </a:avLst>
            </a:prstGeom>
            <a:noFill/>
            <a:ln w="19050" cmpd="sng">
              <a:solidFill>
                <a:srgbClr val="A5A5A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2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保全</a:t>
              </a:r>
              <a:endParaRPr lang="en-US" altLang="zh-CN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问题不</a:t>
              </a:r>
              <a:r>
                <a:rPr lang="zh-CN" altLang="en-US" sz="11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发生</a:t>
              </a:r>
              <a:endParaRPr lang="zh-CN" altLang="en-US" sz="11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58" name="TextBox 16"/>
            <p:cNvSpPr>
              <a:spLocks noChangeArrowheads="1"/>
            </p:cNvSpPr>
            <p:nvPr/>
          </p:nvSpPr>
          <p:spPr bwMode="auto">
            <a:xfrm>
              <a:off x="7384984" y="1663420"/>
              <a:ext cx="1917822" cy="396000"/>
            </a:xfrm>
            <a:prstGeom prst="roundRect">
              <a:avLst>
                <a:gd name="adj" fmla="val 8176"/>
              </a:avLst>
            </a:prstGeom>
            <a:noFill/>
            <a:ln w="19050" cmpd="sng">
              <a:solidFill>
                <a:srgbClr val="A5A5A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保障</a:t>
              </a:r>
              <a:endParaRPr lang="en-US" altLang="zh-CN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11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问题快速处理</a:t>
              </a:r>
              <a:endParaRPr lang="en-US" altLang="zh-CN" sz="11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59" name="TextBox 16"/>
            <p:cNvSpPr>
              <a:spLocks noChangeArrowheads="1"/>
            </p:cNvSpPr>
            <p:nvPr/>
          </p:nvSpPr>
          <p:spPr bwMode="auto">
            <a:xfrm>
              <a:off x="9514117" y="1663420"/>
              <a:ext cx="1917822" cy="396000"/>
            </a:xfrm>
            <a:prstGeom prst="roundRect">
              <a:avLst>
                <a:gd name="adj" fmla="val 8176"/>
              </a:avLst>
            </a:prstGeom>
            <a:noFill/>
            <a:ln w="19050" cmpd="sng">
              <a:solidFill>
                <a:srgbClr val="A5A5A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12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保值</a:t>
              </a:r>
              <a:endParaRPr lang="en-US" altLang="zh-CN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11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信息资产降成保值</a:t>
              </a:r>
              <a:endParaRPr lang="en-US" altLang="zh-CN" sz="11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 bwMode="auto">
            <a:xfrm>
              <a:off x="418221" y="5422612"/>
              <a:ext cx="5242923" cy="98983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DA2421"/>
                </a:buClr>
                <a:buSzTx/>
                <a:buFont typeface="Wingdings" pitchFamily="2" charset="2"/>
                <a:buNone/>
                <a:tabLst/>
              </a:pPr>
              <a:endPara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68739" y="5616531"/>
              <a:ext cx="209871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建立高效协同的运维</a:t>
              </a:r>
              <a:r>
                <a:rPr lang="zh-CN" altLang="en-US" sz="11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</a:t>
              </a:r>
              <a:endParaRPr lang="en-US" altLang="zh-CN" sz="11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4390" y="5974447"/>
              <a:ext cx="226921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建立协同运维服务</a:t>
              </a:r>
              <a:r>
                <a:rPr lang="zh-CN" altLang="en-US" sz="11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体系</a:t>
              </a:r>
              <a:endParaRPr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656736" y="5581747"/>
              <a:ext cx="158720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</a:t>
              </a:r>
              <a:r>
                <a:rPr lang="zh-CN" altLang="en-US" sz="11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</a:t>
              </a: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应用标准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648039" y="5970028"/>
              <a:ext cx="192821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zh-CN" altLang="en-US" sz="11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资源</a:t>
              </a:r>
              <a:r>
                <a:rPr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效能量化管控</a:t>
              </a:r>
              <a:endParaRPr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 Box 8"/>
            <p:cNvSpPr txBox="1">
              <a:spLocks noChangeArrowheads="1"/>
            </p:cNvSpPr>
            <p:nvPr/>
          </p:nvSpPr>
          <p:spPr bwMode="auto">
            <a:xfrm>
              <a:off x="633185" y="5551843"/>
              <a:ext cx="33664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eaLnBrk="0" hangingPunct="0"/>
              <a:r>
                <a:rPr kumimoji="1" lang="zh-CN" altLang="en-US" sz="14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关注点</a:t>
              </a:r>
              <a:endPara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2" name="组合 65"/>
            <p:cNvGrpSpPr/>
            <p:nvPr/>
          </p:nvGrpSpPr>
          <p:grpSpPr>
            <a:xfrm>
              <a:off x="5726868" y="5506180"/>
              <a:ext cx="504690" cy="877388"/>
              <a:chOff x="3286116" y="1428736"/>
              <a:chExt cx="251438" cy="864794"/>
            </a:xfrm>
          </p:grpSpPr>
          <p:cxnSp>
            <p:nvCxnSpPr>
              <p:cNvPr id="67" name="直接连接符 66"/>
              <p:cNvCxnSpPr/>
              <p:nvPr/>
            </p:nvCxnSpPr>
            <p:spPr>
              <a:xfrm>
                <a:off x="3357554" y="1428736"/>
                <a:ext cx="180000" cy="1588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3286116" y="1857364"/>
                <a:ext cx="72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3357554" y="2285992"/>
                <a:ext cx="180000" cy="1588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5400000">
                <a:off x="2926348" y="1860736"/>
                <a:ext cx="8640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1" name="矩形 70"/>
            <p:cNvSpPr/>
            <p:nvPr/>
          </p:nvSpPr>
          <p:spPr>
            <a:xfrm>
              <a:off x="5265601" y="2784995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服务对象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6608461" y="2767248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能力管理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6608461" y="3052157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服务财务管理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Freeform 37"/>
            <p:cNvSpPr>
              <a:spLocks/>
            </p:cNvSpPr>
            <p:nvPr/>
          </p:nvSpPr>
          <p:spPr bwMode="auto">
            <a:xfrm>
              <a:off x="7901293" y="5281765"/>
              <a:ext cx="3104655" cy="785818"/>
            </a:xfrm>
            <a:custGeom>
              <a:avLst/>
              <a:gdLst>
                <a:gd name="T0" fmla="*/ 4572000 w 5760"/>
                <a:gd name="T1" fmla="*/ 0 h 2132"/>
                <a:gd name="T2" fmla="*/ 2916237 w 5760"/>
                <a:gd name="T3" fmla="*/ 720725 h 2132"/>
                <a:gd name="T4" fmla="*/ 3635375 w 5760"/>
                <a:gd name="T5" fmla="*/ 720725 h 2132"/>
                <a:gd name="T6" fmla="*/ 0 w 5760"/>
                <a:gd name="T7" fmla="*/ 1657350 h 2132"/>
                <a:gd name="T8" fmla="*/ 0 w 5760"/>
                <a:gd name="T9" fmla="*/ 3384550 h 2132"/>
                <a:gd name="T10" fmla="*/ 9144000 w 5760"/>
                <a:gd name="T11" fmla="*/ 3384550 h 2132"/>
                <a:gd name="T12" fmla="*/ 9144000 w 5760"/>
                <a:gd name="T13" fmla="*/ 1620837 h 2132"/>
                <a:gd name="T14" fmla="*/ 5472112 w 5760"/>
                <a:gd name="T15" fmla="*/ 720725 h 2132"/>
                <a:gd name="T16" fmla="*/ 6192837 w 5760"/>
                <a:gd name="T17" fmla="*/ 720725 h 2132"/>
                <a:gd name="T18" fmla="*/ 4572000 w 5760"/>
                <a:gd name="T19" fmla="*/ 0 h 2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760"/>
                <a:gd name="T31" fmla="*/ 0 h 2132"/>
                <a:gd name="T32" fmla="*/ 5760 w 5760"/>
                <a:gd name="T33" fmla="*/ 2132 h 213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760" h="2132">
                  <a:moveTo>
                    <a:pt x="2880" y="0"/>
                  </a:moveTo>
                  <a:lnTo>
                    <a:pt x="1837" y="454"/>
                  </a:lnTo>
                  <a:cubicBezTo>
                    <a:pt x="1837" y="454"/>
                    <a:pt x="2063" y="454"/>
                    <a:pt x="2290" y="454"/>
                  </a:cubicBezTo>
                  <a:cubicBezTo>
                    <a:pt x="1735" y="1140"/>
                    <a:pt x="0" y="1044"/>
                    <a:pt x="0" y="1044"/>
                  </a:cubicBezTo>
                  <a:lnTo>
                    <a:pt x="0" y="2132"/>
                  </a:lnTo>
                  <a:lnTo>
                    <a:pt x="5760" y="2132"/>
                  </a:lnTo>
                  <a:lnTo>
                    <a:pt x="5760" y="1021"/>
                  </a:lnTo>
                  <a:cubicBezTo>
                    <a:pt x="5760" y="1021"/>
                    <a:pt x="4283" y="1096"/>
                    <a:pt x="3447" y="454"/>
                  </a:cubicBezTo>
                  <a:cubicBezTo>
                    <a:pt x="3674" y="454"/>
                    <a:pt x="3901" y="454"/>
                    <a:pt x="3901" y="454"/>
                  </a:cubicBezTo>
                  <a:lnTo>
                    <a:pt x="288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4"/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6312268" y="5511892"/>
              <a:ext cx="5397755" cy="900558"/>
            </a:xfrm>
            <a:prstGeom prst="rect">
              <a:avLst/>
            </a:prstGeom>
            <a:solidFill>
              <a:srgbClr val="FEF9F4"/>
            </a:solidFill>
            <a:ln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468141" y="5515091"/>
              <a:ext cx="33503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Wingdings" pitchFamily="2" charset="2"/>
                <a:buChar char="p"/>
                <a:defRPr/>
              </a:pPr>
              <a:r>
                <a:rPr lang="zh-CN" altLang="en-US" sz="1100" b="1" dirty="0" smtClean="0">
                  <a:latin typeface="微软雅黑" pitchFamily="34" charset="-122"/>
                  <a:ea typeface="微软雅黑" pitchFamily="34" charset="-122"/>
                </a:rPr>
                <a:t>  组织体系一体化</a:t>
              </a:r>
              <a:r>
                <a:rPr lang="en-US" altLang="zh-CN" sz="1100" b="1" dirty="0" smtClean="0">
                  <a:latin typeface="微软雅黑" pitchFamily="34" charset="-122"/>
                  <a:ea typeface="微软雅黑" pitchFamily="34" charset="-122"/>
                </a:rPr>
                <a:t>--</a:t>
              </a:r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专业化运维支持团队</a:t>
              </a:r>
              <a:endParaRPr lang="en-US" altLang="zh-CN" sz="11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468141" y="5813643"/>
              <a:ext cx="30093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Wingdings" pitchFamily="2" charset="2"/>
                <a:buChar char="p"/>
                <a:defRPr/>
              </a:pPr>
              <a:r>
                <a:rPr lang="zh-CN" altLang="en-US" sz="1100" b="1" dirty="0" smtClean="0">
                  <a:latin typeface="微软雅黑" pitchFamily="34" charset="-122"/>
                  <a:ea typeface="微软雅黑" pitchFamily="34" charset="-122"/>
                </a:rPr>
                <a:t>  流程管理一体化</a:t>
              </a:r>
              <a:r>
                <a:rPr lang="en-US" altLang="zh-CN" sz="1100" dirty="0" smtClean="0">
                  <a:latin typeface="微软雅黑" pitchFamily="34" charset="-122"/>
                  <a:ea typeface="微软雅黑" pitchFamily="34" charset="-122"/>
                </a:rPr>
                <a:t>--</a:t>
              </a:r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精细化管理流程</a:t>
              </a:r>
              <a:endParaRPr lang="en-US" altLang="zh-CN" sz="11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468141" y="6125842"/>
              <a:ext cx="33503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Wingdings" pitchFamily="2" charset="2"/>
                <a:buChar char="p"/>
                <a:defRPr/>
              </a:pPr>
              <a:r>
                <a:rPr lang="zh-CN" altLang="en-US" sz="1100" b="1" dirty="0" smtClean="0">
                  <a:latin typeface="微软雅黑" pitchFamily="34" charset="-122"/>
                  <a:ea typeface="微软雅黑" pitchFamily="34" charset="-122"/>
                </a:rPr>
                <a:t>  工具平台一体化</a:t>
              </a:r>
              <a:r>
                <a:rPr lang="en-US" altLang="zh-CN" sz="1100" b="1" dirty="0" smtClean="0">
                  <a:latin typeface="微软雅黑" pitchFamily="34" charset="-122"/>
                  <a:ea typeface="微软雅黑" pitchFamily="34" charset="-122"/>
                </a:rPr>
                <a:t>--</a:t>
              </a:r>
              <a:r>
                <a:rPr lang="zh-CN" altLang="en-US" sz="1100" dirty="0" smtClean="0">
                  <a:latin typeface="微软雅黑" pitchFamily="34" charset="-122"/>
                  <a:ea typeface="微软雅黑" pitchFamily="34" charset="-122"/>
                </a:rPr>
                <a:t>一体化运维体系平台</a:t>
              </a:r>
              <a:endParaRPr lang="en-US" altLang="zh-CN" sz="11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7941710" y="3351584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知识管理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7943125" y="2767683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服务报告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7943125" y="3052592"/>
              <a:ext cx="1151999" cy="21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安全管理</a:t>
              </a:r>
              <a:endParaRPr lang="en-US" altLang="zh-CN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91153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213243" y="1161304"/>
            <a:ext cx="5879976" cy="5004000"/>
            <a:chOff x="1213243" y="1161304"/>
            <a:chExt cx="5879976" cy="5004000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2917362" y="1393008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3588487" y="1393008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IT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运维管理发展趋势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MH_Number_3"/>
            <p:cNvSpPr/>
            <p:nvPr>
              <p:custDataLst>
                <p:tags r:id="rId4"/>
              </p:custDataLst>
            </p:nvPr>
          </p:nvSpPr>
          <p:spPr>
            <a:xfrm>
              <a:off x="2917362" y="3396172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MH_Entry_3"/>
            <p:cNvSpPr/>
            <p:nvPr>
              <p:custDataLst>
                <p:tags r:id="rId5"/>
              </p:custDataLst>
            </p:nvPr>
          </p:nvSpPr>
          <p:spPr>
            <a:xfrm>
              <a:off x="3588487" y="3396172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运维管理体系</a:t>
              </a:r>
            </a:p>
          </p:txBody>
        </p:sp>
        <p:sp>
          <p:nvSpPr>
            <p:cNvPr id="12" name="MH_Number_5"/>
            <p:cNvSpPr/>
            <p:nvPr>
              <p:custDataLst>
                <p:tags r:id="rId6"/>
              </p:custDataLst>
            </p:nvPr>
          </p:nvSpPr>
          <p:spPr>
            <a:xfrm>
              <a:off x="2917362" y="5399336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05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" name="MH_Entry_5"/>
            <p:cNvSpPr/>
            <p:nvPr>
              <p:custDataLst>
                <p:tags r:id="rId7"/>
              </p:custDataLst>
            </p:nvPr>
          </p:nvSpPr>
          <p:spPr>
            <a:xfrm>
              <a:off x="3588487" y="5399336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系统整体规划</a:t>
              </a:r>
            </a:p>
          </p:txBody>
        </p:sp>
        <p:sp>
          <p:nvSpPr>
            <p:cNvPr id="21" name="MH_Number_2"/>
            <p:cNvSpPr/>
            <p:nvPr>
              <p:custDataLst>
                <p:tags r:id="rId8"/>
              </p:custDataLst>
            </p:nvPr>
          </p:nvSpPr>
          <p:spPr>
            <a:xfrm>
              <a:off x="2917362" y="2394590"/>
              <a:ext cx="550238" cy="549944"/>
            </a:xfrm>
            <a:prstGeom prst="rect">
              <a:avLst/>
            </a:prstGeom>
            <a:noFill/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 b="1">
                <a:solidFill>
                  <a:srgbClr val="C0332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MH_Entry_2"/>
            <p:cNvSpPr/>
            <p:nvPr>
              <p:custDataLst>
                <p:tags r:id="rId9"/>
              </p:custDataLst>
            </p:nvPr>
          </p:nvSpPr>
          <p:spPr>
            <a:xfrm>
              <a:off x="3588487" y="2394590"/>
              <a:ext cx="3504732" cy="549944"/>
            </a:xfrm>
            <a:prstGeom prst="rect">
              <a:avLst/>
            </a:prstGeom>
            <a:solidFill>
              <a:srgbClr val="C03321"/>
            </a:solidFill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运维管理对象</a:t>
              </a:r>
              <a:r>
                <a:rPr lang="en-US" altLang="zh-CN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要素</a:t>
              </a:r>
            </a:p>
          </p:txBody>
        </p:sp>
        <p:sp>
          <p:nvSpPr>
            <p:cNvPr id="24" name="MH_Number_4"/>
            <p:cNvSpPr/>
            <p:nvPr>
              <p:custDataLst>
                <p:tags r:id="rId10"/>
              </p:custDataLst>
            </p:nvPr>
          </p:nvSpPr>
          <p:spPr>
            <a:xfrm>
              <a:off x="2917362" y="4397754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" name="MH_Entry_4"/>
            <p:cNvSpPr/>
            <p:nvPr>
              <p:custDataLst>
                <p:tags r:id="rId11"/>
              </p:custDataLst>
            </p:nvPr>
          </p:nvSpPr>
          <p:spPr>
            <a:xfrm>
              <a:off x="3588487" y="4397754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运维业务模型设计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5" name="MH_Others_1"/>
            <p:cNvCxnSpPr/>
            <p:nvPr>
              <p:custDataLst>
                <p:tags r:id="rId12"/>
              </p:custDataLst>
            </p:nvPr>
          </p:nvCxnSpPr>
          <p:spPr>
            <a:xfrm>
              <a:off x="2380336" y="1161304"/>
              <a:ext cx="0" cy="5004000"/>
            </a:xfrm>
            <a:prstGeom prst="line">
              <a:avLst/>
            </a:prstGeom>
            <a:ln w="41275">
              <a:solidFill>
                <a:srgbClr val="C033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1213243" y="1320643"/>
              <a:ext cx="1054501" cy="4196589"/>
              <a:chOff x="943190" y="632970"/>
              <a:chExt cx="1054501" cy="4196589"/>
            </a:xfrm>
          </p:grpSpPr>
          <p:sp>
            <p:nvSpPr>
              <p:cNvPr id="38" name="MH_Others_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43190" y="632970"/>
                <a:ext cx="1054501" cy="1188575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0">
                <a:noAutofit/>
              </a:bodyPr>
              <a:lstStyle/>
              <a:p>
                <a:r>
                  <a:rPr lang="en-US" altLang="zh-CN" sz="880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C</a:t>
                </a:r>
                <a:endParaRPr lang="zh-CN" altLang="en-US" sz="440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39" name="MH_Others_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32778" y="3331096"/>
                <a:ext cx="693893" cy="1498463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目</a:t>
                </a:r>
                <a:endParaRPr lang="en-US" altLang="zh-CN" sz="4800" b="1" dirty="0" smtClean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录</a:t>
                </a:r>
                <a:endParaRPr lang="zh-CN" altLang="en-US" sz="4800" b="1" dirty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MH_Others_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71949" y="1384476"/>
                <a:ext cx="615553" cy="2062424"/>
              </a:xfrm>
              <a:prstGeom prst="rect">
                <a:avLst/>
              </a:prstGeom>
            </p:spPr>
            <p:txBody>
              <a:bodyPr vert="eaVert" wrap="square">
                <a:noAutofit/>
              </a:bodyPr>
              <a:lstStyle/>
              <a:p>
                <a:r>
                  <a:rPr lang="en-US" altLang="zh-CN" sz="2800" spc="500">
                    <a:solidFill>
                      <a:srgbClr val="C0C0C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ONTENTS</a:t>
                </a:r>
                <a:endParaRPr lang="zh-CN" altLang="en-US" sz="2800" spc="500">
                  <a:solidFill>
                    <a:srgbClr val="C0C0C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xmlns="" val="356929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运维管理对象</a:t>
            </a:r>
            <a:r>
              <a:rPr lang="en-US" altLang="zh-CN" dirty="0"/>
              <a:t>&amp;</a:t>
            </a:r>
            <a:r>
              <a:rPr lang="zh-CN" altLang="en-US" dirty="0"/>
              <a:t>要素</a:t>
            </a:r>
          </a:p>
        </p:txBody>
      </p:sp>
      <p:sp>
        <p:nvSpPr>
          <p:cNvPr id="3" name="上下箭头 2"/>
          <p:cNvSpPr/>
          <p:nvPr/>
        </p:nvSpPr>
        <p:spPr>
          <a:xfrm rot="16200000">
            <a:off x="2184849" y="3136252"/>
            <a:ext cx="1548000" cy="1656000"/>
          </a:xfrm>
          <a:prstGeom prst="upDownArrow">
            <a:avLst>
              <a:gd name="adj1" fmla="val 68006"/>
              <a:gd name="adj2" fmla="val 23015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51412" y="1864845"/>
            <a:ext cx="5190182" cy="4660499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2700000" scaled="1"/>
          </a:gradFill>
          <a:ln w="9525" algn="ctr">
            <a:solidFill>
              <a:srgbClr val="E6E6E6"/>
            </a:solidFill>
            <a:miter lim="800000"/>
            <a:headEnd/>
            <a:tailEnd/>
          </a:ln>
          <a:effectLst>
            <a:outerShdw dist="17961" dir="2700000" algn="ctr" rotWithShape="0">
              <a:srgbClr val="A9A9A9"/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4385477" y="2650663"/>
            <a:ext cx="3223587" cy="3000396"/>
            <a:chOff x="2574925" y="1989138"/>
            <a:chExt cx="4035425" cy="3756025"/>
          </a:xfrm>
        </p:grpSpPr>
        <p:grpSp>
          <p:nvGrpSpPr>
            <p:cNvPr id="6" name="组合 5"/>
            <p:cNvGrpSpPr/>
            <p:nvPr/>
          </p:nvGrpSpPr>
          <p:grpSpPr>
            <a:xfrm>
              <a:off x="2574925" y="1989138"/>
              <a:ext cx="4035425" cy="3756025"/>
              <a:chOff x="2574925" y="1989138"/>
              <a:chExt cx="4035425" cy="3756025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2574925" y="1989138"/>
                <a:ext cx="4035425" cy="3756025"/>
                <a:chOff x="2574925" y="1989138"/>
                <a:chExt cx="4035425" cy="3756025"/>
              </a:xfrm>
            </p:grpSpPr>
            <p:grpSp>
              <p:nvGrpSpPr>
                <p:cNvPr id="16" name="组合 15"/>
                <p:cNvGrpSpPr/>
                <p:nvPr/>
              </p:nvGrpSpPr>
              <p:grpSpPr>
                <a:xfrm>
                  <a:off x="2574925" y="1989138"/>
                  <a:ext cx="4035425" cy="3756025"/>
                  <a:chOff x="2574925" y="1989138"/>
                  <a:chExt cx="4035425" cy="3756025"/>
                </a:xfrm>
              </p:grpSpPr>
              <p:sp>
                <p:nvSpPr>
                  <p:cNvPr id="18" name="MH_Other_6"/>
                  <p:cNvSpPr>
                    <a:spLocks/>
                  </p:cNvSpPr>
                  <p:nvPr>
                    <p:custDataLst>
                      <p:tags r:id="rId4"/>
                    </p:custDataLst>
                  </p:nvPr>
                </p:nvSpPr>
                <p:spPr bwMode="auto">
                  <a:xfrm rot="4320000">
                    <a:off x="3144044" y="1602581"/>
                    <a:ext cx="1365250" cy="2503488"/>
                  </a:xfrm>
                  <a:custGeom>
                    <a:avLst/>
                    <a:gdLst>
                      <a:gd name="T0" fmla="*/ 2147483646 w 1468"/>
                      <a:gd name="T1" fmla="*/ 2147483646 h 2692"/>
                      <a:gd name="T2" fmla="*/ 2147483646 w 1468"/>
                      <a:gd name="T3" fmla="*/ 2147483646 h 2692"/>
                      <a:gd name="T4" fmla="*/ 2147483646 w 1468"/>
                      <a:gd name="T5" fmla="*/ 2147483646 h 2692"/>
                      <a:gd name="T6" fmla="*/ 2147483646 w 1468"/>
                      <a:gd name="T7" fmla="*/ 0 h 2692"/>
                      <a:gd name="T8" fmla="*/ 2147483646 w 1468"/>
                      <a:gd name="T9" fmla="*/ 2147483646 h 2692"/>
                      <a:gd name="T10" fmla="*/ 2147483646 w 1468"/>
                      <a:gd name="T11" fmla="*/ 2147483646 h 2692"/>
                      <a:gd name="T12" fmla="*/ 2147483646 w 1468"/>
                      <a:gd name="T13" fmla="*/ 2147483646 h 2692"/>
                      <a:gd name="T14" fmla="*/ 2147483646 w 1468"/>
                      <a:gd name="T15" fmla="*/ 2147483646 h 269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68" h="2692">
                        <a:moveTo>
                          <a:pt x="1069" y="2104"/>
                        </a:moveTo>
                        <a:cubicBezTo>
                          <a:pt x="1099" y="1845"/>
                          <a:pt x="1241" y="1097"/>
                          <a:pt x="1253" y="1036"/>
                        </a:cubicBezTo>
                        <a:cubicBezTo>
                          <a:pt x="1253" y="1032"/>
                          <a:pt x="1253" y="1032"/>
                          <a:pt x="1253" y="1032"/>
                        </a:cubicBezTo>
                        <a:cubicBezTo>
                          <a:pt x="204" y="0"/>
                          <a:pt x="204" y="0"/>
                          <a:pt x="204" y="0"/>
                        </a:cubicBezTo>
                        <a:cubicBezTo>
                          <a:pt x="34" y="392"/>
                          <a:pt x="0" y="821"/>
                          <a:pt x="90" y="1224"/>
                        </a:cubicBezTo>
                        <a:cubicBezTo>
                          <a:pt x="192" y="1678"/>
                          <a:pt x="454" y="2098"/>
                          <a:pt x="860" y="2393"/>
                        </a:cubicBezTo>
                        <a:cubicBezTo>
                          <a:pt x="1049" y="2531"/>
                          <a:pt x="1255" y="2630"/>
                          <a:pt x="1468" y="2692"/>
                        </a:cubicBezTo>
                        <a:cubicBezTo>
                          <a:pt x="1168" y="2531"/>
                          <a:pt x="1049" y="2280"/>
                          <a:pt x="1069" y="2104"/>
                        </a:cubicBezTo>
                        <a:close/>
                      </a:path>
                    </a:pathLst>
                  </a:custGeom>
                  <a:solidFill>
                    <a:srgbClr val="B9B824"/>
                  </a:solidFill>
                  <a:ln>
                    <a:noFill/>
                  </a:ln>
                  <a:effectLst>
                    <a:outerShdw blurRad="25400" dist="38100" dir="5400000" sx="102000" sy="102000" algn="tl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" name="MH_Other_7"/>
                  <p:cNvSpPr>
                    <a:spLocks/>
                  </p:cNvSpPr>
                  <p:nvPr>
                    <p:custDataLst>
                      <p:tags r:id="rId5"/>
                    </p:custDataLst>
                  </p:nvPr>
                </p:nvSpPr>
                <p:spPr bwMode="auto">
                  <a:xfrm>
                    <a:off x="4065588" y="1989138"/>
                    <a:ext cx="2427287" cy="1443037"/>
                  </a:xfrm>
                  <a:custGeom>
                    <a:avLst/>
                    <a:gdLst>
                      <a:gd name="T0" fmla="*/ 2147483646 w 2605"/>
                      <a:gd name="T1" fmla="*/ 2147483646 h 1551"/>
                      <a:gd name="T2" fmla="*/ 2147483646 w 2605"/>
                      <a:gd name="T3" fmla="*/ 0 h 1551"/>
                      <a:gd name="T4" fmla="*/ 0 w 2605"/>
                      <a:gd name="T5" fmla="*/ 2147483646 h 1551"/>
                      <a:gd name="T6" fmla="*/ 2147483646 w 2605"/>
                      <a:gd name="T7" fmla="*/ 2147483646 h 1551"/>
                      <a:gd name="T8" fmla="*/ 2147483646 w 2605"/>
                      <a:gd name="T9" fmla="*/ 2147483646 h 1551"/>
                      <a:gd name="T10" fmla="*/ 2147483646 w 2605"/>
                      <a:gd name="T11" fmla="*/ 2147483646 h 1551"/>
                      <a:gd name="T12" fmla="*/ 2147483646 w 2605"/>
                      <a:gd name="T13" fmla="*/ 2147483646 h 1551"/>
                      <a:gd name="T14" fmla="*/ 2147483646 w 2605"/>
                      <a:gd name="T15" fmla="*/ 2147483646 h 155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605" h="1551">
                        <a:moveTo>
                          <a:pt x="1978" y="494"/>
                        </a:moveTo>
                        <a:cubicBezTo>
                          <a:pt x="1629" y="186"/>
                          <a:pt x="1170" y="0"/>
                          <a:pt x="668" y="0"/>
                        </a:cubicBezTo>
                        <a:cubicBezTo>
                          <a:pt x="434" y="0"/>
                          <a:pt x="209" y="41"/>
                          <a:pt x="0" y="115"/>
                        </a:cubicBezTo>
                        <a:cubicBezTo>
                          <a:pt x="338" y="69"/>
                          <a:pt x="581" y="202"/>
                          <a:pt x="668" y="357"/>
                        </a:cubicBezTo>
                        <a:cubicBezTo>
                          <a:pt x="797" y="584"/>
                          <a:pt x="1122" y="1273"/>
                          <a:pt x="1148" y="1328"/>
                        </a:cubicBezTo>
                        <a:cubicBezTo>
                          <a:pt x="1150" y="1332"/>
                          <a:pt x="1150" y="1332"/>
                          <a:pt x="1150" y="1332"/>
                        </a:cubicBezTo>
                        <a:cubicBezTo>
                          <a:pt x="2605" y="1551"/>
                          <a:pt x="2605" y="1551"/>
                          <a:pt x="2605" y="1551"/>
                        </a:cubicBezTo>
                        <a:cubicBezTo>
                          <a:pt x="2512" y="1134"/>
                          <a:pt x="2288" y="766"/>
                          <a:pt x="1978" y="494"/>
                        </a:cubicBezTo>
                        <a:close/>
                      </a:path>
                    </a:pathLst>
                  </a:custGeom>
                  <a:solidFill>
                    <a:srgbClr val="58B7B2"/>
                  </a:solidFill>
                  <a:ln>
                    <a:noFill/>
                  </a:ln>
                  <a:effectLst>
                    <a:outerShdw blurRad="50800" dist="38100" dir="7200000" sx="101000" sy="101000" algn="tr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" name="MH_Other_8"/>
                  <p:cNvSpPr>
                    <a:spLocks/>
                  </p:cNvSpPr>
                  <p:nvPr>
                    <p:custDataLst>
                      <p:tags r:id="rId6"/>
                    </p:custDataLst>
                  </p:nvPr>
                </p:nvSpPr>
                <p:spPr bwMode="auto">
                  <a:xfrm>
                    <a:off x="5405438" y="2733675"/>
                    <a:ext cx="1204912" cy="2720975"/>
                  </a:xfrm>
                  <a:custGeom>
                    <a:avLst/>
                    <a:gdLst>
                      <a:gd name="T0" fmla="*/ 2147483646 w 1295"/>
                      <a:gd name="T1" fmla="*/ 2147483646 h 2922"/>
                      <a:gd name="T2" fmla="*/ 2147483646 w 1295"/>
                      <a:gd name="T3" fmla="*/ 0 h 2922"/>
                      <a:gd name="T4" fmla="*/ 2147483646 w 1295"/>
                      <a:gd name="T5" fmla="*/ 2147483646 h 2922"/>
                      <a:gd name="T6" fmla="*/ 2147483646 w 1295"/>
                      <a:gd name="T7" fmla="*/ 2147483646 h 2922"/>
                      <a:gd name="T8" fmla="*/ 0 w 1295"/>
                      <a:gd name="T9" fmla="*/ 2147483646 h 2922"/>
                      <a:gd name="T10" fmla="*/ 2147483646 w 1295"/>
                      <a:gd name="T11" fmla="*/ 2147483646 h 2922"/>
                      <a:gd name="T12" fmla="*/ 2147483646 w 1295"/>
                      <a:gd name="T13" fmla="*/ 2147483646 h 2922"/>
                      <a:gd name="T14" fmla="*/ 2147483646 w 1295"/>
                      <a:gd name="T15" fmla="*/ 2147483646 h 292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295" h="2922">
                        <a:moveTo>
                          <a:pt x="1139" y="613"/>
                        </a:moveTo>
                        <a:cubicBezTo>
                          <a:pt x="1067" y="390"/>
                          <a:pt x="962" y="176"/>
                          <a:pt x="826" y="0"/>
                        </a:cubicBezTo>
                        <a:cubicBezTo>
                          <a:pt x="974" y="307"/>
                          <a:pt x="900" y="580"/>
                          <a:pt x="779" y="710"/>
                        </a:cubicBezTo>
                        <a:cubicBezTo>
                          <a:pt x="603" y="903"/>
                          <a:pt x="49" y="1425"/>
                          <a:pt x="4" y="1467"/>
                        </a:cubicBezTo>
                        <a:cubicBezTo>
                          <a:pt x="0" y="1470"/>
                          <a:pt x="0" y="1470"/>
                          <a:pt x="0" y="1470"/>
                        </a:cubicBezTo>
                        <a:cubicBezTo>
                          <a:pt x="242" y="2922"/>
                          <a:pt x="242" y="2922"/>
                          <a:pt x="242" y="2922"/>
                        </a:cubicBezTo>
                        <a:cubicBezTo>
                          <a:pt x="610" y="2704"/>
                          <a:pt x="891" y="2377"/>
                          <a:pt x="1054" y="1998"/>
                        </a:cubicBezTo>
                        <a:cubicBezTo>
                          <a:pt x="1239" y="1571"/>
                          <a:pt x="1295" y="1091"/>
                          <a:pt x="1139" y="613"/>
                        </a:cubicBezTo>
                        <a:close/>
                      </a:path>
                    </a:pathLst>
                  </a:custGeom>
                  <a:solidFill>
                    <a:srgbClr val="A11B5A"/>
                  </a:solidFill>
                  <a:ln>
                    <a:noFill/>
                  </a:ln>
                  <a:effectLst>
                    <a:outerShdw blurRad="38100" dist="38100" dir="12600000" sx="101000" sy="101000" algn="r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" name="MH_Other_9"/>
                  <p:cNvSpPr>
                    <a:spLocks/>
                  </p:cNvSpPr>
                  <p:nvPr>
                    <p:custDataLst>
                      <p:tags r:id="rId7"/>
                    </p:custDataLst>
                  </p:nvPr>
                </p:nvSpPr>
                <p:spPr bwMode="auto">
                  <a:xfrm>
                    <a:off x="3465513" y="4618038"/>
                    <a:ext cx="2746375" cy="1127125"/>
                  </a:xfrm>
                  <a:custGeom>
                    <a:avLst/>
                    <a:gdLst>
                      <a:gd name="T0" fmla="*/ 2147483646 w 2952"/>
                      <a:gd name="T1" fmla="*/ 2147483646 h 1208"/>
                      <a:gd name="T2" fmla="*/ 2147483646 w 2952"/>
                      <a:gd name="T3" fmla="*/ 2147483646 h 1208"/>
                      <a:gd name="T4" fmla="*/ 2147483646 w 2952"/>
                      <a:gd name="T5" fmla="*/ 0 h 1208"/>
                      <a:gd name="T6" fmla="*/ 0 w 2952"/>
                      <a:gd name="T7" fmla="*/ 2147483646 h 1208"/>
                      <a:gd name="T8" fmla="*/ 2147483646 w 2952"/>
                      <a:gd name="T9" fmla="*/ 2147483646 h 1208"/>
                      <a:gd name="T10" fmla="*/ 2147483646 w 2952"/>
                      <a:gd name="T11" fmla="*/ 2147483646 h 1208"/>
                      <a:gd name="T12" fmla="*/ 2147483646 w 2952"/>
                      <a:gd name="T13" fmla="*/ 2147483646 h 1208"/>
                      <a:gd name="T14" fmla="*/ 2147483646 w 2952"/>
                      <a:gd name="T15" fmla="*/ 2147483646 h 1208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2952" h="1208">
                        <a:moveTo>
                          <a:pt x="2269" y="506"/>
                        </a:moveTo>
                        <a:cubicBezTo>
                          <a:pt x="2032" y="398"/>
                          <a:pt x="1364" y="31"/>
                          <a:pt x="1310" y="2"/>
                        </a:cubicBezTo>
                        <a:cubicBezTo>
                          <a:pt x="1306" y="0"/>
                          <a:pt x="1306" y="0"/>
                          <a:pt x="1306" y="0"/>
                        </a:cubicBezTo>
                        <a:cubicBezTo>
                          <a:pt x="0" y="678"/>
                          <a:pt x="0" y="678"/>
                          <a:pt x="0" y="678"/>
                        </a:cubicBezTo>
                        <a:cubicBezTo>
                          <a:pt x="321" y="961"/>
                          <a:pt x="718" y="1127"/>
                          <a:pt x="1129" y="1165"/>
                        </a:cubicBezTo>
                        <a:cubicBezTo>
                          <a:pt x="1592" y="1208"/>
                          <a:pt x="2073" y="1090"/>
                          <a:pt x="2479" y="795"/>
                        </a:cubicBezTo>
                        <a:cubicBezTo>
                          <a:pt x="2669" y="657"/>
                          <a:pt x="2826" y="492"/>
                          <a:pt x="2952" y="309"/>
                        </a:cubicBezTo>
                        <a:cubicBezTo>
                          <a:pt x="2706" y="544"/>
                          <a:pt x="2431" y="580"/>
                          <a:pt x="2269" y="506"/>
                        </a:cubicBezTo>
                        <a:close/>
                      </a:path>
                    </a:pathLst>
                  </a:custGeom>
                  <a:solidFill>
                    <a:srgbClr val="CC4209"/>
                  </a:solidFill>
                  <a:ln>
                    <a:noFill/>
                  </a:ln>
                  <a:effectLst>
                    <a:outerShdw blurRad="38100" dist="38100" dir="16200000" sx="101000" sy="101000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" name="MH_Other_10"/>
                  <p:cNvSpPr>
                    <a:spLocks/>
                  </p:cNvSpPr>
                  <p:nvPr>
                    <p:custDataLst>
                      <p:tags r:id="rId8"/>
                    </p:custDataLst>
                  </p:nvPr>
                </p:nvSpPr>
                <p:spPr bwMode="auto">
                  <a:xfrm>
                    <a:off x="2803525" y="3132138"/>
                    <a:ext cx="1365250" cy="2505075"/>
                  </a:xfrm>
                  <a:custGeom>
                    <a:avLst/>
                    <a:gdLst>
                      <a:gd name="T0" fmla="*/ 2147483646 w 1468"/>
                      <a:gd name="T1" fmla="*/ 2147483646 h 2692"/>
                      <a:gd name="T2" fmla="*/ 2147483646 w 1468"/>
                      <a:gd name="T3" fmla="*/ 2147483646 h 2692"/>
                      <a:gd name="T4" fmla="*/ 2147483646 w 1468"/>
                      <a:gd name="T5" fmla="*/ 2147483646 h 2692"/>
                      <a:gd name="T6" fmla="*/ 2147483646 w 1468"/>
                      <a:gd name="T7" fmla="*/ 0 h 2692"/>
                      <a:gd name="T8" fmla="*/ 2147483646 w 1468"/>
                      <a:gd name="T9" fmla="*/ 2147483646 h 2692"/>
                      <a:gd name="T10" fmla="*/ 2147483646 w 1468"/>
                      <a:gd name="T11" fmla="*/ 2147483646 h 2692"/>
                      <a:gd name="T12" fmla="*/ 2147483646 w 1468"/>
                      <a:gd name="T13" fmla="*/ 2147483646 h 2692"/>
                      <a:gd name="T14" fmla="*/ 2147483646 w 1468"/>
                      <a:gd name="T15" fmla="*/ 2147483646 h 269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1468" h="2692">
                        <a:moveTo>
                          <a:pt x="1069" y="2104"/>
                        </a:moveTo>
                        <a:cubicBezTo>
                          <a:pt x="1099" y="1845"/>
                          <a:pt x="1241" y="1097"/>
                          <a:pt x="1253" y="1036"/>
                        </a:cubicBezTo>
                        <a:cubicBezTo>
                          <a:pt x="1253" y="1032"/>
                          <a:pt x="1253" y="1032"/>
                          <a:pt x="1253" y="1032"/>
                        </a:cubicBezTo>
                        <a:cubicBezTo>
                          <a:pt x="204" y="0"/>
                          <a:pt x="204" y="0"/>
                          <a:pt x="204" y="0"/>
                        </a:cubicBezTo>
                        <a:cubicBezTo>
                          <a:pt x="34" y="392"/>
                          <a:pt x="0" y="821"/>
                          <a:pt x="90" y="1224"/>
                        </a:cubicBezTo>
                        <a:cubicBezTo>
                          <a:pt x="192" y="1678"/>
                          <a:pt x="454" y="2098"/>
                          <a:pt x="860" y="2393"/>
                        </a:cubicBezTo>
                        <a:cubicBezTo>
                          <a:pt x="1049" y="2531"/>
                          <a:pt x="1255" y="2630"/>
                          <a:pt x="1468" y="2692"/>
                        </a:cubicBezTo>
                        <a:cubicBezTo>
                          <a:pt x="1168" y="2531"/>
                          <a:pt x="1049" y="2280"/>
                          <a:pt x="1069" y="2104"/>
                        </a:cubicBezTo>
                        <a:close/>
                      </a:path>
                    </a:pathLst>
                  </a:custGeom>
                  <a:solidFill>
                    <a:srgbClr val="F47C0D"/>
                  </a:solidFill>
                  <a:ln>
                    <a:noFill/>
                  </a:ln>
                  <a:effectLst>
                    <a:outerShdw blurRad="25400" dist="38100" dir="19200000" sx="102000" sy="102000" algn="tl" rotWithShape="0">
                      <a:prstClr val="black">
                        <a:alpha val="40000"/>
                      </a:prstClr>
                    </a:outerShdw>
                  </a:effectLst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" name="MH_Other_11"/>
                <p:cNvSpPr>
                  <a:spLocks/>
                </p:cNvSpPr>
                <p:nvPr>
                  <p:custDataLst>
                    <p:tags r:id="rId3"/>
                  </p:custDataLst>
                </p:nvPr>
              </p:nvSpPr>
              <p:spPr bwMode="auto">
                <a:xfrm>
                  <a:off x="2838450" y="2257425"/>
                  <a:ext cx="1408113" cy="1644650"/>
                </a:xfrm>
                <a:custGeom>
                  <a:avLst/>
                  <a:gdLst>
                    <a:gd name="T0" fmla="*/ 2147483646 w 1515"/>
                    <a:gd name="T1" fmla="*/ 0 h 1764"/>
                    <a:gd name="T2" fmla="*/ 2147483646 w 1515"/>
                    <a:gd name="T3" fmla="*/ 2147483646 h 1764"/>
                    <a:gd name="T4" fmla="*/ 2147483646 w 1515"/>
                    <a:gd name="T5" fmla="*/ 2147483646 h 1764"/>
                    <a:gd name="T6" fmla="*/ 2147483646 w 1515"/>
                    <a:gd name="T7" fmla="*/ 2147483646 h 1764"/>
                    <a:gd name="T8" fmla="*/ 2147483646 w 1515"/>
                    <a:gd name="T9" fmla="*/ 2147483646 h 1764"/>
                    <a:gd name="T10" fmla="*/ 2147483646 w 1515"/>
                    <a:gd name="T11" fmla="*/ 0 h 176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515" h="1764">
                      <a:moveTo>
                        <a:pt x="977" y="0"/>
                      </a:moveTo>
                      <a:cubicBezTo>
                        <a:pt x="577" y="238"/>
                        <a:pt x="258" y="616"/>
                        <a:pt x="103" y="1093"/>
                      </a:cubicBezTo>
                      <a:cubicBezTo>
                        <a:pt x="31" y="1316"/>
                        <a:pt x="0" y="1543"/>
                        <a:pt x="6" y="1764"/>
                      </a:cubicBezTo>
                      <a:cubicBezTo>
                        <a:pt x="67" y="1429"/>
                        <a:pt x="268" y="1239"/>
                        <a:pt x="443" y="1204"/>
                      </a:cubicBezTo>
                      <a:cubicBezTo>
                        <a:pt x="698" y="1152"/>
                        <a:pt x="1454" y="1056"/>
                        <a:pt x="1515" y="1048"/>
                      </a:cubicBez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rgbClr val="B9B8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4003678" y="3143248"/>
                <a:ext cx="1425578" cy="1424344"/>
                <a:chOff x="3646488" y="2878138"/>
                <a:chExt cx="1833562" cy="1831975"/>
              </a:xfrm>
            </p:grpSpPr>
            <p:sp>
              <p:nvSpPr>
                <p:cNvPr id="14" name="MH_Title_1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3875542" y="3097535"/>
                  <a:ext cx="1393175" cy="1393175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 fontScale="85000" lnSpcReduction="10000"/>
                </a:bodyPr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2800" dirty="0" smtClean="0">
                      <a:solidFill>
                        <a:srgbClr val="B13C1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</a:t>
                  </a:r>
                  <a:endParaRPr lang="en-US" sz="2800" dirty="0">
                    <a:solidFill>
                      <a:srgbClr val="B13C1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MH_Other_1"/>
                <p:cNvSpPr/>
                <p:nvPr>
                  <p:custDataLst>
                    <p:tags r:id="rId2"/>
                  </p:custDataLst>
                </p:nvPr>
              </p:nvSpPr>
              <p:spPr>
                <a:xfrm rot="20634799" flipH="1">
                  <a:off x="3646488" y="2878138"/>
                  <a:ext cx="1833562" cy="1831975"/>
                </a:xfrm>
                <a:prstGeom prst="circularArrow">
                  <a:avLst>
                    <a:gd name="adj1" fmla="val 2596"/>
                    <a:gd name="adj2" fmla="val 610829"/>
                    <a:gd name="adj3" fmla="val 20723301"/>
                    <a:gd name="adj4" fmla="val 997241"/>
                    <a:gd name="adj5" fmla="val 4943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Text Box 99"/>
            <p:cNvSpPr txBox="1">
              <a:spLocks noChangeArrowheads="1"/>
            </p:cNvSpPr>
            <p:nvPr/>
          </p:nvSpPr>
          <p:spPr bwMode="auto">
            <a:xfrm rot="19292228">
              <a:off x="3467306" y="2497515"/>
              <a:ext cx="8002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/>
                <a:t>业务</a:t>
              </a:r>
              <a:endParaRPr lang="en-US" altLang="ko-KR" b="0" dirty="0"/>
            </a:p>
          </p:txBody>
        </p:sp>
        <p:sp>
          <p:nvSpPr>
            <p:cNvPr id="8" name="Text Box 99"/>
            <p:cNvSpPr txBox="1">
              <a:spLocks noChangeArrowheads="1"/>
            </p:cNvSpPr>
            <p:nvPr/>
          </p:nvSpPr>
          <p:spPr bwMode="auto">
            <a:xfrm rot="1798084">
              <a:off x="5067290" y="2383555"/>
              <a:ext cx="8002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/>
                <a:t>人员</a:t>
              </a:r>
              <a:endParaRPr lang="en-US" altLang="ko-KR" b="0" dirty="0"/>
            </a:p>
          </p:txBody>
        </p:sp>
        <p:sp>
          <p:nvSpPr>
            <p:cNvPr id="9" name="Text Box 99"/>
            <p:cNvSpPr txBox="1">
              <a:spLocks noChangeArrowheads="1"/>
            </p:cNvSpPr>
            <p:nvPr/>
          </p:nvSpPr>
          <p:spPr bwMode="auto">
            <a:xfrm>
              <a:off x="5562505" y="3955190"/>
              <a:ext cx="8002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/>
                <a:t>环境</a:t>
              </a:r>
              <a:endParaRPr lang="en-US" altLang="ko-KR" b="0" dirty="0"/>
            </a:p>
          </p:txBody>
        </p:sp>
        <p:sp>
          <p:nvSpPr>
            <p:cNvPr id="10" name="Text Box 99"/>
            <p:cNvSpPr txBox="1">
              <a:spLocks noChangeArrowheads="1"/>
            </p:cNvSpPr>
            <p:nvPr/>
          </p:nvSpPr>
          <p:spPr bwMode="auto">
            <a:xfrm>
              <a:off x="4286248" y="5000636"/>
              <a:ext cx="8002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/>
                <a:t>设备</a:t>
              </a:r>
              <a:endParaRPr lang="en-US" altLang="ko-KR" b="0" dirty="0"/>
            </a:p>
          </p:txBody>
        </p:sp>
        <p:sp>
          <p:nvSpPr>
            <p:cNvPr id="11" name="Text Box 99"/>
            <p:cNvSpPr txBox="1">
              <a:spLocks noChangeArrowheads="1"/>
            </p:cNvSpPr>
            <p:nvPr/>
          </p:nvSpPr>
          <p:spPr bwMode="auto">
            <a:xfrm>
              <a:off x="3000364" y="4000504"/>
              <a:ext cx="80022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dirty="0" smtClean="0"/>
                <a:t>软件</a:t>
              </a:r>
              <a:endParaRPr lang="en-US" altLang="ko-KR" b="0" dirty="0"/>
            </a:p>
          </p:txBody>
        </p:sp>
      </p:grpSp>
      <p:sp>
        <p:nvSpPr>
          <p:cNvPr id="23" name="AutoShape 13"/>
          <p:cNvSpPr>
            <a:spLocks/>
          </p:cNvSpPr>
          <p:nvPr/>
        </p:nvSpPr>
        <p:spPr bwMode="gray">
          <a:xfrm flipH="1">
            <a:off x="7542838" y="2328405"/>
            <a:ext cx="1209234" cy="965200"/>
          </a:xfrm>
          <a:prstGeom prst="accentCallout2">
            <a:avLst>
              <a:gd name="adj1" fmla="val 11843"/>
              <a:gd name="adj2" fmla="val 103477"/>
              <a:gd name="adj3" fmla="val 13159"/>
              <a:gd name="adj4" fmla="val 145389"/>
              <a:gd name="adj5" fmla="val 44376"/>
              <a:gd name="adj6" fmla="val 166294"/>
            </a:avLst>
          </a:prstGeom>
          <a:noFill/>
          <a:ln w="9525">
            <a:solidFill>
              <a:srgbClr val="C11594"/>
            </a:solidFill>
            <a:miter lim="800000"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r>
              <a:rPr lang="zh-CN" altLang="en-US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业务用户</a:t>
            </a:r>
            <a:endParaRPr lang="en-US" altLang="zh-CN" sz="1400" b="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运维人员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供应商</a:t>
            </a:r>
            <a:endParaRPr lang="en-US" altLang="zh-CN" sz="1400" b="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储运商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en-US" altLang="zh-CN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·······</a:t>
            </a:r>
          </a:p>
          <a:p>
            <a:pPr eaLnBrk="0" hangingPunct="0"/>
            <a:endParaRPr lang="en-US" altLang="zh-CN" sz="1400" b="0" dirty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AutoShape 13"/>
          <p:cNvSpPr>
            <a:spLocks/>
          </p:cNvSpPr>
          <p:nvPr/>
        </p:nvSpPr>
        <p:spPr bwMode="gray">
          <a:xfrm flipH="1">
            <a:off x="7180436" y="5436745"/>
            <a:ext cx="1055606" cy="928694"/>
          </a:xfrm>
          <a:prstGeom prst="accentCallout2">
            <a:avLst>
              <a:gd name="adj1" fmla="val 35532"/>
              <a:gd name="adj2" fmla="val 98040"/>
              <a:gd name="adj3" fmla="val 35536"/>
              <a:gd name="adj4" fmla="val 131554"/>
              <a:gd name="adj5" fmla="val 12748"/>
              <a:gd name="adj6" fmla="val 165185"/>
            </a:avLst>
          </a:prstGeom>
          <a:noFill/>
          <a:ln w="9525">
            <a:solidFill>
              <a:srgbClr val="C11594"/>
            </a:solidFill>
            <a:miter lim="800000"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r>
              <a:rPr lang="zh-CN" altLang="en-US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服务器</a:t>
            </a:r>
            <a:endParaRPr lang="en-US" altLang="zh-CN" sz="1400" b="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桌面设备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en-US" altLang="zh-CN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·········</a:t>
            </a:r>
            <a:endParaRPr lang="en-US" altLang="zh-CN" sz="1400" b="0" dirty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AutoShape 11"/>
          <p:cNvSpPr>
            <a:spLocks/>
          </p:cNvSpPr>
          <p:nvPr/>
        </p:nvSpPr>
        <p:spPr bwMode="gray">
          <a:xfrm flipH="1">
            <a:off x="3651406" y="2339954"/>
            <a:ext cx="1028700" cy="596461"/>
          </a:xfrm>
          <a:prstGeom prst="accentCallout2">
            <a:avLst>
              <a:gd name="adj1" fmla="val 19444"/>
              <a:gd name="adj2" fmla="val -2778"/>
              <a:gd name="adj3" fmla="val 25000"/>
              <a:gd name="adj4" fmla="val -28114"/>
              <a:gd name="adj5" fmla="val 91808"/>
              <a:gd name="adj6" fmla="val -56800"/>
            </a:avLst>
          </a:prstGeom>
          <a:noFill/>
          <a:ln w="9525">
            <a:solidFill>
              <a:srgbClr val="C11594"/>
            </a:solidFill>
            <a:miter lim="800000"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r"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业务场景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系统流程</a:t>
            </a:r>
            <a:endParaRPr lang="en-US" altLang="zh-CN" sz="1400" dirty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AutoShape 11"/>
          <p:cNvSpPr>
            <a:spLocks/>
          </p:cNvSpPr>
          <p:nvPr/>
        </p:nvSpPr>
        <p:spPr bwMode="gray">
          <a:xfrm flipH="1">
            <a:off x="3822850" y="5293869"/>
            <a:ext cx="1015606" cy="914400"/>
          </a:xfrm>
          <a:prstGeom prst="accentCallout2">
            <a:avLst>
              <a:gd name="adj1" fmla="val 45833"/>
              <a:gd name="adj2" fmla="val -2778"/>
              <a:gd name="adj3" fmla="val 35776"/>
              <a:gd name="adj4" fmla="val -26587"/>
              <a:gd name="adj5" fmla="val 4921"/>
              <a:gd name="adj6" fmla="val -30255"/>
            </a:avLst>
          </a:prstGeom>
          <a:noFill/>
          <a:ln w="9525">
            <a:solidFill>
              <a:srgbClr val="C11594"/>
            </a:solidFill>
            <a:miter lim="800000"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r" eaLnBrk="0" hangingPunct="0"/>
            <a:r>
              <a:rPr lang="zh-CN" altLang="en-US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应用软件</a:t>
            </a:r>
            <a:endParaRPr lang="en-US" altLang="zh-CN" sz="1400" b="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监控软件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管理平台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eaLnBrk="0" hangingPunct="0"/>
            <a:r>
              <a:rPr lang="en-US" altLang="zh-CN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··········</a:t>
            </a:r>
            <a:endParaRPr lang="en-US" altLang="zh-CN" sz="1400" b="0" dirty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AutoShape 13"/>
          <p:cNvSpPr>
            <a:spLocks/>
          </p:cNvSpPr>
          <p:nvPr/>
        </p:nvSpPr>
        <p:spPr bwMode="gray">
          <a:xfrm flipH="1">
            <a:off x="7966254" y="3936547"/>
            <a:ext cx="1000132" cy="965200"/>
          </a:xfrm>
          <a:prstGeom prst="accentCallout2">
            <a:avLst>
              <a:gd name="adj1" fmla="val 11843"/>
              <a:gd name="adj2" fmla="val 103477"/>
              <a:gd name="adj3" fmla="val 11526"/>
              <a:gd name="adj4" fmla="val 124529"/>
              <a:gd name="adj5" fmla="val 28042"/>
              <a:gd name="adj6" fmla="val 141522"/>
            </a:avLst>
          </a:prstGeom>
          <a:noFill/>
          <a:ln w="9525">
            <a:solidFill>
              <a:srgbClr val="C11594"/>
            </a:solidFill>
            <a:miter lim="800000"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互联网</a:t>
            </a:r>
            <a:endParaRPr lang="en-US" altLang="zh-CN" sz="1400" b="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b="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物联网</a:t>
            </a:r>
            <a:endParaRPr lang="en-US" altLang="zh-CN" sz="1400" b="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涉密网</a:t>
            </a:r>
            <a:endParaRPr lang="en-US" altLang="zh-CN" sz="1400" dirty="0" smtClean="0">
              <a:solidFill>
                <a:srgbClr val="1C1C1C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en-US" altLang="zh-CN" sz="1400" dirty="0" smtClean="0">
                <a:solidFill>
                  <a:srgbClr val="1C1C1C"/>
                </a:solidFill>
                <a:latin typeface="微软雅黑" pitchFamily="34" charset="-122"/>
                <a:ea typeface="微软雅黑" pitchFamily="34" charset="-122"/>
              </a:rPr>
              <a:t>··········</a:t>
            </a: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179512" y="1864845"/>
            <a:ext cx="1928826" cy="4660499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2700000" scaled="1"/>
          </a:gradFill>
          <a:ln w="9525" algn="ctr">
            <a:solidFill>
              <a:srgbClr val="E6E6E6"/>
            </a:solidFill>
            <a:miter lim="800000"/>
            <a:headEnd/>
            <a:tailEnd/>
          </a:ln>
          <a:effectLst>
            <a:outerShdw dist="17961" dir="2700000" algn="ctr" rotWithShape="0">
              <a:srgbClr val="A9A9A9"/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流程图: 可选过程 28"/>
          <p:cNvSpPr/>
          <p:nvPr/>
        </p:nvSpPr>
        <p:spPr>
          <a:xfrm>
            <a:off x="3751412" y="1340768"/>
            <a:ext cx="5214974" cy="46695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0" dirty="0" smtClean="0">
                <a:latin typeface="微软雅黑" pitchFamily="34" charset="-122"/>
                <a:ea typeface="微软雅黑" pitchFamily="34" charset="-122"/>
              </a:rPr>
              <a:t>运维管理</a:t>
            </a:r>
            <a:r>
              <a:rPr lang="en-US" altLang="zh-CN" sz="2400" b="0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b="0" dirty="0" smtClean="0">
                <a:latin typeface="微软雅黑" pitchFamily="34" charset="-122"/>
                <a:ea typeface="微软雅黑" pitchFamily="34" charset="-122"/>
              </a:rPr>
              <a:t>要素</a:t>
            </a:r>
            <a:endParaRPr lang="zh-CN" altLang="en-US" sz="24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流程图: 可选过程 29"/>
          <p:cNvSpPr/>
          <p:nvPr/>
        </p:nvSpPr>
        <p:spPr>
          <a:xfrm>
            <a:off x="179512" y="1340768"/>
            <a:ext cx="1928826" cy="466956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0" dirty="0" smtClean="0">
                <a:latin typeface="微软雅黑" pitchFamily="34" charset="-122"/>
                <a:ea typeface="微软雅黑" pitchFamily="34" charset="-122"/>
              </a:rPr>
              <a:t>对象组</a:t>
            </a:r>
            <a:endParaRPr lang="zh-CN" altLang="en-US" sz="2400" b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24767" y="2085494"/>
            <a:ext cx="1469257" cy="1224000"/>
            <a:chOff x="463065" y="1419182"/>
            <a:chExt cx="1213949" cy="1224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2" name="AutoShape 51"/>
            <p:cNvSpPr>
              <a:spLocks noChangeArrowheads="1"/>
            </p:cNvSpPr>
            <p:nvPr/>
          </p:nvSpPr>
          <p:spPr bwMode="auto">
            <a:xfrm>
              <a:off x="463065" y="1419182"/>
              <a:ext cx="592008" cy="1224000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数据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AutoShape 51"/>
            <p:cNvSpPr>
              <a:spLocks noChangeArrowheads="1"/>
            </p:cNvSpPr>
            <p:nvPr/>
          </p:nvSpPr>
          <p:spPr bwMode="auto">
            <a:xfrm>
              <a:off x="1000100" y="2209623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正常流转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AutoShape 51"/>
            <p:cNvSpPr>
              <a:spLocks noChangeArrowheads="1"/>
            </p:cNvSpPr>
            <p:nvPr/>
          </p:nvSpPr>
          <p:spPr bwMode="auto">
            <a:xfrm>
              <a:off x="1000100" y="1829374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安全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AutoShape 51"/>
            <p:cNvSpPr>
              <a:spLocks noChangeArrowheads="1"/>
            </p:cNvSpPr>
            <p:nvPr/>
          </p:nvSpPr>
          <p:spPr bwMode="auto">
            <a:xfrm>
              <a:off x="1000100" y="1428736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备份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24767" y="3452370"/>
            <a:ext cx="1469257" cy="1512000"/>
            <a:chOff x="463065" y="1419182"/>
            <a:chExt cx="1213949" cy="1512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7" name="AutoShape 51"/>
            <p:cNvSpPr>
              <a:spLocks noChangeArrowheads="1"/>
            </p:cNvSpPr>
            <p:nvPr/>
          </p:nvSpPr>
          <p:spPr bwMode="auto">
            <a:xfrm>
              <a:off x="463065" y="1419182"/>
              <a:ext cx="592008" cy="1512000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软件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环境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AutoShape 51"/>
            <p:cNvSpPr>
              <a:spLocks noChangeArrowheads="1"/>
            </p:cNvSpPr>
            <p:nvPr/>
          </p:nvSpPr>
          <p:spPr bwMode="auto">
            <a:xfrm>
              <a:off x="1000100" y="2490752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适应改善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AutoShape 51"/>
            <p:cNvSpPr>
              <a:spLocks noChangeArrowheads="1"/>
            </p:cNvSpPr>
            <p:nvPr/>
          </p:nvSpPr>
          <p:spPr bwMode="auto">
            <a:xfrm>
              <a:off x="1000100" y="2133562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预警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AutoShape 51"/>
            <p:cNvSpPr>
              <a:spLocks noChangeArrowheads="1"/>
            </p:cNvSpPr>
            <p:nvPr/>
          </p:nvSpPr>
          <p:spPr bwMode="auto">
            <a:xfrm>
              <a:off x="1000100" y="1776372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快速恢复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AutoShape 51"/>
            <p:cNvSpPr>
              <a:spLocks noChangeArrowheads="1"/>
            </p:cNvSpPr>
            <p:nvPr/>
          </p:nvSpPr>
          <p:spPr bwMode="auto">
            <a:xfrm>
              <a:off x="1000100" y="1428736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正常运行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24767" y="5157328"/>
            <a:ext cx="1469257" cy="1224000"/>
            <a:chOff x="463065" y="1419182"/>
            <a:chExt cx="1213949" cy="12240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3" name="AutoShape 51"/>
            <p:cNvSpPr>
              <a:spLocks noChangeArrowheads="1"/>
            </p:cNvSpPr>
            <p:nvPr/>
          </p:nvSpPr>
          <p:spPr bwMode="auto">
            <a:xfrm>
              <a:off x="463065" y="1419182"/>
              <a:ext cx="592008" cy="1224000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人员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buFont typeface="Arial" pitchFamily="34" charset="0"/>
                <a:buChar char="•"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业务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AutoShape 51"/>
            <p:cNvSpPr>
              <a:spLocks noChangeArrowheads="1"/>
            </p:cNvSpPr>
            <p:nvPr/>
          </p:nvSpPr>
          <p:spPr bwMode="auto">
            <a:xfrm>
              <a:off x="1000100" y="2209623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快速解决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AutoShape 51"/>
            <p:cNvSpPr>
              <a:spLocks noChangeArrowheads="1"/>
            </p:cNvSpPr>
            <p:nvPr/>
          </p:nvSpPr>
          <p:spPr bwMode="auto">
            <a:xfrm>
              <a:off x="1000100" y="1829374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技能梯队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AutoShape 51"/>
            <p:cNvSpPr>
              <a:spLocks noChangeArrowheads="1"/>
            </p:cNvSpPr>
            <p:nvPr/>
          </p:nvSpPr>
          <p:spPr bwMode="auto">
            <a:xfrm>
              <a:off x="1000100" y="1428736"/>
              <a:ext cx="676914" cy="433559"/>
            </a:xfrm>
            <a:prstGeom prst="cube">
              <a:avLst>
                <a:gd name="adj" fmla="val 25000"/>
              </a:avLst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体制化团队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7" name="圆角矩形 46"/>
          <p:cNvSpPr/>
          <p:nvPr/>
        </p:nvSpPr>
        <p:spPr bwMode="auto">
          <a:xfrm>
            <a:off x="2465528" y="2309362"/>
            <a:ext cx="1000132" cy="3429025"/>
          </a:xfrm>
          <a:prstGeom prst="roundRect">
            <a:avLst>
              <a:gd name="adj" fmla="val 1216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1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/>
          <a:lstStyle/>
          <a:p>
            <a:pPr marL="342900" indent="-342900">
              <a:defRPr/>
            </a:pPr>
            <a:endParaRPr lang="zh-CN" altLang="en-US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 bwMode="auto">
          <a:xfrm>
            <a:off x="2536966" y="2490167"/>
            <a:ext cx="360000" cy="1384995"/>
          </a:xfrm>
          <a:prstGeom prst="rect">
            <a:avLst/>
          </a:prstGeom>
          <a:noFill/>
          <a:ln>
            <a:solidFill>
              <a:schemeClr val="tx1">
                <a:alpha val="47000"/>
              </a:schemeClr>
            </a:solidFill>
            <a:prstDash val="sysDot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运维服务管理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 bwMode="auto">
          <a:xfrm>
            <a:off x="2965594" y="2490167"/>
            <a:ext cx="360000" cy="1384995"/>
          </a:xfrm>
          <a:prstGeom prst="rect">
            <a:avLst/>
          </a:prstGeom>
          <a:noFill/>
          <a:ln>
            <a:solidFill>
              <a:schemeClr val="tx1">
                <a:alpha val="47000"/>
              </a:schemeClr>
            </a:solidFill>
            <a:prstDash val="sysDot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运维规划管理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2965594" y="4095312"/>
            <a:ext cx="360000" cy="1384995"/>
          </a:xfrm>
          <a:prstGeom prst="rect">
            <a:avLst/>
          </a:prstGeom>
          <a:noFill/>
          <a:ln>
            <a:solidFill>
              <a:schemeClr val="tx1">
                <a:alpha val="47000"/>
              </a:schemeClr>
            </a:solidFill>
            <a:prstDash val="sysDot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运维绩效管理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 bwMode="auto">
          <a:xfrm>
            <a:off x="2536966" y="4095312"/>
            <a:ext cx="360000" cy="1384995"/>
          </a:xfrm>
          <a:prstGeom prst="rect">
            <a:avLst/>
          </a:prstGeom>
          <a:noFill/>
          <a:ln>
            <a:solidFill>
              <a:schemeClr val="tx1">
                <a:alpha val="47000"/>
              </a:schemeClr>
            </a:solidFill>
            <a:prstDash val="sysDot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运维质量监控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79512" y="642918"/>
            <a:ext cx="8711038" cy="830997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   运维服务针对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个要素展开活动，同时根据标准、流程、质量、绩效进行管理和监控，确保生产环境正常运行，及保运营。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754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13243" y="1161304"/>
            <a:ext cx="5879976" cy="5004000"/>
            <a:chOff x="1213243" y="1161304"/>
            <a:chExt cx="5879976" cy="5004000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2917362" y="1393008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3588487" y="1393008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IT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运维管理发展趋势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MH_Number_3"/>
            <p:cNvSpPr/>
            <p:nvPr>
              <p:custDataLst>
                <p:tags r:id="rId4"/>
              </p:custDataLst>
            </p:nvPr>
          </p:nvSpPr>
          <p:spPr>
            <a:xfrm>
              <a:off x="2917362" y="3396172"/>
              <a:ext cx="550238" cy="549944"/>
            </a:xfrm>
            <a:prstGeom prst="rect">
              <a:avLst/>
            </a:prstGeom>
            <a:noFill/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2400" b="1">
                <a:solidFill>
                  <a:srgbClr val="C0332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MH_Entry_3"/>
            <p:cNvSpPr/>
            <p:nvPr>
              <p:custDataLst>
                <p:tags r:id="rId5"/>
              </p:custDataLst>
            </p:nvPr>
          </p:nvSpPr>
          <p:spPr>
            <a:xfrm>
              <a:off x="3588487" y="3396172"/>
              <a:ext cx="3504732" cy="549944"/>
            </a:xfrm>
            <a:prstGeom prst="rect">
              <a:avLst/>
            </a:prstGeom>
            <a:solidFill>
              <a:srgbClr val="C03321"/>
            </a:solidFill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运维管理体系</a:t>
              </a:r>
            </a:p>
          </p:txBody>
        </p:sp>
        <p:sp>
          <p:nvSpPr>
            <p:cNvPr id="12" name="MH_Number_5"/>
            <p:cNvSpPr/>
            <p:nvPr>
              <p:custDataLst>
                <p:tags r:id="rId6"/>
              </p:custDataLst>
            </p:nvPr>
          </p:nvSpPr>
          <p:spPr>
            <a:xfrm>
              <a:off x="2917362" y="5399336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05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" name="MH_Entry_5"/>
            <p:cNvSpPr/>
            <p:nvPr>
              <p:custDataLst>
                <p:tags r:id="rId7"/>
              </p:custDataLst>
            </p:nvPr>
          </p:nvSpPr>
          <p:spPr>
            <a:xfrm>
              <a:off x="3588487" y="5399336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系统整体规划</a:t>
              </a:r>
            </a:p>
          </p:txBody>
        </p:sp>
        <p:sp>
          <p:nvSpPr>
            <p:cNvPr id="21" name="MH_Number_2"/>
            <p:cNvSpPr/>
            <p:nvPr>
              <p:custDataLst>
                <p:tags r:id="rId8"/>
              </p:custDataLst>
            </p:nvPr>
          </p:nvSpPr>
          <p:spPr>
            <a:xfrm>
              <a:off x="2917362" y="2394590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MH_Entry_2"/>
            <p:cNvSpPr/>
            <p:nvPr>
              <p:custDataLst>
                <p:tags r:id="rId9"/>
              </p:custDataLst>
            </p:nvPr>
          </p:nvSpPr>
          <p:spPr>
            <a:xfrm>
              <a:off x="3588487" y="2394590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运维管理对象</a:t>
              </a:r>
              <a:r>
                <a:rPr lang="en-US" altLang="zh-CN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要素</a:t>
              </a:r>
            </a:p>
          </p:txBody>
        </p:sp>
        <p:sp>
          <p:nvSpPr>
            <p:cNvPr id="24" name="MH_Number_4"/>
            <p:cNvSpPr/>
            <p:nvPr>
              <p:custDataLst>
                <p:tags r:id="rId10"/>
              </p:custDataLst>
            </p:nvPr>
          </p:nvSpPr>
          <p:spPr>
            <a:xfrm>
              <a:off x="2917362" y="4397754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" name="MH_Entry_4"/>
            <p:cNvSpPr/>
            <p:nvPr>
              <p:custDataLst>
                <p:tags r:id="rId11"/>
              </p:custDataLst>
            </p:nvPr>
          </p:nvSpPr>
          <p:spPr>
            <a:xfrm>
              <a:off x="3588487" y="4397754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运维业务模型设计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5" name="MH_Others_1"/>
            <p:cNvCxnSpPr/>
            <p:nvPr>
              <p:custDataLst>
                <p:tags r:id="rId12"/>
              </p:custDataLst>
            </p:nvPr>
          </p:nvCxnSpPr>
          <p:spPr>
            <a:xfrm>
              <a:off x="2380336" y="1161304"/>
              <a:ext cx="0" cy="5004000"/>
            </a:xfrm>
            <a:prstGeom prst="line">
              <a:avLst/>
            </a:prstGeom>
            <a:ln w="41275">
              <a:solidFill>
                <a:srgbClr val="C033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1213243" y="1320643"/>
              <a:ext cx="1054501" cy="4196589"/>
              <a:chOff x="943190" y="632970"/>
              <a:chExt cx="1054501" cy="4196589"/>
            </a:xfrm>
          </p:grpSpPr>
          <p:sp>
            <p:nvSpPr>
              <p:cNvPr id="38" name="MH_Others_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43190" y="632970"/>
                <a:ext cx="1054501" cy="1188575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0">
                <a:noAutofit/>
              </a:bodyPr>
              <a:lstStyle/>
              <a:p>
                <a:r>
                  <a:rPr lang="en-US" altLang="zh-CN" sz="880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C</a:t>
                </a:r>
                <a:endParaRPr lang="zh-CN" altLang="en-US" sz="440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39" name="MH_Others_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32778" y="3331096"/>
                <a:ext cx="693893" cy="1498463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目</a:t>
                </a:r>
                <a:endParaRPr lang="en-US" altLang="zh-CN" sz="4800" b="1" dirty="0" smtClean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录</a:t>
                </a:r>
                <a:endParaRPr lang="zh-CN" altLang="en-US" sz="4800" b="1" dirty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MH_Others_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71949" y="1384476"/>
                <a:ext cx="615553" cy="2062424"/>
              </a:xfrm>
              <a:prstGeom prst="rect">
                <a:avLst/>
              </a:prstGeom>
            </p:spPr>
            <p:txBody>
              <a:bodyPr vert="eaVert" wrap="square">
                <a:noAutofit/>
              </a:bodyPr>
              <a:lstStyle/>
              <a:p>
                <a:r>
                  <a:rPr lang="en-US" altLang="zh-CN" sz="2800" spc="500">
                    <a:solidFill>
                      <a:srgbClr val="C0C0C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ONTENTS</a:t>
                </a:r>
                <a:endParaRPr lang="zh-CN" altLang="en-US" sz="2800" spc="500">
                  <a:solidFill>
                    <a:srgbClr val="C0C0C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xmlns="" val="356929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运维管理</a:t>
            </a:r>
            <a:r>
              <a:rPr lang="zh-CN" altLang="en-US" dirty="0" smtClean="0"/>
              <a:t>体系</a:t>
            </a:r>
            <a:r>
              <a:rPr lang="en-US" altLang="zh-CN" dirty="0" smtClean="0"/>
              <a:t>-</a:t>
            </a:r>
            <a:r>
              <a:rPr lang="zh-CN" altLang="en-US" dirty="0"/>
              <a:t>运维管理框架</a:t>
            </a:r>
          </a:p>
        </p:txBody>
      </p:sp>
      <p:sp>
        <p:nvSpPr>
          <p:cNvPr id="29" name="线形标注 1(带边框和强调线) 28"/>
          <p:cNvSpPr/>
          <p:nvPr/>
        </p:nvSpPr>
        <p:spPr>
          <a:xfrm>
            <a:off x="1331640" y="4841470"/>
            <a:ext cx="2520280" cy="1395842"/>
          </a:xfrm>
          <a:prstGeom prst="accentBorderCallout1">
            <a:avLst>
              <a:gd name="adj1" fmla="val 18750"/>
              <a:gd name="adj2" fmla="val -4061"/>
              <a:gd name="adj3" fmla="val -18600"/>
              <a:gd name="adj4" fmla="val -37191"/>
            </a:avLst>
          </a:prstGeom>
          <a:noFill/>
          <a:ln w="952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服务包</a:t>
            </a:r>
            <a:r>
              <a:rPr lang="zh-CN" altLang="en-US" sz="14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一个或多个项目的集合，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具有明确的</a:t>
            </a:r>
            <a:r>
              <a:rPr lang="zh-CN" altLang="en-US" sz="1400" kern="0" dirty="0" smtClean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客户</a:t>
            </a:r>
            <a:r>
              <a:rPr lang="zh-CN" altLang="en-US" sz="1400" kern="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组织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与专属的</a:t>
            </a:r>
            <a:r>
              <a:rPr lang="zh-CN" altLang="en-US" sz="1400" kern="0" dirty="0" smtClean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运</a:t>
            </a:r>
            <a:r>
              <a:rPr lang="zh-CN" altLang="en-US" sz="1400" kern="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维组织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；它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拥有特定的</a:t>
            </a:r>
            <a:r>
              <a:rPr lang="zh-CN" altLang="en-US" sz="1400" kern="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商务</a:t>
            </a:r>
            <a:r>
              <a:rPr lang="zh-CN" altLang="en-US" sz="1400" kern="0" dirty="0" smtClean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协议。</a:t>
            </a:r>
            <a:endParaRPr lang="zh-CN" altLang="en-US" sz="1400" dirty="0">
              <a:solidFill>
                <a:srgbClr val="FF3300"/>
              </a:solidFill>
            </a:endParaRPr>
          </a:p>
        </p:txBody>
      </p:sp>
      <p:sp>
        <p:nvSpPr>
          <p:cNvPr id="31" name="线形标注 1(带边框和强调线) 30"/>
          <p:cNvSpPr/>
          <p:nvPr/>
        </p:nvSpPr>
        <p:spPr>
          <a:xfrm>
            <a:off x="5085273" y="4841470"/>
            <a:ext cx="3459045" cy="1395842"/>
          </a:xfrm>
          <a:prstGeom prst="accentBorderCallout1">
            <a:avLst>
              <a:gd name="adj1" fmla="val 18750"/>
              <a:gd name="adj2" fmla="val -4061"/>
              <a:gd name="adj3" fmla="val -24431"/>
              <a:gd name="adj4" fmla="val -35405"/>
            </a:avLst>
          </a:prstGeom>
          <a:noFill/>
          <a:ln w="952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项目：</a:t>
            </a:r>
            <a:r>
              <a:rPr lang="zh-CN" altLang="en-US" sz="1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一个或多个服务的集合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它有</a:t>
            </a:r>
            <a:r>
              <a:rPr lang="zh-CN" altLang="en-US" sz="1400" kern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专属</a:t>
            </a:r>
            <a:r>
              <a:rPr lang="zh-CN" altLang="en-US" sz="1400" kern="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400" kern="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服务对象、服务目录与</a:t>
            </a:r>
            <a:r>
              <a:rPr lang="en-US" altLang="zh-CN" sz="1400" kern="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SLA</a:t>
            </a:r>
            <a:r>
              <a:rPr lang="zh-CN" altLang="en-US" sz="1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它是</a:t>
            </a:r>
            <a:r>
              <a:rPr lang="zh-CN" altLang="en-US" sz="1400" kern="0" dirty="0" smtClean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最主要的</a:t>
            </a:r>
            <a:r>
              <a:rPr lang="zh-CN" altLang="en-US" sz="1400" kern="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管理</a:t>
            </a:r>
            <a:r>
              <a:rPr lang="zh-CN" altLang="en-US" sz="1400" kern="0" dirty="0" smtClean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单位</a:t>
            </a:r>
            <a:r>
              <a:rPr lang="zh-CN" altLang="en-US" sz="14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更是统计分析的最主要单位，</a:t>
            </a:r>
            <a:r>
              <a:rPr lang="zh-CN" altLang="en-US" sz="1400" kern="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一切横向的分析统计均基于此</a:t>
            </a:r>
            <a:r>
              <a:rPr lang="zh-CN" altLang="en-US" sz="14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1597983" y="1908359"/>
            <a:ext cx="895075" cy="2661339"/>
          </a:xfrm>
          <a:prstGeom prst="rect">
            <a:avLst/>
          </a:prstGeom>
          <a:solidFill>
            <a:srgbClr val="0066FF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06334" y="1908359"/>
            <a:ext cx="895075" cy="2661339"/>
          </a:xfrm>
          <a:prstGeom prst="rect">
            <a:avLst/>
          </a:prstGeom>
          <a:solidFill>
            <a:srgbClr val="0066FF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14685" y="1908359"/>
            <a:ext cx="895075" cy="2661339"/>
          </a:xfrm>
          <a:prstGeom prst="rect">
            <a:avLst/>
          </a:prstGeom>
          <a:solidFill>
            <a:srgbClr val="0066FF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23036" y="1908359"/>
            <a:ext cx="895075" cy="2661339"/>
          </a:xfrm>
          <a:prstGeom prst="rect">
            <a:avLst/>
          </a:prstGeom>
          <a:solidFill>
            <a:srgbClr val="0066FF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431387" y="1908359"/>
            <a:ext cx="895075" cy="2661339"/>
          </a:xfrm>
          <a:prstGeom prst="rect">
            <a:avLst/>
          </a:prstGeom>
          <a:solidFill>
            <a:srgbClr val="0066FF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右大括号 10"/>
          <p:cNvSpPr/>
          <p:nvPr/>
        </p:nvSpPr>
        <p:spPr>
          <a:xfrm rot="16200000">
            <a:off x="4269140" y="-692954"/>
            <a:ext cx="409437" cy="4810133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767279" y="1218238"/>
            <a:ext cx="1587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运维管理流程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右大括号 18"/>
          <p:cNvSpPr/>
          <p:nvPr/>
        </p:nvSpPr>
        <p:spPr>
          <a:xfrm rot="10800000">
            <a:off x="1117626" y="4023781"/>
            <a:ext cx="358030" cy="48562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大括号 19"/>
          <p:cNvSpPr/>
          <p:nvPr/>
        </p:nvSpPr>
        <p:spPr>
          <a:xfrm rot="10800000">
            <a:off x="1117625" y="3269175"/>
            <a:ext cx="358030" cy="48562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大括号 20"/>
          <p:cNvSpPr/>
          <p:nvPr/>
        </p:nvSpPr>
        <p:spPr>
          <a:xfrm rot="10800000">
            <a:off x="1117625" y="2514570"/>
            <a:ext cx="358030" cy="48562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83538" y="2574387"/>
            <a:ext cx="920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服务包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83538" y="3332484"/>
            <a:ext cx="920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服务包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83538" y="4066803"/>
            <a:ext cx="9669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服务包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83538" y="2549831"/>
            <a:ext cx="959115" cy="2031620"/>
          </a:xfrm>
          <a:prstGeom prst="roundRect">
            <a:avLst>
              <a:gd name="adj" fmla="val 8561"/>
            </a:avLst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79512" y="692697"/>
            <a:ext cx="8711038" cy="484926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/>
          <a:p>
            <a:pPr indent="360000" eaLnBrk="0" hangingPunct="0">
              <a:lnSpc>
                <a:spcPct val="150000"/>
              </a:lnSpc>
              <a:spcBef>
                <a:spcPct val="40000"/>
              </a:spcBef>
              <a:buClr>
                <a:srgbClr val="DA2421"/>
              </a:buClr>
              <a:defRPr/>
            </a:pP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以服务项目为核心的运维管理体系。</a:t>
            </a:r>
            <a:endParaRPr lang="zh-CN" altLang="en-US" kern="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圆角矩形 9"/>
              <p:cNvSpPr/>
              <p:nvPr/>
            </p:nvSpPr>
            <p:spPr>
              <a:xfrm>
                <a:off x="1383064" y="2604537"/>
                <a:ext cx="6141263" cy="32040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项目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1-(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∑</m:t>
                    </m:r>
                    <m:r>
                      <a:rPr lang="zh-CN" altLang="en-US" sz="14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服务目录</m:t>
                    </m:r>
                  </m:oMath>
                </a14:m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>
          <p:sp>
            <p:nvSpPr>
              <p:cNvPr id="10" name="圆角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64" y="2604537"/>
                <a:ext cx="6141263" cy="320407"/>
              </a:xfrm>
              <a:prstGeom prst="roundRect">
                <a:avLst/>
              </a:prstGeom>
              <a:blipFill rotWithShape="1">
                <a:blip r:embed="rId9"/>
                <a:stretch>
                  <a:fillRect b="-12281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3" name="圆角矩形 32"/>
              <p:cNvSpPr/>
              <p:nvPr/>
            </p:nvSpPr>
            <p:spPr>
              <a:xfrm>
                <a:off x="1383064" y="4089941"/>
                <a:ext cx="6141263" cy="32040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项目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…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1-(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∑</m:t>
                    </m:r>
                    <m:r>
                      <a:rPr lang="zh-CN" altLang="en-US" sz="14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服务目录</m:t>
                    </m:r>
                  </m:oMath>
                </a14:m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>
          <p:sp>
            <p:nvSpPr>
              <p:cNvPr id="33" name="圆角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64" y="4089941"/>
                <a:ext cx="6141263" cy="320407"/>
              </a:xfrm>
              <a:prstGeom prst="roundRect">
                <a:avLst/>
              </a:prstGeom>
              <a:blipFill rotWithShape="1">
                <a:blip r:embed="rId10"/>
                <a:stretch>
                  <a:fillRect b="-12500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4" name="圆角矩形 33"/>
              <p:cNvSpPr/>
              <p:nvPr/>
            </p:nvSpPr>
            <p:spPr>
              <a:xfrm>
                <a:off x="1383064" y="3099672"/>
                <a:ext cx="6141263" cy="32040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项目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-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∑</m:t>
                    </m:r>
                    <m:r>
                      <a:rPr lang="zh-CN" altLang="en-US" sz="14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服务目录</m:t>
                    </m:r>
                  </m:oMath>
                </a14:m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>
          <p:sp>
            <p:nvSpPr>
              <p:cNvPr id="34" name="圆角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64" y="3099672"/>
                <a:ext cx="6141263" cy="320407"/>
              </a:xfrm>
              <a:prstGeom prst="roundRect">
                <a:avLst/>
              </a:prstGeom>
              <a:blipFill rotWithShape="1">
                <a:blip r:embed="rId11"/>
                <a:stretch>
                  <a:fillRect b="-12281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5" name="圆角矩形 34"/>
              <p:cNvSpPr/>
              <p:nvPr/>
            </p:nvSpPr>
            <p:spPr>
              <a:xfrm>
                <a:off x="1383064" y="3594807"/>
                <a:ext cx="6141263" cy="32040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项目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-(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∑</m:t>
                    </m:r>
                    <m:r>
                      <a:rPr lang="zh-CN" altLang="en-US" sz="14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服务目录</m:t>
                    </m:r>
                  </m:oMath>
                </a14:m>
                <a:r>
                  <a:rPr lang="en-US" altLang="zh-CN" sz="1400" dirty="0" smtClean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>
          <p:sp>
            <p:nvSpPr>
              <p:cNvPr id="35" name="圆角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064" y="3594807"/>
                <a:ext cx="6141263" cy="320407"/>
              </a:xfrm>
              <a:prstGeom prst="roundRect">
                <a:avLst/>
              </a:prstGeom>
              <a:blipFill rotWithShape="1">
                <a:blip r:embed="rId12"/>
                <a:stretch>
                  <a:fillRect b="-12500"/>
                </a:stretch>
              </a:blip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圆角矩形 31"/>
          <p:cNvSpPr/>
          <p:nvPr/>
        </p:nvSpPr>
        <p:spPr>
          <a:xfrm>
            <a:off x="3563888" y="2492896"/>
            <a:ext cx="1790530" cy="2031620"/>
          </a:xfrm>
          <a:prstGeom prst="roundRect">
            <a:avLst>
              <a:gd name="adj" fmla="val 8561"/>
            </a:avLst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35"/>
          <p:cNvGrpSpPr/>
          <p:nvPr/>
        </p:nvGrpSpPr>
        <p:grpSpPr>
          <a:xfrm rot="5400000">
            <a:off x="7556573" y="2272263"/>
            <a:ext cx="1142912" cy="1008116"/>
            <a:chOff x="1531738" y="2667419"/>
            <a:chExt cx="3450962" cy="2441809"/>
          </a:xfrm>
        </p:grpSpPr>
        <p:sp>
          <p:nvSpPr>
            <p:cNvPr id="37" name="MH_Other_1"/>
            <p:cNvSpPr/>
            <p:nvPr>
              <p:custDataLst>
                <p:tags r:id="rId4"/>
              </p:custDataLst>
            </p:nvPr>
          </p:nvSpPr>
          <p:spPr bwMode="auto">
            <a:xfrm>
              <a:off x="2061130" y="3418490"/>
              <a:ext cx="2392181" cy="898308"/>
            </a:xfrm>
            <a:custGeom>
              <a:avLst/>
              <a:gdLst/>
              <a:ahLst/>
              <a:cxnLst/>
              <a:rect l="l" t="t" r="r" b="b"/>
              <a:pathLst>
                <a:path w="2293239" h="861550">
                  <a:moveTo>
                    <a:pt x="1151254" y="0"/>
                  </a:moveTo>
                  <a:cubicBezTo>
                    <a:pt x="1596892" y="0"/>
                    <a:pt x="2000503" y="179939"/>
                    <a:pt x="2293239" y="471281"/>
                  </a:cubicBezTo>
                  <a:lnTo>
                    <a:pt x="1912493" y="852027"/>
                  </a:lnTo>
                  <a:cubicBezTo>
                    <a:pt x="1717198" y="658127"/>
                    <a:pt x="1448201" y="538456"/>
                    <a:pt x="1151254" y="538456"/>
                  </a:cubicBezTo>
                  <a:cubicBezTo>
                    <a:pt x="849526" y="538456"/>
                    <a:pt x="576656" y="662012"/>
                    <a:pt x="380746" y="861550"/>
                  </a:cubicBezTo>
                  <a:lnTo>
                    <a:pt x="0" y="480804"/>
                  </a:lnTo>
                  <a:cubicBezTo>
                    <a:pt x="293352" y="183820"/>
                    <a:pt x="700836" y="0"/>
                    <a:pt x="1151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t" anchorCtr="0"/>
            <a:lstStyle/>
            <a:p>
              <a:pPr algn="ctr">
                <a:lnSpc>
                  <a:spcPct val="120000"/>
                </a:lnSpc>
                <a:spcBef>
                  <a:spcPts val="450"/>
                </a:spcBef>
                <a:spcAft>
                  <a:spcPts val="450"/>
                </a:spcAft>
                <a:defRPr/>
              </a:pPr>
              <a:r>
                <a:rPr lang="zh-CN" altLang="en-US" sz="12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软件</a:t>
              </a:r>
              <a:endParaRPr lang="zh-CN" alt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MH_Other_2"/>
            <p:cNvSpPr/>
            <p:nvPr>
              <p:custDataLst>
                <p:tags r:id="rId5"/>
              </p:custDataLst>
            </p:nvPr>
          </p:nvSpPr>
          <p:spPr bwMode="auto">
            <a:xfrm>
              <a:off x="1531738" y="2667419"/>
              <a:ext cx="3450962" cy="1121645"/>
            </a:xfrm>
            <a:custGeom>
              <a:avLst/>
              <a:gdLst/>
              <a:ahLst/>
              <a:cxnLst/>
              <a:rect l="l" t="t" r="r" b="b"/>
              <a:pathLst>
                <a:path w="3311473" h="1076554">
                  <a:moveTo>
                    <a:pt x="1660371" y="0"/>
                  </a:moveTo>
                  <a:cubicBezTo>
                    <a:pt x="2304831" y="0"/>
                    <a:pt x="2888442" y="260527"/>
                    <a:pt x="3311473" y="682164"/>
                  </a:cubicBezTo>
                  <a:lnTo>
                    <a:pt x="2926607" y="1067031"/>
                  </a:lnTo>
                  <a:cubicBezTo>
                    <a:pt x="2602072" y="743890"/>
                    <a:pt x="2154532" y="544284"/>
                    <a:pt x="1660371" y="544284"/>
                  </a:cubicBezTo>
                  <a:cubicBezTo>
                    <a:pt x="1161430" y="544284"/>
                    <a:pt x="710017" y="747771"/>
                    <a:pt x="384867" y="1076554"/>
                  </a:cubicBezTo>
                  <a:lnTo>
                    <a:pt x="0" y="691687"/>
                  </a:lnTo>
                  <a:cubicBezTo>
                    <a:pt x="423646" y="264406"/>
                    <a:pt x="1011131" y="0"/>
                    <a:pt x="166037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人员</a:t>
              </a:r>
              <a:endParaRPr lang="zh-CN" alt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MH_SubTitle_1"/>
            <p:cNvSpPr/>
            <p:nvPr>
              <p:custDataLst>
                <p:tags r:id="rId6"/>
              </p:custDataLst>
            </p:nvPr>
          </p:nvSpPr>
          <p:spPr bwMode="auto">
            <a:xfrm>
              <a:off x="2593829" y="4167906"/>
              <a:ext cx="1328439" cy="941322"/>
            </a:xfrm>
            <a:custGeom>
              <a:avLst/>
              <a:gdLst/>
              <a:ahLst/>
              <a:cxnLst/>
              <a:rect l="l" t="t" r="r" b="b"/>
              <a:pathLst>
                <a:path w="1274554" h="902663">
                  <a:moveTo>
                    <a:pt x="641847" y="0"/>
                  </a:moveTo>
                  <a:cubicBezTo>
                    <a:pt x="888662" y="0"/>
                    <a:pt x="1112272" y="99352"/>
                    <a:pt x="1274554" y="260560"/>
                  </a:cubicBezTo>
                  <a:lnTo>
                    <a:pt x="632452" y="902663"/>
                  </a:lnTo>
                  <a:lnTo>
                    <a:pt x="0" y="270211"/>
                  </a:lnTo>
                  <a:cubicBezTo>
                    <a:pt x="162765" y="103240"/>
                    <a:pt x="390250" y="0"/>
                    <a:pt x="64184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72000" anchor="t" anchorCtr="0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450"/>
                </a:spcBef>
                <a:spcAft>
                  <a:spcPts val="450"/>
                </a:spcAft>
                <a:defRPr/>
              </a:pPr>
              <a:r>
                <a:rPr lang="zh-CN" altLang="en-US" sz="12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9"/>
          <p:cNvGrpSpPr/>
          <p:nvPr/>
        </p:nvGrpSpPr>
        <p:grpSpPr>
          <a:xfrm rot="5400000">
            <a:off x="7568452" y="3294218"/>
            <a:ext cx="1142912" cy="1008116"/>
            <a:chOff x="1531738" y="2667419"/>
            <a:chExt cx="3450962" cy="2441809"/>
          </a:xfrm>
        </p:grpSpPr>
        <p:sp>
          <p:nvSpPr>
            <p:cNvPr id="41" name="MH_Other_1"/>
            <p:cNvSpPr/>
            <p:nvPr>
              <p:custDataLst>
                <p:tags r:id="rId1"/>
              </p:custDataLst>
            </p:nvPr>
          </p:nvSpPr>
          <p:spPr bwMode="auto">
            <a:xfrm>
              <a:off x="2061130" y="3418490"/>
              <a:ext cx="2392181" cy="898308"/>
            </a:xfrm>
            <a:custGeom>
              <a:avLst/>
              <a:gdLst/>
              <a:ahLst/>
              <a:cxnLst/>
              <a:rect l="l" t="t" r="r" b="b"/>
              <a:pathLst>
                <a:path w="2293239" h="861550">
                  <a:moveTo>
                    <a:pt x="1151254" y="0"/>
                  </a:moveTo>
                  <a:cubicBezTo>
                    <a:pt x="1596892" y="0"/>
                    <a:pt x="2000503" y="179939"/>
                    <a:pt x="2293239" y="471281"/>
                  </a:cubicBezTo>
                  <a:lnTo>
                    <a:pt x="1912493" y="852027"/>
                  </a:lnTo>
                  <a:cubicBezTo>
                    <a:pt x="1717198" y="658127"/>
                    <a:pt x="1448201" y="538456"/>
                    <a:pt x="1151254" y="538456"/>
                  </a:cubicBezTo>
                  <a:cubicBezTo>
                    <a:pt x="849526" y="538456"/>
                    <a:pt x="576656" y="662012"/>
                    <a:pt x="380746" y="861550"/>
                  </a:cubicBezTo>
                  <a:lnTo>
                    <a:pt x="0" y="480804"/>
                  </a:lnTo>
                  <a:cubicBezTo>
                    <a:pt x="293352" y="183820"/>
                    <a:pt x="700836" y="0"/>
                    <a:pt x="1151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t" anchorCtr="0"/>
            <a:lstStyle/>
            <a:p>
              <a:pPr algn="ctr">
                <a:lnSpc>
                  <a:spcPct val="120000"/>
                </a:lnSpc>
                <a:spcBef>
                  <a:spcPts val="450"/>
                </a:spcBef>
                <a:spcAft>
                  <a:spcPts val="450"/>
                </a:spcAft>
                <a:defRPr/>
              </a:pPr>
              <a:r>
                <a:rPr lang="zh-CN" altLang="en-US" sz="12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环境</a:t>
              </a:r>
              <a:endParaRPr lang="zh-CN" alt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MH_Other_2"/>
            <p:cNvSpPr/>
            <p:nvPr>
              <p:custDataLst>
                <p:tags r:id="rId2"/>
              </p:custDataLst>
            </p:nvPr>
          </p:nvSpPr>
          <p:spPr bwMode="auto">
            <a:xfrm>
              <a:off x="1531738" y="2667419"/>
              <a:ext cx="3450962" cy="1121645"/>
            </a:xfrm>
            <a:custGeom>
              <a:avLst/>
              <a:gdLst/>
              <a:ahLst/>
              <a:cxnLst/>
              <a:rect l="l" t="t" r="r" b="b"/>
              <a:pathLst>
                <a:path w="3311473" h="1076554">
                  <a:moveTo>
                    <a:pt x="1660371" y="0"/>
                  </a:moveTo>
                  <a:cubicBezTo>
                    <a:pt x="2304831" y="0"/>
                    <a:pt x="2888442" y="260527"/>
                    <a:pt x="3311473" y="682164"/>
                  </a:cubicBezTo>
                  <a:lnTo>
                    <a:pt x="2926607" y="1067031"/>
                  </a:lnTo>
                  <a:cubicBezTo>
                    <a:pt x="2602072" y="743890"/>
                    <a:pt x="2154532" y="544284"/>
                    <a:pt x="1660371" y="544284"/>
                  </a:cubicBezTo>
                  <a:cubicBezTo>
                    <a:pt x="1161430" y="544284"/>
                    <a:pt x="710017" y="747771"/>
                    <a:pt x="384867" y="1076554"/>
                  </a:cubicBezTo>
                  <a:lnTo>
                    <a:pt x="0" y="691687"/>
                  </a:lnTo>
                  <a:cubicBezTo>
                    <a:pt x="423646" y="264406"/>
                    <a:pt x="1011131" y="0"/>
                    <a:pt x="166037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2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业务</a:t>
              </a:r>
              <a:endParaRPr lang="zh-CN" alt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MH_SubTitle_1"/>
            <p:cNvSpPr/>
            <p:nvPr>
              <p:custDataLst>
                <p:tags r:id="rId3"/>
              </p:custDataLst>
            </p:nvPr>
          </p:nvSpPr>
          <p:spPr bwMode="auto">
            <a:xfrm>
              <a:off x="2593829" y="4167906"/>
              <a:ext cx="1328439" cy="941322"/>
            </a:xfrm>
            <a:custGeom>
              <a:avLst/>
              <a:gdLst/>
              <a:ahLst/>
              <a:cxnLst/>
              <a:rect l="l" t="t" r="r" b="b"/>
              <a:pathLst>
                <a:path w="1274554" h="902663">
                  <a:moveTo>
                    <a:pt x="641847" y="0"/>
                  </a:moveTo>
                  <a:cubicBezTo>
                    <a:pt x="888662" y="0"/>
                    <a:pt x="1112272" y="99352"/>
                    <a:pt x="1274554" y="260560"/>
                  </a:cubicBezTo>
                  <a:lnTo>
                    <a:pt x="632452" y="902663"/>
                  </a:lnTo>
                  <a:lnTo>
                    <a:pt x="0" y="270211"/>
                  </a:lnTo>
                  <a:cubicBezTo>
                    <a:pt x="162765" y="103240"/>
                    <a:pt x="390250" y="0"/>
                    <a:pt x="641847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72000" anchor="t" anchorCtr="0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450"/>
                </a:spcBef>
                <a:spcAft>
                  <a:spcPts val="450"/>
                </a:spcAft>
                <a:defRPr/>
              </a:pPr>
              <a:r>
                <a:rPr lang="zh-CN" altLang="en-US" sz="12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数据</a:t>
              </a:r>
              <a:endParaRPr lang="zh-CN" altLang="en-US" sz="12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7" name="圆角矩形 46"/>
          <p:cNvSpPr/>
          <p:nvPr/>
        </p:nvSpPr>
        <p:spPr>
          <a:xfrm>
            <a:off x="7572396" y="2071678"/>
            <a:ext cx="1071570" cy="2382010"/>
          </a:xfrm>
          <a:prstGeom prst="roundRect">
            <a:avLst>
              <a:gd name="adj" fmla="val 8561"/>
            </a:avLst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2506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运维管理体系</a:t>
            </a:r>
            <a:r>
              <a:rPr lang="en-US" altLang="zh-CN" dirty="0" smtClean="0"/>
              <a:t>-</a:t>
            </a:r>
            <a:r>
              <a:rPr lang="zh-CN" altLang="en-US" dirty="0"/>
              <a:t>运维服务管理方法</a:t>
            </a:r>
          </a:p>
        </p:txBody>
      </p:sp>
      <p:sp>
        <p:nvSpPr>
          <p:cNvPr id="3" name="圆角矩形 2"/>
          <p:cNvSpPr/>
          <p:nvPr/>
        </p:nvSpPr>
        <p:spPr bwMode="auto">
          <a:xfrm>
            <a:off x="467544" y="2901731"/>
            <a:ext cx="2022068" cy="2700761"/>
          </a:xfrm>
          <a:prstGeom prst="roundRect">
            <a:avLst>
              <a:gd name="adj" fmla="val 4996"/>
            </a:avLst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35000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solidFill>
              <a:schemeClr val="tx2">
                <a:lumMod val="40000"/>
                <a:lumOff val="60000"/>
              </a:schemeClr>
            </a:solidFill>
            <a:headEnd/>
            <a:tailEnd/>
          </a:ln>
          <a:effectLst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t" anchorCtr="0"/>
          <a:lstStyle/>
          <a:p>
            <a:pPr algn="ctr">
              <a:lnSpc>
                <a:spcPct val="150000"/>
              </a:lnSpc>
            </a:pPr>
            <a:endParaRPr kumimoji="1" lang="zh-CN" altLang="en-US" sz="1600" b="1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2627784" y="2901731"/>
            <a:ext cx="2600524" cy="2700761"/>
          </a:xfrm>
          <a:prstGeom prst="roundRect">
            <a:avLst>
              <a:gd name="adj" fmla="val 4654"/>
            </a:avLst>
          </a:prstGeom>
          <a:gradFill>
            <a:gsLst>
              <a:gs pos="0">
                <a:srgbClr val="FFB8A7">
                  <a:lumMod val="37000"/>
                  <a:lumOff val="63000"/>
                  <a:alpha val="29000"/>
                </a:srgbClr>
              </a:gs>
              <a:gs pos="35000">
                <a:srgbClr val="FFB8A7">
                  <a:lumMod val="28000"/>
                  <a:lumOff val="72000"/>
                </a:srgbClr>
              </a:gs>
              <a:gs pos="100000">
                <a:srgbClr val="FFB8A7">
                  <a:lumMod val="54000"/>
                  <a:lumOff val="46000"/>
                </a:srgbClr>
              </a:gs>
            </a:gsLst>
            <a:lin ang="16200000" scaled="1"/>
          </a:gradFill>
          <a:extLst/>
        </p:spPr>
        <p:txBody>
          <a:bodyPr wrap="square" rtlCol="0" anchor="t" anchorCtr="0">
            <a:noAutofit/>
          </a:bodyPr>
          <a:lstStyle/>
          <a:p>
            <a:pPr algn="ctr"/>
            <a:endParaRPr lang="zh-CN" altLang="en-US" sz="16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5397072" y="2901731"/>
            <a:ext cx="3327243" cy="2700761"/>
          </a:xfrm>
          <a:prstGeom prst="roundRect">
            <a:avLst>
              <a:gd name="adj" fmla="val 4756"/>
            </a:avLst>
          </a:prstGeom>
          <a:ln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zh-CN" altLang="en-US" sz="160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484409" y="5893875"/>
            <a:ext cx="8260741" cy="55946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2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583911" y="6037070"/>
            <a:ext cx="1782589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知识转移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804879" y="4325369"/>
            <a:ext cx="1070837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服务目录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804879" y="4765759"/>
            <a:ext cx="1070837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知识库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2804879" y="5164581"/>
            <a:ext cx="2276739" cy="2847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CMDB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5436096" y="5164581"/>
            <a:ext cx="3196179" cy="2743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lIns="0" rIns="0" anchor="ctr" anchorCtr="0">
            <a:noAutofit/>
          </a:bodyPr>
          <a:lstStyle/>
          <a:p>
            <a:pPr algn="ctr">
              <a:defRPr/>
            </a:pPr>
            <a:r>
              <a:rPr lang="zh-CN" altLang="en-US" sz="1100" dirty="0">
                <a:latin typeface="微软雅黑" pitchFamily="34" charset="-122"/>
                <a:ea typeface="微软雅黑" pitchFamily="34" charset="-122"/>
              </a:rPr>
              <a:t>运维服务管理平台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6033807" y="3512838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事件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6033807" y="3892027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问题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5436096" y="3426229"/>
            <a:ext cx="376007" cy="154811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>
                <a:latin typeface="微软雅黑" pitchFamily="34" charset="-122"/>
                <a:ea typeface="微软雅黑" pitchFamily="34" charset="-122"/>
              </a:rPr>
              <a:t>服务目录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771800" y="6037070"/>
            <a:ext cx="2276738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运维设计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7785357" y="3426229"/>
            <a:ext cx="376007" cy="154811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>
                <a:latin typeface="微软雅黑" pitchFamily="34" charset="-122"/>
                <a:ea typeface="微软雅黑" pitchFamily="34" charset="-122"/>
              </a:rPr>
              <a:t>质量测量</a:t>
            </a:r>
          </a:p>
        </p:txBody>
      </p:sp>
      <p:sp>
        <p:nvSpPr>
          <p:cNvPr id="17" name="TextBox 68"/>
          <p:cNvSpPr txBox="1">
            <a:spLocks noChangeArrowheads="1"/>
          </p:cNvSpPr>
          <p:nvPr/>
        </p:nvSpPr>
        <p:spPr bwMode="auto">
          <a:xfrm>
            <a:off x="8244075" y="3432889"/>
            <a:ext cx="376007" cy="15481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rIns="0" anchor="ctr">
            <a:noAutofit/>
          </a:bodyPr>
          <a:lstStyle/>
          <a:p>
            <a:pPr algn="ctr"/>
            <a:r>
              <a:rPr lang="zh-CN" altLang="en-US" sz="1100">
                <a:latin typeface="微软雅黑" pitchFamily="34" charset="-122"/>
                <a:ea typeface="微软雅黑" pitchFamily="34" charset="-122"/>
              </a:rPr>
              <a:t>质量标准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5438426" y="6037070"/>
            <a:ext cx="3181656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运维执行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2828512" y="3118853"/>
            <a:ext cx="392355" cy="98173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wrap="square" lIns="0" rIns="0" anchor="ctr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请求与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SLA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3422909" y="3118853"/>
            <a:ext cx="392355" cy="98173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lIns="0" rIns="0" anchor="ctr">
            <a:noAutofit/>
          </a:bodyPr>
          <a:lstStyle/>
          <a:p>
            <a:pPr algn="ctr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服务对象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4668405" y="3118853"/>
            <a:ext cx="392355" cy="98173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lIns="0" rIns="0" anchor="ctr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信息安全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36"/>
          <p:cNvSpPr>
            <a:spLocks noChangeArrowheads="1"/>
          </p:cNvSpPr>
          <p:nvPr/>
        </p:nvSpPr>
        <p:spPr bwMode="auto">
          <a:xfrm>
            <a:off x="5855827" y="3411269"/>
            <a:ext cx="1897283" cy="1618441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左箭头 37"/>
          <p:cNvSpPr>
            <a:spLocks noChangeArrowheads="1"/>
          </p:cNvSpPr>
          <p:nvPr/>
        </p:nvSpPr>
        <p:spPr bwMode="auto">
          <a:xfrm>
            <a:off x="8093128" y="4080624"/>
            <a:ext cx="191221" cy="22644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 anchor="ctr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左箭头 38"/>
          <p:cNvSpPr>
            <a:spLocks noChangeArrowheads="1"/>
          </p:cNvSpPr>
          <p:nvPr/>
        </p:nvSpPr>
        <p:spPr bwMode="auto">
          <a:xfrm>
            <a:off x="7647902" y="4080624"/>
            <a:ext cx="191221" cy="22644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 anchor="ctr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右箭头 39"/>
          <p:cNvSpPr>
            <a:spLocks noChangeArrowheads="1"/>
          </p:cNvSpPr>
          <p:nvPr/>
        </p:nvSpPr>
        <p:spPr bwMode="auto">
          <a:xfrm>
            <a:off x="5779936" y="4080624"/>
            <a:ext cx="191221" cy="22644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上箭头 40"/>
          <p:cNvSpPr>
            <a:spLocks noChangeArrowheads="1"/>
          </p:cNvSpPr>
          <p:nvPr/>
        </p:nvSpPr>
        <p:spPr bwMode="auto">
          <a:xfrm>
            <a:off x="5778212" y="5051355"/>
            <a:ext cx="229465" cy="11322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上箭头 41"/>
          <p:cNvSpPr>
            <a:spLocks noChangeArrowheads="1"/>
          </p:cNvSpPr>
          <p:nvPr/>
        </p:nvSpPr>
        <p:spPr bwMode="auto">
          <a:xfrm>
            <a:off x="6850802" y="5051355"/>
            <a:ext cx="229465" cy="11322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上箭头 42"/>
          <p:cNvSpPr>
            <a:spLocks noChangeArrowheads="1"/>
          </p:cNvSpPr>
          <p:nvPr/>
        </p:nvSpPr>
        <p:spPr bwMode="auto">
          <a:xfrm>
            <a:off x="7815458" y="5051355"/>
            <a:ext cx="229465" cy="11322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 anchor="ctr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上箭头 43"/>
          <p:cNvSpPr>
            <a:spLocks noChangeArrowheads="1"/>
          </p:cNvSpPr>
          <p:nvPr/>
        </p:nvSpPr>
        <p:spPr bwMode="auto">
          <a:xfrm>
            <a:off x="8269116" y="5051355"/>
            <a:ext cx="229465" cy="11322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 anchor="ctr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下箭头 44"/>
          <p:cNvSpPr>
            <a:spLocks noChangeArrowheads="1"/>
          </p:cNvSpPr>
          <p:nvPr/>
        </p:nvSpPr>
        <p:spPr bwMode="auto">
          <a:xfrm>
            <a:off x="2952561" y="4140547"/>
            <a:ext cx="219240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下箭头 45"/>
          <p:cNvSpPr>
            <a:spLocks noChangeArrowheads="1"/>
          </p:cNvSpPr>
          <p:nvPr/>
        </p:nvSpPr>
        <p:spPr bwMode="auto">
          <a:xfrm>
            <a:off x="3532861" y="4140547"/>
            <a:ext cx="219240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下箭头 46"/>
          <p:cNvSpPr>
            <a:spLocks noChangeArrowheads="1"/>
          </p:cNvSpPr>
          <p:nvPr/>
        </p:nvSpPr>
        <p:spPr bwMode="auto">
          <a:xfrm>
            <a:off x="4771611" y="4140547"/>
            <a:ext cx="219240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下箭头 47"/>
          <p:cNvSpPr>
            <a:spLocks noChangeArrowheads="1"/>
          </p:cNvSpPr>
          <p:nvPr/>
        </p:nvSpPr>
        <p:spPr bwMode="auto">
          <a:xfrm>
            <a:off x="3268660" y="4625083"/>
            <a:ext cx="219240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下箭头 48"/>
          <p:cNvSpPr>
            <a:spLocks noChangeArrowheads="1"/>
          </p:cNvSpPr>
          <p:nvPr/>
        </p:nvSpPr>
        <p:spPr bwMode="auto">
          <a:xfrm>
            <a:off x="1206214" y="5657440"/>
            <a:ext cx="308623" cy="25142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下箭头 49"/>
          <p:cNvSpPr>
            <a:spLocks noChangeArrowheads="1"/>
          </p:cNvSpPr>
          <p:nvPr/>
        </p:nvSpPr>
        <p:spPr bwMode="auto">
          <a:xfrm>
            <a:off x="3730848" y="5657440"/>
            <a:ext cx="310309" cy="25142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下箭头 50"/>
          <p:cNvSpPr>
            <a:spLocks noChangeArrowheads="1"/>
          </p:cNvSpPr>
          <p:nvPr/>
        </p:nvSpPr>
        <p:spPr bwMode="auto">
          <a:xfrm>
            <a:off x="7004270" y="5657440"/>
            <a:ext cx="310309" cy="25142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583911" y="4155525"/>
            <a:ext cx="1782590" cy="2905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知识库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583911" y="4658375"/>
            <a:ext cx="1782590" cy="2905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培训计划</a:t>
            </a:r>
          </a:p>
        </p:txBody>
      </p:sp>
      <p:sp>
        <p:nvSpPr>
          <p:cNvPr id="39" name="TextBox 38"/>
          <p:cNvSpPr txBox="1"/>
          <p:nvPr/>
        </p:nvSpPr>
        <p:spPr bwMode="auto">
          <a:xfrm>
            <a:off x="583911" y="5139604"/>
            <a:ext cx="1782590" cy="2905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转移判断表</a:t>
            </a:r>
          </a:p>
        </p:txBody>
      </p:sp>
      <p:sp>
        <p:nvSpPr>
          <p:cNvPr id="40" name="下箭头 54"/>
          <p:cNvSpPr>
            <a:spLocks noChangeArrowheads="1"/>
          </p:cNvSpPr>
          <p:nvPr/>
        </p:nvSpPr>
        <p:spPr bwMode="auto">
          <a:xfrm>
            <a:off x="1388352" y="4481878"/>
            <a:ext cx="220927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下箭头 55"/>
          <p:cNvSpPr>
            <a:spLocks noChangeArrowheads="1"/>
          </p:cNvSpPr>
          <p:nvPr/>
        </p:nvSpPr>
        <p:spPr bwMode="auto">
          <a:xfrm>
            <a:off x="1388352" y="5018054"/>
            <a:ext cx="220927" cy="1115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下箭头 56"/>
          <p:cNvSpPr>
            <a:spLocks noChangeArrowheads="1"/>
          </p:cNvSpPr>
          <p:nvPr/>
        </p:nvSpPr>
        <p:spPr bwMode="auto">
          <a:xfrm>
            <a:off x="1388352" y="4023985"/>
            <a:ext cx="220927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58"/>
          <p:cNvSpPr>
            <a:spLocks noChangeArrowheads="1"/>
          </p:cNvSpPr>
          <p:nvPr/>
        </p:nvSpPr>
        <p:spPr bwMode="auto">
          <a:xfrm>
            <a:off x="983601" y="3417901"/>
            <a:ext cx="971402" cy="531156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580537" y="3126516"/>
            <a:ext cx="849977" cy="6976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rIns="0">
            <a:noAutofit/>
          </a:bodyPr>
          <a:lstStyle/>
          <a:p>
            <a:pPr algn="ctr">
              <a:defRPr/>
            </a:pP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业务测试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14837" y="3126516"/>
            <a:ext cx="851663" cy="6976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rIns="0">
            <a:noAutofit/>
          </a:bodyPr>
          <a:lstStyle/>
          <a:p>
            <a:pPr algn="ctr">
              <a:defRPr/>
            </a:pP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项目文档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50201" y="1772816"/>
            <a:ext cx="879616" cy="30207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系统用户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2947325" y="1772816"/>
            <a:ext cx="879616" cy="30207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运维执行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 bwMode="auto">
          <a:xfrm>
            <a:off x="5148173" y="1772816"/>
            <a:ext cx="879616" cy="30207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运维管理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 bwMode="auto">
          <a:xfrm>
            <a:off x="6938484" y="1772816"/>
            <a:ext cx="879616" cy="30207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rIns="0">
            <a:no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运维决策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上下箭头 49"/>
          <p:cNvSpPr/>
          <p:nvPr/>
        </p:nvSpPr>
        <p:spPr>
          <a:xfrm>
            <a:off x="1853767" y="2074887"/>
            <a:ext cx="267709" cy="264312"/>
          </a:xfrm>
          <a:prstGeom prst="upDownArrow">
            <a:avLst>
              <a:gd name="adj1" fmla="val 51011"/>
              <a:gd name="adj2" fmla="val 3100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上下箭头 50"/>
          <p:cNvSpPr/>
          <p:nvPr/>
        </p:nvSpPr>
        <p:spPr>
          <a:xfrm>
            <a:off x="3219810" y="2074887"/>
            <a:ext cx="267709" cy="264312"/>
          </a:xfrm>
          <a:prstGeom prst="upDownArrow">
            <a:avLst>
              <a:gd name="adj1" fmla="val 51011"/>
              <a:gd name="adj2" fmla="val 3100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上下箭头 51"/>
          <p:cNvSpPr/>
          <p:nvPr/>
        </p:nvSpPr>
        <p:spPr>
          <a:xfrm>
            <a:off x="5496549" y="2074887"/>
            <a:ext cx="267709" cy="264312"/>
          </a:xfrm>
          <a:prstGeom prst="upDownArrow">
            <a:avLst>
              <a:gd name="adj1" fmla="val 51011"/>
              <a:gd name="adj2" fmla="val 3100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上下箭头 52"/>
          <p:cNvSpPr/>
          <p:nvPr/>
        </p:nvSpPr>
        <p:spPr>
          <a:xfrm>
            <a:off x="7277906" y="2074887"/>
            <a:ext cx="267709" cy="264312"/>
          </a:xfrm>
          <a:prstGeom prst="upDownArrow">
            <a:avLst>
              <a:gd name="adj1" fmla="val 51011"/>
              <a:gd name="adj2" fmla="val 3100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4052648" y="3118853"/>
            <a:ext cx="392355" cy="98173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lIns="0" rIns="0" anchor="ctr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监控策略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下箭头 45"/>
          <p:cNvSpPr>
            <a:spLocks noChangeArrowheads="1"/>
          </p:cNvSpPr>
          <p:nvPr/>
        </p:nvSpPr>
        <p:spPr bwMode="auto">
          <a:xfrm>
            <a:off x="4114434" y="4140547"/>
            <a:ext cx="219240" cy="10989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下箭头 49"/>
          <p:cNvSpPr>
            <a:spLocks noChangeArrowheads="1"/>
          </p:cNvSpPr>
          <p:nvPr/>
        </p:nvSpPr>
        <p:spPr bwMode="auto">
          <a:xfrm rot="16200000">
            <a:off x="2488241" y="6025760"/>
            <a:ext cx="207080" cy="360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noFill/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 bwMode="auto">
          <a:xfrm>
            <a:off x="5438425" y="3051587"/>
            <a:ext cx="3122574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服  务  台 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圆角矩形 57"/>
          <p:cNvSpPr/>
          <p:nvPr/>
        </p:nvSpPr>
        <p:spPr bwMode="auto">
          <a:xfrm>
            <a:off x="487723" y="2299083"/>
            <a:ext cx="8260741" cy="33983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/>
        </p:spPr>
        <p:txBody>
          <a:bodyPr lIns="0" rIns="0">
            <a:noAutofit/>
          </a:bodyPr>
          <a:lstStyle/>
          <a:p>
            <a:pPr marL="342900" indent="-342900" algn="ctr">
              <a:defRPr/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用户请求接入、进度跟踪查询、报表结果展示、状态统计分析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 bwMode="auto">
          <a:xfrm>
            <a:off x="6905662" y="3501157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可用性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6905662" y="3884239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持续性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6033807" y="4271216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变更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 bwMode="auto">
          <a:xfrm>
            <a:off x="6033807" y="4650404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发布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6906259" y="4267321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能力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 bwMode="auto">
          <a:xfrm>
            <a:off x="6906259" y="4650404"/>
            <a:ext cx="764883" cy="27439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 anchor="ctr">
            <a:noAutofit/>
          </a:bodyPr>
          <a:lstStyle/>
          <a:p>
            <a:pPr algn="ctr">
              <a:defRPr/>
            </a:pPr>
            <a:r>
              <a:rPr lang="zh-CN" altLang="en-US" sz="1100" dirty="0" smtClean="0">
                <a:latin typeface="微软雅黑" pitchFamily="34" charset="-122"/>
                <a:ea typeface="微软雅黑" pitchFamily="34" charset="-122"/>
              </a:rPr>
              <a:t>服务报告</a:t>
            </a:r>
            <a:endParaRPr lang="zh-CN" altLang="en-US" sz="11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TextBox 64"/>
          <p:cNvSpPr txBox="1"/>
          <p:nvPr/>
        </p:nvSpPr>
        <p:spPr bwMode="auto">
          <a:xfrm>
            <a:off x="4010781" y="4334550"/>
            <a:ext cx="1070837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服务成本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TextBox 65"/>
          <p:cNvSpPr txBox="1"/>
          <p:nvPr/>
        </p:nvSpPr>
        <p:spPr bwMode="auto">
          <a:xfrm>
            <a:off x="4010781" y="4774939"/>
            <a:ext cx="1070837" cy="29053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lIns="0" rIns="0">
            <a:noAutofit/>
          </a:bodyPr>
          <a:lstStyle/>
          <a:p>
            <a:pPr algn="ctr">
              <a:defRPr/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培训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右箭头 39"/>
          <p:cNvSpPr>
            <a:spLocks noChangeArrowheads="1"/>
          </p:cNvSpPr>
          <p:nvPr/>
        </p:nvSpPr>
        <p:spPr bwMode="auto">
          <a:xfrm>
            <a:off x="3866163" y="4400782"/>
            <a:ext cx="152977" cy="15103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右箭头 39"/>
          <p:cNvSpPr>
            <a:spLocks noChangeArrowheads="1"/>
          </p:cNvSpPr>
          <p:nvPr/>
        </p:nvSpPr>
        <p:spPr bwMode="auto">
          <a:xfrm>
            <a:off x="3867357" y="4848689"/>
            <a:ext cx="152977" cy="15103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 sz="11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下箭头 49"/>
          <p:cNvSpPr>
            <a:spLocks noChangeArrowheads="1"/>
          </p:cNvSpPr>
          <p:nvPr/>
        </p:nvSpPr>
        <p:spPr bwMode="auto">
          <a:xfrm rot="16200000">
            <a:off x="5152415" y="6025881"/>
            <a:ext cx="188796" cy="34151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noFill/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下箭头 48"/>
          <p:cNvSpPr>
            <a:spLocks noChangeArrowheads="1"/>
          </p:cNvSpPr>
          <p:nvPr/>
        </p:nvSpPr>
        <p:spPr bwMode="auto">
          <a:xfrm rot="10800000">
            <a:off x="1311117" y="2645317"/>
            <a:ext cx="308623" cy="25142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下箭头 48"/>
          <p:cNvSpPr>
            <a:spLocks noChangeArrowheads="1"/>
          </p:cNvSpPr>
          <p:nvPr/>
        </p:nvSpPr>
        <p:spPr bwMode="auto">
          <a:xfrm rot="10800000">
            <a:off x="3795175" y="2645316"/>
            <a:ext cx="308623" cy="25142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下箭头 48"/>
          <p:cNvSpPr>
            <a:spLocks noChangeArrowheads="1"/>
          </p:cNvSpPr>
          <p:nvPr/>
        </p:nvSpPr>
        <p:spPr bwMode="auto">
          <a:xfrm rot="10800000">
            <a:off x="6922015" y="2645317"/>
            <a:ext cx="308623" cy="25142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lIns="0" rIns="0">
            <a:noAutofit/>
          </a:bodyPr>
          <a:lstStyle/>
          <a:p>
            <a:pPr marL="342900" indent="-342900"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79512" y="620688"/>
            <a:ext cx="8711038" cy="830997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indent="360000" eaLnBrk="0" hangingPunct="0">
              <a:lnSpc>
                <a:spcPct val="150000"/>
              </a:lnSpc>
              <a:spcBef>
                <a:spcPct val="40000"/>
              </a:spcBef>
              <a:buClr>
                <a:srgbClr val="DA2421"/>
              </a:buClr>
              <a:defRPr/>
            </a:pPr>
            <a:r>
              <a:rPr lang="zh-CN" altLang="en-US" b="1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透明化服务管理</a:t>
            </a:r>
            <a:r>
              <a:rPr lang="zh-CN" altLang="en-US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运维服务划分三个阶段，清晰阶段工作目标，改善原有移转资料欠缺、套餐化服务</a:t>
            </a:r>
            <a:r>
              <a:rPr lang="zh-CN" altLang="en-US" kern="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设计。</a:t>
            </a:r>
            <a:endParaRPr lang="zh-CN" altLang="en-US" kern="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6002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213243" y="1161304"/>
            <a:ext cx="5879976" cy="5004000"/>
            <a:chOff x="1213243" y="1161304"/>
            <a:chExt cx="5879976" cy="5004000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2917362" y="1393008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3588487" y="1393008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IT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运维管理发展趋势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MH_Number_3"/>
            <p:cNvSpPr/>
            <p:nvPr>
              <p:custDataLst>
                <p:tags r:id="rId4"/>
              </p:custDataLst>
            </p:nvPr>
          </p:nvSpPr>
          <p:spPr>
            <a:xfrm>
              <a:off x="2917362" y="3396172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MH_Entry_3"/>
            <p:cNvSpPr/>
            <p:nvPr>
              <p:custDataLst>
                <p:tags r:id="rId5"/>
              </p:custDataLst>
            </p:nvPr>
          </p:nvSpPr>
          <p:spPr>
            <a:xfrm>
              <a:off x="3588487" y="3396172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运维管理体系</a:t>
              </a:r>
            </a:p>
          </p:txBody>
        </p:sp>
        <p:sp>
          <p:nvSpPr>
            <p:cNvPr id="12" name="MH_Number_5"/>
            <p:cNvSpPr/>
            <p:nvPr>
              <p:custDataLst>
                <p:tags r:id="rId6"/>
              </p:custDataLst>
            </p:nvPr>
          </p:nvSpPr>
          <p:spPr>
            <a:xfrm>
              <a:off x="2917362" y="5399336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05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" name="MH_Entry_5"/>
            <p:cNvSpPr/>
            <p:nvPr>
              <p:custDataLst>
                <p:tags r:id="rId7"/>
              </p:custDataLst>
            </p:nvPr>
          </p:nvSpPr>
          <p:spPr>
            <a:xfrm>
              <a:off x="3588487" y="5399336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系统整体规划</a:t>
              </a:r>
            </a:p>
          </p:txBody>
        </p:sp>
        <p:sp>
          <p:nvSpPr>
            <p:cNvPr id="21" name="MH_Number_2"/>
            <p:cNvSpPr/>
            <p:nvPr>
              <p:custDataLst>
                <p:tags r:id="rId8"/>
              </p:custDataLst>
            </p:nvPr>
          </p:nvSpPr>
          <p:spPr>
            <a:xfrm>
              <a:off x="2917362" y="2394590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MH_Entry_2"/>
            <p:cNvSpPr/>
            <p:nvPr>
              <p:custDataLst>
                <p:tags r:id="rId9"/>
              </p:custDataLst>
            </p:nvPr>
          </p:nvSpPr>
          <p:spPr>
            <a:xfrm>
              <a:off x="3588487" y="2394590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运维管理对象</a:t>
              </a:r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要素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MH_Number_4"/>
            <p:cNvSpPr/>
            <p:nvPr>
              <p:custDataLst>
                <p:tags r:id="rId10"/>
              </p:custDataLst>
            </p:nvPr>
          </p:nvSpPr>
          <p:spPr>
            <a:xfrm>
              <a:off x="2917362" y="4397754"/>
              <a:ext cx="550238" cy="549944"/>
            </a:xfrm>
            <a:prstGeom prst="rect">
              <a:avLst/>
            </a:prstGeom>
            <a:noFill/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2400" b="1">
                <a:solidFill>
                  <a:srgbClr val="C0332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" name="MH_Entry_4"/>
            <p:cNvSpPr/>
            <p:nvPr>
              <p:custDataLst>
                <p:tags r:id="rId11"/>
              </p:custDataLst>
            </p:nvPr>
          </p:nvSpPr>
          <p:spPr>
            <a:xfrm>
              <a:off x="3588487" y="4397754"/>
              <a:ext cx="3504732" cy="549944"/>
            </a:xfrm>
            <a:prstGeom prst="rect">
              <a:avLst/>
            </a:prstGeom>
            <a:solidFill>
              <a:srgbClr val="C03321"/>
            </a:solidFill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运维业务模型设计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5" name="MH_Others_1"/>
            <p:cNvCxnSpPr/>
            <p:nvPr>
              <p:custDataLst>
                <p:tags r:id="rId12"/>
              </p:custDataLst>
            </p:nvPr>
          </p:nvCxnSpPr>
          <p:spPr>
            <a:xfrm>
              <a:off x="2380336" y="1161304"/>
              <a:ext cx="0" cy="5004000"/>
            </a:xfrm>
            <a:prstGeom prst="line">
              <a:avLst/>
            </a:prstGeom>
            <a:ln w="41275">
              <a:solidFill>
                <a:srgbClr val="C033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1213243" y="1320643"/>
              <a:ext cx="1054501" cy="4196589"/>
              <a:chOff x="943190" y="632970"/>
              <a:chExt cx="1054501" cy="4196589"/>
            </a:xfrm>
          </p:grpSpPr>
          <p:sp>
            <p:nvSpPr>
              <p:cNvPr id="38" name="MH_Others_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43190" y="632970"/>
                <a:ext cx="1054501" cy="1188575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0">
                <a:noAutofit/>
              </a:bodyPr>
              <a:lstStyle/>
              <a:p>
                <a:r>
                  <a:rPr lang="en-US" altLang="zh-CN" sz="880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C</a:t>
                </a:r>
                <a:endParaRPr lang="zh-CN" altLang="en-US" sz="440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39" name="MH_Others_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32778" y="3331096"/>
                <a:ext cx="693893" cy="1498463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目</a:t>
                </a:r>
                <a:endParaRPr lang="en-US" altLang="zh-CN" sz="4800" b="1" dirty="0" smtClean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录</a:t>
                </a:r>
                <a:endParaRPr lang="zh-CN" altLang="en-US" sz="4800" b="1" dirty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MH_Others_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71949" y="1384476"/>
                <a:ext cx="615553" cy="2062424"/>
              </a:xfrm>
              <a:prstGeom prst="rect">
                <a:avLst/>
              </a:prstGeom>
            </p:spPr>
            <p:txBody>
              <a:bodyPr vert="eaVert" wrap="square">
                <a:noAutofit/>
              </a:bodyPr>
              <a:lstStyle/>
              <a:p>
                <a:r>
                  <a:rPr lang="en-US" altLang="zh-CN" sz="2800" spc="500">
                    <a:solidFill>
                      <a:srgbClr val="C0C0C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ONTENTS</a:t>
                </a:r>
                <a:endParaRPr lang="zh-CN" altLang="en-US" sz="2800" spc="500">
                  <a:solidFill>
                    <a:srgbClr val="C0C0C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xmlns="" val="356929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圆角矩形 104"/>
          <p:cNvSpPr/>
          <p:nvPr/>
        </p:nvSpPr>
        <p:spPr>
          <a:xfrm>
            <a:off x="2357422" y="2714620"/>
            <a:ext cx="3857652" cy="1714512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8" name="肘形连接符 53"/>
          <p:cNvCxnSpPr>
            <a:stCxn id="72" idx="3"/>
            <a:endCxn id="67" idx="2"/>
          </p:cNvCxnSpPr>
          <p:nvPr/>
        </p:nvCxnSpPr>
        <p:spPr>
          <a:xfrm>
            <a:off x="2643174" y="6036487"/>
            <a:ext cx="1928826" cy="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整体业务框架</a:t>
            </a:r>
            <a:endParaRPr lang="zh-CN" altLang="en-US" dirty="0"/>
          </a:p>
        </p:txBody>
      </p:sp>
      <p:sp>
        <p:nvSpPr>
          <p:cNvPr id="3" name="圆角矩形 2"/>
          <p:cNvSpPr/>
          <p:nvPr/>
        </p:nvSpPr>
        <p:spPr>
          <a:xfrm>
            <a:off x="2422678" y="2797130"/>
            <a:ext cx="1357322" cy="1417688"/>
          </a:xfrm>
          <a:prstGeom prst="roundRect">
            <a:avLst>
              <a:gd name="adj" fmla="val 419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00034" y="2511378"/>
            <a:ext cx="1000132" cy="3346514"/>
          </a:xfrm>
          <a:prstGeom prst="roundRect">
            <a:avLst>
              <a:gd name="adj" fmla="val 376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8012" y="2582816"/>
            <a:ext cx="825462" cy="214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服务对象</a:t>
            </a:r>
          </a:p>
        </p:txBody>
      </p:sp>
      <p:sp>
        <p:nvSpPr>
          <p:cNvPr id="6" name="矩形 5"/>
          <p:cNvSpPr/>
          <p:nvPr/>
        </p:nvSpPr>
        <p:spPr>
          <a:xfrm>
            <a:off x="976640" y="3002463"/>
            <a:ext cx="452088" cy="21222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人员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976640" y="3378380"/>
            <a:ext cx="452088" cy="264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000" dirty="0" smtClean="0">
                <a:latin typeface="微软雅黑" pitchFamily="34" charset="-122"/>
                <a:ea typeface="微软雅黑" pitchFamily="34" charset="-122"/>
              </a:rPr>
              <a:t>环境</a:t>
            </a:r>
            <a:endParaRPr kumimoji="1"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Object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001" y="3356996"/>
            <a:ext cx="53584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sx="98000" sy="98000" algn="tl" rotWithShape="0">
              <a:prstClr val="black"/>
            </a:outerShdw>
          </a:effectLst>
        </p:spPr>
      </p:pic>
      <p:pic>
        <p:nvPicPr>
          <p:cNvPr id="9" name="Picture 16" descr="图形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3785624"/>
            <a:ext cx="446443" cy="347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976640" y="3797241"/>
            <a:ext cx="452088" cy="264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000" dirty="0" smtClean="0">
                <a:latin typeface="微软雅黑" pitchFamily="34" charset="-122"/>
                <a:ea typeface="微软雅黑" pitchFamily="34" charset="-122"/>
              </a:rPr>
              <a:t>业务</a:t>
            </a:r>
            <a:endParaRPr kumimoji="1"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571472" y="4214252"/>
            <a:ext cx="420445" cy="350886"/>
            <a:chOff x="294389" y="2810772"/>
            <a:chExt cx="649" cy="690"/>
          </a:xfrm>
        </p:grpSpPr>
        <p:pic>
          <p:nvPicPr>
            <p:cNvPr id="12" name="Picture 6" descr="server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94630" y="2810772"/>
              <a:ext cx="408" cy="6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7" descr="PC Blue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94389" y="2811086"/>
              <a:ext cx="368" cy="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976640" y="4285690"/>
            <a:ext cx="452088" cy="264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000" dirty="0" smtClean="0">
                <a:latin typeface="微软雅黑" pitchFamily="34" charset="-122"/>
                <a:ea typeface="微软雅黑" pitchFamily="34" charset="-122"/>
              </a:rPr>
              <a:t>设备</a:t>
            </a:r>
            <a:endParaRPr kumimoji="1"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Picture 41" descr="webpage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472" y="4714318"/>
            <a:ext cx="386078" cy="27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976640" y="4715626"/>
            <a:ext cx="452088" cy="269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000" dirty="0">
                <a:latin typeface="微软雅黑" pitchFamily="34" charset="-122"/>
                <a:ea typeface="微软雅黑" pitchFamily="34" charset="-122"/>
              </a:rPr>
              <a:t>软件</a:t>
            </a:r>
            <a:endParaRPr kumimoji="1"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57438" y="2873381"/>
            <a:ext cx="751058" cy="20950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服务台</a:t>
            </a:r>
          </a:p>
        </p:txBody>
      </p:sp>
      <p:sp>
        <p:nvSpPr>
          <p:cNvPr id="19" name="矩形 18"/>
          <p:cNvSpPr/>
          <p:nvPr/>
        </p:nvSpPr>
        <p:spPr>
          <a:xfrm>
            <a:off x="2582116" y="3089855"/>
            <a:ext cx="1019206" cy="1784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事件管理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82116" y="3321975"/>
            <a:ext cx="1019206" cy="1784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电话接入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82116" y="3536289"/>
            <a:ext cx="1019206" cy="1784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微信服务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AutoShape 48"/>
          <p:cNvSpPr>
            <a:spLocks noChangeArrowheads="1"/>
          </p:cNvSpPr>
          <p:nvPr/>
        </p:nvSpPr>
        <p:spPr bwMode="auto">
          <a:xfrm rot="5400000">
            <a:off x="1327150" y="3184546"/>
            <a:ext cx="1296957" cy="906463"/>
          </a:xfrm>
          <a:prstGeom prst="upDownArrow">
            <a:avLst>
              <a:gd name="adj1" fmla="val 51250"/>
              <a:gd name="adj2" fmla="val 34580"/>
            </a:avLst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49"/>
          <p:cNvSpPr txBox="1">
            <a:spLocks noChangeArrowheads="1"/>
          </p:cNvSpPr>
          <p:nvPr/>
        </p:nvSpPr>
        <p:spPr bwMode="auto">
          <a:xfrm>
            <a:off x="1619582" y="3297196"/>
            <a:ext cx="714380" cy="4770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投诉</a:t>
            </a: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处理</a:t>
            </a:r>
            <a:endParaRPr lang="en-US" altLang="zh-CN" sz="1000" dirty="0" smtClean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spcBef>
                <a:spcPct val="50000"/>
              </a:spcBef>
            </a:pPr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建议收集</a:t>
            </a:r>
            <a:endParaRPr lang="zh-CN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 Box 55"/>
          <p:cNvSpPr txBox="1">
            <a:spLocks noChangeArrowheads="1"/>
          </p:cNvSpPr>
          <p:nvPr/>
        </p:nvSpPr>
        <p:spPr bwMode="auto">
          <a:xfrm>
            <a:off x="1441788" y="3765355"/>
            <a:ext cx="1106488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</a:pP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咨询</a:t>
            </a:r>
            <a:r>
              <a:rPr lang="en-US" altLang="zh-CN" sz="1000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故障</a:t>
            </a:r>
          </a:p>
        </p:txBody>
      </p:sp>
      <p:sp>
        <p:nvSpPr>
          <p:cNvPr id="26" name="矩形 25"/>
          <p:cNvSpPr/>
          <p:nvPr/>
        </p:nvSpPr>
        <p:spPr bwMode="auto">
          <a:xfrm>
            <a:off x="4357686" y="2797130"/>
            <a:ext cx="1728000" cy="1584562"/>
          </a:xfrm>
          <a:prstGeom prst="rect">
            <a:avLst/>
          </a:prstGeom>
          <a:solidFill>
            <a:srgbClr val="0070C0"/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DA2421"/>
              </a:buClr>
              <a:buSzTx/>
              <a:buFont typeface="Wingdings" pitchFamily="2" charset="2"/>
              <a:buNone/>
              <a:tabLst/>
            </a:pP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4471022" y="3154320"/>
            <a:ext cx="1476000" cy="289441"/>
          </a:xfrm>
          <a:prstGeom prst="round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一线：业务服务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4471022" y="3515727"/>
            <a:ext cx="1476000" cy="289441"/>
          </a:xfrm>
          <a:prstGeom prst="round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二线：基建维护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4490270" y="3872917"/>
            <a:ext cx="1476000" cy="289441"/>
          </a:xfrm>
          <a:prstGeom prst="round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三线：技术支持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843351" y="2805883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过程管理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AutoShape 48"/>
          <p:cNvSpPr>
            <a:spLocks noChangeArrowheads="1"/>
          </p:cNvSpPr>
          <p:nvPr/>
        </p:nvSpPr>
        <p:spPr bwMode="auto">
          <a:xfrm rot="5400000">
            <a:off x="3857620" y="3215252"/>
            <a:ext cx="428628" cy="571504"/>
          </a:xfrm>
          <a:prstGeom prst="upDownArrow">
            <a:avLst>
              <a:gd name="adj1" fmla="val 39130"/>
              <a:gd name="adj2" fmla="val 33074"/>
            </a:avLst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流程图: 多文档 33"/>
          <p:cNvSpPr/>
          <p:nvPr/>
        </p:nvSpPr>
        <p:spPr>
          <a:xfrm>
            <a:off x="2634744" y="4500570"/>
            <a:ext cx="1080000" cy="362058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服务单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流程图: 多文档 34"/>
          <p:cNvSpPr/>
          <p:nvPr/>
        </p:nvSpPr>
        <p:spPr>
          <a:xfrm>
            <a:off x="4714876" y="4500570"/>
            <a:ext cx="1116000" cy="362058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工单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7715272" y="4357694"/>
            <a:ext cx="1188000" cy="1214446"/>
            <a:chOff x="7786710" y="3357562"/>
            <a:chExt cx="1188000" cy="1214446"/>
          </a:xfrm>
        </p:grpSpPr>
        <p:sp>
          <p:nvSpPr>
            <p:cNvPr id="36" name="圆角矩形 35"/>
            <p:cNvSpPr/>
            <p:nvPr/>
          </p:nvSpPr>
          <p:spPr>
            <a:xfrm>
              <a:off x="7786710" y="3357562"/>
              <a:ext cx="1188000" cy="1214446"/>
            </a:xfrm>
            <a:prstGeom prst="roundRect">
              <a:avLst>
                <a:gd name="adj" fmla="val 9226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929586" y="3429000"/>
              <a:ext cx="857256" cy="2143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服务报告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7885092" y="3964785"/>
              <a:ext cx="972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运</a:t>
              </a:r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维服务报告</a:t>
              </a:r>
              <a:endParaRPr lang="zh-CN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7885092" y="4214818"/>
              <a:ext cx="972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运维绩效管理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7885092" y="3714752"/>
              <a:ext cx="972000" cy="18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运</a:t>
              </a:r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维统计报告</a:t>
              </a:r>
              <a:endParaRPr lang="zh-CN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41" name="肘形连接符 40"/>
          <p:cNvCxnSpPr>
            <a:stCxn id="34" idx="2"/>
            <a:endCxn id="67" idx="1"/>
          </p:cNvCxnSpPr>
          <p:nvPr/>
        </p:nvCxnSpPr>
        <p:spPr>
          <a:xfrm rot="16200000" flipH="1">
            <a:off x="4188591" y="3759970"/>
            <a:ext cx="937537" cy="311543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35" idx="2"/>
            <a:endCxn id="67" idx="1"/>
          </p:cNvCxnSpPr>
          <p:nvPr/>
        </p:nvCxnSpPr>
        <p:spPr>
          <a:xfrm rot="16200000" flipH="1">
            <a:off x="5236405" y="4807784"/>
            <a:ext cx="937537" cy="101980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36" idx="0"/>
            <a:endCxn id="55" idx="3"/>
          </p:cNvCxnSpPr>
          <p:nvPr/>
        </p:nvCxnSpPr>
        <p:spPr>
          <a:xfrm rot="16200000" flipV="1">
            <a:off x="6854173" y="2902595"/>
            <a:ext cx="2530513" cy="379686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2643174" y="1368370"/>
            <a:ext cx="3024000" cy="928694"/>
          </a:xfrm>
          <a:prstGeom prst="roundRect">
            <a:avLst>
              <a:gd name="adj" fmla="val 4817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786182" y="1929368"/>
            <a:ext cx="763339" cy="2085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监控策略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14876" y="1643616"/>
            <a:ext cx="763339" cy="20673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en-US" altLang="zh-CN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SLA</a:t>
            </a:r>
            <a:endParaRPr lang="zh-CN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857488" y="1929368"/>
            <a:ext cx="763339" cy="2085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技术手册</a:t>
            </a:r>
            <a:endParaRPr lang="zh-CN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714876" y="1929368"/>
            <a:ext cx="765469" cy="2085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知识库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786182" y="1643616"/>
            <a:ext cx="763339" cy="2085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服务目录</a:t>
            </a:r>
            <a:endParaRPr lang="zh-CN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2857488" y="1649429"/>
            <a:ext cx="763339" cy="2085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服务对象</a:t>
            </a:r>
          </a:p>
        </p:txBody>
      </p:sp>
      <p:sp>
        <p:nvSpPr>
          <p:cNvPr id="51" name="矩形 50"/>
          <p:cNvSpPr/>
          <p:nvPr/>
        </p:nvSpPr>
        <p:spPr>
          <a:xfrm>
            <a:off x="3732320" y="1429302"/>
            <a:ext cx="886598" cy="162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服务标准</a:t>
            </a:r>
          </a:p>
        </p:txBody>
      </p:sp>
      <p:sp>
        <p:nvSpPr>
          <p:cNvPr id="52" name="下箭头 46"/>
          <p:cNvSpPr>
            <a:spLocks noChangeArrowheads="1"/>
          </p:cNvSpPr>
          <p:nvPr/>
        </p:nvSpPr>
        <p:spPr bwMode="auto">
          <a:xfrm>
            <a:off x="4985106" y="2506510"/>
            <a:ext cx="288000" cy="288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下箭头 46"/>
          <p:cNvSpPr>
            <a:spLocks noChangeArrowheads="1"/>
          </p:cNvSpPr>
          <p:nvPr/>
        </p:nvSpPr>
        <p:spPr bwMode="auto">
          <a:xfrm>
            <a:off x="3046094" y="2506510"/>
            <a:ext cx="288000" cy="288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4" name="肘形连接符 53"/>
          <p:cNvCxnSpPr>
            <a:stCxn id="4" idx="0"/>
            <a:endCxn id="44" idx="1"/>
          </p:cNvCxnSpPr>
          <p:nvPr/>
        </p:nvCxnSpPr>
        <p:spPr>
          <a:xfrm rot="5400000" flipH="1" flipV="1">
            <a:off x="1482307" y="1350511"/>
            <a:ext cx="678661" cy="1643074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6191615" y="1285860"/>
            <a:ext cx="1737971" cy="1082642"/>
          </a:xfrm>
          <a:prstGeom prst="roundRect">
            <a:avLst>
              <a:gd name="adj" fmla="val 4184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405928" y="1315714"/>
            <a:ext cx="1253504" cy="195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服务管理与改善</a:t>
            </a:r>
          </a:p>
        </p:txBody>
      </p:sp>
      <p:sp>
        <p:nvSpPr>
          <p:cNvPr id="57" name="矩形 56"/>
          <p:cNvSpPr/>
          <p:nvPr/>
        </p:nvSpPr>
        <p:spPr>
          <a:xfrm>
            <a:off x="6461042" y="1574489"/>
            <a:ext cx="1162722" cy="2075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服务运行改善</a:t>
            </a:r>
            <a:endParaRPr lang="zh-CN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61042" y="2111060"/>
            <a:ext cx="1162722" cy="2075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专项课题</a:t>
            </a:r>
            <a:r>
              <a: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改善</a:t>
            </a:r>
          </a:p>
        </p:txBody>
      </p:sp>
      <p:sp>
        <p:nvSpPr>
          <p:cNvPr id="59" name="矩形 58"/>
          <p:cNvSpPr/>
          <p:nvPr/>
        </p:nvSpPr>
        <p:spPr>
          <a:xfrm>
            <a:off x="6461042" y="1844322"/>
            <a:ext cx="1162722" cy="2075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客户满意度改善</a:t>
            </a:r>
          </a:p>
        </p:txBody>
      </p:sp>
      <p:cxnSp>
        <p:nvCxnSpPr>
          <p:cNvPr id="60" name="肘形连接符 117"/>
          <p:cNvCxnSpPr>
            <a:stCxn id="55" idx="1"/>
            <a:endCxn id="44" idx="3"/>
          </p:cNvCxnSpPr>
          <p:nvPr/>
        </p:nvCxnSpPr>
        <p:spPr>
          <a:xfrm rot="10800000" flipV="1">
            <a:off x="5667175" y="1827181"/>
            <a:ext cx="524441" cy="5536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下箭头 46"/>
          <p:cNvSpPr>
            <a:spLocks noChangeArrowheads="1"/>
          </p:cNvSpPr>
          <p:nvPr/>
        </p:nvSpPr>
        <p:spPr bwMode="auto">
          <a:xfrm>
            <a:off x="3071802" y="4214818"/>
            <a:ext cx="216000" cy="25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下箭头 46"/>
          <p:cNvSpPr>
            <a:spLocks noChangeArrowheads="1"/>
          </p:cNvSpPr>
          <p:nvPr/>
        </p:nvSpPr>
        <p:spPr bwMode="auto">
          <a:xfrm>
            <a:off x="5043758" y="4368766"/>
            <a:ext cx="216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>
          <a:xfrm>
            <a:off x="323528" y="620688"/>
            <a:ext cx="8352928" cy="864095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/>
              <a:t>通过</a:t>
            </a:r>
            <a:r>
              <a:rPr lang="zh-CN" altLang="en-US" sz="1400" dirty="0" smtClean="0"/>
              <a:t>制定服务目标</a:t>
            </a:r>
            <a:r>
              <a:rPr lang="zh-CN" altLang="en-US" sz="1400" dirty="0"/>
              <a:t>形成</a:t>
            </a:r>
            <a:r>
              <a:rPr lang="zh-CN" altLang="en-US" sz="1400" dirty="0" smtClean="0"/>
              <a:t>具体服务计划、服务标准、服务监控</a:t>
            </a:r>
            <a:r>
              <a:rPr lang="zh-CN" altLang="en-US" sz="1400" dirty="0"/>
              <a:t>和过程</a:t>
            </a:r>
            <a:r>
              <a:rPr lang="zh-CN" altLang="en-US" sz="1400" dirty="0" smtClean="0"/>
              <a:t>管理，通过服务报告分析不断持续改善服务过程，</a:t>
            </a:r>
            <a:r>
              <a:rPr lang="zh-CN" altLang="en-US" sz="1400" dirty="0"/>
              <a:t>对所有任务和事项无遗漏的闭环式管理，确保目标达成。</a:t>
            </a:r>
          </a:p>
        </p:txBody>
      </p:sp>
      <p:sp>
        <p:nvSpPr>
          <p:cNvPr id="66" name="流程图: 磁盘 65"/>
          <p:cNvSpPr/>
          <p:nvPr/>
        </p:nvSpPr>
        <p:spPr>
          <a:xfrm>
            <a:off x="1403648" y="1520840"/>
            <a:ext cx="1008000" cy="468000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CMDB</a:t>
            </a:r>
            <a:endParaRPr lang="zh-CN" altLang="en-US" sz="14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流程图: 磁盘 66"/>
          <p:cNvSpPr/>
          <p:nvPr/>
        </p:nvSpPr>
        <p:spPr>
          <a:xfrm>
            <a:off x="4572000" y="5786454"/>
            <a:ext cx="3286148" cy="571504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运维数据</a:t>
            </a:r>
            <a:endParaRPr lang="zh-CN" altLang="en-US" sz="14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流程图: 多文档 69"/>
          <p:cNvSpPr/>
          <p:nvPr/>
        </p:nvSpPr>
        <p:spPr>
          <a:xfrm>
            <a:off x="3206248" y="5143512"/>
            <a:ext cx="1080000" cy="362058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话务报表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流程图: 多文档 70"/>
          <p:cNvSpPr/>
          <p:nvPr/>
        </p:nvSpPr>
        <p:spPr>
          <a:xfrm>
            <a:off x="4714876" y="5143512"/>
            <a:ext cx="1080000" cy="362058"/>
          </a:xfrm>
          <a:prstGeom prst="flowChartMultidocumen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业务报表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Freeform 41"/>
          <p:cNvSpPr>
            <a:spLocks noEditPoints="1"/>
          </p:cNvSpPr>
          <p:nvPr/>
        </p:nvSpPr>
        <p:spPr bwMode="auto">
          <a:xfrm>
            <a:off x="571472" y="2928934"/>
            <a:ext cx="357190" cy="357190"/>
          </a:xfrm>
          <a:custGeom>
            <a:avLst/>
            <a:gdLst>
              <a:gd name="T0" fmla="*/ 419 w 628"/>
              <a:gd name="T1" fmla="*/ 232 h 600"/>
              <a:gd name="T2" fmla="*/ 411 w 628"/>
              <a:gd name="T3" fmla="*/ 249 h 600"/>
              <a:gd name="T4" fmla="*/ 408 w 628"/>
              <a:gd name="T5" fmla="*/ 261 h 600"/>
              <a:gd name="T6" fmla="*/ 409 w 628"/>
              <a:gd name="T7" fmla="*/ 283 h 600"/>
              <a:gd name="T8" fmla="*/ 417 w 628"/>
              <a:gd name="T9" fmla="*/ 305 h 600"/>
              <a:gd name="T10" fmla="*/ 424 w 628"/>
              <a:gd name="T11" fmla="*/ 315 h 600"/>
              <a:gd name="T12" fmla="*/ 441 w 628"/>
              <a:gd name="T13" fmla="*/ 330 h 600"/>
              <a:gd name="T14" fmla="*/ 453 w 628"/>
              <a:gd name="T15" fmla="*/ 335 h 600"/>
              <a:gd name="T16" fmla="*/ 478 w 628"/>
              <a:gd name="T17" fmla="*/ 200 h 600"/>
              <a:gd name="T18" fmla="*/ 449 w 628"/>
              <a:gd name="T19" fmla="*/ 207 h 600"/>
              <a:gd name="T20" fmla="*/ 433 w 628"/>
              <a:gd name="T21" fmla="*/ 216 h 600"/>
              <a:gd name="T22" fmla="*/ 425 w 628"/>
              <a:gd name="T23" fmla="*/ 224 h 600"/>
              <a:gd name="T24" fmla="*/ 384 w 628"/>
              <a:gd name="T25" fmla="*/ 70 h 600"/>
              <a:gd name="T26" fmla="*/ 314 w 628"/>
              <a:gd name="T27" fmla="*/ 140 h 600"/>
              <a:gd name="T28" fmla="*/ 379 w 628"/>
              <a:gd name="T29" fmla="*/ 283 h 600"/>
              <a:gd name="T30" fmla="*/ 379 w 628"/>
              <a:gd name="T31" fmla="*/ 254 h 600"/>
              <a:gd name="T32" fmla="*/ 359 w 628"/>
              <a:gd name="T33" fmla="*/ 154 h 600"/>
              <a:gd name="T34" fmla="*/ 249 w 628"/>
              <a:gd name="T35" fmla="*/ 270 h 600"/>
              <a:gd name="T36" fmla="*/ 314 w 628"/>
              <a:gd name="T37" fmla="*/ 396 h 600"/>
              <a:gd name="T38" fmla="*/ 282 w 628"/>
              <a:gd name="T39" fmla="*/ 400 h 600"/>
              <a:gd name="T40" fmla="*/ 267 w 628"/>
              <a:gd name="T41" fmla="*/ 382 h 600"/>
              <a:gd name="T42" fmla="*/ 257 w 628"/>
              <a:gd name="T43" fmla="*/ 374 h 600"/>
              <a:gd name="T44" fmla="*/ 214 w 628"/>
              <a:gd name="T45" fmla="*/ 356 h 600"/>
              <a:gd name="T46" fmla="*/ 195 w 628"/>
              <a:gd name="T47" fmla="*/ 354 h 600"/>
              <a:gd name="T48" fmla="*/ 0 w 628"/>
              <a:gd name="T49" fmla="*/ 600 h 600"/>
              <a:gd name="T50" fmla="*/ 83 w 628"/>
              <a:gd name="T51" fmla="*/ 454 h 600"/>
              <a:gd name="T52" fmla="*/ 216 w 628"/>
              <a:gd name="T53" fmla="*/ 454 h 600"/>
              <a:gd name="T54" fmla="*/ 301 w 628"/>
              <a:gd name="T55" fmla="*/ 600 h 600"/>
              <a:gd name="T56" fmla="*/ 282 w 628"/>
              <a:gd name="T57" fmla="*/ 400 h 600"/>
              <a:gd name="T58" fmla="*/ 433 w 628"/>
              <a:gd name="T59" fmla="*/ 354 h 600"/>
              <a:gd name="T60" fmla="*/ 413 w 628"/>
              <a:gd name="T61" fmla="*/ 356 h 600"/>
              <a:gd name="T62" fmla="*/ 361 w 628"/>
              <a:gd name="T63" fmla="*/ 382 h 600"/>
              <a:gd name="T64" fmla="*/ 353 w 628"/>
              <a:gd name="T65" fmla="*/ 391 h 600"/>
              <a:gd name="T66" fmla="*/ 389 w 628"/>
              <a:gd name="T67" fmla="*/ 600 h 600"/>
              <a:gd name="T68" fmla="*/ 410 w 628"/>
              <a:gd name="T69" fmla="*/ 600 h 600"/>
              <a:gd name="T70" fmla="*/ 564 w 628"/>
              <a:gd name="T71" fmla="*/ 454 h 600"/>
              <a:gd name="T72" fmla="*/ 628 w 628"/>
              <a:gd name="T73" fmla="*/ 460 h 600"/>
              <a:gd name="T74" fmla="*/ 150 w 628"/>
              <a:gd name="T75" fmla="*/ 340 h 600"/>
              <a:gd name="T76" fmla="*/ 186 w 628"/>
              <a:gd name="T77" fmla="*/ 330 h 600"/>
              <a:gd name="T78" fmla="*/ 196 w 628"/>
              <a:gd name="T79" fmla="*/ 323 h 600"/>
              <a:gd name="T80" fmla="*/ 216 w 628"/>
              <a:gd name="T81" fmla="*/ 295 h 600"/>
              <a:gd name="T82" fmla="*/ 219 w 628"/>
              <a:gd name="T83" fmla="*/ 282 h 600"/>
              <a:gd name="T84" fmla="*/ 219 w 628"/>
              <a:gd name="T85" fmla="*/ 258 h 600"/>
              <a:gd name="T86" fmla="*/ 214 w 628"/>
              <a:gd name="T87" fmla="*/ 241 h 600"/>
              <a:gd name="T88" fmla="*/ 208 w 628"/>
              <a:gd name="T89" fmla="*/ 231 h 600"/>
              <a:gd name="T90" fmla="*/ 195 w 628"/>
              <a:gd name="T91" fmla="*/ 217 h 600"/>
              <a:gd name="T92" fmla="*/ 186 w 628"/>
              <a:gd name="T93" fmla="*/ 210 h 600"/>
              <a:gd name="T94" fmla="*/ 150 w 628"/>
              <a:gd name="T95" fmla="*/ 2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8" h="600">
                <a:moveTo>
                  <a:pt x="425" y="224"/>
                </a:moveTo>
                <a:cubicBezTo>
                  <a:pt x="423" y="227"/>
                  <a:pt x="421" y="229"/>
                  <a:pt x="419" y="231"/>
                </a:cubicBezTo>
                <a:cubicBezTo>
                  <a:pt x="419" y="231"/>
                  <a:pt x="419" y="232"/>
                  <a:pt x="419" y="232"/>
                </a:cubicBezTo>
                <a:cubicBezTo>
                  <a:pt x="418" y="234"/>
                  <a:pt x="416" y="237"/>
                  <a:pt x="415" y="239"/>
                </a:cubicBezTo>
                <a:cubicBezTo>
                  <a:pt x="415" y="240"/>
                  <a:pt x="414" y="240"/>
                  <a:pt x="414" y="241"/>
                </a:cubicBezTo>
                <a:cubicBezTo>
                  <a:pt x="413" y="244"/>
                  <a:pt x="412" y="247"/>
                  <a:pt x="411" y="249"/>
                </a:cubicBezTo>
                <a:cubicBezTo>
                  <a:pt x="411" y="250"/>
                  <a:pt x="411" y="250"/>
                  <a:pt x="411" y="250"/>
                </a:cubicBezTo>
                <a:cubicBezTo>
                  <a:pt x="410" y="253"/>
                  <a:pt x="409" y="255"/>
                  <a:pt x="409" y="258"/>
                </a:cubicBezTo>
                <a:cubicBezTo>
                  <a:pt x="409" y="259"/>
                  <a:pt x="409" y="260"/>
                  <a:pt x="408" y="261"/>
                </a:cubicBezTo>
                <a:cubicBezTo>
                  <a:pt x="408" y="264"/>
                  <a:pt x="408" y="267"/>
                  <a:pt x="408" y="270"/>
                </a:cubicBezTo>
                <a:cubicBezTo>
                  <a:pt x="408" y="274"/>
                  <a:pt x="408" y="278"/>
                  <a:pt x="409" y="281"/>
                </a:cubicBezTo>
                <a:cubicBezTo>
                  <a:pt x="409" y="282"/>
                  <a:pt x="409" y="283"/>
                  <a:pt x="409" y="283"/>
                </a:cubicBezTo>
                <a:cubicBezTo>
                  <a:pt x="410" y="287"/>
                  <a:pt x="411" y="290"/>
                  <a:pt x="412" y="293"/>
                </a:cubicBezTo>
                <a:cubicBezTo>
                  <a:pt x="412" y="294"/>
                  <a:pt x="412" y="295"/>
                  <a:pt x="412" y="295"/>
                </a:cubicBezTo>
                <a:cubicBezTo>
                  <a:pt x="414" y="298"/>
                  <a:pt x="415" y="301"/>
                  <a:pt x="417" y="305"/>
                </a:cubicBezTo>
                <a:cubicBezTo>
                  <a:pt x="417" y="305"/>
                  <a:pt x="417" y="305"/>
                  <a:pt x="418" y="306"/>
                </a:cubicBezTo>
                <a:cubicBezTo>
                  <a:pt x="420" y="309"/>
                  <a:pt x="422" y="312"/>
                  <a:pt x="424" y="315"/>
                </a:cubicBezTo>
                <a:cubicBezTo>
                  <a:pt x="424" y="315"/>
                  <a:pt x="424" y="315"/>
                  <a:pt x="424" y="315"/>
                </a:cubicBezTo>
                <a:cubicBezTo>
                  <a:pt x="427" y="318"/>
                  <a:pt x="429" y="320"/>
                  <a:pt x="432" y="323"/>
                </a:cubicBezTo>
                <a:cubicBezTo>
                  <a:pt x="432" y="323"/>
                  <a:pt x="432" y="323"/>
                  <a:pt x="432" y="323"/>
                </a:cubicBezTo>
                <a:cubicBezTo>
                  <a:pt x="435" y="326"/>
                  <a:pt x="438" y="328"/>
                  <a:pt x="441" y="330"/>
                </a:cubicBezTo>
                <a:cubicBezTo>
                  <a:pt x="442" y="330"/>
                  <a:pt x="442" y="330"/>
                  <a:pt x="442" y="330"/>
                </a:cubicBezTo>
                <a:cubicBezTo>
                  <a:pt x="446" y="332"/>
                  <a:pt x="449" y="334"/>
                  <a:pt x="452" y="335"/>
                </a:cubicBezTo>
                <a:cubicBezTo>
                  <a:pt x="453" y="335"/>
                  <a:pt x="453" y="335"/>
                  <a:pt x="453" y="335"/>
                </a:cubicBezTo>
                <a:cubicBezTo>
                  <a:pt x="461" y="338"/>
                  <a:pt x="469" y="340"/>
                  <a:pt x="478" y="340"/>
                </a:cubicBezTo>
                <a:cubicBezTo>
                  <a:pt x="516" y="340"/>
                  <a:pt x="547" y="309"/>
                  <a:pt x="547" y="270"/>
                </a:cubicBezTo>
                <a:cubicBezTo>
                  <a:pt x="547" y="232"/>
                  <a:pt x="516" y="200"/>
                  <a:pt x="478" y="200"/>
                </a:cubicBezTo>
                <a:cubicBezTo>
                  <a:pt x="468" y="200"/>
                  <a:pt x="458" y="202"/>
                  <a:pt x="450" y="206"/>
                </a:cubicBezTo>
                <a:cubicBezTo>
                  <a:pt x="450" y="206"/>
                  <a:pt x="450" y="206"/>
                  <a:pt x="450" y="206"/>
                </a:cubicBezTo>
                <a:cubicBezTo>
                  <a:pt x="449" y="206"/>
                  <a:pt x="449" y="206"/>
                  <a:pt x="449" y="207"/>
                </a:cubicBezTo>
                <a:cubicBezTo>
                  <a:pt x="446" y="208"/>
                  <a:pt x="444" y="209"/>
                  <a:pt x="442" y="210"/>
                </a:cubicBezTo>
                <a:cubicBezTo>
                  <a:pt x="441" y="211"/>
                  <a:pt x="441" y="211"/>
                  <a:pt x="440" y="211"/>
                </a:cubicBezTo>
                <a:cubicBezTo>
                  <a:pt x="438" y="213"/>
                  <a:pt x="435" y="215"/>
                  <a:pt x="433" y="216"/>
                </a:cubicBezTo>
                <a:cubicBezTo>
                  <a:pt x="433" y="217"/>
                  <a:pt x="432" y="217"/>
                  <a:pt x="432" y="217"/>
                </a:cubicBezTo>
                <a:cubicBezTo>
                  <a:pt x="430" y="219"/>
                  <a:pt x="428" y="221"/>
                  <a:pt x="426" y="223"/>
                </a:cubicBezTo>
                <a:cubicBezTo>
                  <a:pt x="426" y="223"/>
                  <a:pt x="425" y="224"/>
                  <a:pt x="425" y="224"/>
                </a:cubicBezTo>
                <a:close/>
                <a:moveTo>
                  <a:pt x="314" y="140"/>
                </a:moveTo>
                <a:lnTo>
                  <a:pt x="314" y="140"/>
                </a:lnTo>
                <a:cubicBezTo>
                  <a:pt x="353" y="140"/>
                  <a:pt x="384" y="108"/>
                  <a:pt x="384" y="70"/>
                </a:cubicBezTo>
                <a:cubicBezTo>
                  <a:pt x="384" y="31"/>
                  <a:pt x="353" y="0"/>
                  <a:pt x="314" y="0"/>
                </a:cubicBezTo>
                <a:cubicBezTo>
                  <a:pt x="275" y="0"/>
                  <a:pt x="244" y="31"/>
                  <a:pt x="244" y="70"/>
                </a:cubicBezTo>
                <a:cubicBezTo>
                  <a:pt x="244" y="108"/>
                  <a:pt x="275" y="140"/>
                  <a:pt x="314" y="140"/>
                </a:cubicBezTo>
                <a:close/>
                <a:moveTo>
                  <a:pt x="379" y="336"/>
                </a:moveTo>
                <a:lnTo>
                  <a:pt x="379" y="336"/>
                </a:lnTo>
                <a:lnTo>
                  <a:pt x="379" y="283"/>
                </a:lnTo>
                <a:cubicBezTo>
                  <a:pt x="379" y="279"/>
                  <a:pt x="378" y="274"/>
                  <a:pt x="378" y="270"/>
                </a:cubicBezTo>
                <a:cubicBezTo>
                  <a:pt x="378" y="266"/>
                  <a:pt x="379" y="262"/>
                  <a:pt x="379" y="257"/>
                </a:cubicBezTo>
                <a:lnTo>
                  <a:pt x="379" y="254"/>
                </a:lnTo>
                <a:lnTo>
                  <a:pt x="380" y="254"/>
                </a:lnTo>
                <a:cubicBezTo>
                  <a:pt x="385" y="223"/>
                  <a:pt x="404" y="197"/>
                  <a:pt x="431" y="183"/>
                </a:cubicBezTo>
                <a:cubicBezTo>
                  <a:pt x="412" y="165"/>
                  <a:pt x="387" y="154"/>
                  <a:pt x="359" y="154"/>
                </a:cubicBezTo>
                <a:lnTo>
                  <a:pt x="269" y="154"/>
                </a:lnTo>
                <a:cubicBezTo>
                  <a:pt x="241" y="154"/>
                  <a:pt x="216" y="165"/>
                  <a:pt x="197" y="183"/>
                </a:cubicBezTo>
                <a:cubicBezTo>
                  <a:pt x="228" y="199"/>
                  <a:pt x="249" y="232"/>
                  <a:pt x="249" y="270"/>
                </a:cubicBezTo>
                <a:cubicBezTo>
                  <a:pt x="249" y="278"/>
                  <a:pt x="249" y="286"/>
                  <a:pt x="247" y="293"/>
                </a:cubicBezTo>
                <a:lnTo>
                  <a:pt x="247" y="335"/>
                </a:lnTo>
                <a:cubicBezTo>
                  <a:pt x="276" y="347"/>
                  <a:pt x="299" y="369"/>
                  <a:pt x="314" y="396"/>
                </a:cubicBezTo>
                <a:cubicBezTo>
                  <a:pt x="328" y="369"/>
                  <a:pt x="351" y="348"/>
                  <a:pt x="379" y="336"/>
                </a:cubicBezTo>
                <a:close/>
                <a:moveTo>
                  <a:pt x="282" y="400"/>
                </a:moveTo>
                <a:lnTo>
                  <a:pt x="282" y="400"/>
                </a:lnTo>
                <a:cubicBezTo>
                  <a:pt x="280" y="397"/>
                  <a:pt x="278" y="394"/>
                  <a:pt x="275" y="391"/>
                </a:cubicBezTo>
                <a:cubicBezTo>
                  <a:pt x="275" y="390"/>
                  <a:pt x="274" y="390"/>
                  <a:pt x="274" y="390"/>
                </a:cubicBezTo>
                <a:cubicBezTo>
                  <a:pt x="272" y="387"/>
                  <a:pt x="270" y="385"/>
                  <a:pt x="267" y="382"/>
                </a:cubicBezTo>
                <a:cubicBezTo>
                  <a:pt x="267" y="382"/>
                  <a:pt x="266" y="382"/>
                  <a:pt x="266" y="381"/>
                </a:cubicBezTo>
                <a:cubicBezTo>
                  <a:pt x="263" y="379"/>
                  <a:pt x="261" y="377"/>
                  <a:pt x="258" y="375"/>
                </a:cubicBezTo>
                <a:cubicBezTo>
                  <a:pt x="257" y="374"/>
                  <a:pt x="257" y="374"/>
                  <a:pt x="257" y="374"/>
                </a:cubicBezTo>
                <a:cubicBezTo>
                  <a:pt x="247" y="367"/>
                  <a:pt x="237" y="362"/>
                  <a:pt x="225" y="359"/>
                </a:cubicBezTo>
                <a:cubicBezTo>
                  <a:pt x="223" y="358"/>
                  <a:pt x="220" y="357"/>
                  <a:pt x="218" y="357"/>
                </a:cubicBezTo>
                <a:cubicBezTo>
                  <a:pt x="217" y="356"/>
                  <a:pt x="215" y="356"/>
                  <a:pt x="214" y="356"/>
                </a:cubicBezTo>
                <a:cubicBezTo>
                  <a:pt x="212" y="356"/>
                  <a:pt x="210" y="355"/>
                  <a:pt x="208" y="355"/>
                </a:cubicBezTo>
                <a:cubicBezTo>
                  <a:pt x="207" y="355"/>
                  <a:pt x="206" y="355"/>
                  <a:pt x="205" y="355"/>
                </a:cubicBezTo>
                <a:cubicBezTo>
                  <a:pt x="202" y="354"/>
                  <a:pt x="199" y="354"/>
                  <a:pt x="195" y="354"/>
                </a:cubicBezTo>
                <a:lnTo>
                  <a:pt x="105" y="354"/>
                </a:lnTo>
                <a:cubicBezTo>
                  <a:pt x="47" y="354"/>
                  <a:pt x="0" y="401"/>
                  <a:pt x="0" y="460"/>
                </a:cubicBezTo>
                <a:lnTo>
                  <a:pt x="0" y="600"/>
                </a:lnTo>
                <a:lnTo>
                  <a:pt x="62" y="600"/>
                </a:lnTo>
                <a:lnTo>
                  <a:pt x="62" y="454"/>
                </a:lnTo>
                <a:lnTo>
                  <a:pt x="83" y="454"/>
                </a:lnTo>
                <a:lnTo>
                  <a:pt x="83" y="600"/>
                </a:lnTo>
                <a:lnTo>
                  <a:pt x="216" y="600"/>
                </a:lnTo>
                <a:lnTo>
                  <a:pt x="216" y="454"/>
                </a:lnTo>
                <a:lnTo>
                  <a:pt x="237" y="454"/>
                </a:lnTo>
                <a:lnTo>
                  <a:pt x="237" y="600"/>
                </a:lnTo>
                <a:lnTo>
                  <a:pt x="301" y="600"/>
                </a:lnTo>
                <a:lnTo>
                  <a:pt x="301" y="460"/>
                </a:lnTo>
                <a:cubicBezTo>
                  <a:pt x="301" y="438"/>
                  <a:pt x="294" y="417"/>
                  <a:pt x="282" y="400"/>
                </a:cubicBezTo>
                <a:cubicBezTo>
                  <a:pt x="282" y="400"/>
                  <a:pt x="282" y="400"/>
                  <a:pt x="282" y="400"/>
                </a:cubicBezTo>
                <a:close/>
                <a:moveTo>
                  <a:pt x="523" y="354"/>
                </a:moveTo>
                <a:lnTo>
                  <a:pt x="523" y="354"/>
                </a:lnTo>
                <a:lnTo>
                  <a:pt x="433" y="354"/>
                </a:lnTo>
                <a:cubicBezTo>
                  <a:pt x="429" y="354"/>
                  <a:pt x="426" y="354"/>
                  <a:pt x="423" y="355"/>
                </a:cubicBezTo>
                <a:cubicBezTo>
                  <a:pt x="422" y="355"/>
                  <a:pt x="421" y="355"/>
                  <a:pt x="420" y="355"/>
                </a:cubicBezTo>
                <a:cubicBezTo>
                  <a:pt x="418" y="355"/>
                  <a:pt x="415" y="356"/>
                  <a:pt x="413" y="356"/>
                </a:cubicBezTo>
                <a:cubicBezTo>
                  <a:pt x="412" y="356"/>
                  <a:pt x="411" y="356"/>
                  <a:pt x="410" y="357"/>
                </a:cubicBezTo>
                <a:cubicBezTo>
                  <a:pt x="408" y="357"/>
                  <a:pt x="405" y="358"/>
                  <a:pt x="403" y="358"/>
                </a:cubicBezTo>
                <a:cubicBezTo>
                  <a:pt x="387" y="363"/>
                  <a:pt x="373" y="371"/>
                  <a:pt x="361" y="382"/>
                </a:cubicBezTo>
                <a:cubicBezTo>
                  <a:pt x="361" y="382"/>
                  <a:pt x="361" y="383"/>
                  <a:pt x="361" y="383"/>
                </a:cubicBezTo>
                <a:cubicBezTo>
                  <a:pt x="358" y="385"/>
                  <a:pt x="356" y="388"/>
                  <a:pt x="353" y="390"/>
                </a:cubicBezTo>
                <a:cubicBezTo>
                  <a:pt x="353" y="391"/>
                  <a:pt x="353" y="391"/>
                  <a:pt x="353" y="391"/>
                </a:cubicBezTo>
                <a:cubicBezTo>
                  <a:pt x="337" y="410"/>
                  <a:pt x="327" y="433"/>
                  <a:pt x="327" y="460"/>
                </a:cubicBezTo>
                <a:lnTo>
                  <a:pt x="327" y="600"/>
                </a:lnTo>
                <a:lnTo>
                  <a:pt x="389" y="600"/>
                </a:lnTo>
                <a:lnTo>
                  <a:pt x="389" y="454"/>
                </a:lnTo>
                <a:lnTo>
                  <a:pt x="410" y="454"/>
                </a:lnTo>
                <a:lnTo>
                  <a:pt x="410" y="600"/>
                </a:lnTo>
                <a:lnTo>
                  <a:pt x="543" y="600"/>
                </a:lnTo>
                <a:lnTo>
                  <a:pt x="543" y="454"/>
                </a:lnTo>
                <a:lnTo>
                  <a:pt x="564" y="454"/>
                </a:lnTo>
                <a:lnTo>
                  <a:pt x="564" y="600"/>
                </a:lnTo>
                <a:lnTo>
                  <a:pt x="628" y="600"/>
                </a:lnTo>
                <a:lnTo>
                  <a:pt x="628" y="460"/>
                </a:lnTo>
                <a:cubicBezTo>
                  <a:pt x="628" y="401"/>
                  <a:pt x="581" y="354"/>
                  <a:pt x="523" y="354"/>
                </a:cubicBezTo>
                <a:close/>
                <a:moveTo>
                  <a:pt x="150" y="340"/>
                </a:moveTo>
                <a:lnTo>
                  <a:pt x="150" y="340"/>
                </a:lnTo>
                <a:cubicBezTo>
                  <a:pt x="159" y="340"/>
                  <a:pt x="167" y="338"/>
                  <a:pt x="175" y="335"/>
                </a:cubicBezTo>
                <a:cubicBezTo>
                  <a:pt x="175" y="335"/>
                  <a:pt x="175" y="335"/>
                  <a:pt x="176" y="335"/>
                </a:cubicBezTo>
                <a:cubicBezTo>
                  <a:pt x="179" y="334"/>
                  <a:pt x="183" y="332"/>
                  <a:pt x="186" y="330"/>
                </a:cubicBezTo>
                <a:cubicBezTo>
                  <a:pt x="186" y="330"/>
                  <a:pt x="186" y="330"/>
                  <a:pt x="186" y="330"/>
                </a:cubicBezTo>
                <a:cubicBezTo>
                  <a:pt x="190" y="328"/>
                  <a:pt x="193" y="326"/>
                  <a:pt x="196" y="323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202" y="318"/>
                  <a:pt x="206" y="312"/>
                  <a:pt x="210" y="306"/>
                </a:cubicBezTo>
                <a:cubicBezTo>
                  <a:pt x="211" y="305"/>
                  <a:pt x="211" y="305"/>
                  <a:pt x="211" y="305"/>
                </a:cubicBezTo>
                <a:cubicBezTo>
                  <a:pt x="213" y="302"/>
                  <a:pt x="214" y="298"/>
                  <a:pt x="216" y="295"/>
                </a:cubicBezTo>
                <a:cubicBezTo>
                  <a:pt x="216" y="295"/>
                  <a:pt x="216" y="294"/>
                  <a:pt x="216" y="293"/>
                </a:cubicBezTo>
                <a:cubicBezTo>
                  <a:pt x="217" y="290"/>
                  <a:pt x="218" y="287"/>
                  <a:pt x="219" y="283"/>
                </a:cubicBezTo>
                <a:cubicBezTo>
                  <a:pt x="219" y="283"/>
                  <a:pt x="219" y="282"/>
                  <a:pt x="219" y="282"/>
                </a:cubicBezTo>
                <a:cubicBezTo>
                  <a:pt x="220" y="278"/>
                  <a:pt x="220" y="274"/>
                  <a:pt x="220" y="270"/>
                </a:cubicBezTo>
                <a:cubicBezTo>
                  <a:pt x="220" y="267"/>
                  <a:pt x="220" y="264"/>
                  <a:pt x="220" y="261"/>
                </a:cubicBezTo>
                <a:cubicBezTo>
                  <a:pt x="219" y="260"/>
                  <a:pt x="219" y="259"/>
                  <a:pt x="219" y="258"/>
                </a:cubicBezTo>
                <a:cubicBezTo>
                  <a:pt x="219" y="255"/>
                  <a:pt x="218" y="253"/>
                  <a:pt x="217" y="250"/>
                </a:cubicBezTo>
                <a:cubicBezTo>
                  <a:pt x="217" y="250"/>
                  <a:pt x="217" y="250"/>
                  <a:pt x="217" y="249"/>
                </a:cubicBezTo>
                <a:cubicBezTo>
                  <a:pt x="216" y="247"/>
                  <a:pt x="215" y="244"/>
                  <a:pt x="214" y="241"/>
                </a:cubicBezTo>
                <a:cubicBezTo>
                  <a:pt x="214" y="240"/>
                  <a:pt x="213" y="240"/>
                  <a:pt x="213" y="239"/>
                </a:cubicBezTo>
                <a:cubicBezTo>
                  <a:pt x="212" y="237"/>
                  <a:pt x="210" y="234"/>
                  <a:pt x="209" y="231"/>
                </a:cubicBezTo>
                <a:lnTo>
                  <a:pt x="208" y="231"/>
                </a:lnTo>
                <a:cubicBezTo>
                  <a:pt x="207" y="229"/>
                  <a:pt x="205" y="226"/>
                  <a:pt x="203" y="224"/>
                </a:cubicBezTo>
                <a:cubicBezTo>
                  <a:pt x="203" y="224"/>
                  <a:pt x="202" y="223"/>
                  <a:pt x="202" y="223"/>
                </a:cubicBezTo>
                <a:cubicBezTo>
                  <a:pt x="200" y="221"/>
                  <a:pt x="198" y="219"/>
                  <a:pt x="195" y="217"/>
                </a:cubicBezTo>
                <a:cubicBezTo>
                  <a:pt x="195" y="217"/>
                  <a:pt x="195" y="217"/>
                  <a:pt x="195" y="217"/>
                </a:cubicBezTo>
                <a:cubicBezTo>
                  <a:pt x="193" y="215"/>
                  <a:pt x="190" y="213"/>
                  <a:pt x="188" y="211"/>
                </a:cubicBezTo>
                <a:cubicBezTo>
                  <a:pt x="187" y="211"/>
                  <a:pt x="187" y="211"/>
                  <a:pt x="186" y="210"/>
                </a:cubicBezTo>
                <a:cubicBezTo>
                  <a:pt x="184" y="209"/>
                  <a:pt x="181" y="208"/>
                  <a:pt x="179" y="206"/>
                </a:cubicBezTo>
                <a:cubicBezTo>
                  <a:pt x="179" y="206"/>
                  <a:pt x="178" y="206"/>
                  <a:pt x="178" y="206"/>
                </a:cubicBezTo>
                <a:cubicBezTo>
                  <a:pt x="170" y="202"/>
                  <a:pt x="160" y="200"/>
                  <a:pt x="150" y="200"/>
                </a:cubicBezTo>
                <a:cubicBezTo>
                  <a:pt x="112" y="200"/>
                  <a:pt x="81" y="232"/>
                  <a:pt x="81" y="270"/>
                </a:cubicBezTo>
                <a:cubicBezTo>
                  <a:pt x="81" y="309"/>
                  <a:pt x="112" y="340"/>
                  <a:pt x="150" y="340"/>
                </a:cubicBezTo>
                <a:close/>
              </a:path>
            </a:pathLst>
          </a:custGeom>
          <a:solidFill>
            <a:srgbClr val="6C8699"/>
          </a:solidFill>
          <a:ln>
            <a:noFill/>
          </a:ln>
          <a:extLst/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714480" y="5500702"/>
            <a:ext cx="928694" cy="1071570"/>
            <a:chOff x="1714480" y="5143512"/>
            <a:chExt cx="928694" cy="1071570"/>
          </a:xfrm>
        </p:grpSpPr>
        <p:sp>
          <p:nvSpPr>
            <p:cNvPr id="72" name="圆角矩形 71"/>
            <p:cNvSpPr/>
            <p:nvPr/>
          </p:nvSpPr>
          <p:spPr>
            <a:xfrm>
              <a:off x="1714480" y="5143512"/>
              <a:ext cx="928694" cy="1071570"/>
            </a:xfrm>
            <a:prstGeom prst="roundRect">
              <a:avLst>
                <a:gd name="adj" fmla="val 445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1808397" y="6006581"/>
              <a:ext cx="763339" cy="2085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数据监控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808397" y="5715016"/>
              <a:ext cx="763339" cy="2085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设备监控</a:t>
              </a:r>
              <a:endParaRPr lang="zh-CN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1732056" y="5214950"/>
              <a:ext cx="886598" cy="1620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监控管理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81" name="肘形连接符 53"/>
          <p:cNvCxnSpPr>
            <a:stCxn id="4" idx="2"/>
            <a:endCxn id="72" idx="1"/>
          </p:cNvCxnSpPr>
          <p:nvPr/>
        </p:nvCxnSpPr>
        <p:spPr>
          <a:xfrm rot="16200000" flipH="1">
            <a:off x="1267993" y="5589999"/>
            <a:ext cx="178595" cy="71438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肘形连接符 53"/>
          <p:cNvCxnSpPr>
            <a:stCxn id="67" idx="4"/>
            <a:endCxn id="36" idx="2"/>
          </p:cNvCxnSpPr>
          <p:nvPr/>
        </p:nvCxnSpPr>
        <p:spPr>
          <a:xfrm flipV="1">
            <a:off x="7858148" y="5572140"/>
            <a:ext cx="451124" cy="500066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1808397" y="5786454"/>
            <a:ext cx="763339" cy="20850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应用监控</a:t>
            </a:r>
            <a:endParaRPr lang="zh-CN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571736" y="3750603"/>
            <a:ext cx="1019206" cy="1784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在线客服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571736" y="3964917"/>
            <a:ext cx="1019206" cy="1784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0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自助服务</a:t>
            </a:r>
            <a:endParaRPr lang="zh-CN" altLang="en-US" sz="10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6500826" y="2795582"/>
            <a:ext cx="1000132" cy="1633550"/>
            <a:chOff x="7929586" y="4143380"/>
            <a:chExt cx="1000132" cy="1633550"/>
          </a:xfrm>
        </p:grpSpPr>
        <p:sp>
          <p:nvSpPr>
            <p:cNvPr id="91" name="圆角矩形 90"/>
            <p:cNvSpPr/>
            <p:nvPr/>
          </p:nvSpPr>
          <p:spPr>
            <a:xfrm>
              <a:off x="7929586" y="4143380"/>
              <a:ext cx="1000132" cy="1633550"/>
            </a:xfrm>
            <a:prstGeom prst="roundRect">
              <a:avLst>
                <a:gd name="adj" fmla="val 5981"/>
              </a:avLst>
            </a:prstGeom>
            <a:solidFill>
              <a:schemeClr val="accent1"/>
            </a:solidFill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8143900" y="4143380"/>
              <a:ext cx="7143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知识库</a:t>
              </a:r>
              <a:endParaRPr lang="zh-CN" altLang="en-US" sz="11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8072462" y="5500702"/>
              <a:ext cx="714380" cy="214314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知识提取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8072462" y="4429132"/>
              <a:ext cx="714380" cy="214314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故障字典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8072462" y="4964918"/>
              <a:ext cx="714380" cy="214314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诊断推理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8072462" y="5232811"/>
              <a:ext cx="714380" cy="214314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典型案例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8072462" y="4697025"/>
              <a:ext cx="714380" cy="214314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知识模型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6" name="下箭头 46"/>
          <p:cNvSpPr>
            <a:spLocks noChangeArrowheads="1"/>
          </p:cNvSpPr>
          <p:nvPr/>
        </p:nvSpPr>
        <p:spPr bwMode="auto">
          <a:xfrm rot="5400000">
            <a:off x="6197074" y="3444752"/>
            <a:ext cx="288000" cy="25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/>
          <a:lstStyle/>
          <a:p>
            <a:pPr marL="342900" indent="-342900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7" name="肘形连接符 106"/>
          <p:cNvCxnSpPr>
            <a:endCxn id="91" idx="2"/>
          </p:cNvCxnSpPr>
          <p:nvPr/>
        </p:nvCxnSpPr>
        <p:spPr>
          <a:xfrm rot="5400000" flipH="1" flipV="1">
            <a:off x="6322231" y="5107793"/>
            <a:ext cx="1357322" cy="158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圆角矩形 88"/>
          <p:cNvSpPr/>
          <p:nvPr/>
        </p:nvSpPr>
        <p:spPr>
          <a:xfrm>
            <a:off x="500034" y="2002488"/>
            <a:ext cx="1000132" cy="393414"/>
          </a:xfrm>
          <a:prstGeom prst="roundRect">
            <a:avLst>
              <a:gd name="adj" fmla="val 3768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资产与配置</a:t>
            </a:r>
          </a:p>
        </p:txBody>
      </p:sp>
      <p:sp>
        <p:nvSpPr>
          <p:cNvPr id="98" name="Text Box 14"/>
          <p:cNvSpPr txBox="1">
            <a:spLocks noChangeArrowheads="1"/>
          </p:cNvSpPr>
          <p:nvPr/>
        </p:nvSpPr>
        <p:spPr bwMode="auto">
          <a:xfrm>
            <a:off x="976640" y="5160134"/>
            <a:ext cx="452088" cy="269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1000" dirty="0" smtClean="0">
                <a:latin typeface="微软雅黑" pitchFamily="34" charset="-122"/>
                <a:ea typeface="微软雅黑" pitchFamily="34" charset="-122"/>
              </a:rPr>
              <a:t>数据</a:t>
            </a:r>
            <a:endParaRPr kumimoji="1" lang="en-US" altLang="zh-CN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流程图: 磁盘 99"/>
          <p:cNvSpPr/>
          <p:nvPr/>
        </p:nvSpPr>
        <p:spPr>
          <a:xfrm>
            <a:off x="642910" y="5072074"/>
            <a:ext cx="285752" cy="35719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7404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/>
              <a:t>配置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  <p:graphicFrame>
        <p:nvGraphicFramePr>
          <p:cNvPr id="82947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56666721"/>
              </p:ext>
            </p:extLst>
          </p:nvPr>
        </p:nvGraphicFramePr>
        <p:xfrm>
          <a:off x="467544" y="642918"/>
          <a:ext cx="7848871" cy="5978312"/>
        </p:xfrm>
        <a:graphic>
          <a:graphicData uri="http://schemas.openxmlformats.org/presentationml/2006/ole">
            <p:oleObj spid="_x0000_s83033" name="Visio" r:id="rId3" imgW="12651232" imgH="9635021" progId="Visio.Drawing.11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79665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/>
              <a:t>服务</a:t>
            </a:r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005998" y="1916831"/>
            <a:ext cx="1686720" cy="2817461"/>
          </a:xfrm>
          <a:prstGeom prst="rect">
            <a:avLst/>
          </a:prstGeom>
          <a:ln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algn="ctr">
              <a:defRPr sz="140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</a:defRPr>
            </a:lvl9pPr>
          </a:lstStyle>
          <a:p>
            <a:endParaRPr lang="zh-CN" altLang="en-US" sz="1600" dirty="0"/>
          </a:p>
          <a:p>
            <a:endParaRPr lang="zh-CN" altLang="en-US" sz="1600" dirty="0"/>
          </a:p>
        </p:txBody>
      </p:sp>
      <p:sp>
        <p:nvSpPr>
          <p:cNvPr id="4" name="圆角矩形 142"/>
          <p:cNvSpPr>
            <a:spLocks noChangeArrowheads="1"/>
          </p:cNvSpPr>
          <p:nvPr/>
        </p:nvSpPr>
        <p:spPr bwMode="auto">
          <a:xfrm>
            <a:off x="3341334" y="3059265"/>
            <a:ext cx="2949068" cy="1880810"/>
          </a:xfrm>
          <a:prstGeom prst="roundRect">
            <a:avLst>
              <a:gd name="adj" fmla="val 5473"/>
            </a:avLst>
          </a:prstGeom>
          <a:gradFill>
            <a:gsLst>
              <a:gs pos="0">
                <a:srgbClr val="FFB8A7">
                  <a:lumMod val="37000"/>
                  <a:lumOff val="63000"/>
                  <a:alpha val="29000"/>
                </a:srgbClr>
              </a:gs>
              <a:gs pos="35000">
                <a:srgbClr val="FFB8A7">
                  <a:lumMod val="28000"/>
                  <a:lumOff val="72000"/>
                </a:srgbClr>
              </a:gs>
              <a:gs pos="100000">
                <a:srgbClr val="FFB8A7">
                  <a:lumMod val="54000"/>
                  <a:lumOff val="46000"/>
                </a:srgbClr>
              </a:gs>
            </a:gsLst>
            <a:lin ang="16200000" scaled="1"/>
          </a:gradFill>
        </p:spPr>
        <p:txBody>
          <a:bodyPr wrap="square" rtlCol="0" anchor="t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服务目录</a:t>
            </a:r>
            <a:endParaRPr lang="zh-CN" altLang="en-US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141"/>
          <p:cNvSpPr>
            <a:spLocks noChangeArrowheads="1"/>
          </p:cNvSpPr>
          <p:nvPr/>
        </p:nvSpPr>
        <p:spPr bwMode="auto">
          <a:xfrm>
            <a:off x="456480" y="1529538"/>
            <a:ext cx="2243312" cy="1093860"/>
          </a:xfrm>
          <a:prstGeom prst="roundRect">
            <a:avLst>
              <a:gd name="adj" fmla="val 2401"/>
            </a:avLst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35000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solidFill>
              <a:schemeClr val="tx2">
                <a:lumMod val="40000"/>
                <a:lumOff val="6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 anchorCtr="0"/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1600" b="1" smtClean="0">
                <a:latin typeface="微软雅黑" pitchFamily="34" charset="-122"/>
                <a:ea typeface="微软雅黑" pitchFamily="34" charset="-122"/>
              </a:rPr>
              <a:t>SLA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目标</a:t>
            </a:r>
            <a:endParaRPr lang="zh-CN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7010227" y="1512577"/>
            <a:ext cx="1686721" cy="404254"/>
          </a:xfrm>
          <a:prstGeom prst="roundRect">
            <a:avLst/>
          </a:prstGeom>
          <a:ln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 anchorCtr="0"/>
          <a:lstStyle/>
          <a:p>
            <a:pPr algn="ctr">
              <a:lnSpc>
                <a:spcPct val="150000"/>
              </a:lnSpc>
            </a:pPr>
            <a:r>
              <a:rPr kumimoji="1"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endParaRPr kumimoji="1" lang="zh-CN" altLang="en-US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64288" y="2091377"/>
            <a:ext cx="1440000" cy="360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服务成本</a:t>
            </a:r>
            <a:endParaRPr lang="zh-CN" altLang="en-US" sz="12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" name="圆角矩形 142"/>
          <p:cNvSpPr>
            <a:spLocks noChangeArrowheads="1"/>
          </p:cNvSpPr>
          <p:nvPr/>
        </p:nvSpPr>
        <p:spPr bwMode="auto">
          <a:xfrm>
            <a:off x="3341334" y="1484783"/>
            <a:ext cx="2958858" cy="1138615"/>
          </a:xfrm>
          <a:prstGeom prst="roundRect">
            <a:avLst>
              <a:gd name="adj" fmla="val 13216"/>
            </a:avLst>
          </a:prstGeom>
          <a:gradFill>
            <a:gsLst>
              <a:gs pos="0">
                <a:srgbClr val="FFB8A7">
                  <a:lumMod val="37000"/>
                  <a:lumOff val="63000"/>
                  <a:alpha val="29000"/>
                </a:srgbClr>
              </a:gs>
              <a:gs pos="35000">
                <a:srgbClr val="FFB8A7">
                  <a:lumMod val="28000"/>
                  <a:lumOff val="72000"/>
                </a:srgbClr>
              </a:gs>
              <a:gs pos="100000">
                <a:srgbClr val="FFB8A7">
                  <a:lumMod val="54000"/>
                  <a:lumOff val="46000"/>
                </a:srgbClr>
              </a:gs>
            </a:gsLst>
            <a:lin ang="16200000" scaled="1"/>
          </a:gradFill>
        </p:spPr>
        <p:txBody>
          <a:bodyPr wrap="square" rtlCol="0" anchor="t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判断标准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7164288" y="2623398"/>
            <a:ext cx="1440000" cy="360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知识库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>
              <a:buClr>
                <a:schemeClr val="accent2"/>
              </a:buClr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(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结构化的知识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</a:t>
            </a:r>
            <a:endParaRPr lang="zh-CN" altLang="en-US" sz="12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164288" y="3155419"/>
            <a:ext cx="1440000" cy="360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体制与分工</a:t>
            </a:r>
            <a:endParaRPr lang="zh-CN" altLang="en-US" sz="12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7164288" y="4219461"/>
            <a:ext cx="1440000" cy="360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200" b="0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7164288" y="3687440"/>
            <a:ext cx="1440000" cy="360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lIns="18000" rIns="18000" anchor="ctr" anchorCtr="0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供应商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管理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buClr>
                <a:schemeClr val="accent2"/>
              </a:buClr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职责、服务内容等）</a:t>
            </a:r>
            <a:endParaRPr lang="zh-CN" altLang="en-US" sz="12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15" name="Rectangle 3"/>
          <p:cNvSpPr txBox="1">
            <a:spLocks noChangeArrowheads="1"/>
          </p:cNvSpPr>
          <p:nvPr/>
        </p:nvSpPr>
        <p:spPr>
          <a:xfrm>
            <a:off x="251520" y="620688"/>
            <a:ext cx="8640960" cy="864095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800" dirty="0"/>
              <a:t>服务目录是</a:t>
            </a:r>
            <a:r>
              <a:rPr lang="en-US" altLang="zh-CN" sz="1800" dirty="0"/>
              <a:t>IT</a:t>
            </a:r>
            <a:r>
              <a:rPr lang="zh-CN" altLang="en-US" sz="1800" dirty="0"/>
              <a:t>运维服务管理的核心</a:t>
            </a:r>
            <a:r>
              <a:rPr lang="zh-CN" altLang="en-US" sz="1800" dirty="0" smtClean="0"/>
              <a:t>。</a:t>
            </a:r>
            <a:r>
              <a:rPr lang="en-US" altLang="zh-CN" sz="1800" dirty="0" smtClean="0"/>
              <a:t>SLA</a:t>
            </a:r>
            <a:r>
              <a:rPr lang="zh-CN" altLang="en-US" sz="1800" dirty="0" smtClean="0"/>
              <a:t>指导建立</a:t>
            </a:r>
            <a:r>
              <a:rPr lang="zh-CN" altLang="en-US" sz="1800" dirty="0"/>
              <a:t>服务目录，而建立服务目录是为了实现</a:t>
            </a:r>
            <a:r>
              <a:rPr lang="en-US" altLang="zh-CN" sz="1800" dirty="0"/>
              <a:t>SLA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</p:txBody>
      </p:sp>
      <p:sp>
        <p:nvSpPr>
          <p:cNvPr id="116" name="矩形 115"/>
          <p:cNvSpPr/>
          <p:nvPr/>
        </p:nvSpPr>
        <p:spPr>
          <a:xfrm>
            <a:off x="3334216" y="1819336"/>
            <a:ext cx="172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1、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服务对象配置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判断</a:t>
            </a:r>
            <a:endParaRPr kumimoji="1"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服务质量目标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判断</a:t>
            </a:r>
            <a:endParaRPr kumimoji="1"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Rectangle 31"/>
          <p:cNvSpPr>
            <a:spLocks noChangeArrowheads="1"/>
          </p:cNvSpPr>
          <p:nvPr/>
        </p:nvSpPr>
        <p:spPr bwMode="auto">
          <a:xfrm>
            <a:off x="323528" y="4951644"/>
            <a:ext cx="8568952" cy="16457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indent="360000" eaLnBrk="0" fontAlgn="ctr" hangingPunct="0">
              <a:lnSpc>
                <a:spcPct val="110000"/>
              </a:lnSpc>
              <a:spcBef>
                <a:spcPct val="20000"/>
              </a:spcBef>
              <a:buClr>
                <a:srgbClr val="DA2421"/>
              </a:buClr>
            </a:pPr>
            <a:r>
              <a:rPr kumimoji="1" lang="zh-CN" altLang="en-US" sz="14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服务对象配置判断</a:t>
            </a:r>
            <a:r>
              <a:rPr kumimoji="1" lang="zh-CN" altLang="en-US" sz="1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对象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完整，分类正确，对象配置清单齐全，对象配置内容正确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完整。</a:t>
            </a:r>
            <a:endParaRPr kumimoji="1" lang="en-US" altLang="zh-CN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60000" eaLnBrk="0" fontAlgn="ctr" hangingPunct="0">
              <a:lnSpc>
                <a:spcPct val="110000"/>
              </a:lnSpc>
              <a:spcBef>
                <a:spcPct val="20000"/>
              </a:spcBef>
              <a:buClr>
                <a:srgbClr val="DA2421"/>
              </a:buClr>
            </a:pPr>
            <a:r>
              <a:rPr kumimoji="1" lang="zh-CN" altLang="en-US" sz="14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服务质量目标判断</a:t>
            </a:r>
            <a:r>
              <a:rPr kumimoji="1" lang="zh-CN" altLang="en-US" sz="1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指标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范围明确，计算公式正确，目标值设定合理且能够支撑达成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IS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和业务的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kumimoji="1" lang="en-US" altLang="zh-CN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60000" eaLnBrk="0" fontAlgn="ctr" hangingPunct="0">
              <a:lnSpc>
                <a:spcPct val="110000"/>
              </a:lnSpc>
              <a:spcBef>
                <a:spcPct val="20000"/>
              </a:spcBef>
              <a:buClr>
                <a:srgbClr val="DA2421"/>
              </a:buClr>
            </a:pPr>
            <a:r>
              <a:rPr kumimoji="1" lang="zh-CN" altLang="en-US" sz="14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服务目录判断</a:t>
            </a:r>
            <a:r>
              <a:rPr kumimoji="1" lang="zh-CN" altLang="en-US" sz="1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内容分类正确，分工正确，所需岗位与级别，技术手册完整，产出物完整，所需岗位完整，岗位对应的级别正确，频率与工时设计合理且能够达成服务质量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目标。</a:t>
            </a:r>
            <a:endParaRPr kumimoji="1" lang="en-US" altLang="zh-CN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360000" eaLnBrk="0" fontAlgn="ctr" hangingPunct="0">
              <a:lnSpc>
                <a:spcPct val="110000"/>
              </a:lnSpc>
              <a:spcBef>
                <a:spcPct val="20000"/>
              </a:spcBef>
              <a:buClr>
                <a:srgbClr val="DA2421"/>
              </a:buClr>
            </a:pPr>
            <a:r>
              <a:rPr kumimoji="1" lang="zh-CN" altLang="en-US" sz="14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运维体制判断</a:t>
            </a:r>
            <a:r>
              <a:rPr kumimoji="1" lang="zh-CN" altLang="en-US" sz="14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kumimoji="1"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体制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设定结构合理，组织完整，岗位完整，与服务目录保持一致，职责描述清楚明且职责与服务目录中的内容不冲突。</a:t>
            </a:r>
            <a:endParaRPr kumimoji="1" lang="en-US" altLang="zh-CN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3334216" y="3391832"/>
            <a:ext cx="29523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、服务对象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、服务分类、内容、目标、岗位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zh-CN" sz="1200" dirty="0" smtClean="0"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分工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4、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工具、技术手册、产出物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5、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服务时间、服务频次</a:t>
            </a:r>
            <a:endParaRPr lang="zh-CN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949455" y="1819269"/>
            <a:ext cx="1337089" cy="647421"/>
          </a:xfrm>
          <a:prstGeom prst="rect">
            <a:avLst/>
          </a:prstGeom>
        </p:spPr>
        <p:txBody>
          <a:bodyPr wrap="square" lIns="0" tIns="46800" rIns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3、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服务目录判断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4、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运维体制判断</a:t>
            </a:r>
          </a:p>
        </p:txBody>
      </p:sp>
      <p:sp>
        <p:nvSpPr>
          <p:cNvPr id="60" name="圆角矩形 142"/>
          <p:cNvSpPr>
            <a:spLocks noChangeArrowheads="1"/>
          </p:cNvSpPr>
          <p:nvPr/>
        </p:nvSpPr>
        <p:spPr bwMode="auto">
          <a:xfrm>
            <a:off x="456480" y="3070834"/>
            <a:ext cx="2243312" cy="1880810"/>
          </a:xfrm>
          <a:prstGeom prst="roundRect">
            <a:avLst>
              <a:gd name="adj" fmla="val 5473"/>
            </a:avLst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35000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solidFill>
              <a:schemeClr val="tx2">
                <a:lumMod val="40000"/>
                <a:lumOff val="6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t" anchorCtr="0"/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</a:rPr>
              <a:t>设计</a:t>
            </a:r>
            <a:endParaRPr lang="zh-CN" altLang="en-US" sz="1600" b="1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62072" y="3474316"/>
            <a:ext cx="2237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、分析服务对象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2、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确定岗位职责和人员分工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3、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明确工作内容和工作方式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4、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完善作业指导和操作规范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zh-CN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Freeform 9"/>
          <p:cNvSpPr>
            <a:spLocks/>
          </p:cNvSpPr>
          <p:nvPr/>
        </p:nvSpPr>
        <p:spPr bwMode="auto">
          <a:xfrm rot="5400000">
            <a:off x="1292391" y="2418603"/>
            <a:ext cx="440345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指导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Freeform 9"/>
          <p:cNvSpPr>
            <a:spLocks/>
          </p:cNvSpPr>
          <p:nvPr/>
        </p:nvSpPr>
        <p:spPr bwMode="auto">
          <a:xfrm rot="5400000">
            <a:off x="4623691" y="2424545"/>
            <a:ext cx="440344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标准</a:t>
            </a:r>
          </a:p>
        </p:txBody>
      </p:sp>
      <p:sp>
        <p:nvSpPr>
          <p:cNvPr id="68" name="Freeform 9"/>
          <p:cNvSpPr>
            <a:spLocks/>
          </p:cNvSpPr>
          <p:nvPr/>
        </p:nvSpPr>
        <p:spPr bwMode="auto">
          <a:xfrm>
            <a:off x="6444208" y="3250759"/>
            <a:ext cx="440344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anchor="ctr"/>
          <a:lstStyle/>
          <a:p>
            <a:pPr algn="ctr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应用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Freeform 9"/>
          <p:cNvSpPr>
            <a:spLocks/>
          </p:cNvSpPr>
          <p:nvPr/>
        </p:nvSpPr>
        <p:spPr bwMode="auto">
          <a:xfrm>
            <a:off x="2790924" y="3641551"/>
            <a:ext cx="440344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anchor="ctr"/>
          <a:lstStyle/>
          <a:p>
            <a:pPr algn="ctr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设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计</a:t>
            </a:r>
          </a:p>
        </p:txBody>
      </p:sp>
      <p:sp>
        <p:nvSpPr>
          <p:cNvPr id="70" name="Freeform 9"/>
          <p:cNvSpPr>
            <a:spLocks/>
          </p:cNvSpPr>
          <p:nvPr/>
        </p:nvSpPr>
        <p:spPr bwMode="auto">
          <a:xfrm rot="13679712">
            <a:off x="2804126" y="2336297"/>
            <a:ext cx="579076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vert" wrap="none" lIns="0" tIns="0" rIns="0" bIns="0" anchor="ctr"/>
          <a:lstStyle/>
          <a:p>
            <a:pPr algn="ctr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实现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8170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知识库</a:t>
            </a:r>
            <a:endParaRPr lang="zh-CN" altLang="en-US" dirty="0"/>
          </a:p>
        </p:txBody>
      </p:sp>
      <p:sp>
        <p:nvSpPr>
          <p:cNvPr id="252" name="Text Box 3"/>
          <p:cNvSpPr txBox="1">
            <a:spLocks noChangeArrowheads="1"/>
          </p:cNvSpPr>
          <p:nvPr/>
        </p:nvSpPr>
        <p:spPr bwMode="auto">
          <a:xfrm>
            <a:off x="7005998" y="2038134"/>
            <a:ext cx="1686720" cy="2817461"/>
          </a:xfrm>
          <a:prstGeom prst="rect">
            <a:avLst/>
          </a:prstGeom>
          <a:ln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algn="ctr">
              <a:defRPr sz="140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</a:defRPr>
            </a:lvl9pPr>
          </a:lstStyle>
          <a:p>
            <a:endParaRPr lang="zh-CN" altLang="en-US" sz="1600" dirty="0"/>
          </a:p>
          <a:p>
            <a:endParaRPr lang="zh-CN" altLang="en-US" sz="1600" dirty="0"/>
          </a:p>
        </p:txBody>
      </p:sp>
      <p:sp>
        <p:nvSpPr>
          <p:cNvPr id="253" name="圆角矩形 142"/>
          <p:cNvSpPr>
            <a:spLocks noChangeArrowheads="1"/>
          </p:cNvSpPr>
          <p:nvPr/>
        </p:nvSpPr>
        <p:spPr bwMode="auto">
          <a:xfrm>
            <a:off x="3443049" y="3180568"/>
            <a:ext cx="2564207" cy="1675027"/>
          </a:xfrm>
          <a:prstGeom prst="roundRect">
            <a:avLst>
              <a:gd name="adj" fmla="val 5473"/>
            </a:avLst>
          </a:prstGeom>
          <a:gradFill>
            <a:gsLst>
              <a:gs pos="0">
                <a:srgbClr val="FFB8A7">
                  <a:lumMod val="37000"/>
                  <a:lumOff val="63000"/>
                  <a:alpha val="29000"/>
                </a:srgbClr>
              </a:gs>
              <a:gs pos="35000">
                <a:srgbClr val="FFB8A7">
                  <a:lumMod val="28000"/>
                  <a:lumOff val="72000"/>
                </a:srgbClr>
              </a:gs>
              <a:gs pos="100000">
                <a:srgbClr val="FFB8A7">
                  <a:lumMod val="54000"/>
                  <a:lumOff val="46000"/>
                </a:srgbClr>
              </a:gs>
            </a:gsLst>
            <a:lin ang="16200000" scaled="1"/>
          </a:gradFill>
        </p:spPr>
        <p:txBody>
          <a:bodyPr wrap="square" rtlCol="0" anchor="t" anchorCtr="0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知识库</a:t>
            </a:r>
          </a:p>
        </p:txBody>
      </p:sp>
      <p:sp>
        <p:nvSpPr>
          <p:cNvPr id="254" name="圆角矩形 141"/>
          <p:cNvSpPr>
            <a:spLocks noChangeArrowheads="1"/>
          </p:cNvSpPr>
          <p:nvPr/>
        </p:nvSpPr>
        <p:spPr bwMode="auto">
          <a:xfrm>
            <a:off x="312465" y="1606087"/>
            <a:ext cx="2243311" cy="3249509"/>
          </a:xfrm>
          <a:prstGeom prst="roundRect">
            <a:avLst>
              <a:gd name="adj" fmla="val 2401"/>
            </a:avLst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35000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solidFill>
              <a:schemeClr val="tx2">
                <a:lumMod val="40000"/>
                <a:lumOff val="6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t" anchorCtr="0"/>
          <a:lstStyle/>
          <a:p>
            <a:pPr algn="ctr">
              <a:lnSpc>
                <a:spcPct val="15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来源</a:t>
            </a:r>
          </a:p>
        </p:txBody>
      </p:sp>
      <p:sp>
        <p:nvSpPr>
          <p:cNvPr id="256" name="矩形 141"/>
          <p:cNvSpPr>
            <a:spLocks noChangeArrowheads="1"/>
          </p:cNvSpPr>
          <p:nvPr/>
        </p:nvSpPr>
        <p:spPr bwMode="auto">
          <a:xfrm>
            <a:off x="323528" y="1988840"/>
            <a:ext cx="2232248" cy="2821534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1、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项目移转：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项目转运维的交付产物，如软件开发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文档、网络拓扑图等技术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资料；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、技术手册：</a:t>
            </a: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服务目录中服务活动相关的规范、标准、指导的相关技术手册；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1200" b="1" dirty="0">
                <a:latin typeface="微软雅黑" pitchFamily="34" charset="-122"/>
                <a:ea typeface="微软雅黑" pitchFamily="34" charset="-122"/>
              </a:rPr>
              <a:t>3、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运维经验：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zh-CN" sz="1200" dirty="0">
                <a:latin typeface="微软雅黑" pitchFamily="34" charset="-122"/>
                <a:ea typeface="微软雅黑" pitchFamily="34" charset="-122"/>
              </a:rPr>
              <a:t>运维过程中产生</a:t>
            </a:r>
            <a:r>
              <a:rPr lang="zh-CN" altLang="zh-CN" sz="1200" dirty="0" smtClean="0">
                <a:latin typeface="微软雅黑" pitchFamily="34" charset="-122"/>
                <a:ea typeface="微软雅黑" pitchFamily="34" charset="-122"/>
              </a:rPr>
              <a:t>的事件和</a:t>
            </a:r>
            <a:r>
              <a:rPr lang="zh-CN" altLang="zh-CN" sz="1200" dirty="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zh-CN" sz="12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1200" dirty="0">
                <a:latin typeface="微软雅黑" pitchFamily="34" charset="-122"/>
                <a:ea typeface="微软雅黑" pitchFamily="34" charset="-122"/>
              </a:rPr>
              <a:t>解决方案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的提炼。</a:t>
            </a:r>
            <a:endParaRPr lang="zh-CN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" name="矩形 182"/>
          <p:cNvSpPr>
            <a:spLocks noChangeArrowheads="1"/>
          </p:cNvSpPr>
          <p:nvPr/>
        </p:nvSpPr>
        <p:spPr bwMode="auto">
          <a:xfrm>
            <a:off x="6165635" y="3281472"/>
            <a:ext cx="691008" cy="310357"/>
          </a:xfrm>
          <a:prstGeom prst="rect">
            <a:avLst/>
          </a:prstGeom>
          <a:solidFill>
            <a:srgbClr val="FFFFFF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7" name="圆角矩形 336"/>
          <p:cNvSpPr/>
          <p:nvPr/>
        </p:nvSpPr>
        <p:spPr bwMode="auto">
          <a:xfrm>
            <a:off x="7010227" y="1633880"/>
            <a:ext cx="1686721" cy="404254"/>
          </a:xfrm>
          <a:prstGeom prst="roundRect">
            <a:avLst/>
          </a:prstGeom>
          <a:ln>
            <a:headEnd/>
            <a:tailEnd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 anchorCtr="0"/>
          <a:lstStyle/>
          <a:p>
            <a:pPr algn="ctr">
              <a:lnSpc>
                <a:spcPct val="150000"/>
              </a:lnSpc>
            </a:pPr>
            <a:r>
              <a:rPr kumimoji="1"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endParaRPr kumimoji="1" lang="zh-CN" altLang="en-US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8" name="矩形 337"/>
          <p:cNvSpPr/>
          <p:nvPr/>
        </p:nvSpPr>
        <p:spPr>
          <a:xfrm>
            <a:off x="7201658" y="2212682"/>
            <a:ext cx="1295400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知识分享</a:t>
            </a:r>
          </a:p>
        </p:txBody>
      </p:sp>
      <p:sp>
        <p:nvSpPr>
          <p:cNvPr id="339" name="圆角矩形 142"/>
          <p:cNvSpPr>
            <a:spLocks noChangeArrowheads="1"/>
          </p:cNvSpPr>
          <p:nvPr/>
        </p:nvSpPr>
        <p:spPr bwMode="auto">
          <a:xfrm>
            <a:off x="3393507" y="1606086"/>
            <a:ext cx="2618653" cy="1238176"/>
          </a:xfrm>
          <a:prstGeom prst="roundRect">
            <a:avLst>
              <a:gd name="adj" fmla="val 13216"/>
            </a:avLst>
          </a:prstGeom>
          <a:gradFill>
            <a:gsLst>
              <a:gs pos="0">
                <a:srgbClr val="FFB8A7">
                  <a:lumMod val="37000"/>
                  <a:lumOff val="63000"/>
                  <a:alpha val="29000"/>
                </a:srgbClr>
              </a:gs>
              <a:gs pos="35000">
                <a:srgbClr val="FFB8A7">
                  <a:lumMod val="28000"/>
                  <a:lumOff val="72000"/>
                </a:srgbClr>
              </a:gs>
              <a:gs pos="100000">
                <a:srgbClr val="FFB8A7">
                  <a:lumMod val="54000"/>
                  <a:lumOff val="46000"/>
                </a:srgbClr>
              </a:gs>
            </a:gsLst>
            <a:lin ang="16200000" scaled="1"/>
          </a:gradFill>
        </p:spPr>
        <p:txBody>
          <a:bodyPr wrap="square" rtlCol="0" anchor="t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判断标准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4"/>
          <p:cNvGrpSpPr/>
          <p:nvPr/>
        </p:nvGrpSpPr>
        <p:grpSpPr>
          <a:xfrm>
            <a:off x="2699792" y="2758509"/>
            <a:ext cx="693715" cy="1792287"/>
            <a:chOff x="2987824" y="2758509"/>
            <a:chExt cx="693715" cy="1792287"/>
          </a:xfrm>
        </p:grpSpPr>
        <p:sp>
          <p:nvSpPr>
            <p:cNvPr id="340" name="矩形 147"/>
            <p:cNvSpPr>
              <a:spLocks noChangeArrowheads="1"/>
            </p:cNvSpPr>
            <p:nvPr/>
          </p:nvSpPr>
          <p:spPr bwMode="auto">
            <a:xfrm>
              <a:off x="3252217" y="3275518"/>
              <a:ext cx="185990" cy="679854"/>
            </a:xfrm>
            <a:prstGeom prst="rect">
              <a:avLst/>
            </a:prstGeom>
            <a:noFill/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1000" dirty="0" smtClean="0">
                  <a:latin typeface="微软雅黑" pitchFamily="34" charset="-122"/>
                  <a:ea typeface="微软雅黑" pitchFamily="34" charset="-122"/>
                </a:rPr>
                <a:t>知库创建</a:t>
              </a:r>
              <a:endParaRPr lang="en-US" altLang="zh-CN" sz="10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" name="组合 340"/>
            <p:cNvGrpSpPr/>
            <p:nvPr/>
          </p:nvGrpSpPr>
          <p:grpSpPr>
            <a:xfrm rot="5400000">
              <a:off x="2438538" y="3307795"/>
              <a:ext cx="1792287" cy="693715"/>
              <a:chOff x="2061213" y="3774000"/>
              <a:chExt cx="1792287" cy="693715"/>
            </a:xfrm>
          </p:grpSpPr>
          <p:grpSp>
            <p:nvGrpSpPr>
              <p:cNvPr id="8" name="Group 5"/>
              <p:cNvGrpSpPr>
                <a:grpSpLocks/>
              </p:cNvGrpSpPr>
              <p:nvPr/>
            </p:nvGrpSpPr>
            <p:grpSpPr bwMode="auto">
              <a:xfrm rot="10800000">
                <a:off x="2061213" y="3986590"/>
                <a:ext cx="1792287" cy="481125"/>
                <a:chOff x="3096" y="1531"/>
                <a:chExt cx="1223" cy="430"/>
              </a:xfrm>
            </p:grpSpPr>
            <p:sp>
              <p:nvSpPr>
                <p:cNvPr id="350" name="Freeform 6"/>
                <p:cNvSpPr>
                  <a:spLocks/>
                </p:cNvSpPr>
                <p:nvPr/>
              </p:nvSpPr>
              <p:spPr bwMode="auto">
                <a:xfrm>
                  <a:off x="3096" y="1639"/>
                  <a:ext cx="479" cy="322"/>
                </a:xfrm>
                <a:custGeom>
                  <a:avLst/>
                  <a:gdLst>
                    <a:gd name="T0" fmla="*/ 0 w 1195"/>
                    <a:gd name="T1" fmla="*/ 0 h 804"/>
                    <a:gd name="T2" fmla="*/ 36 w 1195"/>
                    <a:gd name="T3" fmla="*/ 0 h 804"/>
                    <a:gd name="T4" fmla="*/ 165 w 1195"/>
                    <a:gd name="T5" fmla="*/ 129 h 804"/>
                    <a:gd name="T6" fmla="*/ 192 w 1195"/>
                    <a:gd name="T7" fmla="*/ 129 h 80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5"/>
                    <a:gd name="T13" fmla="*/ 0 h 804"/>
                    <a:gd name="T14" fmla="*/ 1195 w 1195"/>
                    <a:gd name="T15" fmla="*/ 804 h 80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5" h="804">
                      <a:moveTo>
                        <a:pt x="0" y="0"/>
                      </a:moveTo>
                      <a:lnTo>
                        <a:pt x="225" y="0"/>
                      </a:lnTo>
                      <a:lnTo>
                        <a:pt x="1029" y="804"/>
                      </a:lnTo>
                      <a:lnTo>
                        <a:pt x="1195" y="804"/>
                      </a:lnTo>
                    </a:path>
                  </a:pathLst>
                </a:custGeom>
                <a:noFill/>
                <a:ln w="22225" cap="flat" cmpd="sng">
                  <a:solidFill>
                    <a:srgbClr val="0070C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51" name="Freeform 7"/>
                <p:cNvSpPr>
                  <a:spLocks/>
                </p:cNvSpPr>
                <p:nvPr/>
              </p:nvSpPr>
              <p:spPr bwMode="auto">
                <a:xfrm flipV="1">
                  <a:off x="3840" y="1639"/>
                  <a:ext cx="479" cy="322"/>
                </a:xfrm>
                <a:custGeom>
                  <a:avLst/>
                  <a:gdLst>
                    <a:gd name="T0" fmla="*/ 0 w 1195"/>
                    <a:gd name="T1" fmla="*/ 0 h 804"/>
                    <a:gd name="T2" fmla="*/ 36 w 1195"/>
                    <a:gd name="T3" fmla="*/ 0 h 804"/>
                    <a:gd name="T4" fmla="*/ 165 w 1195"/>
                    <a:gd name="T5" fmla="*/ 129 h 804"/>
                    <a:gd name="T6" fmla="*/ 192 w 1195"/>
                    <a:gd name="T7" fmla="*/ 129 h 80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5"/>
                    <a:gd name="T13" fmla="*/ 0 h 804"/>
                    <a:gd name="T14" fmla="*/ 1195 w 1195"/>
                    <a:gd name="T15" fmla="*/ 804 h 80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5" h="804">
                      <a:moveTo>
                        <a:pt x="0" y="0"/>
                      </a:moveTo>
                      <a:lnTo>
                        <a:pt x="225" y="0"/>
                      </a:lnTo>
                      <a:lnTo>
                        <a:pt x="1029" y="804"/>
                      </a:lnTo>
                      <a:lnTo>
                        <a:pt x="1195" y="804"/>
                      </a:lnTo>
                    </a:path>
                  </a:pathLst>
                </a:custGeom>
                <a:noFill/>
                <a:ln w="22225" cap="flat" cmpd="sng">
                  <a:solidFill>
                    <a:srgbClr val="0070C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52" name="Line 8"/>
                <p:cNvSpPr>
                  <a:spLocks noChangeShapeType="1"/>
                </p:cNvSpPr>
                <p:nvPr/>
              </p:nvSpPr>
              <p:spPr bwMode="auto">
                <a:xfrm>
                  <a:off x="3583" y="1961"/>
                  <a:ext cx="245" cy="0"/>
                </a:xfrm>
                <a:prstGeom prst="line">
                  <a:avLst/>
                </a:prstGeom>
                <a:noFill/>
                <a:ln w="22225">
                  <a:solidFill>
                    <a:srgbClr val="0070C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53" name="Freeform 9"/>
                <p:cNvSpPr>
                  <a:spLocks/>
                </p:cNvSpPr>
                <p:nvPr/>
              </p:nvSpPr>
              <p:spPr bwMode="auto">
                <a:xfrm rot="5400000">
                  <a:off x="3591" y="1331"/>
                  <a:ext cx="240" cy="640"/>
                </a:xfrm>
                <a:custGeom>
                  <a:avLst/>
                  <a:gdLst>
                    <a:gd name="T0" fmla="*/ 0 w 240"/>
                    <a:gd name="T1" fmla="*/ 753 h 136"/>
                    <a:gd name="T2" fmla="*/ 110 w 240"/>
                    <a:gd name="T3" fmla="*/ 753 h 136"/>
                    <a:gd name="T4" fmla="*/ 110 w 240"/>
                    <a:gd name="T5" fmla="*/ 0 h 136"/>
                    <a:gd name="T6" fmla="*/ 240 w 240"/>
                    <a:gd name="T7" fmla="*/ 1506 h 136"/>
                    <a:gd name="T8" fmla="*/ 106 w 240"/>
                    <a:gd name="T9" fmla="*/ 3012 h 136"/>
                    <a:gd name="T10" fmla="*/ 106 w 240"/>
                    <a:gd name="T11" fmla="*/ 2259 h 136"/>
                    <a:gd name="T12" fmla="*/ 2 w 240"/>
                    <a:gd name="T13" fmla="*/ 2259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40"/>
                    <a:gd name="T22" fmla="*/ 0 h 136"/>
                    <a:gd name="T23" fmla="*/ 240 w 24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40" h="136">
                      <a:moveTo>
                        <a:pt x="0" y="34"/>
                      </a:moveTo>
                      <a:lnTo>
                        <a:pt x="110" y="34"/>
                      </a:lnTo>
                      <a:lnTo>
                        <a:pt x="110" y="0"/>
                      </a:lnTo>
                      <a:lnTo>
                        <a:pt x="240" y="68"/>
                      </a:lnTo>
                      <a:lnTo>
                        <a:pt x="106" y="136"/>
                      </a:lnTo>
                      <a:lnTo>
                        <a:pt x="106" y="102"/>
                      </a:lnTo>
                      <a:lnTo>
                        <a:pt x="2" y="102"/>
                      </a:lnTo>
                    </a:path>
                  </a:pathLst>
                </a:custGeom>
                <a:noFill/>
                <a:ln w="22225" cap="flat" cmpd="sng">
                  <a:solidFill>
                    <a:srgbClr val="0070C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9" name="Group 31"/>
              <p:cNvGrpSpPr>
                <a:grpSpLocks/>
              </p:cNvGrpSpPr>
              <p:nvPr/>
            </p:nvGrpSpPr>
            <p:grpSpPr bwMode="auto">
              <a:xfrm rot="10800000">
                <a:off x="2769238" y="3774000"/>
                <a:ext cx="374650" cy="167834"/>
                <a:chOff x="2990" y="2144"/>
                <a:chExt cx="744" cy="606"/>
              </a:xfrm>
            </p:grpSpPr>
            <p:sp>
              <p:nvSpPr>
                <p:cNvPr id="344" name="Line 32"/>
                <p:cNvSpPr>
                  <a:spLocks noChangeShapeType="1"/>
                </p:cNvSpPr>
                <p:nvPr/>
              </p:nvSpPr>
              <p:spPr bwMode="auto">
                <a:xfrm>
                  <a:off x="2990" y="2144"/>
                  <a:ext cx="0" cy="606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5" name="Line 33"/>
                <p:cNvSpPr>
                  <a:spLocks noChangeShapeType="1"/>
                </p:cNvSpPr>
                <p:nvPr/>
              </p:nvSpPr>
              <p:spPr bwMode="auto">
                <a:xfrm>
                  <a:off x="3138" y="2144"/>
                  <a:ext cx="0" cy="606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6" name="Line 34"/>
                <p:cNvSpPr>
                  <a:spLocks noChangeShapeType="1"/>
                </p:cNvSpPr>
                <p:nvPr/>
              </p:nvSpPr>
              <p:spPr bwMode="auto">
                <a:xfrm>
                  <a:off x="3287" y="2144"/>
                  <a:ext cx="0" cy="606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7" name="Line 35"/>
                <p:cNvSpPr>
                  <a:spLocks noChangeShapeType="1"/>
                </p:cNvSpPr>
                <p:nvPr/>
              </p:nvSpPr>
              <p:spPr bwMode="auto">
                <a:xfrm>
                  <a:off x="3436" y="2144"/>
                  <a:ext cx="0" cy="606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8" name="Line 36"/>
                <p:cNvSpPr>
                  <a:spLocks noChangeShapeType="1"/>
                </p:cNvSpPr>
                <p:nvPr/>
              </p:nvSpPr>
              <p:spPr bwMode="auto">
                <a:xfrm>
                  <a:off x="3585" y="2144"/>
                  <a:ext cx="0" cy="606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9" name="Line 37"/>
                <p:cNvSpPr>
                  <a:spLocks noChangeShapeType="1"/>
                </p:cNvSpPr>
                <p:nvPr/>
              </p:nvSpPr>
              <p:spPr bwMode="auto">
                <a:xfrm>
                  <a:off x="3734" y="2144"/>
                  <a:ext cx="0" cy="606"/>
                </a:xfrm>
                <a:prstGeom prst="line">
                  <a:avLst/>
                </a:prstGeom>
                <a:noFill/>
                <a:ln w="9525">
                  <a:solidFill>
                    <a:srgbClr val="0070C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</p:grpSp>
      <p:sp>
        <p:nvSpPr>
          <p:cNvPr id="354" name="Freeform 9"/>
          <p:cNvSpPr>
            <a:spLocks/>
          </p:cNvSpPr>
          <p:nvPr/>
        </p:nvSpPr>
        <p:spPr bwMode="auto">
          <a:xfrm rot="5400000">
            <a:off x="4559326" y="2587039"/>
            <a:ext cx="268535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5" name="Freeform 9"/>
          <p:cNvSpPr>
            <a:spLocks/>
          </p:cNvSpPr>
          <p:nvPr/>
        </p:nvSpPr>
        <p:spPr bwMode="auto">
          <a:xfrm>
            <a:off x="6132537" y="3067154"/>
            <a:ext cx="873461" cy="937910"/>
          </a:xfrm>
          <a:custGeom>
            <a:avLst/>
            <a:gdLst>
              <a:gd name="T0" fmla="*/ 0 w 240"/>
              <a:gd name="T1" fmla="*/ 753 h 136"/>
              <a:gd name="T2" fmla="*/ 110 w 240"/>
              <a:gd name="T3" fmla="*/ 753 h 136"/>
              <a:gd name="T4" fmla="*/ 110 w 240"/>
              <a:gd name="T5" fmla="*/ 0 h 136"/>
              <a:gd name="T6" fmla="*/ 240 w 240"/>
              <a:gd name="T7" fmla="*/ 1506 h 136"/>
              <a:gd name="T8" fmla="*/ 106 w 240"/>
              <a:gd name="T9" fmla="*/ 3012 h 136"/>
              <a:gd name="T10" fmla="*/ 106 w 240"/>
              <a:gd name="T11" fmla="*/ 2259 h 136"/>
              <a:gd name="T12" fmla="*/ 2 w 240"/>
              <a:gd name="T13" fmla="*/ 2259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"/>
              <a:gd name="T22" fmla="*/ 0 h 136"/>
              <a:gd name="T23" fmla="*/ 240 w 240"/>
              <a:gd name="T24" fmla="*/ 136 h 1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" h="136">
                <a:moveTo>
                  <a:pt x="0" y="34"/>
                </a:moveTo>
                <a:lnTo>
                  <a:pt x="110" y="34"/>
                </a:lnTo>
                <a:lnTo>
                  <a:pt x="110" y="0"/>
                </a:lnTo>
                <a:lnTo>
                  <a:pt x="240" y="68"/>
                </a:lnTo>
                <a:lnTo>
                  <a:pt x="106" y="136"/>
                </a:lnTo>
                <a:lnTo>
                  <a:pt x="106" y="102"/>
                </a:lnTo>
                <a:lnTo>
                  <a:pt x="2" y="102"/>
                </a:lnTo>
              </a:path>
            </a:pathLst>
          </a:custGeom>
          <a:noFill/>
          <a:ln w="22225" cap="flat" cmpd="sng">
            <a:solidFill>
              <a:srgbClr val="007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3"/>
          <p:cNvGrpSpPr/>
          <p:nvPr/>
        </p:nvGrpSpPr>
        <p:grpSpPr>
          <a:xfrm>
            <a:off x="6154559" y="3340348"/>
            <a:ext cx="1017588" cy="520700"/>
            <a:chOff x="6334919" y="2514196"/>
            <a:chExt cx="1017588" cy="520700"/>
          </a:xfrm>
        </p:grpSpPr>
        <p:sp>
          <p:nvSpPr>
            <p:cNvPr id="260" name="TextBox 183"/>
            <p:cNvSpPr txBox="1">
              <a:spLocks noChangeArrowheads="1"/>
            </p:cNvSpPr>
            <p:nvPr/>
          </p:nvSpPr>
          <p:spPr bwMode="auto">
            <a:xfrm>
              <a:off x="6487319" y="2514196"/>
              <a:ext cx="865188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000" dirty="0" smtClean="0">
                  <a:latin typeface="微软雅黑" pitchFamily="34" charset="-122"/>
                  <a:ea typeface="微软雅黑" pitchFamily="34" charset="-122"/>
                </a:rPr>
                <a:t>互联网</a:t>
              </a:r>
              <a:endParaRPr lang="zh-CN" altLang="en-US" sz="1000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1" name="Group 4"/>
            <p:cNvGrpSpPr>
              <a:grpSpLocks noChangeAspect="1"/>
            </p:cNvGrpSpPr>
            <p:nvPr/>
          </p:nvGrpSpPr>
          <p:grpSpPr bwMode="auto">
            <a:xfrm>
              <a:off x="6334919" y="2760259"/>
              <a:ext cx="210017" cy="274637"/>
              <a:chOff x="3914" y="2077"/>
              <a:chExt cx="169" cy="221"/>
            </a:xfrm>
          </p:grpSpPr>
          <p:sp>
            <p:nvSpPr>
              <p:cNvPr id="262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914" y="2077"/>
                <a:ext cx="169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3" name="Freeform 5"/>
              <p:cNvSpPr>
                <a:spLocks/>
              </p:cNvSpPr>
              <p:nvPr/>
            </p:nvSpPr>
            <p:spPr bwMode="auto">
              <a:xfrm>
                <a:off x="3977" y="2077"/>
                <a:ext cx="106" cy="221"/>
              </a:xfrm>
              <a:custGeom>
                <a:avLst/>
                <a:gdLst>
                  <a:gd name="T0" fmla="*/ 934 w 7769"/>
                  <a:gd name="T1" fmla="*/ 120 h 16133"/>
                  <a:gd name="T2" fmla="*/ 1019 w 7769"/>
                  <a:gd name="T3" fmla="*/ 67 h 16133"/>
                  <a:gd name="T4" fmla="*/ 1111 w 7769"/>
                  <a:gd name="T5" fmla="*/ 28 h 16133"/>
                  <a:gd name="T6" fmla="*/ 1223 w 7769"/>
                  <a:gd name="T7" fmla="*/ 4 h 16133"/>
                  <a:gd name="T8" fmla="*/ 1357 w 7769"/>
                  <a:gd name="T9" fmla="*/ 3 h 16133"/>
                  <a:gd name="T10" fmla="*/ 1510 w 7769"/>
                  <a:gd name="T11" fmla="*/ 33 h 16133"/>
                  <a:gd name="T12" fmla="*/ 1823 w 7769"/>
                  <a:gd name="T13" fmla="*/ 133 h 16133"/>
                  <a:gd name="T14" fmla="*/ 2374 w 7769"/>
                  <a:gd name="T15" fmla="*/ 327 h 16133"/>
                  <a:gd name="T16" fmla="*/ 3144 w 7769"/>
                  <a:gd name="T17" fmla="*/ 634 h 16133"/>
                  <a:gd name="T18" fmla="*/ 4063 w 7769"/>
                  <a:gd name="T19" fmla="*/ 1058 h 16133"/>
                  <a:gd name="T20" fmla="*/ 5058 w 7769"/>
                  <a:gd name="T21" fmla="*/ 1599 h 16133"/>
                  <a:gd name="T22" fmla="*/ 6059 w 7769"/>
                  <a:gd name="T23" fmla="*/ 2261 h 16133"/>
                  <a:gd name="T24" fmla="*/ 6996 w 7769"/>
                  <a:gd name="T25" fmla="*/ 3044 h 16133"/>
                  <a:gd name="T26" fmla="*/ 7620 w 7769"/>
                  <a:gd name="T27" fmla="*/ 3723 h 16133"/>
                  <a:gd name="T28" fmla="*/ 7687 w 7769"/>
                  <a:gd name="T29" fmla="*/ 3837 h 16133"/>
                  <a:gd name="T30" fmla="*/ 7727 w 7769"/>
                  <a:gd name="T31" fmla="*/ 3939 h 16133"/>
                  <a:gd name="T32" fmla="*/ 7752 w 7769"/>
                  <a:gd name="T33" fmla="*/ 4043 h 16133"/>
                  <a:gd name="T34" fmla="*/ 7767 w 7769"/>
                  <a:gd name="T35" fmla="*/ 4166 h 16133"/>
                  <a:gd name="T36" fmla="*/ 7766 w 7769"/>
                  <a:gd name="T37" fmla="*/ 4308 h 16133"/>
                  <a:gd name="T38" fmla="*/ 7765 w 7769"/>
                  <a:gd name="T39" fmla="*/ 14752 h 16133"/>
                  <a:gd name="T40" fmla="*/ 7753 w 7769"/>
                  <a:gd name="T41" fmla="*/ 14891 h 16133"/>
                  <a:gd name="T42" fmla="*/ 7731 w 7769"/>
                  <a:gd name="T43" fmla="*/ 15003 h 16133"/>
                  <a:gd name="T44" fmla="*/ 7690 w 7769"/>
                  <a:gd name="T45" fmla="*/ 15120 h 16133"/>
                  <a:gd name="T46" fmla="*/ 7628 w 7769"/>
                  <a:gd name="T47" fmla="*/ 15231 h 16133"/>
                  <a:gd name="T48" fmla="*/ 7538 w 7769"/>
                  <a:gd name="T49" fmla="*/ 15326 h 16133"/>
                  <a:gd name="T50" fmla="*/ 6414 w 7769"/>
                  <a:gd name="T51" fmla="*/ 16067 h 16133"/>
                  <a:gd name="T52" fmla="*/ 6301 w 7769"/>
                  <a:gd name="T53" fmla="*/ 16107 h 16133"/>
                  <a:gd name="T54" fmla="*/ 6204 w 7769"/>
                  <a:gd name="T55" fmla="*/ 16125 h 16133"/>
                  <a:gd name="T56" fmla="*/ 6109 w 7769"/>
                  <a:gd name="T57" fmla="*/ 16133 h 16133"/>
                  <a:gd name="T58" fmla="*/ 6000 w 7769"/>
                  <a:gd name="T59" fmla="*/ 16130 h 16133"/>
                  <a:gd name="T60" fmla="*/ 5878 w 7769"/>
                  <a:gd name="T61" fmla="*/ 16112 h 16133"/>
                  <a:gd name="T62" fmla="*/ 5555 w 7769"/>
                  <a:gd name="T63" fmla="*/ 16045 h 16133"/>
                  <a:gd name="T64" fmla="*/ 4974 w 7769"/>
                  <a:gd name="T65" fmla="*/ 15897 h 16133"/>
                  <a:gd name="T66" fmla="*/ 4178 w 7769"/>
                  <a:gd name="T67" fmla="*/ 15637 h 16133"/>
                  <a:gd name="T68" fmla="*/ 3251 w 7769"/>
                  <a:gd name="T69" fmla="*/ 15245 h 16133"/>
                  <a:gd name="T70" fmla="*/ 2279 w 7769"/>
                  <a:gd name="T71" fmla="*/ 14702 h 16133"/>
                  <a:gd name="T72" fmla="*/ 1349 w 7769"/>
                  <a:gd name="T73" fmla="*/ 13987 h 16133"/>
                  <a:gd name="T74" fmla="*/ 546 w 7769"/>
                  <a:gd name="T75" fmla="*/ 13081 h 16133"/>
                  <a:gd name="T76" fmla="*/ 74 w 7769"/>
                  <a:gd name="T77" fmla="*/ 12251 h 16133"/>
                  <a:gd name="T78" fmla="*/ 38 w 7769"/>
                  <a:gd name="T79" fmla="*/ 12111 h 16133"/>
                  <a:gd name="T80" fmla="*/ 8 w 7769"/>
                  <a:gd name="T81" fmla="*/ 11909 h 16133"/>
                  <a:gd name="T82" fmla="*/ 0 w 7769"/>
                  <a:gd name="T83" fmla="*/ 11752 h 16133"/>
                  <a:gd name="T84" fmla="*/ 5 w 7769"/>
                  <a:gd name="T85" fmla="*/ 11612 h 16133"/>
                  <a:gd name="T86" fmla="*/ 6 w 7769"/>
                  <a:gd name="T87" fmla="*/ 1527 h 16133"/>
                  <a:gd name="T88" fmla="*/ 8 w 7769"/>
                  <a:gd name="T89" fmla="*/ 1363 h 16133"/>
                  <a:gd name="T90" fmla="*/ 21 w 7769"/>
                  <a:gd name="T91" fmla="*/ 1245 h 16133"/>
                  <a:gd name="T92" fmla="*/ 49 w 7769"/>
                  <a:gd name="T93" fmla="*/ 1118 h 16133"/>
                  <a:gd name="T94" fmla="*/ 94 w 7769"/>
                  <a:gd name="T95" fmla="*/ 991 h 16133"/>
                  <a:gd name="T96" fmla="*/ 164 w 7769"/>
                  <a:gd name="T97" fmla="*/ 877 h 16133"/>
                  <a:gd name="T98" fmla="*/ 262 w 7769"/>
                  <a:gd name="T99" fmla="*/ 785 h 16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7769" h="16133">
                    <a:moveTo>
                      <a:pt x="864" y="184"/>
                    </a:moveTo>
                    <a:lnTo>
                      <a:pt x="876" y="171"/>
                    </a:lnTo>
                    <a:lnTo>
                      <a:pt x="909" y="140"/>
                    </a:lnTo>
                    <a:lnTo>
                      <a:pt x="934" y="120"/>
                    </a:lnTo>
                    <a:lnTo>
                      <a:pt x="964" y="99"/>
                    </a:lnTo>
                    <a:lnTo>
                      <a:pt x="981" y="88"/>
                    </a:lnTo>
                    <a:lnTo>
                      <a:pt x="1000" y="77"/>
                    </a:lnTo>
                    <a:lnTo>
                      <a:pt x="1019" y="67"/>
                    </a:lnTo>
                    <a:lnTo>
                      <a:pt x="1040" y="55"/>
                    </a:lnTo>
                    <a:lnTo>
                      <a:pt x="1063" y="45"/>
                    </a:lnTo>
                    <a:lnTo>
                      <a:pt x="1086" y="36"/>
                    </a:lnTo>
                    <a:lnTo>
                      <a:pt x="1111" y="28"/>
                    </a:lnTo>
                    <a:lnTo>
                      <a:pt x="1137" y="20"/>
                    </a:lnTo>
                    <a:lnTo>
                      <a:pt x="1165" y="14"/>
                    </a:lnTo>
                    <a:lnTo>
                      <a:pt x="1194" y="8"/>
                    </a:lnTo>
                    <a:lnTo>
                      <a:pt x="1223" y="4"/>
                    </a:lnTo>
                    <a:lnTo>
                      <a:pt x="1255" y="1"/>
                    </a:lnTo>
                    <a:lnTo>
                      <a:pt x="1288" y="0"/>
                    </a:lnTo>
                    <a:lnTo>
                      <a:pt x="1321" y="1"/>
                    </a:lnTo>
                    <a:lnTo>
                      <a:pt x="1357" y="3"/>
                    </a:lnTo>
                    <a:lnTo>
                      <a:pt x="1393" y="7"/>
                    </a:lnTo>
                    <a:lnTo>
                      <a:pt x="1431" y="14"/>
                    </a:lnTo>
                    <a:lnTo>
                      <a:pt x="1469" y="22"/>
                    </a:lnTo>
                    <a:lnTo>
                      <a:pt x="1510" y="33"/>
                    </a:lnTo>
                    <a:lnTo>
                      <a:pt x="1550" y="47"/>
                    </a:lnTo>
                    <a:lnTo>
                      <a:pt x="1596" y="60"/>
                    </a:lnTo>
                    <a:lnTo>
                      <a:pt x="1728" y="102"/>
                    </a:lnTo>
                    <a:lnTo>
                      <a:pt x="1823" y="133"/>
                    </a:lnTo>
                    <a:lnTo>
                      <a:pt x="1936" y="170"/>
                    </a:lnTo>
                    <a:lnTo>
                      <a:pt x="2067" y="216"/>
                    </a:lnTo>
                    <a:lnTo>
                      <a:pt x="2213" y="268"/>
                    </a:lnTo>
                    <a:lnTo>
                      <a:pt x="2374" y="327"/>
                    </a:lnTo>
                    <a:lnTo>
                      <a:pt x="2549" y="393"/>
                    </a:lnTo>
                    <a:lnTo>
                      <a:pt x="2737" y="467"/>
                    </a:lnTo>
                    <a:lnTo>
                      <a:pt x="2935" y="547"/>
                    </a:lnTo>
                    <a:lnTo>
                      <a:pt x="3144" y="634"/>
                    </a:lnTo>
                    <a:lnTo>
                      <a:pt x="3364" y="730"/>
                    </a:lnTo>
                    <a:lnTo>
                      <a:pt x="3590" y="832"/>
                    </a:lnTo>
                    <a:lnTo>
                      <a:pt x="3824" y="942"/>
                    </a:lnTo>
                    <a:lnTo>
                      <a:pt x="4063" y="1058"/>
                    </a:lnTo>
                    <a:lnTo>
                      <a:pt x="4307" y="1183"/>
                    </a:lnTo>
                    <a:lnTo>
                      <a:pt x="4556" y="1314"/>
                    </a:lnTo>
                    <a:lnTo>
                      <a:pt x="4807" y="1453"/>
                    </a:lnTo>
                    <a:lnTo>
                      <a:pt x="5058" y="1599"/>
                    </a:lnTo>
                    <a:lnTo>
                      <a:pt x="5311" y="1753"/>
                    </a:lnTo>
                    <a:lnTo>
                      <a:pt x="5563" y="1915"/>
                    </a:lnTo>
                    <a:lnTo>
                      <a:pt x="5813" y="2084"/>
                    </a:lnTo>
                    <a:lnTo>
                      <a:pt x="6059" y="2261"/>
                    </a:lnTo>
                    <a:lnTo>
                      <a:pt x="6303" y="2445"/>
                    </a:lnTo>
                    <a:lnTo>
                      <a:pt x="6541" y="2637"/>
                    </a:lnTo>
                    <a:lnTo>
                      <a:pt x="6772" y="2836"/>
                    </a:lnTo>
                    <a:lnTo>
                      <a:pt x="6996" y="3044"/>
                    </a:lnTo>
                    <a:lnTo>
                      <a:pt x="7211" y="3259"/>
                    </a:lnTo>
                    <a:lnTo>
                      <a:pt x="7417" y="3482"/>
                    </a:lnTo>
                    <a:lnTo>
                      <a:pt x="7612" y="3713"/>
                    </a:lnTo>
                    <a:lnTo>
                      <a:pt x="7620" y="3723"/>
                    </a:lnTo>
                    <a:lnTo>
                      <a:pt x="7642" y="3753"/>
                    </a:lnTo>
                    <a:lnTo>
                      <a:pt x="7656" y="3776"/>
                    </a:lnTo>
                    <a:lnTo>
                      <a:pt x="7671" y="3803"/>
                    </a:lnTo>
                    <a:lnTo>
                      <a:pt x="7687" y="3837"/>
                    </a:lnTo>
                    <a:lnTo>
                      <a:pt x="7703" y="3874"/>
                    </a:lnTo>
                    <a:lnTo>
                      <a:pt x="7711" y="3894"/>
                    </a:lnTo>
                    <a:lnTo>
                      <a:pt x="7718" y="3916"/>
                    </a:lnTo>
                    <a:lnTo>
                      <a:pt x="7727" y="3939"/>
                    </a:lnTo>
                    <a:lnTo>
                      <a:pt x="7734" y="3964"/>
                    </a:lnTo>
                    <a:lnTo>
                      <a:pt x="7741" y="3989"/>
                    </a:lnTo>
                    <a:lnTo>
                      <a:pt x="7747" y="4015"/>
                    </a:lnTo>
                    <a:lnTo>
                      <a:pt x="7752" y="4043"/>
                    </a:lnTo>
                    <a:lnTo>
                      <a:pt x="7757" y="4072"/>
                    </a:lnTo>
                    <a:lnTo>
                      <a:pt x="7761" y="4102"/>
                    </a:lnTo>
                    <a:lnTo>
                      <a:pt x="7765" y="4133"/>
                    </a:lnTo>
                    <a:lnTo>
                      <a:pt x="7767" y="4166"/>
                    </a:lnTo>
                    <a:lnTo>
                      <a:pt x="7769" y="4200"/>
                    </a:lnTo>
                    <a:lnTo>
                      <a:pt x="7769" y="4234"/>
                    </a:lnTo>
                    <a:lnTo>
                      <a:pt x="7768" y="4270"/>
                    </a:lnTo>
                    <a:lnTo>
                      <a:pt x="7766" y="4308"/>
                    </a:lnTo>
                    <a:lnTo>
                      <a:pt x="7763" y="4346"/>
                    </a:lnTo>
                    <a:lnTo>
                      <a:pt x="7763" y="14669"/>
                    </a:lnTo>
                    <a:lnTo>
                      <a:pt x="7764" y="14691"/>
                    </a:lnTo>
                    <a:lnTo>
                      <a:pt x="7765" y="14752"/>
                    </a:lnTo>
                    <a:lnTo>
                      <a:pt x="7763" y="14792"/>
                    </a:lnTo>
                    <a:lnTo>
                      <a:pt x="7759" y="14839"/>
                    </a:lnTo>
                    <a:lnTo>
                      <a:pt x="7757" y="14865"/>
                    </a:lnTo>
                    <a:lnTo>
                      <a:pt x="7753" y="14891"/>
                    </a:lnTo>
                    <a:lnTo>
                      <a:pt x="7749" y="14918"/>
                    </a:lnTo>
                    <a:lnTo>
                      <a:pt x="7744" y="14946"/>
                    </a:lnTo>
                    <a:lnTo>
                      <a:pt x="7738" y="14974"/>
                    </a:lnTo>
                    <a:lnTo>
                      <a:pt x="7731" y="15003"/>
                    </a:lnTo>
                    <a:lnTo>
                      <a:pt x="7722" y="15032"/>
                    </a:lnTo>
                    <a:lnTo>
                      <a:pt x="7712" y="15061"/>
                    </a:lnTo>
                    <a:lnTo>
                      <a:pt x="7702" y="15090"/>
                    </a:lnTo>
                    <a:lnTo>
                      <a:pt x="7690" y="15120"/>
                    </a:lnTo>
                    <a:lnTo>
                      <a:pt x="7677" y="15148"/>
                    </a:lnTo>
                    <a:lnTo>
                      <a:pt x="7662" y="15176"/>
                    </a:lnTo>
                    <a:lnTo>
                      <a:pt x="7646" y="15203"/>
                    </a:lnTo>
                    <a:lnTo>
                      <a:pt x="7628" y="15231"/>
                    </a:lnTo>
                    <a:lnTo>
                      <a:pt x="7608" y="15256"/>
                    </a:lnTo>
                    <a:lnTo>
                      <a:pt x="7587" y="15281"/>
                    </a:lnTo>
                    <a:lnTo>
                      <a:pt x="7564" y="15304"/>
                    </a:lnTo>
                    <a:lnTo>
                      <a:pt x="7538" y="15326"/>
                    </a:lnTo>
                    <a:lnTo>
                      <a:pt x="7512" y="15347"/>
                    </a:lnTo>
                    <a:lnTo>
                      <a:pt x="7483" y="15366"/>
                    </a:lnTo>
                    <a:lnTo>
                      <a:pt x="6425" y="16061"/>
                    </a:lnTo>
                    <a:lnTo>
                      <a:pt x="6414" y="16067"/>
                    </a:lnTo>
                    <a:lnTo>
                      <a:pt x="6383" y="16081"/>
                    </a:lnTo>
                    <a:lnTo>
                      <a:pt x="6361" y="16089"/>
                    </a:lnTo>
                    <a:lnTo>
                      <a:pt x="6333" y="16098"/>
                    </a:lnTo>
                    <a:lnTo>
                      <a:pt x="6301" y="16107"/>
                    </a:lnTo>
                    <a:lnTo>
                      <a:pt x="6266" y="16115"/>
                    </a:lnTo>
                    <a:lnTo>
                      <a:pt x="6246" y="16119"/>
                    </a:lnTo>
                    <a:lnTo>
                      <a:pt x="6225" y="16122"/>
                    </a:lnTo>
                    <a:lnTo>
                      <a:pt x="6204" y="16125"/>
                    </a:lnTo>
                    <a:lnTo>
                      <a:pt x="6182" y="16128"/>
                    </a:lnTo>
                    <a:lnTo>
                      <a:pt x="6158" y="16130"/>
                    </a:lnTo>
                    <a:lnTo>
                      <a:pt x="6134" y="16132"/>
                    </a:lnTo>
                    <a:lnTo>
                      <a:pt x="6109" y="16133"/>
                    </a:lnTo>
                    <a:lnTo>
                      <a:pt x="6083" y="16133"/>
                    </a:lnTo>
                    <a:lnTo>
                      <a:pt x="6056" y="16133"/>
                    </a:lnTo>
                    <a:lnTo>
                      <a:pt x="6028" y="16132"/>
                    </a:lnTo>
                    <a:lnTo>
                      <a:pt x="6000" y="16130"/>
                    </a:lnTo>
                    <a:lnTo>
                      <a:pt x="5970" y="16127"/>
                    </a:lnTo>
                    <a:lnTo>
                      <a:pt x="5941" y="16123"/>
                    </a:lnTo>
                    <a:lnTo>
                      <a:pt x="5910" y="16118"/>
                    </a:lnTo>
                    <a:lnTo>
                      <a:pt x="5878" y="16112"/>
                    </a:lnTo>
                    <a:lnTo>
                      <a:pt x="5847" y="16104"/>
                    </a:lnTo>
                    <a:lnTo>
                      <a:pt x="5797" y="16096"/>
                    </a:lnTo>
                    <a:lnTo>
                      <a:pt x="5657" y="16067"/>
                    </a:lnTo>
                    <a:lnTo>
                      <a:pt x="5555" y="16045"/>
                    </a:lnTo>
                    <a:lnTo>
                      <a:pt x="5434" y="16018"/>
                    </a:lnTo>
                    <a:lnTo>
                      <a:pt x="5297" y="15984"/>
                    </a:lnTo>
                    <a:lnTo>
                      <a:pt x="5143" y="15943"/>
                    </a:lnTo>
                    <a:lnTo>
                      <a:pt x="4974" y="15897"/>
                    </a:lnTo>
                    <a:lnTo>
                      <a:pt x="4791" y="15844"/>
                    </a:lnTo>
                    <a:lnTo>
                      <a:pt x="4597" y="15782"/>
                    </a:lnTo>
                    <a:lnTo>
                      <a:pt x="4392" y="15714"/>
                    </a:lnTo>
                    <a:lnTo>
                      <a:pt x="4178" y="15637"/>
                    </a:lnTo>
                    <a:lnTo>
                      <a:pt x="3954" y="15552"/>
                    </a:lnTo>
                    <a:lnTo>
                      <a:pt x="3725" y="15458"/>
                    </a:lnTo>
                    <a:lnTo>
                      <a:pt x="3490" y="15357"/>
                    </a:lnTo>
                    <a:lnTo>
                      <a:pt x="3251" y="15245"/>
                    </a:lnTo>
                    <a:lnTo>
                      <a:pt x="3008" y="15125"/>
                    </a:lnTo>
                    <a:lnTo>
                      <a:pt x="2765" y="14994"/>
                    </a:lnTo>
                    <a:lnTo>
                      <a:pt x="2522" y="14853"/>
                    </a:lnTo>
                    <a:lnTo>
                      <a:pt x="2279" y="14702"/>
                    </a:lnTo>
                    <a:lnTo>
                      <a:pt x="2039" y="14540"/>
                    </a:lnTo>
                    <a:lnTo>
                      <a:pt x="1803" y="14367"/>
                    </a:lnTo>
                    <a:lnTo>
                      <a:pt x="1572" y="14183"/>
                    </a:lnTo>
                    <a:lnTo>
                      <a:pt x="1349" y="13987"/>
                    </a:lnTo>
                    <a:lnTo>
                      <a:pt x="1132" y="13780"/>
                    </a:lnTo>
                    <a:lnTo>
                      <a:pt x="926" y="13560"/>
                    </a:lnTo>
                    <a:lnTo>
                      <a:pt x="730" y="13327"/>
                    </a:lnTo>
                    <a:lnTo>
                      <a:pt x="546" y="13081"/>
                    </a:lnTo>
                    <a:lnTo>
                      <a:pt x="375" y="12823"/>
                    </a:lnTo>
                    <a:lnTo>
                      <a:pt x="218" y="12550"/>
                    </a:lnTo>
                    <a:lnTo>
                      <a:pt x="78" y="12264"/>
                    </a:lnTo>
                    <a:lnTo>
                      <a:pt x="74" y="12251"/>
                    </a:lnTo>
                    <a:lnTo>
                      <a:pt x="63" y="12212"/>
                    </a:lnTo>
                    <a:lnTo>
                      <a:pt x="55" y="12183"/>
                    </a:lnTo>
                    <a:lnTo>
                      <a:pt x="46" y="12150"/>
                    </a:lnTo>
                    <a:lnTo>
                      <a:pt x="38" y="12111"/>
                    </a:lnTo>
                    <a:lnTo>
                      <a:pt x="29" y="12067"/>
                    </a:lnTo>
                    <a:lnTo>
                      <a:pt x="21" y="12019"/>
                    </a:lnTo>
                    <a:lnTo>
                      <a:pt x="14" y="11967"/>
                    </a:lnTo>
                    <a:lnTo>
                      <a:pt x="8" y="11909"/>
                    </a:lnTo>
                    <a:lnTo>
                      <a:pt x="4" y="11849"/>
                    </a:lnTo>
                    <a:lnTo>
                      <a:pt x="2" y="11817"/>
                    </a:lnTo>
                    <a:lnTo>
                      <a:pt x="1" y="11785"/>
                    </a:lnTo>
                    <a:lnTo>
                      <a:pt x="0" y="11752"/>
                    </a:lnTo>
                    <a:lnTo>
                      <a:pt x="1" y="11718"/>
                    </a:lnTo>
                    <a:lnTo>
                      <a:pt x="1" y="11683"/>
                    </a:lnTo>
                    <a:lnTo>
                      <a:pt x="3" y="11648"/>
                    </a:lnTo>
                    <a:lnTo>
                      <a:pt x="5" y="11612"/>
                    </a:lnTo>
                    <a:lnTo>
                      <a:pt x="8" y="11575"/>
                    </a:lnTo>
                    <a:lnTo>
                      <a:pt x="8" y="1552"/>
                    </a:lnTo>
                    <a:lnTo>
                      <a:pt x="7" y="1546"/>
                    </a:lnTo>
                    <a:lnTo>
                      <a:pt x="6" y="1527"/>
                    </a:lnTo>
                    <a:lnTo>
                      <a:pt x="5" y="1498"/>
                    </a:lnTo>
                    <a:lnTo>
                      <a:pt x="5" y="1461"/>
                    </a:lnTo>
                    <a:lnTo>
                      <a:pt x="6" y="1415"/>
                    </a:lnTo>
                    <a:lnTo>
                      <a:pt x="8" y="1363"/>
                    </a:lnTo>
                    <a:lnTo>
                      <a:pt x="10" y="1335"/>
                    </a:lnTo>
                    <a:lnTo>
                      <a:pt x="13" y="1306"/>
                    </a:lnTo>
                    <a:lnTo>
                      <a:pt x="17" y="1277"/>
                    </a:lnTo>
                    <a:lnTo>
                      <a:pt x="21" y="1245"/>
                    </a:lnTo>
                    <a:lnTo>
                      <a:pt x="26" y="1214"/>
                    </a:lnTo>
                    <a:lnTo>
                      <a:pt x="32" y="1182"/>
                    </a:lnTo>
                    <a:lnTo>
                      <a:pt x="40" y="1150"/>
                    </a:lnTo>
                    <a:lnTo>
                      <a:pt x="49" y="1118"/>
                    </a:lnTo>
                    <a:lnTo>
                      <a:pt x="58" y="1086"/>
                    </a:lnTo>
                    <a:lnTo>
                      <a:pt x="69" y="1054"/>
                    </a:lnTo>
                    <a:lnTo>
                      <a:pt x="81" y="1022"/>
                    </a:lnTo>
                    <a:lnTo>
                      <a:pt x="94" y="991"/>
                    </a:lnTo>
                    <a:lnTo>
                      <a:pt x="109" y="962"/>
                    </a:lnTo>
                    <a:lnTo>
                      <a:pt x="125" y="933"/>
                    </a:lnTo>
                    <a:lnTo>
                      <a:pt x="144" y="904"/>
                    </a:lnTo>
                    <a:lnTo>
                      <a:pt x="164" y="877"/>
                    </a:lnTo>
                    <a:lnTo>
                      <a:pt x="185" y="852"/>
                    </a:lnTo>
                    <a:lnTo>
                      <a:pt x="208" y="828"/>
                    </a:lnTo>
                    <a:lnTo>
                      <a:pt x="235" y="806"/>
                    </a:lnTo>
                    <a:lnTo>
                      <a:pt x="262" y="785"/>
                    </a:lnTo>
                    <a:lnTo>
                      <a:pt x="864" y="184"/>
                    </a:lnTo>
                    <a:close/>
                  </a:path>
                </a:pathLst>
              </a:custGeom>
              <a:solidFill>
                <a:srgbClr val="8E8D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4" name="Freeform 6"/>
              <p:cNvSpPr>
                <a:spLocks/>
              </p:cNvSpPr>
              <p:nvPr/>
            </p:nvSpPr>
            <p:spPr bwMode="auto">
              <a:xfrm>
                <a:off x="4062" y="2132"/>
                <a:ext cx="17" cy="163"/>
              </a:xfrm>
              <a:custGeom>
                <a:avLst/>
                <a:gdLst>
                  <a:gd name="T0" fmla="*/ 0 w 1259"/>
                  <a:gd name="T1" fmla="*/ 1003 h 11919"/>
                  <a:gd name="T2" fmla="*/ 0 w 1259"/>
                  <a:gd name="T3" fmla="*/ 11919 h 11919"/>
                  <a:gd name="T4" fmla="*/ 1259 w 1259"/>
                  <a:gd name="T5" fmla="*/ 11083 h 11919"/>
                  <a:gd name="T6" fmla="*/ 1259 w 1259"/>
                  <a:gd name="T7" fmla="*/ 0 h 11919"/>
                  <a:gd name="T8" fmla="*/ 0 w 1259"/>
                  <a:gd name="T9" fmla="*/ 586 h 11919"/>
                  <a:gd name="T10" fmla="*/ 0 w 1259"/>
                  <a:gd name="T11" fmla="*/ 1003 h 11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59" h="11919">
                    <a:moveTo>
                      <a:pt x="0" y="1003"/>
                    </a:moveTo>
                    <a:lnTo>
                      <a:pt x="0" y="11919"/>
                    </a:lnTo>
                    <a:lnTo>
                      <a:pt x="1259" y="11083"/>
                    </a:lnTo>
                    <a:lnTo>
                      <a:pt x="1259" y="0"/>
                    </a:lnTo>
                    <a:lnTo>
                      <a:pt x="0" y="586"/>
                    </a:lnTo>
                    <a:lnTo>
                      <a:pt x="0" y="1003"/>
                    </a:lnTo>
                    <a:close/>
                  </a:path>
                </a:pathLst>
              </a:custGeom>
              <a:solidFill>
                <a:srgbClr val="C1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5" name="Freeform 7"/>
              <p:cNvSpPr>
                <a:spLocks/>
              </p:cNvSpPr>
              <p:nvPr/>
            </p:nvSpPr>
            <p:spPr bwMode="auto">
              <a:xfrm>
                <a:off x="3980" y="2080"/>
                <a:ext cx="98" cy="60"/>
              </a:xfrm>
              <a:custGeom>
                <a:avLst/>
                <a:gdLst>
                  <a:gd name="T0" fmla="*/ 0 w 7173"/>
                  <a:gd name="T1" fmla="*/ 963 h 4392"/>
                  <a:gd name="T2" fmla="*/ 923 w 7173"/>
                  <a:gd name="T3" fmla="*/ 0 h 4392"/>
                  <a:gd name="T4" fmla="*/ 970 w 7173"/>
                  <a:gd name="T5" fmla="*/ 14 h 4392"/>
                  <a:gd name="T6" fmla="*/ 1109 w 7173"/>
                  <a:gd name="T7" fmla="*/ 55 h 4392"/>
                  <a:gd name="T8" fmla="*/ 1208 w 7173"/>
                  <a:gd name="T9" fmla="*/ 87 h 4392"/>
                  <a:gd name="T10" fmla="*/ 1327 w 7173"/>
                  <a:gd name="T11" fmla="*/ 126 h 4392"/>
                  <a:gd name="T12" fmla="*/ 1464 w 7173"/>
                  <a:gd name="T13" fmla="*/ 171 h 4392"/>
                  <a:gd name="T14" fmla="*/ 1616 w 7173"/>
                  <a:gd name="T15" fmla="*/ 224 h 4392"/>
                  <a:gd name="T16" fmla="*/ 1784 w 7173"/>
                  <a:gd name="T17" fmla="*/ 284 h 4392"/>
                  <a:gd name="T18" fmla="*/ 1967 w 7173"/>
                  <a:gd name="T19" fmla="*/ 352 h 4392"/>
                  <a:gd name="T20" fmla="*/ 2162 w 7173"/>
                  <a:gd name="T21" fmla="*/ 427 h 4392"/>
                  <a:gd name="T22" fmla="*/ 2370 w 7173"/>
                  <a:gd name="T23" fmla="*/ 510 h 4392"/>
                  <a:gd name="T24" fmla="*/ 2587 w 7173"/>
                  <a:gd name="T25" fmla="*/ 600 h 4392"/>
                  <a:gd name="T26" fmla="*/ 2815 w 7173"/>
                  <a:gd name="T27" fmla="*/ 697 h 4392"/>
                  <a:gd name="T28" fmla="*/ 3050 w 7173"/>
                  <a:gd name="T29" fmla="*/ 802 h 4392"/>
                  <a:gd name="T30" fmla="*/ 3293 w 7173"/>
                  <a:gd name="T31" fmla="*/ 915 h 4392"/>
                  <a:gd name="T32" fmla="*/ 3541 w 7173"/>
                  <a:gd name="T33" fmla="*/ 1035 h 4392"/>
                  <a:gd name="T34" fmla="*/ 3794 w 7173"/>
                  <a:gd name="T35" fmla="*/ 1164 h 4392"/>
                  <a:gd name="T36" fmla="*/ 4051 w 7173"/>
                  <a:gd name="T37" fmla="*/ 1300 h 4392"/>
                  <a:gd name="T38" fmla="*/ 4311 w 7173"/>
                  <a:gd name="T39" fmla="*/ 1443 h 4392"/>
                  <a:gd name="T40" fmla="*/ 4571 w 7173"/>
                  <a:gd name="T41" fmla="*/ 1596 h 4392"/>
                  <a:gd name="T42" fmla="*/ 4831 w 7173"/>
                  <a:gd name="T43" fmla="*/ 1756 h 4392"/>
                  <a:gd name="T44" fmla="*/ 5090 w 7173"/>
                  <a:gd name="T45" fmla="*/ 1923 h 4392"/>
                  <a:gd name="T46" fmla="*/ 5347 w 7173"/>
                  <a:gd name="T47" fmla="*/ 2100 h 4392"/>
                  <a:gd name="T48" fmla="*/ 5600 w 7173"/>
                  <a:gd name="T49" fmla="*/ 2284 h 4392"/>
                  <a:gd name="T50" fmla="*/ 5849 w 7173"/>
                  <a:gd name="T51" fmla="*/ 2477 h 4392"/>
                  <a:gd name="T52" fmla="*/ 6090 w 7173"/>
                  <a:gd name="T53" fmla="*/ 2678 h 4392"/>
                  <a:gd name="T54" fmla="*/ 6326 w 7173"/>
                  <a:gd name="T55" fmla="*/ 2886 h 4392"/>
                  <a:gd name="T56" fmla="*/ 6553 w 7173"/>
                  <a:gd name="T57" fmla="*/ 3103 h 4392"/>
                  <a:gd name="T58" fmla="*/ 6771 w 7173"/>
                  <a:gd name="T59" fmla="*/ 3329 h 4392"/>
                  <a:gd name="T60" fmla="*/ 6978 w 7173"/>
                  <a:gd name="T61" fmla="*/ 3564 h 4392"/>
                  <a:gd name="T62" fmla="*/ 7173 w 7173"/>
                  <a:gd name="T63" fmla="*/ 3806 h 4392"/>
                  <a:gd name="T64" fmla="*/ 5956 w 7173"/>
                  <a:gd name="T65" fmla="*/ 4392 h 4392"/>
                  <a:gd name="T66" fmla="*/ 0 w 7173"/>
                  <a:gd name="T67" fmla="*/ 963 h 4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173" h="4392">
                    <a:moveTo>
                      <a:pt x="0" y="963"/>
                    </a:moveTo>
                    <a:lnTo>
                      <a:pt x="923" y="0"/>
                    </a:lnTo>
                    <a:lnTo>
                      <a:pt x="970" y="14"/>
                    </a:lnTo>
                    <a:lnTo>
                      <a:pt x="1109" y="55"/>
                    </a:lnTo>
                    <a:lnTo>
                      <a:pt x="1208" y="87"/>
                    </a:lnTo>
                    <a:lnTo>
                      <a:pt x="1327" y="126"/>
                    </a:lnTo>
                    <a:lnTo>
                      <a:pt x="1464" y="171"/>
                    </a:lnTo>
                    <a:lnTo>
                      <a:pt x="1616" y="224"/>
                    </a:lnTo>
                    <a:lnTo>
                      <a:pt x="1784" y="284"/>
                    </a:lnTo>
                    <a:lnTo>
                      <a:pt x="1967" y="352"/>
                    </a:lnTo>
                    <a:lnTo>
                      <a:pt x="2162" y="427"/>
                    </a:lnTo>
                    <a:lnTo>
                      <a:pt x="2370" y="510"/>
                    </a:lnTo>
                    <a:lnTo>
                      <a:pt x="2587" y="600"/>
                    </a:lnTo>
                    <a:lnTo>
                      <a:pt x="2815" y="697"/>
                    </a:lnTo>
                    <a:lnTo>
                      <a:pt x="3050" y="802"/>
                    </a:lnTo>
                    <a:lnTo>
                      <a:pt x="3293" y="915"/>
                    </a:lnTo>
                    <a:lnTo>
                      <a:pt x="3541" y="1035"/>
                    </a:lnTo>
                    <a:lnTo>
                      <a:pt x="3794" y="1164"/>
                    </a:lnTo>
                    <a:lnTo>
                      <a:pt x="4051" y="1300"/>
                    </a:lnTo>
                    <a:lnTo>
                      <a:pt x="4311" y="1443"/>
                    </a:lnTo>
                    <a:lnTo>
                      <a:pt x="4571" y="1596"/>
                    </a:lnTo>
                    <a:lnTo>
                      <a:pt x="4831" y="1756"/>
                    </a:lnTo>
                    <a:lnTo>
                      <a:pt x="5090" y="1923"/>
                    </a:lnTo>
                    <a:lnTo>
                      <a:pt x="5347" y="2100"/>
                    </a:lnTo>
                    <a:lnTo>
                      <a:pt x="5600" y="2284"/>
                    </a:lnTo>
                    <a:lnTo>
                      <a:pt x="5849" y="2477"/>
                    </a:lnTo>
                    <a:lnTo>
                      <a:pt x="6090" y="2678"/>
                    </a:lnTo>
                    <a:lnTo>
                      <a:pt x="6326" y="2886"/>
                    </a:lnTo>
                    <a:lnTo>
                      <a:pt x="6553" y="3103"/>
                    </a:lnTo>
                    <a:lnTo>
                      <a:pt x="6771" y="3329"/>
                    </a:lnTo>
                    <a:lnTo>
                      <a:pt x="6978" y="3564"/>
                    </a:lnTo>
                    <a:lnTo>
                      <a:pt x="7173" y="3806"/>
                    </a:lnTo>
                    <a:lnTo>
                      <a:pt x="5956" y="4392"/>
                    </a:lnTo>
                    <a:lnTo>
                      <a:pt x="0" y="963"/>
                    </a:lnTo>
                    <a:close/>
                  </a:path>
                </a:pathLst>
              </a:custGeom>
              <a:solidFill>
                <a:srgbClr val="EBEB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6" name="Freeform 8"/>
              <p:cNvSpPr>
                <a:spLocks/>
              </p:cNvSpPr>
              <p:nvPr/>
            </p:nvSpPr>
            <p:spPr bwMode="auto">
              <a:xfrm>
                <a:off x="3980" y="2093"/>
                <a:ext cx="82" cy="201"/>
              </a:xfrm>
              <a:custGeom>
                <a:avLst/>
                <a:gdLst>
                  <a:gd name="T0" fmla="*/ 61 w 5992"/>
                  <a:gd name="T1" fmla="*/ 5 h 14723"/>
                  <a:gd name="T2" fmla="*/ 191 w 5992"/>
                  <a:gd name="T3" fmla="*/ 36 h 14723"/>
                  <a:gd name="T4" fmla="*/ 338 w 5992"/>
                  <a:gd name="T5" fmla="*/ 77 h 14723"/>
                  <a:gd name="T6" fmla="*/ 533 w 5992"/>
                  <a:gd name="T7" fmla="*/ 140 h 14723"/>
                  <a:gd name="T8" fmla="*/ 776 w 5992"/>
                  <a:gd name="T9" fmla="*/ 226 h 14723"/>
                  <a:gd name="T10" fmla="*/ 1064 w 5992"/>
                  <a:gd name="T11" fmla="*/ 339 h 14723"/>
                  <a:gd name="T12" fmla="*/ 1399 w 5992"/>
                  <a:gd name="T13" fmla="*/ 485 h 14723"/>
                  <a:gd name="T14" fmla="*/ 1778 w 5992"/>
                  <a:gd name="T15" fmla="*/ 663 h 14723"/>
                  <a:gd name="T16" fmla="*/ 2201 w 5992"/>
                  <a:gd name="T17" fmla="*/ 879 h 14723"/>
                  <a:gd name="T18" fmla="*/ 2670 w 5992"/>
                  <a:gd name="T19" fmla="*/ 1136 h 14723"/>
                  <a:gd name="T20" fmla="*/ 3180 w 5992"/>
                  <a:gd name="T21" fmla="*/ 1436 h 14723"/>
                  <a:gd name="T22" fmla="*/ 3733 w 5992"/>
                  <a:gd name="T23" fmla="*/ 1785 h 14723"/>
                  <a:gd name="T24" fmla="*/ 4328 w 5992"/>
                  <a:gd name="T25" fmla="*/ 2186 h 14723"/>
                  <a:gd name="T26" fmla="*/ 4964 w 5992"/>
                  <a:gd name="T27" fmla="*/ 2639 h 14723"/>
                  <a:gd name="T28" fmla="*/ 5639 w 5992"/>
                  <a:gd name="T29" fmla="*/ 3150 h 14723"/>
                  <a:gd name="T30" fmla="*/ 5992 w 5992"/>
                  <a:gd name="T31" fmla="*/ 14723 h 14723"/>
                  <a:gd name="T32" fmla="*/ 5910 w 5992"/>
                  <a:gd name="T33" fmla="*/ 14719 h 14723"/>
                  <a:gd name="T34" fmla="*/ 5812 w 5992"/>
                  <a:gd name="T35" fmla="*/ 14710 h 14723"/>
                  <a:gd name="T36" fmla="*/ 5678 w 5992"/>
                  <a:gd name="T37" fmla="*/ 14695 h 14723"/>
                  <a:gd name="T38" fmla="*/ 5512 w 5992"/>
                  <a:gd name="T39" fmla="*/ 14670 h 14723"/>
                  <a:gd name="T40" fmla="*/ 5314 w 5992"/>
                  <a:gd name="T41" fmla="*/ 14635 h 14723"/>
                  <a:gd name="T42" fmla="*/ 5088 w 5992"/>
                  <a:gd name="T43" fmla="*/ 14588 h 14723"/>
                  <a:gd name="T44" fmla="*/ 4837 w 5992"/>
                  <a:gd name="T45" fmla="*/ 14526 h 14723"/>
                  <a:gd name="T46" fmla="*/ 4562 w 5992"/>
                  <a:gd name="T47" fmla="*/ 14448 h 14723"/>
                  <a:gd name="T48" fmla="*/ 4266 w 5992"/>
                  <a:gd name="T49" fmla="*/ 14351 h 14723"/>
                  <a:gd name="T50" fmla="*/ 3951 w 5992"/>
                  <a:gd name="T51" fmla="*/ 14234 h 14723"/>
                  <a:gd name="T52" fmla="*/ 3620 w 5992"/>
                  <a:gd name="T53" fmla="*/ 14095 h 14723"/>
                  <a:gd name="T54" fmla="*/ 3274 w 5992"/>
                  <a:gd name="T55" fmla="*/ 13931 h 14723"/>
                  <a:gd name="T56" fmla="*/ 2917 w 5992"/>
                  <a:gd name="T57" fmla="*/ 13742 h 14723"/>
                  <a:gd name="T58" fmla="*/ 2550 w 5992"/>
                  <a:gd name="T59" fmla="*/ 13524 h 14723"/>
                  <a:gd name="T60" fmla="*/ 2177 w 5992"/>
                  <a:gd name="T61" fmla="*/ 13276 h 14723"/>
                  <a:gd name="T62" fmla="*/ 2097 w 5992"/>
                  <a:gd name="T63" fmla="*/ 13226 h 14723"/>
                  <a:gd name="T64" fmla="*/ 2005 w 5992"/>
                  <a:gd name="T65" fmla="*/ 13165 h 14723"/>
                  <a:gd name="T66" fmla="*/ 1885 w 5992"/>
                  <a:gd name="T67" fmla="*/ 13082 h 14723"/>
                  <a:gd name="T68" fmla="*/ 1741 w 5992"/>
                  <a:gd name="T69" fmla="*/ 12977 h 14723"/>
                  <a:gd name="T70" fmla="*/ 1579 w 5992"/>
                  <a:gd name="T71" fmla="*/ 12854 h 14723"/>
                  <a:gd name="T72" fmla="*/ 1402 w 5992"/>
                  <a:gd name="T73" fmla="*/ 12712 h 14723"/>
                  <a:gd name="T74" fmla="*/ 1217 w 5992"/>
                  <a:gd name="T75" fmla="*/ 12552 h 14723"/>
                  <a:gd name="T76" fmla="*/ 1028 w 5992"/>
                  <a:gd name="T77" fmla="*/ 12377 h 14723"/>
                  <a:gd name="T78" fmla="*/ 839 w 5992"/>
                  <a:gd name="T79" fmla="*/ 12187 h 14723"/>
                  <a:gd name="T80" fmla="*/ 657 w 5992"/>
                  <a:gd name="T81" fmla="*/ 11983 h 14723"/>
                  <a:gd name="T82" fmla="*/ 485 w 5992"/>
                  <a:gd name="T83" fmla="*/ 11768 h 14723"/>
                  <a:gd name="T84" fmla="*/ 328 w 5992"/>
                  <a:gd name="T85" fmla="*/ 11541 h 14723"/>
                  <a:gd name="T86" fmla="*/ 191 w 5992"/>
                  <a:gd name="T87" fmla="*/ 11304 h 14723"/>
                  <a:gd name="T88" fmla="*/ 81 w 5992"/>
                  <a:gd name="T89" fmla="*/ 11059 h 14723"/>
                  <a:gd name="T90" fmla="*/ 0 w 5992"/>
                  <a:gd name="T91" fmla="*/ 10807 h 14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992" h="14723">
                    <a:moveTo>
                      <a:pt x="36" y="0"/>
                    </a:moveTo>
                    <a:lnTo>
                      <a:pt x="61" y="5"/>
                    </a:lnTo>
                    <a:lnTo>
                      <a:pt x="136" y="22"/>
                    </a:lnTo>
                    <a:lnTo>
                      <a:pt x="191" y="36"/>
                    </a:lnTo>
                    <a:lnTo>
                      <a:pt x="258" y="54"/>
                    </a:lnTo>
                    <a:lnTo>
                      <a:pt x="338" y="77"/>
                    </a:lnTo>
                    <a:lnTo>
                      <a:pt x="430" y="105"/>
                    </a:lnTo>
                    <a:lnTo>
                      <a:pt x="533" y="140"/>
                    </a:lnTo>
                    <a:lnTo>
                      <a:pt x="648" y="180"/>
                    </a:lnTo>
                    <a:lnTo>
                      <a:pt x="776" y="226"/>
                    </a:lnTo>
                    <a:lnTo>
                      <a:pt x="914" y="279"/>
                    </a:lnTo>
                    <a:lnTo>
                      <a:pt x="1064" y="339"/>
                    </a:lnTo>
                    <a:lnTo>
                      <a:pt x="1226" y="408"/>
                    </a:lnTo>
                    <a:lnTo>
                      <a:pt x="1399" y="485"/>
                    </a:lnTo>
                    <a:lnTo>
                      <a:pt x="1583" y="569"/>
                    </a:lnTo>
                    <a:lnTo>
                      <a:pt x="1778" y="663"/>
                    </a:lnTo>
                    <a:lnTo>
                      <a:pt x="1984" y="766"/>
                    </a:lnTo>
                    <a:lnTo>
                      <a:pt x="2201" y="879"/>
                    </a:lnTo>
                    <a:lnTo>
                      <a:pt x="2430" y="1002"/>
                    </a:lnTo>
                    <a:lnTo>
                      <a:pt x="2670" y="1136"/>
                    </a:lnTo>
                    <a:lnTo>
                      <a:pt x="2919" y="1280"/>
                    </a:lnTo>
                    <a:lnTo>
                      <a:pt x="3180" y="1436"/>
                    </a:lnTo>
                    <a:lnTo>
                      <a:pt x="3451" y="1605"/>
                    </a:lnTo>
                    <a:lnTo>
                      <a:pt x="3733" y="1785"/>
                    </a:lnTo>
                    <a:lnTo>
                      <a:pt x="4025" y="1979"/>
                    </a:lnTo>
                    <a:lnTo>
                      <a:pt x="4328" y="2186"/>
                    </a:lnTo>
                    <a:lnTo>
                      <a:pt x="4640" y="2405"/>
                    </a:lnTo>
                    <a:lnTo>
                      <a:pt x="4964" y="2639"/>
                    </a:lnTo>
                    <a:lnTo>
                      <a:pt x="5296" y="2887"/>
                    </a:lnTo>
                    <a:lnTo>
                      <a:pt x="5639" y="3150"/>
                    </a:lnTo>
                    <a:lnTo>
                      <a:pt x="5992" y="3429"/>
                    </a:lnTo>
                    <a:lnTo>
                      <a:pt x="5992" y="14723"/>
                    </a:lnTo>
                    <a:lnTo>
                      <a:pt x="5972" y="14722"/>
                    </a:lnTo>
                    <a:lnTo>
                      <a:pt x="5910" y="14719"/>
                    </a:lnTo>
                    <a:lnTo>
                      <a:pt x="5866" y="14715"/>
                    </a:lnTo>
                    <a:lnTo>
                      <a:pt x="5812" y="14710"/>
                    </a:lnTo>
                    <a:lnTo>
                      <a:pt x="5749" y="14703"/>
                    </a:lnTo>
                    <a:lnTo>
                      <a:pt x="5678" y="14695"/>
                    </a:lnTo>
                    <a:lnTo>
                      <a:pt x="5599" y="14684"/>
                    </a:lnTo>
                    <a:lnTo>
                      <a:pt x="5512" y="14670"/>
                    </a:lnTo>
                    <a:lnTo>
                      <a:pt x="5417" y="14654"/>
                    </a:lnTo>
                    <a:lnTo>
                      <a:pt x="5314" y="14635"/>
                    </a:lnTo>
                    <a:lnTo>
                      <a:pt x="5204" y="14614"/>
                    </a:lnTo>
                    <a:lnTo>
                      <a:pt x="5088" y="14588"/>
                    </a:lnTo>
                    <a:lnTo>
                      <a:pt x="4966" y="14560"/>
                    </a:lnTo>
                    <a:lnTo>
                      <a:pt x="4837" y="14526"/>
                    </a:lnTo>
                    <a:lnTo>
                      <a:pt x="4703" y="14489"/>
                    </a:lnTo>
                    <a:lnTo>
                      <a:pt x="4562" y="14448"/>
                    </a:lnTo>
                    <a:lnTo>
                      <a:pt x="4417" y="14402"/>
                    </a:lnTo>
                    <a:lnTo>
                      <a:pt x="4266" y="14351"/>
                    </a:lnTo>
                    <a:lnTo>
                      <a:pt x="4110" y="14295"/>
                    </a:lnTo>
                    <a:lnTo>
                      <a:pt x="3951" y="14234"/>
                    </a:lnTo>
                    <a:lnTo>
                      <a:pt x="3787" y="14167"/>
                    </a:lnTo>
                    <a:lnTo>
                      <a:pt x="3620" y="14095"/>
                    </a:lnTo>
                    <a:lnTo>
                      <a:pt x="3448" y="14016"/>
                    </a:lnTo>
                    <a:lnTo>
                      <a:pt x="3274" y="13931"/>
                    </a:lnTo>
                    <a:lnTo>
                      <a:pt x="3097" y="13840"/>
                    </a:lnTo>
                    <a:lnTo>
                      <a:pt x="2917" y="13742"/>
                    </a:lnTo>
                    <a:lnTo>
                      <a:pt x="2735" y="13636"/>
                    </a:lnTo>
                    <a:lnTo>
                      <a:pt x="2550" y="13524"/>
                    </a:lnTo>
                    <a:lnTo>
                      <a:pt x="2364" y="13404"/>
                    </a:lnTo>
                    <a:lnTo>
                      <a:pt x="2177" y="13276"/>
                    </a:lnTo>
                    <a:lnTo>
                      <a:pt x="2157" y="13264"/>
                    </a:lnTo>
                    <a:lnTo>
                      <a:pt x="2097" y="13226"/>
                    </a:lnTo>
                    <a:lnTo>
                      <a:pt x="2056" y="13198"/>
                    </a:lnTo>
                    <a:lnTo>
                      <a:pt x="2005" y="13165"/>
                    </a:lnTo>
                    <a:lnTo>
                      <a:pt x="1949" y="13126"/>
                    </a:lnTo>
                    <a:lnTo>
                      <a:pt x="1885" y="13082"/>
                    </a:lnTo>
                    <a:lnTo>
                      <a:pt x="1815" y="13033"/>
                    </a:lnTo>
                    <a:lnTo>
                      <a:pt x="1741" y="12977"/>
                    </a:lnTo>
                    <a:lnTo>
                      <a:pt x="1662" y="12918"/>
                    </a:lnTo>
                    <a:lnTo>
                      <a:pt x="1579" y="12854"/>
                    </a:lnTo>
                    <a:lnTo>
                      <a:pt x="1492" y="12785"/>
                    </a:lnTo>
                    <a:lnTo>
                      <a:pt x="1402" y="12712"/>
                    </a:lnTo>
                    <a:lnTo>
                      <a:pt x="1310" y="12635"/>
                    </a:lnTo>
                    <a:lnTo>
                      <a:pt x="1217" y="12552"/>
                    </a:lnTo>
                    <a:lnTo>
                      <a:pt x="1123" y="12466"/>
                    </a:lnTo>
                    <a:lnTo>
                      <a:pt x="1028" y="12377"/>
                    </a:lnTo>
                    <a:lnTo>
                      <a:pt x="933" y="12284"/>
                    </a:lnTo>
                    <a:lnTo>
                      <a:pt x="839" y="12187"/>
                    </a:lnTo>
                    <a:lnTo>
                      <a:pt x="747" y="12087"/>
                    </a:lnTo>
                    <a:lnTo>
                      <a:pt x="657" y="11983"/>
                    </a:lnTo>
                    <a:lnTo>
                      <a:pt x="569" y="11876"/>
                    </a:lnTo>
                    <a:lnTo>
                      <a:pt x="485" y="11768"/>
                    </a:lnTo>
                    <a:lnTo>
                      <a:pt x="404" y="11656"/>
                    </a:lnTo>
                    <a:lnTo>
                      <a:pt x="328" y="11541"/>
                    </a:lnTo>
                    <a:lnTo>
                      <a:pt x="257" y="11424"/>
                    </a:lnTo>
                    <a:lnTo>
                      <a:pt x="191" y="11304"/>
                    </a:lnTo>
                    <a:lnTo>
                      <a:pt x="133" y="11183"/>
                    </a:lnTo>
                    <a:lnTo>
                      <a:pt x="81" y="11059"/>
                    </a:lnTo>
                    <a:lnTo>
                      <a:pt x="37" y="10934"/>
                    </a:lnTo>
                    <a:lnTo>
                      <a:pt x="0" y="10807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7" name="Freeform 9"/>
              <p:cNvSpPr>
                <a:spLocks/>
              </p:cNvSpPr>
              <p:nvPr/>
            </p:nvSpPr>
            <p:spPr bwMode="auto">
              <a:xfrm>
                <a:off x="3986" y="2101"/>
                <a:ext cx="69" cy="175"/>
              </a:xfrm>
              <a:custGeom>
                <a:avLst/>
                <a:gdLst>
                  <a:gd name="T0" fmla="*/ 0 w 5037"/>
                  <a:gd name="T1" fmla="*/ 0 h 12762"/>
                  <a:gd name="T2" fmla="*/ 0 w 5037"/>
                  <a:gd name="T3" fmla="*/ 9544 h 12762"/>
                  <a:gd name="T4" fmla="*/ 5037 w 5037"/>
                  <a:gd name="T5" fmla="*/ 12762 h 12762"/>
                  <a:gd name="T6" fmla="*/ 5037 w 5037"/>
                  <a:gd name="T7" fmla="*/ 3072 h 12762"/>
                  <a:gd name="T8" fmla="*/ 0 w 5037"/>
                  <a:gd name="T9" fmla="*/ 0 h 12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37" h="12762">
                    <a:moveTo>
                      <a:pt x="0" y="0"/>
                    </a:moveTo>
                    <a:lnTo>
                      <a:pt x="0" y="9544"/>
                    </a:lnTo>
                    <a:lnTo>
                      <a:pt x="5037" y="12762"/>
                    </a:lnTo>
                    <a:lnTo>
                      <a:pt x="5037" y="30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8" name="Freeform 10"/>
              <p:cNvSpPr>
                <a:spLocks/>
              </p:cNvSpPr>
              <p:nvPr/>
            </p:nvSpPr>
            <p:spPr bwMode="auto">
              <a:xfrm>
                <a:off x="3990" y="2106"/>
                <a:ext cx="63" cy="140"/>
              </a:xfrm>
              <a:custGeom>
                <a:avLst/>
                <a:gdLst>
                  <a:gd name="T0" fmla="*/ 3606 w 4609"/>
                  <a:gd name="T1" fmla="*/ 10155 h 10181"/>
                  <a:gd name="T2" fmla="*/ 3639 w 4609"/>
                  <a:gd name="T3" fmla="*/ 10146 h 10181"/>
                  <a:gd name="T4" fmla="*/ 3676 w 4609"/>
                  <a:gd name="T5" fmla="*/ 10131 h 10181"/>
                  <a:gd name="T6" fmla="*/ 3722 w 4609"/>
                  <a:gd name="T7" fmla="*/ 10108 h 10181"/>
                  <a:gd name="T8" fmla="*/ 3777 w 4609"/>
                  <a:gd name="T9" fmla="*/ 10072 h 10181"/>
                  <a:gd name="T10" fmla="*/ 3839 w 4609"/>
                  <a:gd name="T11" fmla="*/ 10023 h 10181"/>
                  <a:gd name="T12" fmla="*/ 3908 w 4609"/>
                  <a:gd name="T13" fmla="*/ 9958 h 10181"/>
                  <a:gd name="T14" fmla="*/ 3983 w 4609"/>
                  <a:gd name="T15" fmla="*/ 9875 h 10181"/>
                  <a:gd name="T16" fmla="*/ 4062 w 4609"/>
                  <a:gd name="T17" fmla="*/ 9772 h 10181"/>
                  <a:gd name="T18" fmla="*/ 4145 w 4609"/>
                  <a:gd name="T19" fmla="*/ 9646 h 10181"/>
                  <a:gd name="T20" fmla="*/ 4229 w 4609"/>
                  <a:gd name="T21" fmla="*/ 9497 h 10181"/>
                  <a:gd name="T22" fmla="*/ 4315 w 4609"/>
                  <a:gd name="T23" fmla="*/ 9320 h 10181"/>
                  <a:gd name="T24" fmla="*/ 4400 w 4609"/>
                  <a:gd name="T25" fmla="*/ 9115 h 10181"/>
                  <a:gd name="T26" fmla="*/ 4485 w 4609"/>
                  <a:gd name="T27" fmla="*/ 8878 h 10181"/>
                  <a:gd name="T28" fmla="*/ 4568 w 4609"/>
                  <a:gd name="T29" fmla="*/ 8608 h 10181"/>
                  <a:gd name="T30" fmla="*/ 4609 w 4609"/>
                  <a:gd name="T31" fmla="*/ 2813 h 10181"/>
                  <a:gd name="T32" fmla="*/ 0 w 4609"/>
                  <a:gd name="T33" fmla="*/ 8380 h 10181"/>
                  <a:gd name="T34" fmla="*/ 196 w 4609"/>
                  <a:gd name="T35" fmla="*/ 8554 h 10181"/>
                  <a:gd name="T36" fmla="*/ 402 w 4609"/>
                  <a:gd name="T37" fmla="*/ 8730 h 10181"/>
                  <a:gd name="T38" fmla="*/ 614 w 4609"/>
                  <a:gd name="T39" fmla="*/ 8904 h 10181"/>
                  <a:gd name="T40" fmla="*/ 834 w 4609"/>
                  <a:gd name="T41" fmla="*/ 9074 h 10181"/>
                  <a:gd name="T42" fmla="*/ 1059 w 4609"/>
                  <a:gd name="T43" fmla="*/ 9241 h 10181"/>
                  <a:gd name="T44" fmla="*/ 1289 w 4609"/>
                  <a:gd name="T45" fmla="*/ 9400 h 10181"/>
                  <a:gd name="T46" fmla="*/ 1522 w 4609"/>
                  <a:gd name="T47" fmla="*/ 9550 h 10181"/>
                  <a:gd name="T48" fmla="*/ 1758 w 4609"/>
                  <a:gd name="T49" fmla="*/ 9688 h 10181"/>
                  <a:gd name="T50" fmla="*/ 1995 w 4609"/>
                  <a:gd name="T51" fmla="*/ 9815 h 10181"/>
                  <a:gd name="T52" fmla="*/ 2232 w 4609"/>
                  <a:gd name="T53" fmla="*/ 9924 h 10181"/>
                  <a:gd name="T54" fmla="*/ 2468 w 4609"/>
                  <a:gd name="T55" fmla="*/ 10018 h 10181"/>
                  <a:gd name="T56" fmla="*/ 2703 w 4609"/>
                  <a:gd name="T57" fmla="*/ 10092 h 10181"/>
                  <a:gd name="T58" fmla="*/ 2934 w 4609"/>
                  <a:gd name="T59" fmla="*/ 10145 h 10181"/>
                  <a:gd name="T60" fmla="*/ 3162 w 4609"/>
                  <a:gd name="T61" fmla="*/ 10176 h 10181"/>
                  <a:gd name="T62" fmla="*/ 3383 w 4609"/>
                  <a:gd name="T63" fmla="*/ 10180 h 10181"/>
                  <a:gd name="T64" fmla="*/ 3600 w 4609"/>
                  <a:gd name="T65" fmla="*/ 10157 h 10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609" h="10181">
                    <a:moveTo>
                      <a:pt x="3600" y="10157"/>
                    </a:moveTo>
                    <a:lnTo>
                      <a:pt x="3606" y="10155"/>
                    </a:lnTo>
                    <a:lnTo>
                      <a:pt x="3626" y="10151"/>
                    </a:lnTo>
                    <a:lnTo>
                      <a:pt x="3639" y="10146"/>
                    </a:lnTo>
                    <a:lnTo>
                      <a:pt x="3656" y="10140"/>
                    </a:lnTo>
                    <a:lnTo>
                      <a:pt x="3676" y="10131"/>
                    </a:lnTo>
                    <a:lnTo>
                      <a:pt x="3698" y="10121"/>
                    </a:lnTo>
                    <a:lnTo>
                      <a:pt x="3722" y="10108"/>
                    </a:lnTo>
                    <a:lnTo>
                      <a:pt x="3748" y="10092"/>
                    </a:lnTo>
                    <a:lnTo>
                      <a:pt x="3777" y="10072"/>
                    </a:lnTo>
                    <a:lnTo>
                      <a:pt x="3807" y="10049"/>
                    </a:lnTo>
                    <a:lnTo>
                      <a:pt x="3839" y="10023"/>
                    </a:lnTo>
                    <a:lnTo>
                      <a:pt x="3873" y="9993"/>
                    </a:lnTo>
                    <a:lnTo>
                      <a:pt x="3908" y="9958"/>
                    </a:lnTo>
                    <a:lnTo>
                      <a:pt x="3944" y="9919"/>
                    </a:lnTo>
                    <a:lnTo>
                      <a:pt x="3983" y="9875"/>
                    </a:lnTo>
                    <a:lnTo>
                      <a:pt x="4021" y="9827"/>
                    </a:lnTo>
                    <a:lnTo>
                      <a:pt x="4062" y="9772"/>
                    </a:lnTo>
                    <a:lnTo>
                      <a:pt x="4102" y="9713"/>
                    </a:lnTo>
                    <a:lnTo>
                      <a:pt x="4145" y="9646"/>
                    </a:lnTo>
                    <a:lnTo>
                      <a:pt x="4186" y="9575"/>
                    </a:lnTo>
                    <a:lnTo>
                      <a:pt x="4229" y="9497"/>
                    </a:lnTo>
                    <a:lnTo>
                      <a:pt x="4272" y="9412"/>
                    </a:lnTo>
                    <a:lnTo>
                      <a:pt x="4315" y="9320"/>
                    </a:lnTo>
                    <a:lnTo>
                      <a:pt x="4358" y="9221"/>
                    </a:lnTo>
                    <a:lnTo>
                      <a:pt x="4400" y="9115"/>
                    </a:lnTo>
                    <a:lnTo>
                      <a:pt x="4443" y="9000"/>
                    </a:lnTo>
                    <a:lnTo>
                      <a:pt x="4485" y="8878"/>
                    </a:lnTo>
                    <a:lnTo>
                      <a:pt x="4527" y="8747"/>
                    </a:lnTo>
                    <a:lnTo>
                      <a:pt x="4568" y="8608"/>
                    </a:lnTo>
                    <a:lnTo>
                      <a:pt x="4609" y="8459"/>
                    </a:lnTo>
                    <a:lnTo>
                      <a:pt x="4609" y="2813"/>
                    </a:lnTo>
                    <a:lnTo>
                      <a:pt x="0" y="0"/>
                    </a:lnTo>
                    <a:lnTo>
                      <a:pt x="0" y="8380"/>
                    </a:lnTo>
                    <a:lnTo>
                      <a:pt x="97" y="8466"/>
                    </a:lnTo>
                    <a:lnTo>
                      <a:pt x="196" y="8554"/>
                    </a:lnTo>
                    <a:lnTo>
                      <a:pt x="298" y="8642"/>
                    </a:lnTo>
                    <a:lnTo>
                      <a:pt x="402" y="8730"/>
                    </a:lnTo>
                    <a:lnTo>
                      <a:pt x="507" y="8816"/>
                    </a:lnTo>
                    <a:lnTo>
                      <a:pt x="614" y="8904"/>
                    </a:lnTo>
                    <a:lnTo>
                      <a:pt x="723" y="8990"/>
                    </a:lnTo>
                    <a:lnTo>
                      <a:pt x="834" y="9074"/>
                    </a:lnTo>
                    <a:lnTo>
                      <a:pt x="946" y="9159"/>
                    </a:lnTo>
                    <a:lnTo>
                      <a:pt x="1059" y="9241"/>
                    </a:lnTo>
                    <a:lnTo>
                      <a:pt x="1173" y="9321"/>
                    </a:lnTo>
                    <a:lnTo>
                      <a:pt x="1289" y="9400"/>
                    </a:lnTo>
                    <a:lnTo>
                      <a:pt x="1406" y="9476"/>
                    </a:lnTo>
                    <a:lnTo>
                      <a:pt x="1522" y="9550"/>
                    </a:lnTo>
                    <a:lnTo>
                      <a:pt x="1640" y="9621"/>
                    </a:lnTo>
                    <a:lnTo>
                      <a:pt x="1758" y="9688"/>
                    </a:lnTo>
                    <a:lnTo>
                      <a:pt x="1876" y="9753"/>
                    </a:lnTo>
                    <a:lnTo>
                      <a:pt x="1995" y="9815"/>
                    </a:lnTo>
                    <a:lnTo>
                      <a:pt x="2113" y="9872"/>
                    </a:lnTo>
                    <a:lnTo>
                      <a:pt x="2232" y="9924"/>
                    </a:lnTo>
                    <a:lnTo>
                      <a:pt x="2350" y="9974"/>
                    </a:lnTo>
                    <a:lnTo>
                      <a:pt x="2468" y="10018"/>
                    </a:lnTo>
                    <a:lnTo>
                      <a:pt x="2586" y="10058"/>
                    </a:lnTo>
                    <a:lnTo>
                      <a:pt x="2703" y="10092"/>
                    </a:lnTo>
                    <a:lnTo>
                      <a:pt x="2819" y="10121"/>
                    </a:lnTo>
                    <a:lnTo>
                      <a:pt x="2934" y="10145"/>
                    </a:lnTo>
                    <a:lnTo>
                      <a:pt x="3049" y="10163"/>
                    </a:lnTo>
                    <a:lnTo>
                      <a:pt x="3162" y="10176"/>
                    </a:lnTo>
                    <a:lnTo>
                      <a:pt x="3273" y="10181"/>
                    </a:lnTo>
                    <a:lnTo>
                      <a:pt x="3383" y="10180"/>
                    </a:lnTo>
                    <a:lnTo>
                      <a:pt x="3493" y="10171"/>
                    </a:lnTo>
                    <a:lnTo>
                      <a:pt x="3600" y="10157"/>
                    </a:lnTo>
                    <a:close/>
                  </a:path>
                </a:pathLst>
              </a:custGeom>
              <a:solidFill>
                <a:srgbClr val="00A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9" name="Freeform 11"/>
              <p:cNvSpPr>
                <a:spLocks/>
              </p:cNvSpPr>
              <p:nvPr/>
            </p:nvSpPr>
            <p:spPr bwMode="auto">
              <a:xfrm>
                <a:off x="3990" y="2221"/>
                <a:ext cx="63" cy="49"/>
              </a:xfrm>
              <a:custGeom>
                <a:avLst/>
                <a:gdLst>
                  <a:gd name="T0" fmla="*/ 3493 w 4609"/>
                  <a:gd name="T1" fmla="*/ 1791 h 3545"/>
                  <a:gd name="T2" fmla="*/ 3273 w 4609"/>
                  <a:gd name="T3" fmla="*/ 1801 h 3545"/>
                  <a:gd name="T4" fmla="*/ 3049 w 4609"/>
                  <a:gd name="T5" fmla="*/ 1783 h 3545"/>
                  <a:gd name="T6" fmla="*/ 2819 w 4609"/>
                  <a:gd name="T7" fmla="*/ 1741 h 3545"/>
                  <a:gd name="T8" fmla="*/ 2586 w 4609"/>
                  <a:gd name="T9" fmla="*/ 1678 h 3545"/>
                  <a:gd name="T10" fmla="*/ 2350 w 4609"/>
                  <a:gd name="T11" fmla="*/ 1594 h 3545"/>
                  <a:gd name="T12" fmla="*/ 2113 w 4609"/>
                  <a:gd name="T13" fmla="*/ 1492 h 3545"/>
                  <a:gd name="T14" fmla="*/ 1876 w 4609"/>
                  <a:gd name="T15" fmla="*/ 1373 h 3545"/>
                  <a:gd name="T16" fmla="*/ 1640 w 4609"/>
                  <a:gd name="T17" fmla="*/ 1241 h 3545"/>
                  <a:gd name="T18" fmla="*/ 1406 w 4609"/>
                  <a:gd name="T19" fmla="*/ 1096 h 3545"/>
                  <a:gd name="T20" fmla="*/ 1173 w 4609"/>
                  <a:gd name="T21" fmla="*/ 941 h 3545"/>
                  <a:gd name="T22" fmla="*/ 946 w 4609"/>
                  <a:gd name="T23" fmla="*/ 779 h 3545"/>
                  <a:gd name="T24" fmla="*/ 723 w 4609"/>
                  <a:gd name="T25" fmla="*/ 610 h 3545"/>
                  <a:gd name="T26" fmla="*/ 507 w 4609"/>
                  <a:gd name="T27" fmla="*/ 436 h 3545"/>
                  <a:gd name="T28" fmla="*/ 298 w 4609"/>
                  <a:gd name="T29" fmla="*/ 262 h 3545"/>
                  <a:gd name="T30" fmla="*/ 97 w 4609"/>
                  <a:gd name="T31" fmla="*/ 86 h 3545"/>
                  <a:gd name="T32" fmla="*/ 0 w 4609"/>
                  <a:gd name="T33" fmla="*/ 613 h 3545"/>
                  <a:gd name="T34" fmla="*/ 4609 w 4609"/>
                  <a:gd name="T35" fmla="*/ 79 h 3545"/>
                  <a:gd name="T36" fmla="*/ 4527 w 4609"/>
                  <a:gd name="T37" fmla="*/ 367 h 3545"/>
                  <a:gd name="T38" fmla="*/ 4443 w 4609"/>
                  <a:gd name="T39" fmla="*/ 620 h 3545"/>
                  <a:gd name="T40" fmla="*/ 4358 w 4609"/>
                  <a:gd name="T41" fmla="*/ 841 h 3545"/>
                  <a:gd name="T42" fmla="*/ 4272 w 4609"/>
                  <a:gd name="T43" fmla="*/ 1032 h 3545"/>
                  <a:gd name="T44" fmla="*/ 4186 w 4609"/>
                  <a:gd name="T45" fmla="*/ 1195 h 3545"/>
                  <a:gd name="T46" fmla="*/ 4102 w 4609"/>
                  <a:gd name="T47" fmla="*/ 1333 h 3545"/>
                  <a:gd name="T48" fmla="*/ 4021 w 4609"/>
                  <a:gd name="T49" fmla="*/ 1447 h 3545"/>
                  <a:gd name="T50" fmla="*/ 3944 w 4609"/>
                  <a:gd name="T51" fmla="*/ 1539 h 3545"/>
                  <a:gd name="T52" fmla="*/ 3873 w 4609"/>
                  <a:gd name="T53" fmla="*/ 1613 h 3545"/>
                  <a:gd name="T54" fmla="*/ 3807 w 4609"/>
                  <a:gd name="T55" fmla="*/ 1669 h 3545"/>
                  <a:gd name="T56" fmla="*/ 3748 w 4609"/>
                  <a:gd name="T57" fmla="*/ 1712 h 3545"/>
                  <a:gd name="T58" fmla="*/ 3698 w 4609"/>
                  <a:gd name="T59" fmla="*/ 1741 h 3545"/>
                  <a:gd name="T60" fmla="*/ 3656 w 4609"/>
                  <a:gd name="T61" fmla="*/ 1760 h 3545"/>
                  <a:gd name="T62" fmla="*/ 3626 w 4609"/>
                  <a:gd name="T63" fmla="*/ 1771 h 3545"/>
                  <a:gd name="T64" fmla="*/ 3600 w 4609"/>
                  <a:gd name="T65" fmla="*/ 1777 h 3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609" h="3545">
                    <a:moveTo>
                      <a:pt x="3600" y="1777"/>
                    </a:moveTo>
                    <a:lnTo>
                      <a:pt x="3493" y="1791"/>
                    </a:lnTo>
                    <a:lnTo>
                      <a:pt x="3383" y="1800"/>
                    </a:lnTo>
                    <a:lnTo>
                      <a:pt x="3273" y="1801"/>
                    </a:lnTo>
                    <a:lnTo>
                      <a:pt x="3162" y="1796"/>
                    </a:lnTo>
                    <a:lnTo>
                      <a:pt x="3049" y="1783"/>
                    </a:lnTo>
                    <a:lnTo>
                      <a:pt x="2934" y="1765"/>
                    </a:lnTo>
                    <a:lnTo>
                      <a:pt x="2819" y="1741"/>
                    </a:lnTo>
                    <a:lnTo>
                      <a:pt x="2703" y="1712"/>
                    </a:lnTo>
                    <a:lnTo>
                      <a:pt x="2586" y="1678"/>
                    </a:lnTo>
                    <a:lnTo>
                      <a:pt x="2468" y="1638"/>
                    </a:lnTo>
                    <a:lnTo>
                      <a:pt x="2350" y="1594"/>
                    </a:lnTo>
                    <a:lnTo>
                      <a:pt x="2232" y="1544"/>
                    </a:lnTo>
                    <a:lnTo>
                      <a:pt x="2113" y="1492"/>
                    </a:lnTo>
                    <a:lnTo>
                      <a:pt x="1995" y="1435"/>
                    </a:lnTo>
                    <a:lnTo>
                      <a:pt x="1876" y="1373"/>
                    </a:lnTo>
                    <a:lnTo>
                      <a:pt x="1758" y="1308"/>
                    </a:lnTo>
                    <a:lnTo>
                      <a:pt x="1640" y="1241"/>
                    </a:lnTo>
                    <a:lnTo>
                      <a:pt x="1522" y="1170"/>
                    </a:lnTo>
                    <a:lnTo>
                      <a:pt x="1406" y="1096"/>
                    </a:lnTo>
                    <a:lnTo>
                      <a:pt x="1289" y="1020"/>
                    </a:lnTo>
                    <a:lnTo>
                      <a:pt x="1173" y="941"/>
                    </a:lnTo>
                    <a:lnTo>
                      <a:pt x="1059" y="861"/>
                    </a:lnTo>
                    <a:lnTo>
                      <a:pt x="946" y="779"/>
                    </a:lnTo>
                    <a:lnTo>
                      <a:pt x="834" y="694"/>
                    </a:lnTo>
                    <a:lnTo>
                      <a:pt x="723" y="610"/>
                    </a:lnTo>
                    <a:lnTo>
                      <a:pt x="614" y="524"/>
                    </a:lnTo>
                    <a:lnTo>
                      <a:pt x="507" y="436"/>
                    </a:lnTo>
                    <a:lnTo>
                      <a:pt x="402" y="350"/>
                    </a:lnTo>
                    <a:lnTo>
                      <a:pt x="298" y="262"/>
                    </a:lnTo>
                    <a:lnTo>
                      <a:pt x="196" y="174"/>
                    </a:lnTo>
                    <a:lnTo>
                      <a:pt x="97" y="86"/>
                    </a:lnTo>
                    <a:lnTo>
                      <a:pt x="0" y="0"/>
                    </a:lnTo>
                    <a:lnTo>
                      <a:pt x="0" y="613"/>
                    </a:lnTo>
                    <a:lnTo>
                      <a:pt x="4609" y="3545"/>
                    </a:lnTo>
                    <a:lnTo>
                      <a:pt x="4609" y="79"/>
                    </a:lnTo>
                    <a:lnTo>
                      <a:pt x="4568" y="228"/>
                    </a:lnTo>
                    <a:lnTo>
                      <a:pt x="4527" y="367"/>
                    </a:lnTo>
                    <a:lnTo>
                      <a:pt x="4485" y="498"/>
                    </a:lnTo>
                    <a:lnTo>
                      <a:pt x="4443" y="620"/>
                    </a:lnTo>
                    <a:lnTo>
                      <a:pt x="4400" y="735"/>
                    </a:lnTo>
                    <a:lnTo>
                      <a:pt x="4358" y="841"/>
                    </a:lnTo>
                    <a:lnTo>
                      <a:pt x="4315" y="940"/>
                    </a:lnTo>
                    <a:lnTo>
                      <a:pt x="4272" y="1032"/>
                    </a:lnTo>
                    <a:lnTo>
                      <a:pt x="4229" y="1117"/>
                    </a:lnTo>
                    <a:lnTo>
                      <a:pt x="4186" y="1195"/>
                    </a:lnTo>
                    <a:lnTo>
                      <a:pt x="4145" y="1266"/>
                    </a:lnTo>
                    <a:lnTo>
                      <a:pt x="4102" y="1333"/>
                    </a:lnTo>
                    <a:lnTo>
                      <a:pt x="4062" y="1392"/>
                    </a:lnTo>
                    <a:lnTo>
                      <a:pt x="4021" y="1447"/>
                    </a:lnTo>
                    <a:lnTo>
                      <a:pt x="3983" y="1495"/>
                    </a:lnTo>
                    <a:lnTo>
                      <a:pt x="3944" y="1539"/>
                    </a:lnTo>
                    <a:lnTo>
                      <a:pt x="3908" y="1578"/>
                    </a:lnTo>
                    <a:lnTo>
                      <a:pt x="3873" y="1613"/>
                    </a:lnTo>
                    <a:lnTo>
                      <a:pt x="3839" y="1643"/>
                    </a:lnTo>
                    <a:lnTo>
                      <a:pt x="3807" y="1669"/>
                    </a:lnTo>
                    <a:lnTo>
                      <a:pt x="3777" y="1692"/>
                    </a:lnTo>
                    <a:lnTo>
                      <a:pt x="3748" y="1712"/>
                    </a:lnTo>
                    <a:lnTo>
                      <a:pt x="3722" y="1728"/>
                    </a:lnTo>
                    <a:lnTo>
                      <a:pt x="3698" y="1741"/>
                    </a:lnTo>
                    <a:lnTo>
                      <a:pt x="3676" y="1751"/>
                    </a:lnTo>
                    <a:lnTo>
                      <a:pt x="3656" y="1760"/>
                    </a:lnTo>
                    <a:lnTo>
                      <a:pt x="3639" y="1766"/>
                    </a:lnTo>
                    <a:lnTo>
                      <a:pt x="3626" y="1771"/>
                    </a:lnTo>
                    <a:lnTo>
                      <a:pt x="3606" y="1775"/>
                    </a:lnTo>
                    <a:lnTo>
                      <a:pt x="3600" y="1777"/>
                    </a:lnTo>
                    <a:close/>
                  </a:path>
                </a:pathLst>
              </a:custGeom>
              <a:solidFill>
                <a:srgbClr val="0091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0" name="Freeform 12"/>
              <p:cNvSpPr>
                <a:spLocks/>
              </p:cNvSpPr>
              <p:nvPr/>
            </p:nvSpPr>
            <p:spPr bwMode="auto">
              <a:xfrm>
                <a:off x="3985" y="2236"/>
                <a:ext cx="5" cy="3"/>
              </a:xfrm>
              <a:custGeom>
                <a:avLst/>
                <a:gdLst>
                  <a:gd name="T0" fmla="*/ 395 w 395"/>
                  <a:gd name="T1" fmla="*/ 210 h 210"/>
                  <a:gd name="T2" fmla="*/ 0 w 395"/>
                  <a:gd name="T3" fmla="*/ 210 h 210"/>
                  <a:gd name="T4" fmla="*/ 2 w 395"/>
                  <a:gd name="T5" fmla="*/ 110 h 210"/>
                  <a:gd name="T6" fmla="*/ 4 w 395"/>
                  <a:gd name="T7" fmla="*/ 91 h 210"/>
                  <a:gd name="T8" fmla="*/ 7 w 395"/>
                  <a:gd name="T9" fmla="*/ 73 h 210"/>
                  <a:gd name="T10" fmla="*/ 11 w 395"/>
                  <a:gd name="T11" fmla="*/ 58 h 210"/>
                  <a:gd name="T12" fmla="*/ 16 w 395"/>
                  <a:gd name="T13" fmla="*/ 44 h 210"/>
                  <a:gd name="T14" fmla="*/ 23 w 395"/>
                  <a:gd name="T15" fmla="*/ 32 h 210"/>
                  <a:gd name="T16" fmla="*/ 31 w 395"/>
                  <a:gd name="T17" fmla="*/ 22 h 210"/>
                  <a:gd name="T18" fmla="*/ 35 w 395"/>
                  <a:gd name="T19" fmla="*/ 17 h 210"/>
                  <a:gd name="T20" fmla="*/ 39 w 395"/>
                  <a:gd name="T21" fmla="*/ 13 h 210"/>
                  <a:gd name="T22" fmla="*/ 44 w 395"/>
                  <a:gd name="T23" fmla="*/ 10 h 210"/>
                  <a:gd name="T24" fmla="*/ 49 w 395"/>
                  <a:gd name="T25" fmla="*/ 7 h 210"/>
                  <a:gd name="T26" fmla="*/ 54 w 395"/>
                  <a:gd name="T27" fmla="*/ 5 h 210"/>
                  <a:gd name="T28" fmla="*/ 60 w 395"/>
                  <a:gd name="T29" fmla="*/ 3 h 210"/>
                  <a:gd name="T30" fmla="*/ 65 w 395"/>
                  <a:gd name="T31" fmla="*/ 1 h 210"/>
                  <a:gd name="T32" fmla="*/ 71 w 395"/>
                  <a:gd name="T33" fmla="*/ 0 h 210"/>
                  <a:gd name="T34" fmla="*/ 84 w 395"/>
                  <a:gd name="T35" fmla="*/ 0 h 210"/>
                  <a:gd name="T36" fmla="*/ 98 w 395"/>
                  <a:gd name="T37" fmla="*/ 1 h 210"/>
                  <a:gd name="T38" fmla="*/ 111 w 395"/>
                  <a:gd name="T39" fmla="*/ 5 h 210"/>
                  <a:gd name="T40" fmla="*/ 125 w 395"/>
                  <a:gd name="T41" fmla="*/ 11 h 210"/>
                  <a:gd name="T42" fmla="*/ 140 w 395"/>
                  <a:gd name="T43" fmla="*/ 19 h 210"/>
                  <a:gd name="T44" fmla="*/ 155 w 395"/>
                  <a:gd name="T45" fmla="*/ 30 h 210"/>
                  <a:gd name="T46" fmla="*/ 395 w 395"/>
                  <a:gd name="T47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5" h="210">
                    <a:moveTo>
                      <a:pt x="395" y="210"/>
                    </a:moveTo>
                    <a:lnTo>
                      <a:pt x="0" y="210"/>
                    </a:lnTo>
                    <a:lnTo>
                      <a:pt x="2" y="110"/>
                    </a:lnTo>
                    <a:lnTo>
                      <a:pt x="4" y="91"/>
                    </a:lnTo>
                    <a:lnTo>
                      <a:pt x="7" y="73"/>
                    </a:lnTo>
                    <a:lnTo>
                      <a:pt x="11" y="58"/>
                    </a:lnTo>
                    <a:lnTo>
                      <a:pt x="16" y="44"/>
                    </a:lnTo>
                    <a:lnTo>
                      <a:pt x="23" y="32"/>
                    </a:lnTo>
                    <a:lnTo>
                      <a:pt x="31" y="22"/>
                    </a:lnTo>
                    <a:lnTo>
                      <a:pt x="35" y="17"/>
                    </a:lnTo>
                    <a:lnTo>
                      <a:pt x="39" y="13"/>
                    </a:lnTo>
                    <a:lnTo>
                      <a:pt x="44" y="10"/>
                    </a:lnTo>
                    <a:lnTo>
                      <a:pt x="49" y="7"/>
                    </a:lnTo>
                    <a:lnTo>
                      <a:pt x="54" y="5"/>
                    </a:lnTo>
                    <a:lnTo>
                      <a:pt x="60" y="3"/>
                    </a:lnTo>
                    <a:lnTo>
                      <a:pt x="65" y="1"/>
                    </a:lnTo>
                    <a:lnTo>
                      <a:pt x="71" y="0"/>
                    </a:lnTo>
                    <a:lnTo>
                      <a:pt x="84" y="0"/>
                    </a:lnTo>
                    <a:lnTo>
                      <a:pt x="98" y="1"/>
                    </a:lnTo>
                    <a:lnTo>
                      <a:pt x="111" y="5"/>
                    </a:lnTo>
                    <a:lnTo>
                      <a:pt x="125" y="11"/>
                    </a:lnTo>
                    <a:lnTo>
                      <a:pt x="140" y="19"/>
                    </a:lnTo>
                    <a:lnTo>
                      <a:pt x="155" y="30"/>
                    </a:lnTo>
                    <a:lnTo>
                      <a:pt x="395" y="210"/>
                    </a:lnTo>
                    <a:close/>
                  </a:path>
                </a:pathLst>
              </a:custGeom>
              <a:solidFill>
                <a:srgbClr val="A8A8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1" name="Freeform 13"/>
              <p:cNvSpPr>
                <a:spLocks/>
              </p:cNvSpPr>
              <p:nvPr/>
            </p:nvSpPr>
            <p:spPr bwMode="auto">
              <a:xfrm>
                <a:off x="3985" y="2239"/>
                <a:ext cx="7" cy="1"/>
              </a:xfrm>
              <a:custGeom>
                <a:avLst/>
                <a:gdLst>
                  <a:gd name="T0" fmla="*/ 540 w 540"/>
                  <a:gd name="T1" fmla="*/ 108 h 108"/>
                  <a:gd name="T2" fmla="*/ 0 w 540"/>
                  <a:gd name="T3" fmla="*/ 108 h 108"/>
                  <a:gd name="T4" fmla="*/ 3 w 540"/>
                  <a:gd name="T5" fmla="*/ 0 h 108"/>
                  <a:gd name="T6" fmla="*/ 398 w 540"/>
                  <a:gd name="T7" fmla="*/ 0 h 108"/>
                  <a:gd name="T8" fmla="*/ 540 w 540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8">
                    <a:moveTo>
                      <a:pt x="540" y="108"/>
                    </a:moveTo>
                    <a:lnTo>
                      <a:pt x="0" y="108"/>
                    </a:lnTo>
                    <a:lnTo>
                      <a:pt x="3" y="0"/>
                    </a:lnTo>
                    <a:lnTo>
                      <a:pt x="398" y="0"/>
                    </a:lnTo>
                    <a:lnTo>
                      <a:pt x="540" y="108"/>
                    </a:lnTo>
                    <a:close/>
                  </a:path>
                </a:pathLst>
              </a:custGeom>
              <a:solidFill>
                <a:srgbClr val="A8A8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2" name="Freeform 14"/>
              <p:cNvSpPr>
                <a:spLocks/>
              </p:cNvSpPr>
              <p:nvPr/>
            </p:nvSpPr>
            <p:spPr bwMode="auto">
              <a:xfrm>
                <a:off x="3985" y="2240"/>
                <a:ext cx="8" cy="2"/>
              </a:xfrm>
              <a:custGeom>
                <a:avLst/>
                <a:gdLst>
                  <a:gd name="T0" fmla="*/ 647 w 647"/>
                  <a:gd name="T1" fmla="*/ 108 h 108"/>
                  <a:gd name="T2" fmla="*/ 0 w 647"/>
                  <a:gd name="T3" fmla="*/ 108 h 108"/>
                  <a:gd name="T4" fmla="*/ 2 w 647"/>
                  <a:gd name="T5" fmla="*/ 0 h 108"/>
                  <a:gd name="T6" fmla="*/ 542 w 647"/>
                  <a:gd name="T7" fmla="*/ 0 h 108"/>
                  <a:gd name="T8" fmla="*/ 571 w 647"/>
                  <a:gd name="T9" fmla="*/ 22 h 108"/>
                  <a:gd name="T10" fmla="*/ 581 w 647"/>
                  <a:gd name="T11" fmla="*/ 31 h 108"/>
                  <a:gd name="T12" fmla="*/ 592 w 647"/>
                  <a:gd name="T13" fmla="*/ 40 h 108"/>
                  <a:gd name="T14" fmla="*/ 602 w 647"/>
                  <a:gd name="T15" fmla="*/ 49 h 108"/>
                  <a:gd name="T16" fmla="*/ 611 w 647"/>
                  <a:gd name="T17" fmla="*/ 60 h 108"/>
                  <a:gd name="T18" fmla="*/ 621 w 647"/>
                  <a:gd name="T19" fmla="*/ 71 h 108"/>
                  <a:gd name="T20" fmla="*/ 630 w 647"/>
                  <a:gd name="T21" fmla="*/ 83 h 108"/>
                  <a:gd name="T22" fmla="*/ 638 w 647"/>
                  <a:gd name="T23" fmla="*/ 95 h 108"/>
                  <a:gd name="T24" fmla="*/ 647 w 647"/>
                  <a:gd name="T2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7" h="108">
                    <a:moveTo>
                      <a:pt x="647" y="108"/>
                    </a:moveTo>
                    <a:lnTo>
                      <a:pt x="0" y="108"/>
                    </a:lnTo>
                    <a:lnTo>
                      <a:pt x="2" y="0"/>
                    </a:lnTo>
                    <a:lnTo>
                      <a:pt x="542" y="0"/>
                    </a:lnTo>
                    <a:lnTo>
                      <a:pt x="571" y="22"/>
                    </a:lnTo>
                    <a:lnTo>
                      <a:pt x="581" y="31"/>
                    </a:lnTo>
                    <a:lnTo>
                      <a:pt x="592" y="40"/>
                    </a:lnTo>
                    <a:lnTo>
                      <a:pt x="602" y="49"/>
                    </a:lnTo>
                    <a:lnTo>
                      <a:pt x="611" y="60"/>
                    </a:lnTo>
                    <a:lnTo>
                      <a:pt x="621" y="71"/>
                    </a:lnTo>
                    <a:lnTo>
                      <a:pt x="630" y="83"/>
                    </a:lnTo>
                    <a:lnTo>
                      <a:pt x="638" y="95"/>
                    </a:lnTo>
                    <a:lnTo>
                      <a:pt x="647" y="108"/>
                    </a:lnTo>
                    <a:close/>
                  </a:path>
                </a:pathLst>
              </a:custGeom>
              <a:solidFill>
                <a:srgbClr val="A8A7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3" name="Freeform 15"/>
              <p:cNvSpPr>
                <a:spLocks/>
              </p:cNvSpPr>
              <p:nvPr/>
            </p:nvSpPr>
            <p:spPr bwMode="auto">
              <a:xfrm>
                <a:off x="3985" y="2242"/>
                <a:ext cx="9" cy="1"/>
              </a:xfrm>
              <a:custGeom>
                <a:avLst/>
                <a:gdLst>
                  <a:gd name="T0" fmla="*/ 700 w 700"/>
                  <a:gd name="T1" fmla="*/ 108 h 108"/>
                  <a:gd name="T2" fmla="*/ 0 w 700"/>
                  <a:gd name="T3" fmla="*/ 108 h 108"/>
                  <a:gd name="T4" fmla="*/ 3 w 700"/>
                  <a:gd name="T5" fmla="*/ 0 h 108"/>
                  <a:gd name="T6" fmla="*/ 650 w 700"/>
                  <a:gd name="T7" fmla="*/ 0 h 108"/>
                  <a:gd name="T8" fmla="*/ 666 w 700"/>
                  <a:gd name="T9" fmla="*/ 25 h 108"/>
                  <a:gd name="T10" fmla="*/ 679 w 700"/>
                  <a:gd name="T11" fmla="*/ 52 h 108"/>
                  <a:gd name="T12" fmla="*/ 691 w 700"/>
                  <a:gd name="T13" fmla="*/ 80 h 108"/>
                  <a:gd name="T14" fmla="*/ 700 w 700"/>
                  <a:gd name="T1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0" h="108">
                    <a:moveTo>
                      <a:pt x="700" y="108"/>
                    </a:moveTo>
                    <a:lnTo>
                      <a:pt x="0" y="108"/>
                    </a:lnTo>
                    <a:lnTo>
                      <a:pt x="3" y="0"/>
                    </a:lnTo>
                    <a:lnTo>
                      <a:pt x="650" y="0"/>
                    </a:lnTo>
                    <a:lnTo>
                      <a:pt x="666" y="25"/>
                    </a:lnTo>
                    <a:lnTo>
                      <a:pt x="679" y="52"/>
                    </a:lnTo>
                    <a:lnTo>
                      <a:pt x="691" y="80"/>
                    </a:lnTo>
                    <a:lnTo>
                      <a:pt x="700" y="108"/>
                    </a:lnTo>
                    <a:close/>
                  </a:path>
                </a:pathLst>
              </a:custGeom>
              <a:solidFill>
                <a:srgbClr val="A7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4" name="Freeform 16"/>
              <p:cNvSpPr>
                <a:spLocks/>
              </p:cNvSpPr>
              <p:nvPr/>
            </p:nvSpPr>
            <p:spPr bwMode="auto">
              <a:xfrm>
                <a:off x="3985" y="2243"/>
                <a:ext cx="9" cy="2"/>
              </a:xfrm>
              <a:custGeom>
                <a:avLst/>
                <a:gdLst>
                  <a:gd name="T0" fmla="*/ 719 w 719"/>
                  <a:gd name="T1" fmla="*/ 108 h 108"/>
                  <a:gd name="T2" fmla="*/ 0 w 719"/>
                  <a:gd name="T3" fmla="*/ 108 h 108"/>
                  <a:gd name="T4" fmla="*/ 2 w 719"/>
                  <a:gd name="T5" fmla="*/ 0 h 108"/>
                  <a:gd name="T6" fmla="*/ 702 w 719"/>
                  <a:gd name="T7" fmla="*/ 0 h 108"/>
                  <a:gd name="T8" fmla="*/ 710 w 719"/>
                  <a:gd name="T9" fmla="*/ 27 h 108"/>
                  <a:gd name="T10" fmla="*/ 715 w 719"/>
                  <a:gd name="T11" fmla="*/ 55 h 108"/>
                  <a:gd name="T12" fmla="*/ 717 w 719"/>
                  <a:gd name="T13" fmla="*/ 69 h 108"/>
                  <a:gd name="T14" fmla="*/ 719 w 719"/>
                  <a:gd name="T15" fmla="*/ 82 h 108"/>
                  <a:gd name="T16" fmla="*/ 719 w 719"/>
                  <a:gd name="T17" fmla="*/ 95 h 108"/>
                  <a:gd name="T18" fmla="*/ 719 w 719"/>
                  <a:gd name="T1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108">
                    <a:moveTo>
                      <a:pt x="719" y="108"/>
                    </a:moveTo>
                    <a:lnTo>
                      <a:pt x="0" y="108"/>
                    </a:lnTo>
                    <a:lnTo>
                      <a:pt x="2" y="0"/>
                    </a:lnTo>
                    <a:lnTo>
                      <a:pt x="702" y="0"/>
                    </a:lnTo>
                    <a:lnTo>
                      <a:pt x="710" y="27"/>
                    </a:lnTo>
                    <a:lnTo>
                      <a:pt x="715" y="55"/>
                    </a:lnTo>
                    <a:lnTo>
                      <a:pt x="717" y="69"/>
                    </a:lnTo>
                    <a:lnTo>
                      <a:pt x="719" y="82"/>
                    </a:lnTo>
                    <a:lnTo>
                      <a:pt x="719" y="95"/>
                    </a:lnTo>
                    <a:lnTo>
                      <a:pt x="719" y="108"/>
                    </a:lnTo>
                    <a:close/>
                  </a:path>
                </a:pathLst>
              </a:custGeom>
              <a:solidFill>
                <a:srgbClr val="A6A5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5" name="Freeform 17"/>
              <p:cNvSpPr>
                <a:spLocks/>
              </p:cNvSpPr>
              <p:nvPr/>
            </p:nvSpPr>
            <p:spPr bwMode="auto">
              <a:xfrm>
                <a:off x="3985" y="2245"/>
                <a:ext cx="9" cy="1"/>
              </a:xfrm>
              <a:custGeom>
                <a:avLst/>
                <a:gdLst>
                  <a:gd name="T0" fmla="*/ 717 w 719"/>
                  <a:gd name="T1" fmla="*/ 108 h 108"/>
                  <a:gd name="T2" fmla="*/ 17 w 719"/>
                  <a:gd name="T3" fmla="*/ 108 h 108"/>
                  <a:gd name="T4" fmla="*/ 9 w 719"/>
                  <a:gd name="T5" fmla="*/ 81 h 108"/>
                  <a:gd name="T6" fmla="*/ 3 w 719"/>
                  <a:gd name="T7" fmla="*/ 53 h 108"/>
                  <a:gd name="T8" fmla="*/ 2 w 719"/>
                  <a:gd name="T9" fmla="*/ 40 h 108"/>
                  <a:gd name="T10" fmla="*/ 1 w 719"/>
                  <a:gd name="T11" fmla="*/ 27 h 108"/>
                  <a:gd name="T12" fmla="*/ 0 w 719"/>
                  <a:gd name="T13" fmla="*/ 14 h 108"/>
                  <a:gd name="T14" fmla="*/ 0 w 719"/>
                  <a:gd name="T15" fmla="*/ 1 h 108"/>
                  <a:gd name="T16" fmla="*/ 0 w 719"/>
                  <a:gd name="T17" fmla="*/ 0 h 108"/>
                  <a:gd name="T18" fmla="*/ 719 w 719"/>
                  <a:gd name="T19" fmla="*/ 0 h 108"/>
                  <a:gd name="T20" fmla="*/ 719 w 719"/>
                  <a:gd name="T21" fmla="*/ 1 h 108"/>
                  <a:gd name="T22" fmla="*/ 719 w 719"/>
                  <a:gd name="T23" fmla="*/ 2 h 108"/>
                  <a:gd name="T24" fmla="*/ 717 w 719"/>
                  <a:gd name="T2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19" h="108">
                    <a:moveTo>
                      <a:pt x="717" y="108"/>
                    </a:moveTo>
                    <a:lnTo>
                      <a:pt x="17" y="108"/>
                    </a:lnTo>
                    <a:lnTo>
                      <a:pt x="9" y="81"/>
                    </a:lnTo>
                    <a:lnTo>
                      <a:pt x="3" y="53"/>
                    </a:lnTo>
                    <a:lnTo>
                      <a:pt x="2" y="40"/>
                    </a:lnTo>
                    <a:lnTo>
                      <a:pt x="1" y="27"/>
                    </a:lnTo>
                    <a:lnTo>
                      <a:pt x="0" y="1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719" y="0"/>
                    </a:lnTo>
                    <a:lnTo>
                      <a:pt x="719" y="1"/>
                    </a:lnTo>
                    <a:lnTo>
                      <a:pt x="719" y="2"/>
                    </a:lnTo>
                    <a:lnTo>
                      <a:pt x="717" y="108"/>
                    </a:lnTo>
                    <a:close/>
                  </a:path>
                </a:pathLst>
              </a:custGeom>
              <a:solidFill>
                <a:srgbClr val="A6A5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6" name="Freeform 18"/>
              <p:cNvSpPr>
                <a:spLocks/>
              </p:cNvSpPr>
              <p:nvPr/>
            </p:nvSpPr>
            <p:spPr bwMode="auto">
              <a:xfrm>
                <a:off x="3985" y="2246"/>
                <a:ext cx="9" cy="2"/>
              </a:xfrm>
              <a:custGeom>
                <a:avLst/>
                <a:gdLst>
                  <a:gd name="T0" fmla="*/ 698 w 700"/>
                  <a:gd name="T1" fmla="*/ 108 h 108"/>
                  <a:gd name="T2" fmla="*/ 48 w 700"/>
                  <a:gd name="T3" fmla="*/ 108 h 108"/>
                  <a:gd name="T4" fmla="*/ 33 w 700"/>
                  <a:gd name="T5" fmla="*/ 82 h 108"/>
                  <a:gd name="T6" fmla="*/ 20 w 700"/>
                  <a:gd name="T7" fmla="*/ 55 h 108"/>
                  <a:gd name="T8" fmla="*/ 9 w 700"/>
                  <a:gd name="T9" fmla="*/ 27 h 108"/>
                  <a:gd name="T10" fmla="*/ 0 w 700"/>
                  <a:gd name="T11" fmla="*/ 0 h 108"/>
                  <a:gd name="T12" fmla="*/ 700 w 700"/>
                  <a:gd name="T13" fmla="*/ 0 h 108"/>
                  <a:gd name="T14" fmla="*/ 698 w 700"/>
                  <a:gd name="T1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0" h="108">
                    <a:moveTo>
                      <a:pt x="698" y="108"/>
                    </a:moveTo>
                    <a:lnTo>
                      <a:pt x="48" y="108"/>
                    </a:lnTo>
                    <a:lnTo>
                      <a:pt x="33" y="82"/>
                    </a:lnTo>
                    <a:lnTo>
                      <a:pt x="20" y="55"/>
                    </a:lnTo>
                    <a:lnTo>
                      <a:pt x="9" y="27"/>
                    </a:lnTo>
                    <a:lnTo>
                      <a:pt x="0" y="0"/>
                    </a:lnTo>
                    <a:lnTo>
                      <a:pt x="700" y="0"/>
                    </a:lnTo>
                    <a:lnTo>
                      <a:pt x="698" y="108"/>
                    </a:lnTo>
                    <a:close/>
                  </a:path>
                </a:pathLst>
              </a:custGeom>
              <a:solidFill>
                <a:srgbClr val="A5A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7" name="Freeform 19"/>
              <p:cNvSpPr>
                <a:spLocks/>
              </p:cNvSpPr>
              <p:nvPr/>
            </p:nvSpPr>
            <p:spPr bwMode="auto">
              <a:xfrm>
                <a:off x="3985" y="2248"/>
                <a:ext cx="9" cy="1"/>
              </a:xfrm>
              <a:custGeom>
                <a:avLst/>
                <a:gdLst>
                  <a:gd name="T0" fmla="*/ 647 w 650"/>
                  <a:gd name="T1" fmla="*/ 107 h 107"/>
                  <a:gd name="T2" fmla="*/ 101 w 650"/>
                  <a:gd name="T3" fmla="*/ 107 h 107"/>
                  <a:gd name="T4" fmla="*/ 79 w 650"/>
                  <a:gd name="T5" fmla="*/ 91 h 107"/>
                  <a:gd name="T6" fmla="*/ 68 w 650"/>
                  <a:gd name="T7" fmla="*/ 81 h 107"/>
                  <a:gd name="T8" fmla="*/ 58 w 650"/>
                  <a:gd name="T9" fmla="*/ 71 h 107"/>
                  <a:gd name="T10" fmla="*/ 47 w 650"/>
                  <a:gd name="T11" fmla="*/ 61 h 107"/>
                  <a:gd name="T12" fmla="*/ 37 w 650"/>
                  <a:gd name="T13" fmla="*/ 50 h 107"/>
                  <a:gd name="T14" fmla="*/ 27 w 650"/>
                  <a:gd name="T15" fmla="*/ 38 h 107"/>
                  <a:gd name="T16" fmla="*/ 17 w 650"/>
                  <a:gd name="T17" fmla="*/ 26 h 107"/>
                  <a:gd name="T18" fmla="*/ 8 w 650"/>
                  <a:gd name="T19" fmla="*/ 13 h 107"/>
                  <a:gd name="T20" fmla="*/ 0 w 650"/>
                  <a:gd name="T21" fmla="*/ 0 h 107"/>
                  <a:gd name="T22" fmla="*/ 650 w 650"/>
                  <a:gd name="T23" fmla="*/ 0 h 107"/>
                  <a:gd name="T24" fmla="*/ 647 w 650"/>
                  <a:gd name="T25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0" h="107">
                    <a:moveTo>
                      <a:pt x="647" y="107"/>
                    </a:moveTo>
                    <a:lnTo>
                      <a:pt x="101" y="107"/>
                    </a:lnTo>
                    <a:lnTo>
                      <a:pt x="79" y="91"/>
                    </a:lnTo>
                    <a:lnTo>
                      <a:pt x="68" y="81"/>
                    </a:lnTo>
                    <a:lnTo>
                      <a:pt x="58" y="71"/>
                    </a:lnTo>
                    <a:lnTo>
                      <a:pt x="47" y="61"/>
                    </a:lnTo>
                    <a:lnTo>
                      <a:pt x="37" y="50"/>
                    </a:lnTo>
                    <a:lnTo>
                      <a:pt x="27" y="38"/>
                    </a:lnTo>
                    <a:lnTo>
                      <a:pt x="17" y="26"/>
                    </a:lnTo>
                    <a:lnTo>
                      <a:pt x="8" y="13"/>
                    </a:lnTo>
                    <a:lnTo>
                      <a:pt x="0" y="0"/>
                    </a:lnTo>
                    <a:lnTo>
                      <a:pt x="650" y="0"/>
                    </a:lnTo>
                    <a:lnTo>
                      <a:pt x="647" y="107"/>
                    </a:lnTo>
                    <a:close/>
                  </a:path>
                </a:pathLst>
              </a:custGeom>
              <a:solidFill>
                <a:srgbClr val="A4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8" name="Freeform 20"/>
              <p:cNvSpPr>
                <a:spLocks/>
              </p:cNvSpPr>
              <p:nvPr/>
            </p:nvSpPr>
            <p:spPr bwMode="auto">
              <a:xfrm>
                <a:off x="3987" y="2249"/>
                <a:ext cx="7" cy="2"/>
              </a:xfrm>
              <a:custGeom>
                <a:avLst/>
                <a:gdLst>
                  <a:gd name="T0" fmla="*/ 544 w 546"/>
                  <a:gd name="T1" fmla="*/ 108 h 108"/>
                  <a:gd name="T2" fmla="*/ 144 w 546"/>
                  <a:gd name="T3" fmla="*/ 108 h 108"/>
                  <a:gd name="T4" fmla="*/ 0 w 546"/>
                  <a:gd name="T5" fmla="*/ 0 h 108"/>
                  <a:gd name="T6" fmla="*/ 546 w 546"/>
                  <a:gd name="T7" fmla="*/ 0 h 108"/>
                  <a:gd name="T8" fmla="*/ 544 w 546"/>
                  <a:gd name="T9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6" h="108">
                    <a:moveTo>
                      <a:pt x="544" y="108"/>
                    </a:moveTo>
                    <a:lnTo>
                      <a:pt x="144" y="108"/>
                    </a:lnTo>
                    <a:lnTo>
                      <a:pt x="0" y="0"/>
                    </a:lnTo>
                    <a:lnTo>
                      <a:pt x="546" y="0"/>
                    </a:lnTo>
                    <a:lnTo>
                      <a:pt x="544" y="108"/>
                    </a:lnTo>
                    <a:close/>
                  </a:path>
                </a:pathLst>
              </a:custGeom>
              <a:solidFill>
                <a:srgbClr val="A3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9" name="Freeform 21"/>
              <p:cNvSpPr>
                <a:spLocks/>
              </p:cNvSpPr>
              <p:nvPr/>
            </p:nvSpPr>
            <p:spPr bwMode="auto">
              <a:xfrm>
                <a:off x="3989" y="2251"/>
                <a:ext cx="5" cy="1"/>
              </a:xfrm>
              <a:custGeom>
                <a:avLst/>
                <a:gdLst>
                  <a:gd name="T0" fmla="*/ 397 w 400"/>
                  <a:gd name="T1" fmla="*/ 107 h 107"/>
                  <a:gd name="T2" fmla="*/ 142 w 400"/>
                  <a:gd name="T3" fmla="*/ 107 h 107"/>
                  <a:gd name="T4" fmla="*/ 0 w 400"/>
                  <a:gd name="T5" fmla="*/ 0 h 107"/>
                  <a:gd name="T6" fmla="*/ 400 w 400"/>
                  <a:gd name="T7" fmla="*/ 0 h 107"/>
                  <a:gd name="T8" fmla="*/ 397 w 400"/>
                  <a:gd name="T9" fmla="*/ 104 h 107"/>
                  <a:gd name="T10" fmla="*/ 397 w 400"/>
                  <a:gd name="T11" fmla="*/ 106 h 107"/>
                  <a:gd name="T12" fmla="*/ 397 w 400"/>
                  <a:gd name="T13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0" h="107">
                    <a:moveTo>
                      <a:pt x="397" y="107"/>
                    </a:moveTo>
                    <a:lnTo>
                      <a:pt x="142" y="107"/>
                    </a:lnTo>
                    <a:lnTo>
                      <a:pt x="0" y="0"/>
                    </a:lnTo>
                    <a:lnTo>
                      <a:pt x="400" y="0"/>
                    </a:lnTo>
                    <a:lnTo>
                      <a:pt x="397" y="104"/>
                    </a:lnTo>
                    <a:lnTo>
                      <a:pt x="397" y="106"/>
                    </a:lnTo>
                    <a:lnTo>
                      <a:pt x="397" y="107"/>
                    </a:lnTo>
                    <a:close/>
                  </a:path>
                </a:pathLst>
              </a:custGeom>
              <a:solidFill>
                <a:srgbClr val="A2A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0" name="Freeform 22"/>
              <p:cNvSpPr>
                <a:spLocks/>
              </p:cNvSpPr>
              <p:nvPr/>
            </p:nvSpPr>
            <p:spPr bwMode="auto">
              <a:xfrm>
                <a:off x="3991" y="2252"/>
                <a:ext cx="3" cy="2"/>
              </a:xfrm>
              <a:custGeom>
                <a:avLst/>
                <a:gdLst>
                  <a:gd name="T0" fmla="*/ 0 w 255"/>
                  <a:gd name="T1" fmla="*/ 0 h 108"/>
                  <a:gd name="T2" fmla="*/ 255 w 255"/>
                  <a:gd name="T3" fmla="*/ 0 h 108"/>
                  <a:gd name="T4" fmla="*/ 254 w 255"/>
                  <a:gd name="T5" fmla="*/ 20 h 108"/>
                  <a:gd name="T6" fmla="*/ 251 w 255"/>
                  <a:gd name="T7" fmla="*/ 37 h 108"/>
                  <a:gd name="T8" fmla="*/ 247 w 255"/>
                  <a:gd name="T9" fmla="*/ 52 h 108"/>
                  <a:gd name="T10" fmla="*/ 241 w 255"/>
                  <a:gd name="T11" fmla="*/ 65 h 108"/>
                  <a:gd name="T12" fmla="*/ 235 w 255"/>
                  <a:gd name="T13" fmla="*/ 77 h 108"/>
                  <a:gd name="T14" fmla="*/ 227 w 255"/>
                  <a:gd name="T15" fmla="*/ 87 h 108"/>
                  <a:gd name="T16" fmla="*/ 222 w 255"/>
                  <a:gd name="T17" fmla="*/ 91 h 108"/>
                  <a:gd name="T18" fmla="*/ 218 w 255"/>
                  <a:gd name="T19" fmla="*/ 95 h 108"/>
                  <a:gd name="T20" fmla="*/ 213 w 255"/>
                  <a:gd name="T21" fmla="*/ 98 h 108"/>
                  <a:gd name="T22" fmla="*/ 208 w 255"/>
                  <a:gd name="T23" fmla="*/ 101 h 108"/>
                  <a:gd name="T24" fmla="*/ 203 w 255"/>
                  <a:gd name="T25" fmla="*/ 104 h 108"/>
                  <a:gd name="T26" fmla="*/ 197 w 255"/>
                  <a:gd name="T27" fmla="*/ 105 h 108"/>
                  <a:gd name="T28" fmla="*/ 191 w 255"/>
                  <a:gd name="T29" fmla="*/ 107 h 108"/>
                  <a:gd name="T30" fmla="*/ 185 w 255"/>
                  <a:gd name="T31" fmla="*/ 108 h 108"/>
                  <a:gd name="T32" fmla="*/ 173 w 255"/>
                  <a:gd name="T33" fmla="*/ 108 h 108"/>
                  <a:gd name="T34" fmla="*/ 160 w 255"/>
                  <a:gd name="T35" fmla="*/ 106 h 108"/>
                  <a:gd name="T36" fmla="*/ 146 w 255"/>
                  <a:gd name="T37" fmla="*/ 103 h 108"/>
                  <a:gd name="T38" fmla="*/ 132 w 255"/>
                  <a:gd name="T39" fmla="*/ 97 h 108"/>
                  <a:gd name="T40" fmla="*/ 118 w 255"/>
                  <a:gd name="T41" fmla="*/ 89 h 108"/>
                  <a:gd name="T42" fmla="*/ 102 w 255"/>
                  <a:gd name="T43" fmla="*/ 78 h 108"/>
                  <a:gd name="T44" fmla="*/ 0 w 255"/>
                  <a:gd name="T45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5" h="108">
                    <a:moveTo>
                      <a:pt x="0" y="0"/>
                    </a:moveTo>
                    <a:lnTo>
                      <a:pt x="255" y="0"/>
                    </a:lnTo>
                    <a:lnTo>
                      <a:pt x="254" y="20"/>
                    </a:lnTo>
                    <a:lnTo>
                      <a:pt x="251" y="37"/>
                    </a:lnTo>
                    <a:lnTo>
                      <a:pt x="247" y="52"/>
                    </a:lnTo>
                    <a:lnTo>
                      <a:pt x="241" y="65"/>
                    </a:lnTo>
                    <a:lnTo>
                      <a:pt x="235" y="77"/>
                    </a:lnTo>
                    <a:lnTo>
                      <a:pt x="227" y="87"/>
                    </a:lnTo>
                    <a:lnTo>
                      <a:pt x="222" y="91"/>
                    </a:lnTo>
                    <a:lnTo>
                      <a:pt x="218" y="95"/>
                    </a:lnTo>
                    <a:lnTo>
                      <a:pt x="213" y="98"/>
                    </a:lnTo>
                    <a:lnTo>
                      <a:pt x="208" y="101"/>
                    </a:lnTo>
                    <a:lnTo>
                      <a:pt x="203" y="104"/>
                    </a:lnTo>
                    <a:lnTo>
                      <a:pt x="197" y="105"/>
                    </a:lnTo>
                    <a:lnTo>
                      <a:pt x="191" y="107"/>
                    </a:lnTo>
                    <a:lnTo>
                      <a:pt x="185" y="108"/>
                    </a:lnTo>
                    <a:lnTo>
                      <a:pt x="173" y="108"/>
                    </a:lnTo>
                    <a:lnTo>
                      <a:pt x="160" y="106"/>
                    </a:lnTo>
                    <a:lnTo>
                      <a:pt x="146" y="103"/>
                    </a:lnTo>
                    <a:lnTo>
                      <a:pt x="132" y="97"/>
                    </a:lnTo>
                    <a:lnTo>
                      <a:pt x="118" y="89"/>
                    </a:lnTo>
                    <a:lnTo>
                      <a:pt x="102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2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1" name="Freeform 23"/>
              <p:cNvSpPr>
                <a:spLocks/>
              </p:cNvSpPr>
              <p:nvPr/>
            </p:nvSpPr>
            <p:spPr bwMode="auto">
              <a:xfrm>
                <a:off x="3986" y="2240"/>
                <a:ext cx="10" cy="18"/>
              </a:xfrm>
              <a:custGeom>
                <a:avLst/>
                <a:gdLst>
                  <a:gd name="T0" fmla="*/ 706 w 720"/>
                  <a:gd name="T1" fmla="*/ 1198 h 1290"/>
                  <a:gd name="T2" fmla="*/ 700 w 720"/>
                  <a:gd name="T3" fmla="*/ 1231 h 1290"/>
                  <a:gd name="T4" fmla="*/ 687 w 720"/>
                  <a:gd name="T5" fmla="*/ 1258 h 1290"/>
                  <a:gd name="T6" fmla="*/ 675 w 720"/>
                  <a:gd name="T7" fmla="*/ 1272 h 1290"/>
                  <a:gd name="T8" fmla="*/ 665 w 720"/>
                  <a:gd name="T9" fmla="*/ 1280 h 1290"/>
                  <a:gd name="T10" fmla="*/ 655 w 720"/>
                  <a:gd name="T11" fmla="*/ 1285 h 1290"/>
                  <a:gd name="T12" fmla="*/ 644 w 720"/>
                  <a:gd name="T13" fmla="*/ 1289 h 1290"/>
                  <a:gd name="T14" fmla="*/ 632 w 720"/>
                  <a:gd name="T15" fmla="*/ 1290 h 1290"/>
                  <a:gd name="T16" fmla="*/ 619 w 720"/>
                  <a:gd name="T17" fmla="*/ 1289 h 1290"/>
                  <a:gd name="T18" fmla="*/ 598 w 720"/>
                  <a:gd name="T19" fmla="*/ 1284 h 1290"/>
                  <a:gd name="T20" fmla="*/ 569 w 720"/>
                  <a:gd name="T21" fmla="*/ 1270 h 1290"/>
                  <a:gd name="T22" fmla="*/ 143 w 720"/>
                  <a:gd name="T23" fmla="*/ 949 h 1290"/>
                  <a:gd name="T24" fmla="*/ 114 w 720"/>
                  <a:gd name="T25" fmla="*/ 923 h 1290"/>
                  <a:gd name="T26" fmla="*/ 87 w 720"/>
                  <a:gd name="T27" fmla="*/ 890 h 1290"/>
                  <a:gd name="T28" fmla="*/ 62 w 720"/>
                  <a:gd name="T29" fmla="*/ 854 h 1290"/>
                  <a:gd name="T30" fmla="*/ 40 w 720"/>
                  <a:gd name="T31" fmla="*/ 814 h 1290"/>
                  <a:gd name="T32" fmla="*/ 23 w 720"/>
                  <a:gd name="T33" fmla="*/ 772 h 1290"/>
                  <a:gd name="T34" fmla="*/ 10 w 720"/>
                  <a:gd name="T35" fmla="*/ 728 h 1290"/>
                  <a:gd name="T36" fmla="*/ 2 w 720"/>
                  <a:gd name="T37" fmla="*/ 686 h 1290"/>
                  <a:gd name="T38" fmla="*/ 0 w 720"/>
                  <a:gd name="T39" fmla="*/ 644 h 1290"/>
                  <a:gd name="T40" fmla="*/ 14 w 720"/>
                  <a:gd name="T41" fmla="*/ 92 h 1290"/>
                  <a:gd name="T42" fmla="*/ 20 w 720"/>
                  <a:gd name="T43" fmla="*/ 59 h 1290"/>
                  <a:gd name="T44" fmla="*/ 32 w 720"/>
                  <a:gd name="T45" fmla="*/ 33 h 1290"/>
                  <a:gd name="T46" fmla="*/ 44 w 720"/>
                  <a:gd name="T47" fmla="*/ 18 h 1290"/>
                  <a:gd name="T48" fmla="*/ 53 w 720"/>
                  <a:gd name="T49" fmla="*/ 11 h 1290"/>
                  <a:gd name="T50" fmla="*/ 65 w 720"/>
                  <a:gd name="T51" fmla="*/ 5 h 1290"/>
                  <a:gd name="T52" fmla="*/ 76 w 720"/>
                  <a:gd name="T53" fmla="*/ 2 h 1290"/>
                  <a:gd name="T54" fmla="*/ 94 w 720"/>
                  <a:gd name="T55" fmla="*/ 0 h 1290"/>
                  <a:gd name="T56" fmla="*/ 121 w 720"/>
                  <a:gd name="T57" fmla="*/ 6 h 1290"/>
                  <a:gd name="T58" fmla="*/ 150 w 720"/>
                  <a:gd name="T59" fmla="*/ 20 h 1290"/>
                  <a:gd name="T60" fmla="*/ 576 w 720"/>
                  <a:gd name="T61" fmla="*/ 341 h 1290"/>
                  <a:gd name="T62" fmla="*/ 605 w 720"/>
                  <a:gd name="T63" fmla="*/ 367 h 1290"/>
                  <a:gd name="T64" fmla="*/ 633 w 720"/>
                  <a:gd name="T65" fmla="*/ 399 h 1290"/>
                  <a:gd name="T66" fmla="*/ 658 w 720"/>
                  <a:gd name="T67" fmla="*/ 437 h 1290"/>
                  <a:gd name="T68" fmla="*/ 679 w 720"/>
                  <a:gd name="T69" fmla="*/ 476 h 1290"/>
                  <a:gd name="T70" fmla="*/ 696 w 720"/>
                  <a:gd name="T71" fmla="*/ 518 h 1290"/>
                  <a:gd name="T72" fmla="*/ 710 w 720"/>
                  <a:gd name="T73" fmla="*/ 562 h 1290"/>
                  <a:gd name="T74" fmla="*/ 717 w 720"/>
                  <a:gd name="T75" fmla="*/ 604 h 1290"/>
                  <a:gd name="T76" fmla="*/ 720 w 720"/>
                  <a:gd name="T77" fmla="*/ 645 h 1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0" h="1290">
                    <a:moveTo>
                      <a:pt x="707" y="1179"/>
                    </a:moveTo>
                    <a:lnTo>
                      <a:pt x="706" y="1198"/>
                    </a:lnTo>
                    <a:lnTo>
                      <a:pt x="704" y="1215"/>
                    </a:lnTo>
                    <a:lnTo>
                      <a:pt x="700" y="1231"/>
                    </a:lnTo>
                    <a:lnTo>
                      <a:pt x="693" y="1245"/>
                    </a:lnTo>
                    <a:lnTo>
                      <a:pt x="687" y="1258"/>
                    </a:lnTo>
                    <a:lnTo>
                      <a:pt x="679" y="1268"/>
                    </a:lnTo>
                    <a:lnTo>
                      <a:pt x="675" y="1272"/>
                    </a:lnTo>
                    <a:lnTo>
                      <a:pt x="670" y="1276"/>
                    </a:lnTo>
                    <a:lnTo>
                      <a:pt x="665" y="1280"/>
                    </a:lnTo>
                    <a:lnTo>
                      <a:pt x="660" y="1283"/>
                    </a:lnTo>
                    <a:lnTo>
                      <a:pt x="655" y="1285"/>
                    </a:lnTo>
                    <a:lnTo>
                      <a:pt x="650" y="1287"/>
                    </a:lnTo>
                    <a:lnTo>
                      <a:pt x="644" y="1289"/>
                    </a:lnTo>
                    <a:lnTo>
                      <a:pt x="638" y="1289"/>
                    </a:lnTo>
                    <a:lnTo>
                      <a:pt x="632" y="1290"/>
                    </a:lnTo>
                    <a:lnTo>
                      <a:pt x="626" y="1290"/>
                    </a:lnTo>
                    <a:lnTo>
                      <a:pt x="619" y="1289"/>
                    </a:lnTo>
                    <a:lnTo>
                      <a:pt x="613" y="1288"/>
                    </a:lnTo>
                    <a:lnTo>
                      <a:pt x="598" y="1284"/>
                    </a:lnTo>
                    <a:lnTo>
                      <a:pt x="584" y="1278"/>
                    </a:lnTo>
                    <a:lnTo>
                      <a:pt x="569" y="1270"/>
                    </a:lnTo>
                    <a:lnTo>
                      <a:pt x="554" y="1260"/>
                    </a:lnTo>
                    <a:lnTo>
                      <a:pt x="143" y="949"/>
                    </a:lnTo>
                    <a:lnTo>
                      <a:pt x="128" y="937"/>
                    </a:lnTo>
                    <a:lnTo>
                      <a:pt x="114" y="923"/>
                    </a:lnTo>
                    <a:lnTo>
                      <a:pt x="100" y="908"/>
                    </a:lnTo>
                    <a:lnTo>
                      <a:pt x="87" y="890"/>
                    </a:lnTo>
                    <a:lnTo>
                      <a:pt x="74" y="872"/>
                    </a:lnTo>
                    <a:lnTo>
                      <a:pt x="62" y="854"/>
                    </a:lnTo>
                    <a:lnTo>
                      <a:pt x="50" y="834"/>
                    </a:lnTo>
                    <a:lnTo>
                      <a:pt x="40" y="814"/>
                    </a:lnTo>
                    <a:lnTo>
                      <a:pt x="31" y="793"/>
                    </a:lnTo>
                    <a:lnTo>
                      <a:pt x="23" y="772"/>
                    </a:lnTo>
                    <a:lnTo>
                      <a:pt x="16" y="750"/>
                    </a:lnTo>
                    <a:lnTo>
                      <a:pt x="10" y="728"/>
                    </a:lnTo>
                    <a:lnTo>
                      <a:pt x="5" y="707"/>
                    </a:lnTo>
                    <a:lnTo>
                      <a:pt x="2" y="686"/>
                    </a:lnTo>
                    <a:lnTo>
                      <a:pt x="0" y="665"/>
                    </a:lnTo>
                    <a:lnTo>
                      <a:pt x="0" y="644"/>
                    </a:lnTo>
                    <a:lnTo>
                      <a:pt x="12" y="111"/>
                    </a:lnTo>
                    <a:lnTo>
                      <a:pt x="14" y="92"/>
                    </a:lnTo>
                    <a:lnTo>
                      <a:pt x="16" y="75"/>
                    </a:lnTo>
                    <a:lnTo>
                      <a:pt x="20" y="59"/>
                    </a:lnTo>
                    <a:lnTo>
                      <a:pt x="26" y="46"/>
                    </a:lnTo>
                    <a:lnTo>
                      <a:pt x="32" y="33"/>
                    </a:lnTo>
                    <a:lnTo>
                      <a:pt x="40" y="22"/>
                    </a:lnTo>
                    <a:lnTo>
                      <a:pt x="44" y="18"/>
                    </a:lnTo>
                    <a:lnTo>
                      <a:pt x="49" y="14"/>
                    </a:lnTo>
                    <a:lnTo>
                      <a:pt x="53" y="11"/>
                    </a:lnTo>
                    <a:lnTo>
                      <a:pt x="59" y="8"/>
                    </a:lnTo>
                    <a:lnTo>
                      <a:pt x="65" y="5"/>
                    </a:lnTo>
                    <a:lnTo>
                      <a:pt x="70" y="3"/>
                    </a:lnTo>
                    <a:lnTo>
                      <a:pt x="76" y="2"/>
                    </a:lnTo>
                    <a:lnTo>
                      <a:pt x="82" y="1"/>
                    </a:lnTo>
                    <a:lnTo>
                      <a:pt x="94" y="0"/>
                    </a:lnTo>
                    <a:lnTo>
                      <a:pt x="107" y="2"/>
                    </a:lnTo>
                    <a:lnTo>
                      <a:pt x="121" y="6"/>
                    </a:lnTo>
                    <a:lnTo>
                      <a:pt x="135" y="12"/>
                    </a:lnTo>
                    <a:lnTo>
                      <a:pt x="150" y="20"/>
                    </a:lnTo>
                    <a:lnTo>
                      <a:pt x="165" y="30"/>
                    </a:lnTo>
                    <a:lnTo>
                      <a:pt x="576" y="341"/>
                    </a:lnTo>
                    <a:lnTo>
                      <a:pt x="590" y="353"/>
                    </a:lnTo>
                    <a:lnTo>
                      <a:pt x="605" y="367"/>
                    </a:lnTo>
                    <a:lnTo>
                      <a:pt x="620" y="383"/>
                    </a:lnTo>
                    <a:lnTo>
                      <a:pt x="633" y="399"/>
                    </a:lnTo>
                    <a:lnTo>
                      <a:pt x="646" y="418"/>
                    </a:lnTo>
                    <a:lnTo>
                      <a:pt x="658" y="437"/>
                    </a:lnTo>
                    <a:lnTo>
                      <a:pt x="669" y="456"/>
                    </a:lnTo>
                    <a:lnTo>
                      <a:pt x="679" y="476"/>
                    </a:lnTo>
                    <a:lnTo>
                      <a:pt x="688" y="497"/>
                    </a:lnTo>
                    <a:lnTo>
                      <a:pt x="696" y="518"/>
                    </a:lnTo>
                    <a:lnTo>
                      <a:pt x="704" y="541"/>
                    </a:lnTo>
                    <a:lnTo>
                      <a:pt x="710" y="562"/>
                    </a:lnTo>
                    <a:lnTo>
                      <a:pt x="714" y="583"/>
                    </a:lnTo>
                    <a:lnTo>
                      <a:pt x="717" y="604"/>
                    </a:lnTo>
                    <a:lnTo>
                      <a:pt x="719" y="625"/>
                    </a:lnTo>
                    <a:lnTo>
                      <a:pt x="720" y="645"/>
                    </a:lnTo>
                    <a:lnTo>
                      <a:pt x="707" y="11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2" name="Freeform 24"/>
              <p:cNvSpPr>
                <a:spLocks/>
              </p:cNvSpPr>
              <p:nvPr/>
            </p:nvSpPr>
            <p:spPr bwMode="auto">
              <a:xfrm>
                <a:off x="3986" y="2238"/>
                <a:ext cx="9" cy="18"/>
              </a:xfrm>
              <a:custGeom>
                <a:avLst/>
                <a:gdLst>
                  <a:gd name="T0" fmla="*/ 706 w 720"/>
                  <a:gd name="T1" fmla="*/ 1197 h 1289"/>
                  <a:gd name="T2" fmla="*/ 700 w 720"/>
                  <a:gd name="T3" fmla="*/ 1230 h 1289"/>
                  <a:gd name="T4" fmla="*/ 688 w 720"/>
                  <a:gd name="T5" fmla="*/ 1256 h 1289"/>
                  <a:gd name="T6" fmla="*/ 676 w 720"/>
                  <a:gd name="T7" fmla="*/ 1272 h 1289"/>
                  <a:gd name="T8" fmla="*/ 665 w 720"/>
                  <a:gd name="T9" fmla="*/ 1279 h 1289"/>
                  <a:gd name="T10" fmla="*/ 655 w 720"/>
                  <a:gd name="T11" fmla="*/ 1284 h 1289"/>
                  <a:gd name="T12" fmla="*/ 644 w 720"/>
                  <a:gd name="T13" fmla="*/ 1288 h 1289"/>
                  <a:gd name="T14" fmla="*/ 632 w 720"/>
                  <a:gd name="T15" fmla="*/ 1289 h 1289"/>
                  <a:gd name="T16" fmla="*/ 619 w 720"/>
                  <a:gd name="T17" fmla="*/ 1289 h 1289"/>
                  <a:gd name="T18" fmla="*/ 599 w 720"/>
                  <a:gd name="T19" fmla="*/ 1284 h 1289"/>
                  <a:gd name="T20" fmla="*/ 569 w 720"/>
                  <a:gd name="T21" fmla="*/ 1270 h 1289"/>
                  <a:gd name="T22" fmla="*/ 144 w 720"/>
                  <a:gd name="T23" fmla="*/ 949 h 1289"/>
                  <a:gd name="T24" fmla="*/ 114 w 720"/>
                  <a:gd name="T25" fmla="*/ 922 h 1289"/>
                  <a:gd name="T26" fmla="*/ 87 w 720"/>
                  <a:gd name="T27" fmla="*/ 889 h 1289"/>
                  <a:gd name="T28" fmla="*/ 62 w 720"/>
                  <a:gd name="T29" fmla="*/ 853 h 1289"/>
                  <a:gd name="T30" fmla="*/ 41 w 720"/>
                  <a:gd name="T31" fmla="*/ 813 h 1289"/>
                  <a:gd name="T32" fmla="*/ 23 w 720"/>
                  <a:gd name="T33" fmla="*/ 770 h 1289"/>
                  <a:gd name="T34" fmla="*/ 10 w 720"/>
                  <a:gd name="T35" fmla="*/ 727 h 1289"/>
                  <a:gd name="T36" fmla="*/ 2 w 720"/>
                  <a:gd name="T37" fmla="*/ 685 h 1289"/>
                  <a:gd name="T38" fmla="*/ 0 w 720"/>
                  <a:gd name="T39" fmla="*/ 643 h 1289"/>
                  <a:gd name="T40" fmla="*/ 14 w 720"/>
                  <a:gd name="T41" fmla="*/ 92 h 1289"/>
                  <a:gd name="T42" fmla="*/ 20 w 720"/>
                  <a:gd name="T43" fmla="*/ 59 h 1289"/>
                  <a:gd name="T44" fmla="*/ 33 w 720"/>
                  <a:gd name="T45" fmla="*/ 32 h 1289"/>
                  <a:gd name="T46" fmla="*/ 45 w 720"/>
                  <a:gd name="T47" fmla="*/ 17 h 1289"/>
                  <a:gd name="T48" fmla="*/ 54 w 720"/>
                  <a:gd name="T49" fmla="*/ 10 h 1289"/>
                  <a:gd name="T50" fmla="*/ 65 w 720"/>
                  <a:gd name="T51" fmla="*/ 5 h 1289"/>
                  <a:gd name="T52" fmla="*/ 76 w 720"/>
                  <a:gd name="T53" fmla="*/ 1 h 1289"/>
                  <a:gd name="T54" fmla="*/ 94 w 720"/>
                  <a:gd name="T55" fmla="*/ 0 h 1289"/>
                  <a:gd name="T56" fmla="*/ 120 w 720"/>
                  <a:gd name="T57" fmla="*/ 5 h 1289"/>
                  <a:gd name="T58" fmla="*/ 150 w 720"/>
                  <a:gd name="T59" fmla="*/ 19 h 1289"/>
                  <a:gd name="T60" fmla="*/ 576 w 720"/>
                  <a:gd name="T61" fmla="*/ 340 h 1289"/>
                  <a:gd name="T62" fmla="*/ 606 w 720"/>
                  <a:gd name="T63" fmla="*/ 366 h 1289"/>
                  <a:gd name="T64" fmla="*/ 633 w 720"/>
                  <a:gd name="T65" fmla="*/ 398 h 1289"/>
                  <a:gd name="T66" fmla="*/ 658 w 720"/>
                  <a:gd name="T67" fmla="*/ 436 h 1289"/>
                  <a:gd name="T68" fmla="*/ 680 w 720"/>
                  <a:gd name="T69" fmla="*/ 476 h 1289"/>
                  <a:gd name="T70" fmla="*/ 697 w 720"/>
                  <a:gd name="T71" fmla="*/ 518 h 1289"/>
                  <a:gd name="T72" fmla="*/ 710 w 720"/>
                  <a:gd name="T73" fmla="*/ 561 h 1289"/>
                  <a:gd name="T74" fmla="*/ 718 w 720"/>
                  <a:gd name="T75" fmla="*/ 604 h 1289"/>
                  <a:gd name="T76" fmla="*/ 720 w 720"/>
                  <a:gd name="T77" fmla="*/ 644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0" h="1289">
                    <a:moveTo>
                      <a:pt x="707" y="1178"/>
                    </a:moveTo>
                    <a:lnTo>
                      <a:pt x="706" y="1197"/>
                    </a:lnTo>
                    <a:lnTo>
                      <a:pt x="704" y="1215"/>
                    </a:lnTo>
                    <a:lnTo>
                      <a:pt x="700" y="1230"/>
                    </a:lnTo>
                    <a:lnTo>
                      <a:pt x="694" y="1244"/>
                    </a:lnTo>
                    <a:lnTo>
                      <a:pt x="688" y="1256"/>
                    </a:lnTo>
                    <a:lnTo>
                      <a:pt x="680" y="1267"/>
                    </a:lnTo>
                    <a:lnTo>
                      <a:pt x="676" y="1272"/>
                    </a:lnTo>
                    <a:lnTo>
                      <a:pt x="671" y="1275"/>
                    </a:lnTo>
                    <a:lnTo>
                      <a:pt x="665" y="1279"/>
                    </a:lnTo>
                    <a:lnTo>
                      <a:pt x="660" y="1282"/>
                    </a:lnTo>
                    <a:lnTo>
                      <a:pt x="655" y="1284"/>
                    </a:lnTo>
                    <a:lnTo>
                      <a:pt x="650" y="1286"/>
                    </a:lnTo>
                    <a:lnTo>
                      <a:pt x="644" y="1288"/>
                    </a:lnTo>
                    <a:lnTo>
                      <a:pt x="638" y="1289"/>
                    </a:lnTo>
                    <a:lnTo>
                      <a:pt x="632" y="1289"/>
                    </a:lnTo>
                    <a:lnTo>
                      <a:pt x="626" y="1289"/>
                    </a:lnTo>
                    <a:lnTo>
                      <a:pt x="619" y="1289"/>
                    </a:lnTo>
                    <a:lnTo>
                      <a:pt x="613" y="1287"/>
                    </a:lnTo>
                    <a:lnTo>
                      <a:pt x="599" y="1284"/>
                    </a:lnTo>
                    <a:lnTo>
                      <a:pt x="585" y="1278"/>
                    </a:lnTo>
                    <a:lnTo>
                      <a:pt x="569" y="1270"/>
                    </a:lnTo>
                    <a:lnTo>
                      <a:pt x="554" y="1258"/>
                    </a:lnTo>
                    <a:lnTo>
                      <a:pt x="144" y="949"/>
                    </a:lnTo>
                    <a:lnTo>
                      <a:pt x="129" y="936"/>
                    </a:lnTo>
                    <a:lnTo>
                      <a:pt x="114" y="922"/>
                    </a:lnTo>
                    <a:lnTo>
                      <a:pt x="100" y="907"/>
                    </a:lnTo>
                    <a:lnTo>
                      <a:pt x="87" y="889"/>
                    </a:lnTo>
                    <a:lnTo>
                      <a:pt x="74" y="872"/>
                    </a:lnTo>
                    <a:lnTo>
                      <a:pt x="62" y="853"/>
                    </a:lnTo>
                    <a:lnTo>
                      <a:pt x="51" y="833"/>
                    </a:lnTo>
                    <a:lnTo>
                      <a:pt x="41" y="813"/>
                    </a:lnTo>
                    <a:lnTo>
                      <a:pt x="32" y="792"/>
                    </a:lnTo>
                    <a:lnTo>
                      <a:pt x="23" y="770"/>
                    </a:lnTo>
                    <a:lnTo>
                      <a:pt x="16" y="749"/>
                    </a:lnTo>
                    <a:lnTo>
                      <a:pt x="10" y="727"/>
                    </a:lnTo>
                    <a:lnTo>
                      <a:pt x="5" y="706"/>
                    </a:lnTo>
                    <a:lnTo>
                      <a:pt x="2" y="685"/>
                    </a:lnTo>
                    <a:lnTo>
                      <a:pt x="0" y="664"/>
                    </a:lnTo>
                    <a:lnTo>
                      <a:pt x="0" y="643"/>
                    </a:lnTo>
                    <a:lnTo>
                      <a:pt x="12" y="111"/>
                    </a:lnTo>
                    <a:lnTo>
                      <a:pt x="14" y="92"/>
                    </a:lnTo>
                    <a:lnTo>
                      <a:pt x="16" y="74"/>
                    </a:lnTo>
                    <a:lnTo>
                      <a:pt x="20" y="59"/>
                    </a:lnTo>
                    <a:lnTo>
                      <a:pt x="26" y="44"/>
                    </a:lnTo>
                    <a:lnTo>
                      <a:pt x="33" y="32"/>
                    </a:lnTo>
                    <a:lnTo>
                      <a:pt x="41" y="22"/>
                    </a:lnTo>
                    <a:lnTo>
                      <a:pt x="45" y="17"/>
                    </a:lnTo>
                    <a:lnTo>
                      <a:pt x="50" y="13"/>
                    </a:lnTo>
                    <a:lnTo>
                      <a:pt x="54" y="10"/>
                    </a:lnTo>
                    <a:lnTo>
                      <a:pt x="59" y="7"/>
                    </a:lnTo>
                    <a:lnTo>
                      <a:pt x="65" y="5"/>
                    </a:lnTo>
                    <a:lnTo>
                      <a:pt x="70" y="3"/>
                    </a:lnTo>
                    <a:lnTo>
                      <a:pt x="76" y="1"/>
                    </a:lnTo>
                    <a:lnTo>
                      <a:pt x="82" y="0"/>
                    </a:lnTo>
                    <a:lnTo>
                      <a:pt x="94" y="0"/>
                    </a:lnTo>
                    <a:lnTo>
                      <a:pt x="107" y="1"/>
                    </a:lnTo>
                    <a:lnTo>
                      <a:pt x="120" y="5"/>
                    </a:lnTo>
                    <a:lnTo>
                      <a:pt x="136" y="11"/>
                    </a:lnTo>
                    <a:lnTo>
                      <a:pt x="150" y="19"/>
                    </a:lnTo>
                    <a:lnTo>
                      <a:pt x="165" y="29"/>
                    </a:lnTo>
                    <a:lnTo>
                      <a:pt x="576" y="340"/>
                    </a:lnTo>
                    <a:lnTo>
                      <a:pt x="591" y="353"/>
                    </a:lnTo>
                    <a:lnTo>
                      <a:pt x="606" y="366"/>
                    </a:lnTo>
                    <a:lnTo>
                      <a:pt x="620" y="382"/>
                    </a:lnTo>
                    <a:lnTo>
                      <a:pt x="633" y="398"/>
                    </a:lnTo>
                    <a:lnTo>
                      <a:pt x="646" y="417"/>
                    </a:lnTo>
                    <a:lnTo>
                      <a:pt x="658" y="436"/>
                    </a:lnTo>
                    <a:lnTo>
                      <a:pt x="670" y="456"/>
                    </a:lnTo>
                    <a:lnTo>
                      <a:pt x="680" y="476"/>
                    </a:lnTo>
                    <a:lnTo>
                      <a:pt x="689" y="496"/>
                    </a:lnTo>
                    <a:lnTo>
                      <a:pt x="697" y="518"/>
                    </a:lnTo>
                    <a:lnTo>
                      <a:pt x="704" y="540"/>
                    </a:lnTo>
                    <a:lnTo>
                      <a:pt x="710" y="561"/>
                    </a:lnTo>
                    <a:lnTo>
                      <a:pt x="714" y="583"/>
                    </a:lnTo>
                    <a:lnTo>
                      <a:pt x="718" y="604"/>
                    </a:lnTo>
                    <a:lnTo>
                      <a:pt x="719" y="624"/>
                    </a:lnTo>
                    <a:lnTo>
                      <a:pt x="720" y="644"/>
                    </a:lnTo>
                    <a:lnTo>
                      <a:pt x="707" y="1178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3" name="Freeform 25"/>
              <p:cNvSpPr>
                <a:spLocks/>
              </p:cNvSpPr>
              <p:nvPr/>
            </p:nvSpPr>
            <p:spPr bwMode="auto">
              <a:xfrm>
                <a:off x="3997" y="2245"/>
                <a:ext cx="4" cy="2"/>
              </a:xfrm>
              <a:custGeom>
                <a:avLst/>
                <a:gdLst>
                  <a:gd name="T0" fmla="*/ 301 w 301"/>
                  <a:gd name="T1" fmla="*/ 171 h 171"/>
                  <a:gd name="T2" fmla="*/ 0 w 301"/>
                  <a:gd name="T3" fmla="*/ 171 h 171"/>
                  <a:gd name="T4" fmla="*/ 2 w 301"/>
                  <a:gd name="T5" fmla="*/ 70 h 171"/>
                  <a:gd name="T6" fmla="*/ 3 w 301"/>
                  <a:gd name="T7" fmla="*/ 59 h 171"/>
                  <a:gd name="T8" fmla="*/ 5 w 301"/>
                  <a:gd name="T9" fmla="*/ 47 h 171"/>
                  <a:gd name="T10" fmla="*/ 7 w 301"/>
                  <a:gd name="T11" fmla="*/ 37 h 171"/>
                  <a:gd name="T12" fmla="*/ 11 w 301"/>
                  <a:gd name="T13" fmla="*/ 28 h 171"/>
                  <a:gd name="T14" fmla="*/ 15 w 301"/>
                  <a:gd name="T15" fmla="*/ 20 h 171"/>
                  <a:gd name="T16" fmla="*/ 21 w 301"/>
                  <a:gd name="T17" fmla="*/ 14 h 171"/>
                  <a:gd name="T18" fmla="*/ 26 w 301"/>
                  <a:gd name="T19" fmla="*/ 9 h 171"/>
                  <a:gd name="T20" fmla="*/ 32 w 301"/>
                  <a:gd name="T21" fmla="*/ 5 h 171"/>
                  <a:gd name="T22" fmla="*/ 39 w 301"/>
                  <a:gd name="T23" fmla="*/ 2 h 171"/>
                  <a:gd name="T24" fmla="*/ 46 w 301"/>
                  <a:gd name="T25" fmla="*/ 0 h 171"/>
                  <a:gd name="T26" fmla="*/ 54 w 301"/>
                  <a:gd name="T27" fmla="*/ 0 h 171"/>
                  <a:gd name="T28" fmla="*/ 62 w 301"/>
                  <a:gd name="T29" fmla="*/ 1 h 171"/>
                  <a:gd name="T30" fmla="*/ 71 w 301"/>
                  <a:gd name="T31" fmla="*/ 4 h 171"/>
                  <a:gd name="T32" fmla="*/ 80 w 301"/>
                  <a:gd name="T33" fmla="*/ 7 h 171"/>
                  <a:gd name="T34" fmla="*/ 89 w 301"/>
                  <a:gd name="T35" fmla="*/ 12 h 171"/>
                  <a:gd name="T36" fmla="*/ 98 w 301"/>
                  <a:gd name="T37" fmla="*/ 19 h 171"/>
                  <a:gd name="T38" fmla="*/ 301 w 301"/>
                  <a:gd name="T3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1" h="171">
                    <a:moveTo>
                      <a:pt x="301" y="171"/>
                    </a:moveTo>
                    <a:lnTo>
                      <a:pt x="0" y="171"/>
                    </a:lnTo>
                    <a:lnTo>
                      <a:pt x="2" y="70"/>
                    </a:lnTo>
                    <a:lnTo>
                      <a:pt x="3" y="59"/>
                    </a:lnTo>
                    <a:lnTo>
                      <a:pt x="5" y="47"/>
                    </a:lnTo>
                    <a:lnTo>
                      <a:pt x="7" y="37"/>
                    </a:lnTo>
                    <a:lnTo>
                      <a:pt x="11" y="28"/>
                    </a:lnTo>
                    <a:lnTo>
                      <a:pt x="15" y="20"/>
                    </a:lnTo>
                    <a:lnTo>
                      <a:pt x="21" y="14"/>
                    </a:lnTo>
                    <a:lnTo>
                      <a:pt x="26" y="9"/>
                    </a:lnTo>
                    <a:lnTo>
                      <a:pt x="32" y="5"/>
                    </a:lnTo>
                    <a:lnTo>
                      <a:pt x="39" y="2"/>
                    </a:lnTo>
                    <a:lnTo>
                      <a:pt x="46" y="0"/>
                    </a:lnTo>
                    <a:lnTo>
                      <a:pt x="54" y="0"/>
                    </a:lnTo>
                    <a:lnTo>
                      <a:pt x="62" y="1"/>
                    </a:lnTo>
                    <a:lnTo>
                      <a:pt x="71" y="4"/>
                    </a:lnTo>
                    <a:lnTo>
                      <a:pt x="80" y="7"/>
                    </a:lnTo>
                    <a:lnTo>
                      <a:pt x="89" y="12"/>
                    </a:lnTo>
                    <a:lnTo>
                      <a:pt x="98" y="19"/>
                    </a:lnTo>
                    <a:lnTo>
                      <a:pt x="301" y="171"/>
                    </a:lnTo>
                    <a:close/>
                  </a:path>
                </a:pathLst>
              </a:custGeom>
              <a:solidFill>
                <a:srgbClr val="A8A8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4" name="Freeform 26"/>
              <p:cNvSpPr>
                <a:spLocks/>
              </p:cNvSpPr>
              <p:nvPr/>
            </p:nvSpPr>
            <p:spPr bwMode="auto">
              <a:xfrm>
                <a:off x="3997" y="2247"/>
                <a:ext cx="5" cy="1"/>
              </a:xfrm>
              <a:custGeom>
                <a:avLst/>
                <a:gdLst>
                  <a:gd name="T0" fmla="*/ 385 w 385"/>
                  <a:gd name="T1" fmla="*/ 69 h 69"/>
                  <a:gd name="T2" fmla="*/ 0 w 385"/>
                  <a:gd name="T3" fmla="*/ 69 h 69"/>
                  <a:gd name="T4" fmla="*/ 2 w 385"/>
                  <a:gd name="T5" fmla="*/ 0 h 69"/>
                  <a:gd name="T6" fmla="*/ 303 w 385"/>
                  <a:gd name="T7" fmla="*/ 0 h 69"/>
                  <a:gd name="T8" fmla="*/ 359 w 385"/>
                  <a:gd name="T9" fmla="*/ 44 h 69"/>
                  <a:gd name="T10" fmla="*/ 373 w 385"/>
                  <a:gd name="T11" fmla="*/ 55 h 69"/>
                  <a:gd name="T12" fmla="*/ 385 w 385"/>
                  <a:gd name="T1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5" h="69">
                    <a:moveTo>
                      <a:pt x="385" y="69"/>
                    </a:moveTo>
                    <a:lnTo>
                      <a:pt x="0" y="69"/>
                    </a:lnTo>
                    <a:lnTo>
                      <a:pt x="2" y="0"/>
                    </a:lnTo>
                    <a:lnTo>
                      <a:pt x="303" y="0"/>
                    </a:lnTo>
                    <a:lnTo>
                      <a:pt x="359" y="44"/>
                    </a:lnTo>
                    <a:lnTo>
                      <a:pt x="373" y="55"/>
                    </a:lnTo>
                    <a:lnTo>
                      <a:pt x="385" y="69"/>
                    </a:lnTo>
                    <a:close/>
                  </a:path>
                </a:pathLst>
              </a:custGeom>
              <a:solidFill>
                <a:srgbClr val="A8A8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5" name="Freeform 27"/>
              <p:cNvSpPr>
                <a:spLocks/>
              </p:cNvSpPr>
              <p:nvPr/>
            </p:nvSpPr>
            <p:spPr bwMode="auto">
              <a:xfrm>
                <a:off x="3997" y="2248"/>
                <a:ext cx="6" cy="1"/>
              </a:xfrm>
              <a:custGeom>
                <a:avLst/>
                <a:gdLst>
                  <a:gd name="T0" fmla="*/ 429 w 429"/>
                  <a:gd name="T1" fmla="*/ 68 h 68"/>
                  <a:gd name="T2" fmla="*/ 0 w 429"/>
                  <a:gd name="T3" fmla="*/ 68 h 68"/>
                  <a:gd name="T4" fmla="*/ 1 w 429"/>
                  <a:gd name="T5" fmla="*/ 0 h 68"/>
                  <a:gd name="T6" fmla="*/ 386 w 429"/>
                  <a:gd name="T7" fmla="*/ 0 h 68"/>
                  <a:gd name="T8" fmla="*/ 399 w 429"/>
                  <a:gd name="T9" fmla="*/ 15 h 68"/>
                  <a:gd name="T10" fmla="*/ 410 w 429"/>
                  <a:gd name="T11" fmla="*/ 31 h 68"/>
                  <a:gd name="T12" fmla="*/ 420 w 429"/>
                  <a:gd name="T13" fmla="*/ 49 h 68"/>
                  <a:gd name="T14" fmla="*/ 429 w 429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9" h="68">
                    <a:moveTo>
                      <a:pt x="429" y="68"/>
                    </a:moveTo>
                    <a:lnTo>
                      <a:pt x="0" y="68"/>
                    </a:lnTo>
                    <a:lnTo>
                      <a:pt x="1" y="0"/>
                    </a:lnTo>
                    <a:lnTo>
                      <a:pt x="386" y="0"/>
                    </a:lnTo>
                    <a:lnTo>
                      <a:pt x="399" y="15"/>
                    </a:lnTo>
                    <a:lnTo>
                      <a:pt x="410" y="31"/>
                    </a:lnTo>
                    <a:lnTo>
                      <a:pt x="420" y="49"/>
                    </a:lnTo>
                    <a:lnTo>
                      <a:pt x="429" y="68"/>
                    </a:lnTo>
                    <a:close/>
                  </a:path>
                </a:pathLst>
              </a:custGeom>
              <a:solidFill>
                <a:srgbClr val="A8A7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6" name="Freeform 28"/>
              <p:cNvSpPr>
                <a:spLocks/>
              </p:cNvSpPr>
              <p:nvPr/>
            </p:nvSpPr>
            <p:spPr bwMode="auto">
              <a:xfrm>
                <a:off x="3997" y="2249"/>
                <a:ext cx="6" cy="1"/>
              </a:xfrm>
              <a:custGeom>
                <a:avLst/>
                <a:gdLst>
                  <a:gd name="T0" fmla="*/ 451 w 451"/>
                  <a:gd name="T1" fmla="*/ 68 h 68"/>
                  <a:gd name="T2" fmla="*/ 0 w 451"/>
                  <a:gd name="T3" fmla="*/ 68 h 68"/>
                  <a:gd name="T4" fmla="*/ 2 w 451"/>
                  <a:gd name="T5" fmla="*/ 0 h 68"/>
                  <a:gd name="T6" fmla="*/ 431 w 451"/>
                  <a:gd name="T7" fmla="*/ 0 h 68"/>
                  <a:gd name="T8" fmla="*/ 438 w 451"/>
                  <a:gd name="T9" fmla="*/ 17 h 68"/>
                  <a:gd name="T10" fmla="*/ 444 w 451"/>
                  <a:gd name="T11" fmla="*/ 34 h 68"/>
                  <a:gd name="T12" fmla="*/ 448 w 451"/>
                  <a:gd name="T13" fmla="*/ 51 h 68"/>
                  <a:gd name="T14" fmla="*/ 451 w 451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1" h="68">
                    <a:moveTo>
                      <a:pt x="451" y="68"/>
                    </a:moveTo>
                    <a:lnTo>
                      <a:pt x="0" y="68"/>
                    </a:lnTo>
                    <a:lnTo>
                      <a:pt x="2" y="0"/>
                    </a:lnTo>
                    <a:lnTo>
                      <a:pt x="431" y="0"/>
                    </a:lnTo>
                    <a:lnTo>
                      <a:pt x="438" y="17"/>
                    </a:lnTo>
                    <a:lnTo>
                      <a:pt x="444" y="34"/>
                    </a:lnTo>
                    <a:lnTo>
                      <a:pt x="448" y="51"/>
                    </a:lnTo>
                    <a:lnTo>
                      <a:pt x="451" y="68"/>
                    </a:lnTo>
                    <a:close/>
                  </a:path>
                </a:pathLst>
              </a:custGeom>
              <a:solidFill>
                <a:srgbClr val="A7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7" name="Freeform 29"/>
              <p:cNvSpPr>
                <a:spLocks/>
              </p:cNvSpPr>
              <p:nvPr/>
            </p:nvSpPr>
            <p:spPr bwMode="auto">
              <a:xfrm>
                <a:off x="3997" y="2250"/>
                <a:ext cx="6" cy="1"/>
              </a:xfrm>
              <a:custGeom>
                <a:avLst/>
                <a:gdLst>
                  <a:gd name="T0" fmla="*/ 453 w 454"/>
                  <a:gd name="T1" fmla="*/ 68 h 68"/>
                  <a:gd name="T2" fmla="*/ 4 w 454"/>
                  <a:gd name="T3" fmla="*/ 68 h 68"/>
                  <a:gd name="T4" fmla="*/ 2 w 454"/>
                  <a:gd name="T5" fmla="*/ 58 h 68"/>
                  <a:gd name="T6" fmla="*/ 1 w 454"/>
                  <a:gd name="T7" fmla="*/ 49 h 68"/>
                  <a:gd name="T8" fmla="*/ 0 w 454"/>
                  <a:gd name="T9" fmla="*/ 40 h 68"/>
                  <a:gd name="T10" fmla="*/ 0 w 454"/>
                  <a:gd name="T11" fmla="*/ 30 h 68"/>
                  <a:gd name="T12" fmla="*/ 1 w 454"/>
                  <a:gd name="T13" fmla="*/ 0 h 68"/>
                  <a:gd name="T14" fmla="*/ 452 w 454"/>
                  <a:gd name="T15" fmla="*/ 0 h 68"/>
                  <a:gd name="T16" fmla="*/ 453 w 454"/>
                  <a:gd name="T17" fmla="*/ 7 h 68"/>
                  <a:gd name="T18" fmla="*/ 454 w 454"/>
                  <a:gd name="T19" fmla="*/ 15 h 68"/>
                  <a:gd name="T20" fmla="*/ 454 w 454"/>
                  <a:gd name="T21" fmla="*/ 23 h 68"/>
                  <a:gd name="T22" fmla="*/ 454 w 454"/>
                  <a:gd name="T23" fmla="*/ 30 h 68"/>
                  <a:gd name="T24" fmla="*/ 453 w 454"/>
                  <a:gd name="T2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4" h="68">
                    <a:moveTo>
                      <a:pt x="453" y="68"/>
                    </a:moveTo>
                    <a:lnTo>
                      <a:pt x="4" y="68"/>
                    </a:lnTo>
                    <a:lnTo>
                      <a:pt x="2" y="58"/>
                    </a:lnTo>
                    <a:lnTo>
                      <a:pt x="1" y="49"/>
                    </a:lnTo>
                    <a:lnTo>
                      <a:pt x="0" y="40"/>
                    </a:lnTo>
                    <a:lnTo>
                      <a:pt x="0" y="30"/>
                    </a:lnTo>
                    <a:lnTo>
                      <a:pt x="1" y="0"/>
                    </a:lnTo>
                    <a:lnTo>
                      <a:pt x="452" y="0"/>
                    </a:lnTo>
                    <a:lnTo>
                      <a:pt x="453" y="7"/>
                    </a:lnTo>
                    <a:lnTo>
                      <a:pt x="454" y="15"/>
                    </a:lnTo>
                    <a:lnTo>
                      <a:pt x="454" y="23"/>
                    </a:lnTo>
                    <a:lnTo>
                      <a:pt x="454" y="30"/>
                    </a:lnTo>
                    <a:lnTo>
                      <a:pt x="453" y="68"/>
                    </a:lnTo>
                    <a:close/>
                  </a:path>
                </a:pathLst>
              </a:custGeom>
              <a:solidFill>
                <a:srgbClr val="A6A5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8" name="Freeform 30"/>
              <p:cNvSpPr>
                <a:spLocks/>
              </p:cNvSpPr>
              <p:nvPr/>
            </p:nvSpPr>
            <p:spPr bwMode="auto">
              <a:xfrm>
                <a:off x="3997" y="2251"/>
                <a:ext cx="6" cy="1"/>
              </a:xfrm>
              <a:custGeom>
                <a:avLst/>
                <a:gdLst>
                  <a:gd name="T0" fmla="*/ 448 w 449"/>
                  <a:gd name="T1" fmla="*/ 67 h 67"/>
                  <a:gd name="T2" fmla="*/ 21 w 449"/>
                  <a:gd name="T3" fmla="*/ 67 h 67"/>
                  <a:gd name="T4" fmla="*/ 14 w 449"/>
                  <a:gd name="T5" fmla="*/ 51 h 67"/>
                  <a:gd name="T6" fmla="*/ 8 w 449"/>
                  <a:gd name="T7" fmla="*/ 34 h 67"/>
                  <a:gd name="T8" fmla="*/ 3 w 449"/>
                  <a:gd name="T9" fmla="*/ 17 h 67"/>
                  <a:gd name="T10" fmla="*/ 0 w 449"/>
                  <a:gd name="T11" fmla="*/ 0 h 67"/>
                  <a:gd name="T12" fmla="*/ 449 w 449"/>
                  <a:gd name="T13" fmla="*/ 0 h 67"/>
                  <a:gd name="T14" fmla="*/ 448 w 449"/>
                  <a:gd name="T1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9" h="67">
                    <a:moveTo>
                      <a:pt x="448" y="67"/>
                    </a:moveTo>
                    <a:lnTo>
                      <a:pt x="21" y="67"/>
                    </a:lnTo>
                    <a:lnTo>
                      <a:pt x="14" y="51"/>
                    </a:lnTo>
                    <a:lnTo>
                      <a:pt x="8" y="34"/>
                    </a:lnTo>
                    <a:lnTo>
                      <a:pt x="3" y="17"/>
                    </a:lnTo>
                    <a:lnTo>
                      <a:pt x="0" y="0"/>
                    </a:lnTo>
                    <a:lnTo>
                      <a:pt x="449" y="0"/>
                    </a:lnTo>
                    <a:lnTo>
                      <a:pt x="448" y="67"/>
                    </a:lnTo>
                    <a:close/>
                  </a:path>
                </a:pathLst>
              </a:custGeom>
              <a:solidFill>
                <a:srgbClr val="A6A5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9" name="Freeform 31"/>
              <p:cNvSpPr>
                <a:spLocks/>
              </p:cNvSpPr>
              <p:nvPr/>
            </p:nvSpPr>
            <p:spPr bwMode="auto">
              <a:xfrm>
                <a:off x="3997" y="2252"/>
                <a:ext cx="6" cy="1"/>
              </a:xfrm>
              <a:custGeom>
                <a:avLst/>
                <a:gdLst>
                  <a:gd name="T0" fmla="*/ 425 w 427"/>
                  <a:gd name="T1" fmla="*/ 69 h 69"/>
                  <a:gd name="T2" fmla="*/ 46 w 427"/>
                  <a:gd name="T3" fmla="*/ 69 h 69"/>
                  <a:gd name="T4" fmla="*/ 33 w 427"/>
                  <a:gd name="T5" fmla="*/ 54 h 69"/>
                  <a:gd name="T6" fmla="*/ 21 w 427"/>
                  <a:gd name="T7" fmla="*/ 38 h 69"/>
                  <a:gd name="T8" fmla="*/ 11 w 427"/>
                  <a:gd name="T9" fmla="*/ 19 h 69"/>
                  <a:gd name="T10" fmla="*/ 0 w 427"/>
                  <a:gd name="T11" fmla="*/ 0 h 69"/>
                  <a:gd name="T12" fmla="*/ 427 w 427"/>
                  <a:gd name="T13" fmla="*/ 0 h 69"/>
                  <a:gd name="T14" fmla="*/ 425 w 427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7" h="69">
                    <a:moveTo>
                      <a:pt x="425" y="69"/>
                    </a:moveTo>
                    <a:lnTo>
                      <a:pt x="46" y="69"/>
                    </a:lnTo>
                    <a:lnTo>
                      <a:pt x="33" y="54"/>
                    </a:lnTo>
                    <a:lnTo>
                      <a:pt x="21" y="38"/>
                    </a:lnTo>
                    <a:lnTo>
                      <a:pt x="11" y="19"/>
                    </a:lnTo>
                    <a:lnTo>
                      <a:pt x="0" y="0"/>
                    </a:lnTo>
                    <a:lnTo>
                      <a:pt x="427" y="0"/>
                    </a:lnTo>
                    <a:lnTo>
                      <a:pt x="425" y="69"/>
                    </a:lnTo>
                    <a:close/>
                  </a:path>
                </a:pathLst>
              </a:custGeom>
              <a:solidFill>
                <a:srgbClr val="A5A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0" name="Freeform 32"/>
              <p:cNvSpPr>
                <a:spLocks/>
              </p:cNvSpPr>
              <p:nvPr/>
            </p:nvSpPr>
            <p:spPr bwMode="auto">
              <a:xfrm>
                <a:off x="3998" y="2253"/>
                <a:ext cx="5" cy="1"/>
              </a:xfrm>
              <a:custGeom>
                <a:avLst/>
                <a:gdLst>
                  <a:gd name="T0" fmla="*/ 378 w 379"/>
                  <a:gd name="T1" fmla="*/ 67 h 67"/>
                  <a:gd name="T2" fmla="*/ 86 w 379"/>
                  <a:gd name="T3" fmla="*/ 67 h 67"/>
                  <a:gd name="T4" fmla="*/ 20 w 379"/>
                  <a:gd name="T5" fmla="*/ 18 h 67"/>
                  <a:gd name="T6" fmla="*/ 10 w 379"/>
                  <a:gd name="T7" fmla="*/ 10 h 67"/>
                  <a:gd name="T8" fmla="*/ 0 w 379"/>
                  <a:gd name="T9" fmla="*/ 0 h 67"/>
                  <a:gd name="T10" fmla="*/ 379 w 379"/>
                  <a:gd name="T11" fmla="*/ 0 h 67"/>
                  <a:gd name="T12" fmla="*/ 378 w 379"/>
                  <a:gd name="T13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9" h="67">
                    <a:moveTo>
                      <a:pt x="378" y="67"/>
                    </a:moveTo>
                    <a:lnTo>
                      <a:pt x="86" y="67"/>
                    </a:lnTo>
                    <a:lnTo>
                      <a:pt x="20" y="18"/>
                    </a:lnTo>
                    <a:lnTo>
                      <a:pt x="10" y="10"/>
                    </a:lnTo>
                    <a:lnTo>
                      <a:pt x="0" y="0"/>
                    </a:lnTo>
                    <a:lnTo>
                      <a:pt x="379" y="0"/>
                    </a:lnTo>
                    <a:lnTo>
                      <a:pt x="378" y="67"/>
                    </a:lnTo>
                    <a:close/>
                  </a:path>
                </a:pathLst>
              </a:custGeom>
              <a:solidFill>
                <a:srgbClr val="A4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1" name="Freeform 33"/>
              <p:cNvSpPr>
                <a:spLocks/>
              </p:cNvSpPr>
              <p:nvPr/>
            </p:nvSpPr>
            <p:spPr bwMode="auto">
              <a:xfrm>
                <a:off x="3999" y="2254"/>
                <a:ext cx="4" cy="1"/>
              </a:xfrm>
              <a:custGeom>
                <a:avLst/>
                <a:gdLst>
                  <a:gd name="T0" fmla="*/ 290 w 292"/>
                  <a:gd name="T1" fmla="*/ 69 h 69"/>
                  <a:gd name="T2" fmla="*/ 90 w 292"/>
                  <a:gd name="T3" fmla="*/ 69 h 69"/>
                  <a:gd name="T4" fmla="*/ 0 w 292"/>
                  <a:gd name="T5" fmla="*/ 0 h 69"/>
                  <a:gd name="T6" fmla="*/ 292 w 292"/>
                  <a:gd name="T7" fmla="*/ 0 h 69"/>
                  <a:gd name="T8" fmla="*/ 290 w 292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2" h="69">
                    <a:moveTo>
                      <a:pt x="290" y="69"/>
                    </a:moveTo>
                    <a:lnTo>
                      <a:pt x="90" y="69"/>
                    </a:lnTo>
                    <a:lnTo>
                      <a:pt x="0" y="0"/>
                    </a:lnTo>
                    <a:lnTo>
                      <a:pt x="292" y="0"/>
                    </a:lnTo>
                    <a:lnTo>
                      <a:pt x="290" y="69"/>
                    </a:lnTo>
                    <a:close/>
                  </a:path>
                </a:pathLst>
              </a:custGeom>
              <a:solidFill>
                <a:srgbClr val="A3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2" name="Freeform 34"/>
              <p:cNvSpPr>
                <a:spLocks/>
              </p:cNvSpPr>
              <p:nvPr/>
            </p:nvSpPr>
            <p:spPr bwMode="auto">
              <a:xfrm>
                <a:off x="4000" y="2255"/>
                <a:ext cx="3" cy="1"/>
              </a:xfrm>
              <a:custGeom>
                <a:avLst/>
                <a:gdLst>
                  <a:gd name="T0" fmla="*/ 191 w 200"/>
                  <a:gd name="T1" fmla="*/ 68 h 68"/>
                  <a:gd name="T2" fmla="*/ 90 w 200"/>
                  <a:gd name="T3" fmla="*/ 68 h 68"/>
                  <a:gd name="T4" fmla="*/ 0 w 200"/>
                  <a:gd name="T5" fmla="*/ 0 h 68"/>
                  <a:gd name="T6" fmla="*/ 200 w 200"/>
                  <a:gd name="T7" fmla="*/ 0 h 68"/>
                  <a:gd name="T8" fmla="*/ 199 w 200"/>
                  <a:gd name="T9" fmla="*/ 27 h 68"/>
                  <a:gd name="T10" fmla="*/ 199 w 200"/>
                  <a:gd name="T11" fmla="*/ 38 h 68"/>
                  <a:gd name="T12" fmla="*/ 197 w 200"/>
                  <a:gd name="T13" fmla="*/ 49 h 68"/>
                  <a:gd name="T14" fmla="*/ 195 w 200"/>
                  <a:gd name="T15" fmla="*/ 59 h 68"/>
                  <a:gd name="T16" fmla="*/ 191 w 200"/>
                  <a:gd name="T17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68">
                    <a:moveTo>
                      <a:pt x="191" y="68"/>
                    </a:moveTo>
                    <a:lnTo>
                      <a:pt x="90" y="68"/>
                    </a:lnTo>
                    <a:lnTo>
                      <a:pt x="0" y="0"/>
                    </a:lnTo>
                    <a:lnTo>
                      <a:pt x="200" y="0"/>
                    </a:lnTo>
                    <a:lnTo>
                      <a:pt x="199" y="27"/>
                    </a:lnTo>
                    <a:lnTo>
                      <a:pt x="199" y="38"/>
                    </a:lnTo>
                    <a:lnTo>
                      <a:pt x="197" y="49"/>
                    </a:lnTo>
                    <a:lnTo>
                      <a:pt x="195" y="59"/>
                    </a:lnTo>
                    <a:lnTo>
                      <a:pt x="191" y="68"/>
                    </a:lnTo>
                    <a:close/>
                  </a:path>
                </a:pathLst>
              </a:custGeom>
              <a:solidFill>
                <a:srgbClr val="A2A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3" name="Freeform 35"/>
              <p:cNvSpPr>
                <a:spLocks/>
              </p:cNvSpPr>
              <p:nvPr/>
            </p:nvSpPr>
            <p:spPr bwMode="auto">
              <a:xfrm>
                <a:off x="4002" y="2256"/>
                <a:ext cx="1" cy="0"/>
              </a:xfrm>
              <a:custGeom>
                <a:avLst/>
                <a:gdLst>
                  <a:gd name="T0" fmla="*/ 0 w 101"/>
                  <a:gd name="T1" fmla="*/ 0 h 29"/>
                  <a:gd name="T2" fmla="*/ 101 w 101"/>
                  <a:gd name="T3" fmla="*/ 0 h 29"/>
                  <a:gd name="T4" fmla="*/ 98 w 101"/>
                  <a:gd name="T5" fmla="*/ 6 h 29"/>
                  <a:gd name="T6" fmla="*/ 95 w 101"/>
                  <a:gd name="T7" fmla="*/ 11 h 29"/>
                  <a:gd name="T8" fmla="*/ 91 w 101"/>
                  <a:gd name="T9" fmla="*/ 16 h 29"/>
                  <a:gd name="T10" fmla="*/ 87 w 101"/>
                  <a:gd name="T11" fmla="*/ 20 h 29"/>
                  <a:gd name="T12" fmla="*/ 82 w 101"/>
                  <a:gd name="T13" fmla="*/ 23 h 29"/>
                  <a:gd name="T14" fmla="*/ 77 w 101"/>
                  <a:gd name="T15" fmla="*/ 26 h 29"/>
                  <a:gd name="T16" fmla="*/ 72 w 101"/>
                  <a:gd name="T17" fmla="*/ 28 h 29"/>
                  <a:gd name="T18" fmla="*/ 67 w 101"/>
                  <a:gd name="T19" fmla="*/ 29 h 29"/>
                  <a:gd name="T20" fmla="*/ 61 w 101"/>
                  <a:gd name="T21" fmla="*/ 29 h 29"/>
                  <a:gd name="T22" fmla="*/ 54 w 101"/>
                  <a:gd name="T23" fmla="*/ 29 h 29"/>
                  <a:gd name="T24" fmla="*/ 47 w 101"/>
                  <a:gd name="T25" fmla="*/ 28 h 29"/>
                  <a:gd name="T26" fmla="*/ 41 w 101"/>
                  <a:gd name="T27" fmla="*/ 26 h 29"/>
                  <a:gd name="T28" fmla="*/ 34 w 101"/>
                  <a:gd name="T29" fmla="*/ 23 h 29"/>
                  <a:gd name="T30" fmla="*/ 27 w 101"/>
                  <a:gd name="T31" fmla="*/ 20 h 29"/>
                  <a:gd name="T32" fmla="*/ 20 w 101"/>
                  <a:gd name="T33" fmla="*/ 15 h 29"/>
                  <a:gd name="T34" fmla="*/ 13 w 101"/>
                  <a:gd name="T35" fmla="*/ 10 h 29"/>
                  <a:gd name="T36" fmla="*/ 0 w 101"/>
                  <a:gd name="T3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1" h="29">
                    <a:moveTo>
                      <a:pt x="0" y="0"/>
                    </a:moveTo>
                    <a:lnTo>
                      <a:pt x="101" y="0"/>
                    </a:lnTo>
                    <a:lnTo>
                      <a:pt x="98" y="6"/>
                    </a:lnTo>
                    <a:lnTo>
                      <a:pt x="95" y="11"/>
                    </a:lnTo>
                    <a:lnTo>
                      <a:pt x="91" y="16"/>
                    </a:lnTo>
                    <a:lnTo>
                      <a:pt x="87" y="20"/>
                    </a:lnTo>
                    <a:lnTo>
                      <a:pt x="82" y="23"/>
                    </a:lnTo>
                    <a:lnTo>
                      <a:pt x="77" y="26"/>
                    </a:lnTo>
                    <a:lnTo>
                      <a:pt x="72" y="28"/>
                    </a:lnTo>
                    <a:lnTo>
                      <a:pt x="67" y="29"/>
                    </a:lnTo>
                    <a:lnTo>
                      <a:pt x="61" y="29"/>
                    </a:lnTo>
                    <a:lnTo>
                      <a:pt x="54" y="29"/>
                    </a:lnTo>
                    <a:lnTo>
                      <a:pt x="47" y="28"/>
                    </a:lnTo>
                    <a:lnTo>
                      <a:pt x="41" y="26"/>
                    </a:lnTo>
                    <a:lnTo>
                      <a:pt x="34" y="23"/>
                    </a:lnTo>
                    <a:lnTo>
                      <a:pt x="27" y="20"/>
                    </a:lnTo>
                    <a:lnTo>
                      <a:pt x="20" y="15"/>
                    </a:lnTo>
                    <a:lnTo>
                      <a:pt x="13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2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4" name="Freeform 36"/>
              <p:cNvSpPr>
                <a:spLocks/>
              </p:cNvSpPr>
              <p:nvPr/>
            </p:nvSpPr>
            <p:spPr bwMode="auto">
              <a:xfrm>
                <a:off x="4006" y="2251"/>
                <a:ext cx="4" cy="2"/>
              </a:xfrm>
              <a:custGeom>
                <a:avLst/>
                <a:gdLst>
                  <a:gd name="T0" fmla="*/ 301 w 301"/>
                  <a:gd name="T1" fmla="*/ 171 h 171"/>
                  <a:gd name="T2" fmla="*/ 0 w 301"/>
                  <a:gd name="T3" fmla="*/ 171 h 171"/>
                  <a:gd name="T4" fmla="*/ 2 w 301"/>
                  <a:gd name="T5" fmla="*/ 70 h 171"/>
                  <a:gd name="T6" fmla="*/ 3 w 301"/>
                  <a:gd name="T7" fmla="*/ 58 h 171"/>
                  <a:gd name="T8" fmla="*/ 5 w 301"/>
                  <a:gd name="T9" fmla="*/ 47 h 171"/>
                  <a:gd name="T10" fmla="*/ 7 w 301"/>
                  <a:gd name="T11" fmla="*/ 37 h 171"/>
                  <a:gd name="T12" fmla="*/ 10 w 301"/>
                  <a:gd name="T13" fmla="*/ 28 h 171"/>
                  <a:gd name="T14" fmla="*/ 15 w 301"/>
                  <a:gd name="T15" fmla="*/ 21 h 171"/>
                  <a:gd name="T16" fmla="*/ 19 w 301"/>
                  <a:gd name="T17" fmla="*/ 14 h 171"/>
                  <a:gd name="T18" fmla="*/ 26 w 301"/>
                  <a:gd name="T19" fmla="*/ 9 h 171"/>
                  <a:gd name="T20" fmla="*/ 32 w 301"/>
                  <a:gd name="T21" fmla="*/ 5 h 171"/>
                  <a:gd name="T22" fmla="*/ 39 w 301"/>
                  <a:gd name="T23" fmla="*/ 2 h 171"/>
                  <a:gd name="T24" fmla="*/ 46 w 301"/>
                  <a:gd name="T25" fmla="*/ 1 h 171"/>
                  <a:gd name="T26" fmla="*/ 54 w 301"/>
                  <a:gd name="T27" fmla="*/ 0 h 171"/>
                  <a:gd name="T28" fmla="*/ 62 w 301"/>
                  <a:gd name="T29" fmla="*/ 1 h 171"/>
                  <a:gd name="T30" fmla="*/ 71 w 301"/>
                  <a:gd name="T31" fmla="*/ 4 h 171"/>
                  <a:gd name="T32" fmla="*/ 80 w 301"/>
                  <a:gd name="T33" fmla="*/ 7 h 171"/>
                  <a:gd name="T34" fmla="*/ 89 w 301"/>
                  <a:gd name="T35" fmla="*/ 13 h 171"/>
                  <a:gd name="T36" fmla="*/ 98 w 301"/>
                  <a:gd name="T37" fmla="*/ 19 h 171"/>
                  <a:gd name="T38" fmla="*/ 301 w 301"/>
                  <a:gd name="T39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1" h="171">
                    <a:moveTo>
                      <a:pt x="301" y="171"/>
                    </a:moveTo>
                    <a:lnTo>
                      <a:pt x="0" y="171"/>
                    </a:lnTo>
                    <a:lnTo>
                      <a:pt x="2" y="70"/>
                    </a:lnTo>
                    <a:lnTo>
                      <a:pt x="3" y="58"/>
                    </a:lnTo>
                    <a:lnTo>
                      <a:pt x="5" y="47"/>
                    </a:lnTo>
                    <a:lnTo>
                      <a:pt x="7" y="37"/>
                    </a:lnTo>
                    <a:lnTo>
                      <a:pt x="10" y="28"/>
                    </a:lnTo>
                    <a:lnTo>
                      <a:pt x="15" y="21"/>
                    </a:lnTo>
                    <a:lnTo>
                      <a:pt x="19" y="14"/>
                    </a:lnTo>
                    <a:lnTo>
                      <a:pt x="26" y="9"/>
                    </a:lnTo>
                    <a:lnTo>
                      <a:pt x="32" y="5"/>
                    </a:lnTo>
                    <a:lnTo>
                      <a:pt x="39" y="2"/>
                    </a:lnTo>
                    <a:lnTo>
                      <a:pt x="46" y="1"/>
                    </a:lnTo>
                    <a:lnTo>
                      <a:pt x="54" y="0"/>
                    </a:lnTo>
                    <a:lnTo>
                      <a:pt x="62" y="1"/>
                    </a:lnTo>
                    <a:lnTo>
                      <a:pt x="71" y="4"/>
                    </a:lnTo>
                    <a:lnTo>
                      <a:pt x="80" y="7"/>
                    </a:lnTo>
                    <a:lnTo>
                      <a:pt x="89" y="13"/>
                    </a:lnTo>
                    <a:lnTo>
                      <a:pt x="98" y="19"/>
                    </a:lnTo>
                    <a:lnTo>
                      <a:pt x="301" y="171"/>
                    </a:lnTo>
                    <a:close/>
                  </a:path>
                </a:pathLst>
              </a:custGeom>
              <a:solidFill>
                <a:srgbClr val="A8A8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5" name="Freeform 37"/>
              <p:cNvSpPr>
                <a:spLocks/>
              </p:cNvSpPr>
              <p:nvPr/>
            </p:nvSpPr>
            <p:spPr bwMode="auto">
              <a:xfrm>
                <a:off x="4006" y="2253"/>
                <a:ext cx="5" cy="1"/>
              </a:xfrm>
              <a:custGeom>
                <a:avLst/>
                <a:gdLst>
                  <a:gd name="T0" fmla="*/ 385 w 385"/>
                  <a:gd name="T1" fmla="*/ 69 h 69"/>
                  <a:gd name="T2" fmla="*/ 0 w 385"/>
                  <a:gd name="T3" fmla="*/ 69 h 69"/>
                  <a:gd name="T4" fmla="*/ 2 w 385"/>
                  <a:gd name="T5" fmla="*/ 0 h 69"/>
                  <a:gd name="T6" fmla="*/ 303 w 385"/>
                  <a:gd name="T7" fmla="*/ 0 h 69"/>
                  <a:gd name="T8" fmla="*/ 359 w 385"/>
                  <a:gd name="T9" fmla="*/ 43 h 69"/>
                  <a:gd name="T10" fmla="*/ 373 w 385"/>
                  <a:gd name="T11" fmla="*/ 55 h 69"/>
                  <a:gd name="T12" fmla="*/ 385 w 385"/>
                  <a:gd name="T1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5" h="69">
                    <a:moveTo>
                      <a:pt x="385" y="69"/>
                    </a:moveTo>
                    <a:lnTo>
                      <a:pt x="0" y="69"/>
                    </a:lnTo>
                    <a:lnTo>
                      <a:pt x="2" y="0"/>
                    </a:lnTo>
                    <a:lnTo>
                      <a:pt x="303" y="0"/>
                    </a:lnTo>
                    <a:lnTo>
                      <a:pt x="359" y="43"/>
                    </a:lnTo>
                    <a:lnTo>
                      <a:pt x="373" y="55"/>
                    </a:lnTo>
                    <a:lnTo>
                      <a:pt x="385" y="69"/>
                    </a:lnTo>
                    <a:close/>
                  </a:path>
                </a:pathLst>
              </a:custGeom>
              <a:solidFill>
                <a:srgbClr val="A8A8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6" name="Freeform 38"/>
              <p:cNvSpPr>
                <a:spLocks/>
              </p:cNvSpPr>
              <p:nvPr/>
            </p:nvSpPr>
            <p:spPr bwMode="auto">
              <a:xfrm>
                <a:off x="4006" y="2254"/>
                <a:ext cx="6" cy="1"/>
              </a:xfrm>
              <a:custGeom>
                <a:avLst/>
                <a:gdLst>
                  <a:gd name="T0" fmla="*/ 429 w 429"/>
                  <a:gd name="T1" fmla="*/ 67 h 67"/>
                  <a:gd name="T2" fmla="*/ 0 w 429"/>
                  <a:gd name="T3" fmla="*/ 67 h 67"/>
                  <a:gd name="T4" fmla="*/ 1 w 429"/>
                  <a:gd name="T5" fmla="*/ 0 h 67"/>
                  <a:gd name="T6" fmla="*/ 386 w 429"/>
                  <a:gd name="T7" fmla="*/ 0 h 67"/>
                  <a:gd name="T8" fmla="*/ 399 w 429"/>
                  <a:gd name="T9" fmla="*/ 15 h 67"/>
                  <a:gd name="T10" fmla="*/ 410 w 429"/>
                  <a:gd name="T11" fmla="*/ 31 h 67"/>
                  <a:gd name="T12" fmla="*/ 420 w 429"/>
                  <a:gd name="T13" fmla="*/ 49 h 67"/>
                  <a:gd name="T14" fmla="*/ 429 w 429"/>
                  <a:gd name="T1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9" h="67">
                    <a:moveTo>
                      <a:pt x="429" y="67"/>
                    </a:moveTo>
                    <a:lnTo>
                      <a:pt x="0" y="67"/>
                    </a:lnTo>
                    <a:lnTo>
                      <a:pt x="1" y="0"/>
                    </a:lnTo>
                    <a:lnTo>
                      <a:pt x="386" y="0"/>
                    </a:lnTo>
                    <a:lnTo>
                      <a:pt x="399" y="15"/>
                    </a:lnTo>
                    <a:lnTo>
                      <a:pt x="410" y="31"/>
                    </a:lnTo>
                    <a:lnTo>
                      <a:pt x="420" y="49"/>
                    </a:lnTo>
                    <a:lnTo>
                      <a:pt x="429" y="67"/>
                    </a:lnTo>
                    <a:close/>
                  </a:path>
                </a:pathLst>
              </a:custGeom>
              <a:solidFill>
                <a:srgbClr val="A8A7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7" name="Freeform 39"/>
              <p:cNvSpPr>
                <a:spLocks/>
              </p:cNvSpPr>
              <p:nvPr/>
            </p:nvSpPr>
            <p:spPr bwMode="auto">
              <a:xfrm>
                <a:off x="4006" y="2255"/>
                <a:ext cx="6" cy="1"/>
              </a:xfrm>
              <a:custGeom>
                <a:avLst/>
                <a:gdLst>
                  <a:gd name="T0" fmla="*/ 451 w 451"/>
                  <a:gd name="T1" fmla="*/ 69 h 69"/>
                  <a:gd name="T2" fmla="*/ 0 w 451"/>
                  <a:gd name="T3" fmla="*/ 69 h 69"/>
                  <a:gd name="T4" fmla="*/ 2 w 451"/>
                  <a:gd name="T5" fmla="*/ 0 h 69"/>
                  <a:gd name="T6" fmla="*/ 431 w 451"/>
                  <a:gd name="T7" fmla="*/ 0 h 69"/>
                  <a:gd name="T8" fmla="*/ 438 w 451"/>
                  <a:gd name="T9" fmla="*/ 17 h 69"/>
                  <a:gd name="T10" fmla="*/ 443 w 451"/>
                  <a:gd name="T11" fmla="*/ 35 h 69"/>
                  <a:gd name="T12" fmla="*/ 448 w 451"/>
                  <a:gd name="T13" fmla="*/ 52 h 69"/>
                  <a:gd name="T14" fmla="*/ 451 w 451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1" h="69">
                    <a:moveTo>
                      <a:pt x="451" y="69"/>
                    </a:moveTo>
                    <a:lnTo>
                      <a:pt x="0" y="69"/>
                    </a:lnTo>
                    <a:lnTo>
                      <a:pt x="2" y="0"/>
                    </a:lnTo>
                    <a:lnTo>
                      <a:pt x="431" y="0"/>
                    </a:lnTo>
                    <a:lnTo>
                      <a:pt x="438" y="17"/>
                    </a:lnTo>
                    <a:lnTo>
                      <a:pt x="443" y="35"/>
                    </a:lnTo>
                    <a:lnTo>
                      <a:pt x="448" y="52"/>
                    </a:lnTo>
                    <a:lnTo>
                      <a:pt x="451" y="69"/>
                    </a:lnTo>
                    <a:close/>
                  </a:path>
                </a:pathLst>
              </a:custGeom>
              <a:solidFill>
                <a:srgbClr val="A7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8" name="Freeform 40"/>
              <p:cNvSpPr>
                <a:spLocks/>
              </p:cNvSpPr>
              <p:nvPr/>
            </p:nvSpPr>
            <p:spPr bwMode="auto">
              <a:xfrm>
                <a:off x="4006" y="2256"/>
                <a:ext cx="6" cy="1"/>
              </a:xfrm>
              <a:custGeom>
                <a:avLst/>
                <a:gdLst>
                  <a:gd name="T0" fmla="*/ 452 w 453"/>
                  <a:gd name="T1" fmla="*/ 67 h 67"/>
                  <a:gd name="T2" fmla="*/ 3 w 453"/>
                  <a:gd name="T3" fmla="*/ 67 h 67"/>
                  <a:gd name="T4" fmla="*/ 1 w 453"/>
                  <a:gd name="T5" fmla="*/ 57 h 67"/>
                  <a:gd name="T6" fmla="*/ 0 w 453"/>
                  <a:gd name="T7" fmla="*/ 48 h 67"/>
                  <a:gd name="T8" fmla="*/ 0 w 453"/>
                  <a:gd name="T9" fmla="*/ 39 h 67"/>
                  <a:gd name="T10" fmla="*/ 0 w 453"/>
                  <a:gd name="T11" fmla="*/ 30 h 67"/>
                  <a:gd name="T12" fmla="*/ 0 w 453"/>
                  <a:gd name="T13" fmla="*/ 0 h 67"/>
                  <a:gd name="T14" fmla="*/ 451 w 453"/>
                  <a:gd name="T15" fmla="*/ 0 h 67"/>
                  <a:gd name="T16" fmla="*/ 452 w 453"/>
                  <a:gd name="T17" fmla="*/ 7 h 67"/>
                  <a:gd name="T18" fmla="*/ 453 w 453"/>
                  <a:gd name="T19" fmla="*/ 15 h 67"/>
                  <a:gd name="T20" fmla="*/ 453 w 453"/>
                  <a:gd name="T21" fmla="*/ 23 h 67"/>
                  <a:gd name="T22" fmla="*/ 453 w 453"/>
                  <a:gd name="T23" fmla="*/ 30 h 67"/>
                  <a:gd name="T24" fmla="*/ 452 w 453"/>
                  <a:gd name="T2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67">
                    <a:moveTo>
                      <a:pt x="452" y="67"/>
                    </a:moveTo>
                    <a:lnTo>
                      <a:pt x="3" y="67"/>
                    </a:lnTo>
                    <a:lnTo>
                      <a:pt x="1" y="57"/>
                    </a:lnTo>
                    <a:lnTo>
                      <a:pt x="0" y="48"/>
                    </a:lnTo>
                    <a:lnTo>
                      <a:pt x="0" y="39"/>
                    </a:lnTo>
                    <a:lnTo>
                      <a:pt x="0" y="30"/>
                    </a:lnTo>
                    <a:lnTo>
                      <a:pt x="0" y="0"/>
                    </a:lnTo>
                    <a:lnTo>
                      <a:pt x="451" y="0"/>
                    </a:lnTo>
                    <a:lnTo>
                      <a:pt x="452" y="7"/>
                    </a:lnTo>
                    <a:lnTo>
                      <a:pt x="453" y="15"/>
                    </a:lnTo>
                    <a:lnTo>
                      <a:pt x="453" y="23"/>
                    </a:lnTo>
                    <a:lnTo>
                      <a:pt x="453" y="30"/>
                    </a:lnTo>
                    <a:lnTo>
                      <a:pt x="452" y="67"/>
                    </a:lnTo>
                    <a:close/>
                  </a:path>
                </a:pathLst>
              </a:custGeom>
              <a:solidFill>
                <a:srgbClr val="A6A5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9" name="Freeform 41"/>
              <p:cNvSpPr>
                <a:spLocks/>
              </p:cNvSpPr>
              <p:nvPr/>
            </p:nvSpPr>
            <p:spPr bwMode="auto">
              <a:xfrm>
                <a:off x="4006" y="2257"/>
                <a:ext cx="6" cy="1"/>
              </a:xfrm>
              <a:custGeom>
                <a:avLst/>
                <a:gdLst>
                  <a:gd name="T0" fmla="*/ 448 w 449"/>
                  <a:gd name="T1" fmla="*/ 68 h 68"/>
                  <a:gd name="T2" fmla="*/ 21 w 449"/>
                  <a:gd name="T3" fmla="*/ 68 h 68"/>
                  <a:gd name="T4" fmla="*/ 14 w 449"/>
                  <a:gd name="T5" fmla="*/ 52 h 68"/>
                  <a:gd name="T6" fmla="*/ 8 w 449"/>
                  <a:gd name="T7" fmla="*/ 35 h 68"/>
                  <a:gd name="T8" fmla="*/ 3 w 449"/>
                  <a:gd name="T9" fmla="*/ 18 h 68"/>
                  <a:gd name="T10" fmla="*/ 0 w 449"/>
                  <a:gd name="T11" fmla="*/ 0 h 68"/>
                  <a:gd name="T12" fmla="*/ 449 w 449"/>
                  <a:gd name="T13" fmla="*/ 0 h 68"/>
                  <a:gd name="T14" fmla="*/ 448 w 449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9" h="68">
                    <a:moveTo>
                      <a:pt x="448" y="68"/>
                    </a:moveTo>
                    <a:lnTo>
                      <a:pt x="21" y="68"/>
                    </a:lnTo>
                    <a:lnTo>
                      <a:pt x="14" y="52"/>
                    </a:lnTo>
                    <a:lnTo>
                      <a:pt x="8" y="35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449" y="0"/>
                    </a:lnTo>
                    <a:lnTo>
                      <a:pt x="448" y="68"/>
                    </a:lnTo>
                    <a:close/>
                  </a:path>
                </a:pathLst>
              </a:custGeom>
              <a:solidFill>
                <a:srgbClr val="A6A5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0" name="Freeform 42"/>
              <p:cNvSpPr>
                <a:spLocks/>
              </p:cNvSpPr>
              <p:nvPr/>
            </p:nvSpPr>
            <p:spPr bwMode="auto">
              <a:xfrm>
                <a:off x="4006" y="2258"/>
                <a:ext cx="6" cy="1"/>
              </a:xfrm>
              <a:custGeom>
                <a:avLst/>
                <a:gdLst>
                  <a:gd name="T0" fmla="*/ 425 w 427"/>
                  <a:gd name="T1" fmla="*/ 69 h 69"/>
                  <a:gd name="T2" fmla="*/ 46 w 427"/>
                  <a:gd name="T3" fmla="*/ 69 h 69"/>
                  <a:gd name="T4" fmla="*/ 33 w 427"/>
                  <a:gd name="T5" fmla="*/ 53 h 69"/>
                  <a:gd name="T6" fmla="*/ 21 w 427"/>
                  <a:gd name="T7" fmla="*/ 37 h 69"/>
                  <a:gd name="T8" fmla="*/ 11 w 427"/>
                  <a:gd name="T9" fmla="*/ 19 h 69"/>
                  <a:gd name="T10" fmla="*/ 0 w 427"/>
                  <a:gd name="T11" fmla="*/ 0 h 69"/>
                  <a:gd name="T12" fmla="*/ 427 w 427"/>
                  <a:gd name="T13" fmla="*/ 0 h 69"/>
                  <a:gd name="T14" fmla="*/ 425 w 427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7" h="69">
                    <a:moveTo>
                      <a:pt x="425" y="69"/>
                    </a:moveTo>
                    <a:lnTo>
                      <a:pt x="46" y="69"/>
                    </a:lnTo>
                    <a:lnTo>
                      <a:pt x="33" y="53"/>
                    </a:lnTo>
                    <a:lnTo>
                      <a:pt x="21" y="37"/>
                    </a:lnTo>
                    <a:lnTo>
                      <a:pt x="11" y="19"/>
                    </a:lnTo>
                    <a:lnTo>
                      <a:pt x="0" y="0"/>
                    </a:lnTo>
                    <a:lnTo>
                      <a:pt x="427" y="0"/>
                    </a:lnTo>
                    <a:lnTo>
                      <a:pt x="425" y="69"/>
                    </a:lnTo>
                    <a:close/>
                  </a:path>
                </a:pathLst>
              </a:custGeom>
              <a:solidFill>
                <a:srgbClr val="A5A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1" name="Freeform 43"/>
              <p:cNvSpPr>
                <a:spLocks/>
              </p:cNvSpPr>
              <p:nvPr/>
            </p:nvSpPr>
            <p:spPr bwMode="auto">
              <a:xfrm>
                <a:off x="4007" y="2259"/>
                <a:ext cx="5" cy="1"/>
              </a:xfrm>
              <a:custGeom>
                <a:avLst/>
                <a:gdLst>
                  <a:gd name="T0" fmla="*/ 378 w 379"/>
                  <a:gd name="T1" fmla="*/ 67 h 67"/>
                  <a:gd name="T2" fmla="*/ 86 w 379"/>
                  <a:gd name="T3" fmla="*/ 67 h 67"/>
                  <a:gd name="T4" fmla="*/ 20 w 379"/>
                  <a:gd name="T5" fmla="*/ 18 h 67"/>
                  <a:gd name="T6" fmla="*/ 10 w 379"/>
                  <a:gd name="T7" fmla="*/ 10 h 67"/>
                  <a:gd name="T8" fmla="*/ 0 w 379"/>
                  <a:gd name="T9" fmla="*/ 0 h 67"/>
                  <a:gd name="T10" fmla="*/ 379 w 379"/>
                  <a:gd name="T11" fmla="*/ 0 h 67"/>
                  <a:gd name="T12" fmla="*/ 378 w 379"/>
                  <a:gd name="T13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9" h="67">
                    <a:moveTo>
                      <a:pt x="378" y="67"/>
                    </a:moveTo>
                    <a:lnTo>
                      <a:pt x="86" y="67"/>
                    </a:lnTo>
                    <a:lnTo>
                      <a:pt x="20" y="18"/>
                    </a:lnTo>
                    <a:lnTo>
                      <a:pt x="10" y="10"/>
                    </a:lnTo>
                    <a:lnTo>
                      <a:pt x="0" y="0"/>
                    </a:lnTo>
                    <a:lnTo>
                      <a:pt x="379" y="0"/>
                    </a:lnTo>
                    <a:lnTo>
                      <a:pt x="378" y="67"/>
                    </a:lnTo>
                    <a:close/>
                  </a:path>
                </a:pathLst>
              </a:custGeom>
              <a:solidFill>
                <a:srgbClr val="A4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2" name="Freeform 44"/>
              <p:cNvSpPr>
                <a:spLocks/>
              </p:cNvSpPr>
              <p:nvPr/>
            </p:nvSpPr>
            <p:spPr bwMode="auto">
              <a:xfrm>
                <a:off x="4008" y="2260"/>
                <a:ext cx="4" cy="1"/>
              </a:xfrm>
              <a:custGeom>
                <a:avLst/>
                <a:gdLst>
                  <a:gd name="T0" fmla="*/ 290 w 292"/>
                  <a:gd name="T1" fmla="*/ 69 h 69"/>
                  <a:gd name="T2" fmla="*/ 90 w 292"/>
                  <a:gd name="T3" fmla="*/ 69 h 69"/>
                  <a:gd name="T4" fmla="*/ 0 w 292"/>
                  <a:gd name="T5" fmla="*/ 0 h 69"/>
                  <a:gd name="T6" fmla="*/ 292 w 292"/>
                  <a:gd name="T7" fmla="*/ 0 h 69"/>
                  <a:gd name="T8" fmla="*/ 290 w 292"/>
                  <a:gd name="T9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2" h="69">
                    <a:moveTo>
                      <a:pt x="290" y="69"/>
                    </a:moveTo>
                    <a:lnTo>
                      <a:pt x="90" y="69"/>
                    </a:lnTo>
                    <a:lnTo>
                      <a:pt x="0" y="0"/>
                    </a:lnTo>
                    <a:lnTo>
                      <a:pt x="292" y="0"/>
                    </a:lnTo>
                    <a:lnTo>
                      <a:pt x="290" y="69"/>
                    </a:lnTo>
                    <a:close/>
                  </a:path>
                </a:pathLst>
              </a:custGeom>
              <a:solidFill>
                <a:srgbClr val="A3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3" name="Freeform 45"/>
              <p:cNvSpPr>
                <a:spLocks/>
              </p:cNvSpPr>
              <p:nvPr/>
            </p:nvSpPr>
            <p:spPr bwMode="auto">
              <a:xfrm>
                <a:off x="4009" y="2261"/>
                <a:ext cx="3" cy="1"/>
              </a:xfrm>
              <a:custGeom>
                <a:avLst/>
                <a:gdLst>
                  <a:gd name="T0" fmla="*/ 191 w 200"/>
                  <a:gd name="T1" fmla="*/ 67 h 67"/>
                  <a:gd name="T2" fmla="*/ 90 w 200"/>
                  <a:gd name="T3" fmla="*/ 67 h 67"/>
                  <a:gd name="T4" fmla="*/ 0 w 200"/>
                  <a:gd name="T5" fmla="*/ 0 h 67"/>
                  <a:gd name="T6" fmla="*/ 200 w 200"/>
                  <a:gd name="T7" fmla="*/ 0 h 67"/>
                  <a:gd name="T8" fmla="*/ 199 w 200"/>
                  <a:gd name="T9" fmla="*/ 27 h 67"/>
                  <a:gd name="T10" fmla="*/ 199 w 200"/>
                  <a:gd name="T11" fmla="*/ 38 h 67"/>
                  <a:gd name="T12" fmla="*/ 197 w 200"/>
                  <a:gd name="T13" fmla="*/ 49 h 67"/>
                  <a:gd name="T14" fmla="*/ 195 w 200"/>
                  <a:gd name="T15" fmla="*/ 59 h 67"/>
                  <a:gd name="T16" fmla="*/ 191 w 200"/>
                  <a:gd name="T17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67">
                    <a:moveTo>
                      <a:pt x="191" y="67"/>
                    </a:moveTo>
                    <a:lnTo>
                      <a:pt x="90" y="67"/>
                    </a:lnTo>
                    <a:lnTo>
                      <a:pt x="0" y="0"/>
                    </a:lnTo>
                    <a:lnTo>
                      <a:pt x="200" y="0"/>
                    </a:lnTo>
                    <a:lnTo>
                      <a:pt x="199" y="27"/>
                    </a:lnTo>
                    <a:lnTo>
                      <a:pt x="199" y="38"/>
                    </a:lnTo>
                    <a:lnTo>
                      <a:pt x="197" y="49"/>
                    </a:lnTo>
                    <a:lnTo>
                      <a:pt x="195" y="59"/>
                    </a:lnTo>
                    <a:lnTo>
                      <a:pt x="191" y="67"/>
                    </a:lnTo>
                    <a:close/>
                  </a:path>
                </a:pathLst>
              </a:custGeom>
              <a:solidFill>
                <a:srgbClr val="A2A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4" name="Freeform 46"/>
              <p:cNvSpPr>
                <a:spLocks/>
              </p:cNvSpPr>
              <p:nvPr/>
            </p:nvSpPr>
            <p:spPr bwMode="auto">
              <a:xfrm>
                <a:off x="4010" y="2262"/>
                <a:ext cx="2" cy="0"/>
              </a:xfrm>
              <a:custGeom>
                <a:avLst/>
                <a:gdLst>
                  <a:gd name="T0" fmla="*/ 0 w 101"/>
                  <a:gd name="T1" fmla="*/ 0 h 29"/>
                  <a:gd name="T2" fmla="*/ 101 w 101"/>
                  <a:gd name="T3" fmla="*/ 0 h 29"/>
                  <a:gd name="T4" fmla="*/ 98 w 101"/>
                  <a:gd name="T5" fmla="*/ 6 h 29"/>
                  <a:gd name="T6" fmla="*/ 95 w 101"/>
                  <a:gd name="T7" fmla="*/ 11 h 29"/>
                  <a:gd name="T8" fmla="*/ 91 w 101"/>
                  <a:gd name="T9" fmla="*/ 16 h 29"/>
                  <a:gd name="T10" fmla="*/ 87 w 101"/>
                  <a:gd name="T11" fmla="*/ 20 h 29"/>
                  <a:gd name="T12" fmla="*/ 82 w 101"/>
                  <a:gd name="T13" fmla="*/ 23 h 29"/>
                  <a:gd name="T14" fmla="*/ 77 w 101"/>
                  <a:gd name="T15" fmla="*/ 26 h 29"/>
                  <a:gd name="T16" fmla="*/ 72 w 101"/>
                  <a:gd name="T17" fmla="*/ 28 h 29"/>
                  <a:gd name="T18" fmla="*/ 67 w 101"/>
                  <a:gd name="T19" fmla="*/ 29 h 29"/>
                  <a:gd name="T20" fmla="*/ 61 w 101"/>
                  <a:gd name="T21" fmla="*/ 29 h 29"/>
                  <a:gd name="T22" fmla="*/ 54 w 101"/>
                  <a:gd name="T23" fmla="*/ 29 h 29"/>
                  <a:gd name="T24" fmla="*/ 47 w 101"/>
                  <a:gd name="T25" fmla="*/ 28 h 29"/>
                  <a:gd name="T26" fmla="*/ 41 w 101"/>
                  <a:gd name="T27" fmla="*/ 26 h 29"/>
                  <a:gd name="T28" fmla="*/ 34 w 101"/>
                  <a:gd name="T29" fmla="*/ 23 h 29"/>
                  <a:gd name="T30" fmla="*/ 27 w 101"/>
                  <a:gd name="T31" fmla="*/ 20 h 29"/>
                  <a:gd name="T32" fmla="*/ 20 w 101"/>
                  <a:gd name="T33" fmla="*/ 15 h 29"/>
                  <a:gd name="T34" fmla="*/ 13 w 101"/>
                  <a:gd name="T35" fmla="*/ 10 h 29"/>
                  <a:gd name="T36" fmla="*/ 0 w 101"/>
                  <a:gd name="T3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1" h="29">
                    <a:moveTo>
                      <a:pt x="0" y="0"/>
                    </a:moveTo>
                    <a:lnTo>
                      <a:pt x="101" y="0"/>
                    </a:lnTo>
                    <a:lnTo>
                      <a:pt x="98" y="6"/>
                    </a:lnTo>
                    <a:lnTo>
                      <a:pt x="95" y="11"/>
                    </a:lnTo>
                    <a:lnTo>
                      <a:pt x="91" y="16"/>
                    </a:lnTo>
                    <a:lnTo>
                      <a:pt x="87" y="20"/>
                    </a:lnTo>
                    <a:lnTo>
                      <a:pt x="82" y="23"/>
                    </a:lnTo>
                    <a:lnTo>
                      <a:pt x="77" y="26"/>
                    </a:lnTo>
                    <a:lnTo>
                      <a:pt x="72" y="28"/>
                    </a:lnTo>
                    <a:lnTo>
                      <a:pt x="67" y="29"/>
                    </a:lnTo>
                    <a:lnTo>
                      <a:pt x="61" y="29"/>
                    </a:lnTo>
                    <a:lnTo>
                      <a:pt x="54" y="29"/>
                    </a:lnTo>
                    <a:lnTo>
                      <a:pt x="47" y="28"/>
                    </a:lnTo>
                    <a:lnTo>
                      <a:pt x="41" y="26"/>
                    </a:lnTo>
                    <a:lnTo>
                      <a:pt x="34" y="23"/>
                    </a:lnTo>
                    <a:lnTo>
                      <a:pt x="27" y="20"/>
                    </a:lnTo>
                    <a:lnTo>
                      <a:pt x="20" y="15"/>
                    </a:lnTo>
                    <a:lnTo>
                      <a:pt x="13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2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5" name="Freeform 47"/>
              <p:cNvSpPr>
                <a:spLocks/>
              </p:cNvSpPr>
              <p:nvPr/>
            </p:nvSpPr>
            <p:spPr bwMode="auto">
              <a:xfrm>
                <a:off x="3999" y="2249"/>
                <a:ext cx="6" cy="11"/>
              </a:xfrm>
              <a:custGeom>
                <a:avLst/>
                <a:gdLst>
                  <a:gd name="T0" fmla="*/ 445 w 453"/>
                  <a:gd name="T1" fmla="*/ 755 h 812"/>
                  <a:gd name="T2" fmla="*/ 441 w 453"/>
                  <a:gd name="T3" fmla="*/ 776 h 812"/>
                  <a:gd name="T4" fmla="*/ 432 w 453"/>
                  <a:gd name="T5" fmla="*/ 792 h 812"/>
                  <a:gd name="T6" fmla="*/ 422 w 453"/>
                  <a:gd name="T7" fmla="*/ 804 h 812"/>
                  <a:gd name="T8" fmla="*/ 409 w 453"/>
                  <a:gd name="T9" fmla="*/ 811 h 812"/>
                  <a:gd name="T10" fmla="*/ 394 w 453"/>
                  <a:gd name="T11" fmla="*/ 812 h 812"/>
                  <a:gd name="T12" fmla="*/ 377 w 453"/>
                  <a:gd name="T13" fmla="*/ 809 h 812"/>
                  <a:gd name="T14" fmla="*/ 359 w 453"/>
                  <a:gd name="T15" fmla="*/ 800 h 812"/>
                  <a:gd name="T16" fmla="*/ 90 w 453"/>
                  <a:gd name="T17" fmla="*/ 598 h 812"/>
                  <a:gd name="T18" fmla="*/ 72 w 453"/>
                  <a:gd name="T19" fmla="*/ 581 h 812"/>
                  <a:gd name="T20" fmla="*/ 54 w 453"/>
                  <a:gd name="T21" fmla="*/ 561 h 812"/>
                  <a:gd name="T22" fmla="*/ 38 w 453"/>
                  <a:gd name="T23" fmla="*/ 538 h 812"/>
                  <a:gd name="T24" fmla="*/ 25 w 453"/>
                  <a:gd name="T25" fmla="*/ 513 h 812"/>
                  <a:gd name="T26" fmla="*/ 14 w 453"/>
                  <a:gd name="T27" fmla="*/ 485 h 812"/>
                  <a:gd name="T28" fmla="*/ 6 w 453"/>
                  <a:gd name="T29" fmla="*/ 458 h 812"/>
                  <a:gd name="T30" fmla="*/ 1 w 453"/>
                  <a:gd name="T31" fmla="*/ 432 h 812"/>
                  <a:gd name="T32" fmla="*/ 0 w 453"/>
                  <a:gd name="T33" fmla="*/ 406 h 812"/>
                  <a:gd name="T34" fmla="*/ 8 w 453"/>
                  <a:gd name="T35" fmla="*/ 58 h 812"/>
                  <a:gd name="T36" fmla="*/ 12 w 453"/>
                  <a:gd name="T37" fmla="*/ 37 h 812"/>
                  <a:gd name="T38" fmla="*/ 20 w 453"/>
                  <a:gd name="T39" fmla="*/ 21 h 812"/>
                  <a:gd name="T40" fmla="*/ 30 w 453"/>
                  <a:gd name="T41" fmla="*/ 9 h 812"/>
                  <a:gd name="T42" fmla="*/ 43 w 453"/>
                  <a:gd name="T43" fmla="*/ 2 h 812"/>
                  <a:gd name="T44" fmla="*/ 58 w 453"/>
                  <a:gd name="T45" fmla="*/ 0 h 812"/>
                  <a:gd name="T46" fmla="*/ 76 w 453"/>
                  <a:gd name="T47" fmla="*/ 4 h 812"/>
                  <a:gd name="T48" fmla="*/ 94 w 453"/>
                  <a:gd name="T49" fmla="*/ 13 h 812"/>
                  <a:gd name="T50" fmla="*/ 363 w 453"/>
                  <a:gd name="T51" fmla="*/ 214 h 812"/>
                  <a:gd name="T52" fmla="*/ 381 w 453"/>
                  <a:gd name="T53" fmla="*/ 231 h 812"/>
                  <a:gd name="T54" fmla="*/ 398 w 453"/>
                  <a:gd name="T55" fmla="*/ 252 h 812"/>
                  <a:gd name="T56" fmla="*/ 414 w 453"/>
                  <a:gd name="T57" fmla="*/ 275 h 812"/>
                  <a:gd name="T58" fmla="*/ 427 w 453"/>
                  <a:gd name="T59" fmla="*/ 300 h 812"/>
                  <a:gd name="T60" fmla="*/ 439 w 453"/>
                  <a:gd name="T61" fmla="*/ 326 h 812"/>
                  <a:gd name="T62" fmla="*/ 447 w 453"/>
                  <a:gd name="T63" fmla="*/ 353 h 812"/>
                  <a:gd name="T64" fmla="*/ 452 w 453"/>
                  <a:gd name="T65" fmla="*/ 381 h 812"/>
                  <a:gd name="T66" fmla="*/ 453 w 453"/>
                  <a:gd name="T67" fmla="*/ 407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53" h="812">
                    <a:moveTo>
                      <a:pt x="446" y="743"/>
                    </a:moveTo>
                    <a:lnTo>
                      <a:pt x="445" y="755"/>
                    </a:lnTo>
                    <a:lnTo>
                      <a:pt x="443" y="766"/>
                    </a:lnTo>
                    <a:lnTo>
                      <a:pt x="441" y="776"/>
                    </a:lnTo>
                    <a:lnTo>
                      <a:pt x="437" y="784"/>
                    </a:lnTo>
                    <a:lnTo>
                      <a:pt x="432" y="792"/>
                    </a:lnTo>
                    <a:lnTo>
                      <a:pt x="427" y="798"/>
                    </a:lnTo>
                    <a:lnTo>
                      <a:pt x="422" y="804"/>
                    </a:lnTo>
                    <a:lnTo>
                      <a:pt x="416" y="808"/>
                    </a:lnTo>
                    <a:lnTo>
                      <a:pt x="409" y="811"/>
                    </a:lnTo>
                    <a:lnTo>
                      <a:pt x="401" y="812"/>
                    </a:lnTo>
                    <a:lnTo>
                      <a:pt x="394" y="812"/>
                    </a:lnTo>
                    <a:lnTo>
                      <a:pt x="386" y="811"/>
                    </a:lnTo>
                    <a:lnTo>
                      <a:pt x="377" y="809"/>
                    </a:lnTo>
                    <a:lnTo>
                      <a:pt x="368" y="805"/>
                    </a:lnTo>
                    <a:lnTo>
                      <a:pt x="359" y="800"/>
                    </a:lnTo>
                    <a:lnTo>
                      <a:pt x="349" y="793"/>
                    </a:lnTo>
                    <a:lnTo>
                      <a:pt x="90" y="598"/>
                    </a:lnTo>
                    <a:lnTo>
                      <a:pt x="81" y="590"/>
                    </a:lnTo>
                    <a:lnTo>
                      <a:pt x="72" y="581"/>
                    </a:lnTo>
                    <a:lnTo>
                      <a:pt x="62" y="571"/>
                    </a:lnTo>
                    <a:lnTo>
                      <a:pt x="54" y="561"/>
                    </a:lnTo>
                    <a:lnTo>
                      <a:pt x="46" y="550"/>
                    </a:lnTo>
                    <a:lnTo>
                      <a:pt x="38" y="538"/>
                    </a:lnTo>
                    <a:lnTo>
                      <a:pt x="31" y="526"/>
                    </a:lnTo>
                    <a:lnTo>
                      <a:pt x="25" y="513"/>
                    </a:lnTo>
                    <a:lnTo>
                      <a:pt x="19" y="500"/>
                    </a:lnTo>
                    <a:lnTo>
                      <a:pt x="14" y="485"/>
                    </a:lnTo>
                    <a:lnTo>
                      <a:pt x="9" y="472"/>
                    </a:lnTo>
                    <a:lnTo>
                      <a:pt x="6" y="458"/>
                    </a:lnTo>
                    <a:lnTo>
                      <a:pt x="3" y="445"/>
                    </a:lnTo>
                    <a:lnTo>
                      <a:pt x="1" y="432"/>
                    </a:lnTo>
                    <a:lnTo>
                      <a:pt x="0" y="419"/>
                    </a:lnTo>
                    <a:lnTo>
                      <a:pt x="0" y="406"/>
                    </a:lnTo>
                    <a:lnTo>
                      <a:pt x="8" y="70"/>
                    </a:lnTo>
                    <a:lnTo>
                      <a:pt x="8" y="58"/>
                    </a:lnTo>
                    <a:lnTo>
                      <a:pt x="10" y="47"/>
                    </a:lnTo>
                    <a:lnTo>
                      <a:pt x="12" y="37"/>
                    </a:lnTo>
                    <a:lnTo>
                      <a:pt x="16" y="28"/>
                    </a:lnTo>
                    <a:lnTo>
                      <a:pt x="20" y="21"/>
                    </a:lnTo>
                    <a:lnTo>
                      <a:pt x="25" y="14"/>
                    </a:lnTo>
                    <a:lnTo>
                      <a:pt x="30" y="9"/>
                    </a:lnTo>
                    <a:lnTo>
                      <a:pt x="37" y="5"/>
                    </a:lnTo>
                    <a:lnTo>
                      <a:pt x="43" y="2"/>
                    </a:lnTo>
                    <a:lnTo>
                      <a:pt x="50" y="0"/>
                    </a:lnTo>
                    <a:lnTo>
                      <a:pt x="58" y="0"/>
                    </a:lnTo>
                    <a:lnTo>
                      <a:pt x="66" y="2"/>
                    </a:lnTo>
                    <a:lnTo>
                      <a:pt x="76" y="4"/>
                    </a:lnTo>
                    <a:lnTo>
                      <a:pt x="85" y="8"/>
                    </a:lnTo>
                    <a:lnTo>
                      <a:pt x="94" y="13"/>
                    </a:lnTo>
                    <a:lnTo>
                      <a:pt x="104" y="19"/>
                    </a:lnTo>
                    <a:lnTo>
                      <a:pt x="363" y="214"/>
                    </a:lnTo>
                    <a:lnTo>
                      <a:pt x="372" y="222"/>
                    </a:lnTo>
                    <a:lnTo>
                      <a:pt x="381" y="231"/>
                    </a:lnTo>
                    <a:lnTo>
                      <a:pt x="390" y="240"/>
                    </a:lnTo>
                    <a:lnTo>
                      <a:pt x="398" y="252"/>
                    </a:lnTo>
                    <a:lnTo>
                      <a:pt x="406" y="263"/>
                    </a:lnTo>
                    <a:lnTo>
                      <a:pt x="414" y="275"/>
                    </a:lnTo>
                    <a:lnTo>
                      <a:pt x="421" y="287"/>
                    </a:lnTo>
                    <a:lnTo>
                      <a:pt x="427" y="300"/>
                    </a:lnTo>
                    <a:lnTo>
                      <a:pt x="433" y="313"/>
                    </a:lnTo>
                    <a:lnTo>
                      <a:pt x="439" y="326"/>
                    </a:lnTo>
                    <a:lnTo>
                      <a:pt x="443" y="340"/>
                    </a:lnTo>
                    <a:lnTo>
                      <a:pt x="447" y="353"/>
                    </a:lnTo>
                    <a:lnTo>
                      <a:pt x="450" y="368"/>
                    </a:lnTo>
                    <a:lnTo>
                      <a:pt x="452" y="381"/>
                    </a:lnTo>
                    <a:lnTo>
                      <a:pt x="453" y="394"/>
                    </a:lnTo>
                    <a:lnTo>
                      <a:pt x="453" y="407"/>
                    </a:lnTo>
                    <a:lnTo>
                      <a:pt x="446" y="7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6" name="Freeform 48"/>
              <p:cNvSpPr>
                <a:spLocks/>
              </p:cNvSpPr>
              <p:nvPr/>
            </p:nvSpPr>
            <p:spPr bwMode="auto">
              <a:xfrm>
                <a:off x="4007" y="2255"/>
                <a:ext cx="7" cy="11"/>
              </a:xfrm>
              <a:custGeom>
                <a:avLst/>
                <a:gdLst>
                  <a:gd name="T0" fmla="*/ 446 w 454"/>
                  <a:gd name="T1" fmla="*/ 755 h 813"/>
                  <a:gd name="T2" fmla="*/ 440 w 454"/>
                  <a:gd name="T3" fmla="*/ 776 h 813"/>
                  <a:gd name="T4" fmla="*/ 433 w 454"/>
                  <a:gd name="T5" fmla="*/ 793 h 813"/>
                  <a:gd name="T6" fmla="*/ 422 w 454"/>
                  <a:gd name="T7" fmla="*/ 805 h 813"/>
                  <a:gd name="T8" fmla="*/ 410 w 454"/>
                  <a:gd name="T9" fmla="*/ 811 h 813"/>
                  <a:gd name="T10" fmla="*/ 394 w 454"/>
                  <a:gd name="T11" fmla="*/ 813 h 813"/>
                  <a:gd name="T12" fmla="*/ 378 w 454"/>
                  <a:gd name="T13" fmla="*/ 810 h 813"/>
                  <a:gd name="T14" fmla="*/ 360 w 454"/>
                  <a:gd name="T15" fmla="*/ 801 h 813"/>
                  <a:gd name="T16" fmla="*/ 91 w 454"/>
                  <a:gd name="T17" fmla="*/ 598 h 813"/>
                  <a:gd name="T18" fmla="*/ 72 w 454"/>
                  <a:gd name="T19" fmla="*/ 582 h 813"/>
                  <a:gd name="T20" fmla="*/ 54 w 454"/>
                  <a:gd name="T21" fmla="*/ 562 h 813"/>
                  <a:gd name="T22" fmla="*/ 39 w 454"/>
                  <a:gd name="T23" fmla="*/ 539 h 813"/>
                  <a:gd name="T24" fmla="*/ 26 w 454"/>
                  <a:gd name="T25" fmla="*/ 513 h 813"/>
                  <a:gd name="T26" fmla="*/ 15 w 454"/>
                  <a:gd name="T27" fmla="*/ 486 h 813"/>
                  <a:gd name="T28" fmla="*/ 7 w 454"/>
                  <a:gd name="T29" fmla="*/ 459 h 813"/>
                  <a:gd name="T30" fmla="*/ 2 w 454"/>
                  <a:gd name="T31" fmla="*/ 432 h 813"/>
                  <a:gd name="T32" fmla="*/ 0 w 454"/>
                  <a:gd name="T33" fmla="*/ 406 h 813"/>
                  <a:gd name="T34" fmla="*/ 9 w 454"/>
                  <a:gd name="T35" fmla="*/ 59 h 813"/>
                  <a:gd name="T36" fmla="*/ 13 w 454"/>
                  <a:gd name="T37" fmla="*/ 37 h 813"/>
                  <a:gd name="T38" fmla="*/ 21 w 454"/>
                  <a:gd name="T39" fmla="*/ 21 h 813"/>
                  <a:gd name="T40" fmla="*/ 31 w 454"/>
                  <a:gd name="T41" fmla="*/ 9 h 813"/>
                  <a:gd name="T42" fmla="*/ 44 w 454"/>
                  <a:gd name="T43" fmla="*/ 2 h 813"/>
                  <a:gd name="T44" fmla="*/ 59 w 454"/>
                  <a:gd name="T45" fmla="*/ 0 h 813"/>
                  <a:gd name="T46" fmla="*/ 76 w 454"/>
                  <a:gd name="T47" fmla="*/ 4 h 813"/>
                  <a:gd name="T48" fmla="*/ 95 w 454"/>
                  <a:gd name="T49" fmla="*/ 13 h 813"/>
                  <a:gd name="T50" fmla="*/ 363 w 454"/>
                  <a:gd name="T51" fmla="*/ 215 h 813"/>
                  <a:gd name="T52" fmla="*/ 382 w 454"/>
                  <a:gd name="T53" fmla="*/ 232 h 813"/>
                  <a:gd name="T54" fmla="*/ 399 w 454"/>
                  <a:gd name="T55" fmla="*/ 252 h 813"/>
                  <a:gd name="T56" fmla="*/ 415 w 454"/>
                  <a:gd name="T57" fmla="*/ 275 h 813"/>
                  <a:gd name="T58" fmla="*/ 428 w 454"/>
                  <a:gd name="T59" fmla="*/ 301 h 813"/>
                  <a:gd name="T60" fmla="*/ 439 w 454"/>
                  <a:gd name="T61" fmla="*/ 327 h 813"/>
                  <a:gd name="T62" fmla="*/ 448 w 454"/>
                  <a:gd name="T63" fmla="*/ 354 h 813"/>
                  <a:gd name="T64" fmla="*/ 453 w 454"/>
                  <a:gd name="T65" fmla="*/ 381 h 813"/>
                  <a:gd name="T66" fmla="*/ 454 w 454"/>
                  <a:gd name="T67" fmla="*/ 406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54" h="813">
                    <a:moveTo>
                      <a:pt x="446" y="743"/>
                    </a:moveTo>
                    <a:lnTo>
                      <a:pt x="446" y="755"/>
                    </a:lnTo>
                    <a:lnTo>
                      <a:pt x="443" y="766"/>
                    </a:lnTo>
                    <a:lnTo>
                      <a:pt x="440" y="776"/>
                    </a:lnTo>
                    <a:lnTo>
                      <a:pt x="437" y="785"/>
                    </a:lnTo>
                    <a:lnTo>
                      <a:pt x="433" y="793"/>
                    </a:lnTo>
                    <a:lnTo>
                      <a:pt x="428" y="799"/>
                    </a:lnTo>
                    <a:lnTo>
                      <a:pt x="422" y="805"/>
                    </a:lnTo>
                    <a:lnTo>
                      <a:pt x="416" y="809"/>
                    </a:lnTo>
                    <a:lnTo>
                      <a:pt x="410" y="811"/>
                    </a:lnTo>
                    <a:lnTo>
                      <a:pt x="402" y="813"/>
                    </a:lnTo>
                    <a:lnTo>
                      <a:pt x="394" y="813"/>
                    </a:lnTo>
                    <a:lnTo>
                      <a:pt x="386" y="812"/>
                    </a:lnTo>
                    <a:lnTo>
                      <a:pt x="378" y="810"/>
                    </a:lnTo>
                    <a:lnTo>
                      <a:pt x="369" y="806"/>
                    </a:lnTo>
                    <a:lnTo>
                      <a:pt x="360" y="801"/>
                    </a:lnTo>
                    <a:lnTo>
                      <a:pt x="349" y="794"/>
                    </a:lnTo>
                    <a:lnTo>
                      <a:pt x="91" y="598"/>
                    </a:lnTo>
                    <a:lnTo>
                      <a:pt x="82" y="591"/>
                    </a:lnTo>
                    <a:lnTo>
                      <a:pt x="72" y="582"/>
                    </a:lnTo>
                    <a:lnTo>
                      <a:pt x="63" y="572"/>
                    </a:lnTo>
                    <a:lnTo>
                      <a:pt x="54" y="562"/>
                    </a:lnTo>
                    <a:lnTo>
                      <a:pt x="46" y="550"/>
                    </a:lnTo>
                    <a:lnTo>
                      <a:pt x="39" y="539"/>
                    </a:lnTo>
                    <a:lnTo>
                      <a:pt x="32" y="525"/>
                    </a:lnTo>
                    <a:lnTo>
                      <a:pt x="26" y="513"/>
                    </a:lnTo>
                    <a:lnTo>
                      <a:pt x="20" y="500"/>
                    </a:lnTo>
                    <a:lnTo>
                      <a:pt x="15" y="486"/>
                    </a:lnTo>
                    <a:lnTo>
                      <a:pt x="10" y="473"/>
                    </a:lnTo>
                    <a:lnTo>
                      <a:pt x="7" y="459"/>
                    </a:lnTo>
                    <a:lnTo>
                      <a:pt x="4" y="446"/>
                    </a:lnTo>
                    <a:lnTo>
                      <a:pt x="2" y="432"/>
                    </a:lnTo>
                    <a:lnTo>
                      <a:pt x="1" y="419"/>
                    </a:lnTo>
                    <a:lnTo>
                      <a:pt x="0" y="406"/>
                    </a:lnTo>
                    <a:lnTo>
                      <a:pt x="8" y="70"/>
                    </a:lnTo>
                    <a:lnTo>
                      <a:pt x="9" y="59"/>
                    </a:lnTo>
                    <a:lnTo>
                      <a:pt x="11" y="47"/>
                    </a:lnTo>
                    <a:lnTo>
                      <a:pt x="13" y="37"/>
                    </a:lnTo>
                    <a:lnTo>
                      <a:pt x="16" y="28"/>
                    </a:lnTo>
                    <a:lnTo>
                      <a:pt x="21" y="21"/>
                    </a:lnTo>
                    <a:lnTo>
                      <a:pt x="25" y="14"/>
                    </a:lnTo>
                    <a:lnTo>
                      <a:pt x="31" y="9"/>
                    </a:lnTo>
                    <a:lnTo>
                      <a:pt x="37" y="5"/>
                    </a:lnTo>
                    <a:lnTo>
                      <a:pt x="44" y="2"/>
                    </a:lnTo>
                    <a:lnTo>
                      <a:pt x="51" y="1"/>
                    </a:lnTo>
                    <a:lnTo>
                      <a:pt x="59" y="0"/>
                    </a:lnTo>
                    <a:lnTo>
                      <a:pt x="67" y="1"/>
                    </a:lnTo>
                    <a:lnTo>
                      <a:pt x="76" y="4"/>
                    </a:lnTo>
                    <a:lnTo>
                      <a:pt x="86" y="7"/>
                    </a:lnTo>
                    <a:lnTo>
                      <a:pt x="95" y="13"/>
                    </a:lnTo>
                    <a:lnTo>
                      <a:pt x="104" y="19"/>
                    </a:lnTo>
                    <a:lnTo>
                      <a:pt x="363" y="215"/>
                    </a:lnTo>
                    <a:lnTo>
                      <a:pt x="373" y="223"/>
                    </a:lnTo>
                    <a:lnTo>
                      <a:pt x="382" y="232"/>
                    </a:lnTo>
                    <a:lnTo>
                      <a:pt x="391" y="241"/>
                    </a:lnTo>
                    <a:lnTo>
                      <a:pt x="399" y="252"/>
                    </a:lnTo>
                    <a:lnTo>
                      <a:pt x="407" y="263"/>
                    </a:lnTo>
                    <a:lnTo>
                      <a:pt x="415" y="275"/>
                    </a:lnTo>
                    <a:lnTo>
                      <a:pt x="421" y="287"/>
                    </a:lnTo>
                    <a:lnTo>
                      <a:pt x="428" y="301"/>
                    </a:lnTo>
                    <a:lnTo>
                      <a:pt x="434" y="314"/>
                    </a:lnTo>
                    <a:lnTo>
                      <a:pt x="439" y="327"/>
                    </a:lnTo>
                    <a:lnTo>
                      <a:pt x="443" y="341"/>
                    </a:lnTo>
                    <a:lnTo>
                      <a:pt x="448" y="354"/>
                    </a:lnTo>
                    <a:lnTo>
                      <a:pt x="451" y="367"/>
                    </a:lnTo>
                    <a:lnTo>
                      <a:pt x="453" y="381"/>
                    </a:lnTo>
                    <a:lnTo>
                      <a:pt x="454" y="394"/>
                    </a:lnTo>
                    <a:lnTo>
                      <a:pt x="454" y="406"/>
                    </a:lnTo>
                    <a:lnTo>
                      <a:pt x="446" y="7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" name="Freeform 49"/>
              <p:cNvSpPr>
                <a:spLocks/>
              </p:cNvSpPr>
              <p:nvPr/>
            </p:nvSpPr>
            <p:spPr bwMode="auto">
              <a:xfrm>
                <a:off x="3998" y="2247"/>
                <a:ext cx="6" cy="11"/>
              </a:xfrm>
              <a:custGeom>
                <a:avLst/>
                <a:gdLst>
                  <a:gd name="T0" fmla="*/ 445 w 454"/>
                  <a:gd name="T1" fmla="*/ 755 h 813"/>
                  <a:gd name="T2" fmla="*/ 441 w 454"/>
                  <a:gd name="T3" fmla="*/ 776 h 813"/>
                  <a:gd name="T4" fmla="*/ 434 w 454"/>
                  <a:gd name="T5" fmla="*/ 793 h 813"/>
                  <a:gd name="T6" fmla="*/ 423 w 454"/>
                  <a:gd name="T7" fmla="*/ 804 h 813"/>
                  <a:gd name="T8" fmla="*/ 410 w 454"/>
                  <a:gd name="T9" fmla="*/ 811 h 813"/>
                  <a:gd name="T10" fmla="*/ 394 w 454"/>
                  <a:gd name="T11" fmla="*/ 813 h 813"/>
                  <a:gd name="T12" fmla="*/ 378 w 454"/>
                  <a:gd name="T13" fmla="*/ 810 h 813"/>
                  <a:gd name="T14" fmla="*/ 360 w 454"/>
                  <a:gd name="T15" fmla="*/ 801 h 813"/>
                  <a:gd name="T16" fmla="*/ 91 w 454"/>
                  <a:gd name="T17" fmla="*/ 598 h 813"/>
                  <a:gd name="T18" fmla="*/ 72 w 454"/>
                  <a:gd name="T19" fmla="*/ 582 h 813"/>
                  <a:gd name="T20" fmla="*/ 55 w 454"/>
                  <a:gd name="T21" fmla="*/ 561 h 813"/>
                  <a:gd name="T22" fmla="*/ 39 w 454"/>
                  <a:gd name="T23" fmla="*/ 538 h 813"/>
                  <a:gd name="T24" fmla="*/ 25 w 454"/>
                  <a:gd name="T25" fmla="*/ 513 h 813"/>
                  <a:gd name="T26" fmla="*/ 15 w 454"/>
                  <a:gd name="T27" fmla="*/ 486 h 813"/>
                  <a:gd name="T28" fmla="*/ 7 w 454"/>
                  <a:gd name="T29" fmla="*/ 459 h 813"/>
                  <a:gd name="T30" fmla="*/ 2 w 454"/>
                  <a:gd name="T31" fmla="*/ 432 h 813"/>
                  <a:gd name="T32" fmla="*/ 0 w 454"/>
                  <a:gd name="T33" fmla="*/ 406 h 813"/>
                  <a:gd name="T34" fmla="*/ 9 w 454"/>
                  <a:gd name="T35" fmla="*/ 58 h 813"/>
                  <a:gd name="T36" fmla="*/ 13 w 454"/>
                  <a:gd name="T37" fmla="*/ 38 h 813"/>
                  <a:gd name="T38" fmla="*/ 21 w 454"/>
                  <a:gd name="T39" fmla="*/ 20 h 813"/>
                  <a:gd name="T40" fmla="*/ 31 w 454"/>
                  <a:gd name="T41" fmla="*/ 9 h 813"/>
                  <a:gd name="T42" fmla="*/ 45 w 454"/>
                  <a:gd name="T43" fmla="*/ 2 h 813"/>
                  <a:gd name="T44" fmla="*/ 60 w 454"/>
                  <a:gd name="T45" fmla="*/ 0 h 813"/>
                  <a:gd name="T46" fmla="*/ 77 w 454"/>
                  <a:gd name="T47" fmla="*/ 4 h 813"/>
                  <a:gd name="T48" fmla="*/ 95 w 454"/>
                  <a:gd name="T49" fmla="*/ 12 h 813"/>
                  <a:gd name="T50" fmla="*/ 363 w 454"/>
                  <a:gd name="T51" fmla="*/ 215 h 813"/>
                  <a:gd name="T52" fmla="*/ 382 w 454"/>
                  <a:gd name="T53" fmla="*/ 231 h 813"/>
                  <a:gd name="T54" fmla="*/ 399 w 454"/>
                  <a:gd name="T55" fmla="*/ 251 h 813"/>
                  <a:gd name="T56" fmla="*/ 415 w 454"/>
                  <a:gd name="T57" fmla="*/ 275 h 813"/>
                  <a:gd name="T58" fmla="*/ 429 w 454"/>
                  <a:gd name="T59" fmla="*/ 301 h 813"/>
                  <a:gd name="T60" fmla="*/ 440 w 454"/>
                  <a:gd name="T61" fmla="*/ 327 h 813"/>
                  <a:gd name="T62" fmla="*/ 448 w 454"/>
                  <a:gd name="T63" fmla="*/ 354 h 813"/>
                  <a:gd name="T64" fmla="*/ 453 w 454"/>
                  <a:gd name="T65" fmla="*/ 380 h 813"/>
                  <a:gd name="T66" fmla="*/ 454 w 454"/>
                  <a:gd name="T67" fmla="*/ 407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54" h="813">
                    <a:moveTo>
                      <a:pt x="446" y="742"/>
                    </a:moveTo>
                    <a:lnTo>
                      <a:pt x="445" y="755"/>
                    </a:lnTo>
                    <a:lnTo>
                      <a:pt x="444" y="766"/>
                    </a:lnTo>
                    <a:lnTo>
                      <a:pt x="441" y="776"/>
                    </a:lnTo>
                    <a:lnTo>
                      <a:pt x="438" y="785"/>
                    </a:lnTo>
                    <a:lnTo>
                      <a:pt x="434" y="793"/>
                    </a:lnTo>
                    <a:lnTo>
                      <a:pt x="429" y="799"/>
                    </a:lnTo>
                    <a:lnTo>
                      <a:pt x="423" y="804"/>
                    </a:lnTo>
                    <a:lnTo>
                      <a:pt x="417" y="808"/>
                    </a:lnTo>
                    <a:lnTo>
                      <a:pt x="410" y="811"/>
                    </a:lnTo>
                    <a:lnTo>
                      <a:pt x="402" y="813"/>
                    </a:lnTo>
                    <a:lnTo>
                      <a:pt x="394" y="813"/>
                    </a:lnTo>
                    <a:lnTo>
                      <a:pt x="386" y="812"/>
                    </a:lnTo>
                    <a:lnTo>
                      <a:pt x="378" y="810"/>
                    </a:lnTo>
                    <a:lnTo>
                      <a:pt x="369" y="806"/>
                    </a:lnTo>
                    <a:lnTo>
                      <a:pt x="360" y="801"/>
                    </a:lnTo>
                    <a:lnTo>
                      <a:pt x="350" y="794"/>
                    </a:lnTo>
                    <a:lnTo>
                      <a:pt x="91" y="598"/>
                    </a:lnTo>
                    <a:lnTo>
                      <a:pt x="82" y="590"/>
                    </a:lnTo>
                    <a:lnTo>
                      <a:pt x="72" y="582"/>
                    </a:lnTo>
                    <a:lnTo>
                      <a:pt x="64" y="572"/>
                    </a:lnTo>
                    <a:lnTo>
                      <a:pt x="55" y="561"/>
                    </a:lnTo>
                    <a:lnTo>
                      <a:pt x="47" y="550"/>
                    </a:lnTo>
                    <a:lnTo>
                      <a:pt x="39" y="538"/>
                    </a:lnTo>
                    <a:lnTo>
                      <a:pt x="32" y="526"/>
                    </a:lnTo>
                    <a:lnTo>
                      <a:pt x="25" y="513"/>
                    </a:lnTo>
                    <a:lnTo>
                      <a:pt x="20" y="499"/>
                    </a:lnTo>
                    <a:lnTo>
                      <a:pt x="15" y="486"/>
                    </a:lnTo>
                    <a:lnTo>
                      <a:pt x="10" y="473"/>
                    </a:lnTo>
                    <a:lnTo>
                      <a:pt x="7" y="459"/>
                    </a:lnTo>
                    <a:lnTo>
                      <a:pt x="4" y="446"/>
                    </a:lnTo>
                    <a:lnTo>
                      <a:pt x="2" y="432"/>
                    </a:lnTo>
                    <a:lnTo>
                      <a:pt x="0" y="419"/>
                    </a:lnTo>
                    <a:lnTo>
                      <a:pt x="0" y="406"/>
                    </a:lnTo>
                    <a:lnTo>
                      <a:pt x="8" y="70"/>
                    </a:lnTo>
                    <a:lnTo>
                      <a:pt x="9" y="58"/>
                    </a:lnTo>
                    <a:lnTo>
                      <a:pt x="11" y="47"/>
                    </a:lnTo>
                    <a:lnTo>
                      <a:pt x="13" y="38"/>
                    </a:lnTo>
                    <a:lnTo>
                      <a:pt x="16" y="29"/>
                    </a:lnTo>
                    <a:lnTo>
                      <a:pt x="21" y="20"/>
                    </a:lnTo>
                    <a:lnTo>
                      <a:pt x="25" y="14"/>
                    </a:lnTo>
                    <a:lnTo>
                      <a:pt x="31" y="9"/>
                    </a:lnTo>
                    <a:lnTo>
                      <a:pt x="37" y="5"/>
                    </a:lnTo>
                    <a:lnTo>
                      <a:pt x="45" y="2"/>
                    </a:lnTo>
                    <a:lnTo>
                      <a:pt x="52" y="0"/>
                    </a:lnTo>
                    <a:lnTo>
                      <a:pt x="60" y="0"/>
                    </a:lnTo>
                    <a:lnTo>
                      <a:pt x="68" y="1"/>
                    </a:lnTo>
                    <a:lnTo>
                      <a:pt x="77" y="4"/>
                    </a:lnTo>
                    <a:lnTo>
                      <a:pt x="86" y="7"/>
                    </a:lnTo>
                    <a:lnTo>
                      <a:pt x="95" y="12"/>
                    </a:lnTo>
                    <a:lnTo>
                      <a:pt x="104" y="19"/>
                    </a:lnTo>
                    <a:lnTo>
                      <a:pt x="363" y="215"/>
                    </a:lnTo>
                    <a:lnTo>
                      <a:pt x="373" y="222"/>
                    </a:lnTo>
                    <a:lnTo>
                      <a:pt x="382" y="231"/>
                    </a:lnTo>
                    <a:lnTo>
                      <a:pt x="391" y="241"/>
                    </a:lnTo>
                    <a:lnTo>
                      <a:pt x="399" y="251"/>
                    </a:lnTo>
                    <a:lnTo>
                      <a:pt x="407" y="263"/>
                    </a:lnTo>
                    <a:lnTo>
                      <a:pt x="415" y="275"/>
                    </a:lnTo>
                    <a:lnTo>
                      <a:pt x="422" y="288"/>
                    </a:lnTo>
                    <a:lnTo>
                      <a:pt x="429" y="301"/>
                    </a:lnTo>
                    <a:lnTo>
                      <a:pt x="435" y="314"/>
                    </a:lnTo>
                    <a:lnTo>
                      <a:pt x="440" y="327"/>
                    </a:lnTo>
                    <a:lnTo>
                      <a:pt x="444" y="340"/>
                    </a:lnTo>
                    <a:lnTo>
                      <a:pt x="448" y="354"/>
                    </a:lnTo>
                    <a:lnTo>
                      <a:pt x="451" y="367"/>
                    </a:lnTo>
                    <a:lnTo>
                      <a:pt x="453" y="380"/>
                    </a:lnTo>
                    <a:lnTo>
                      <a:pt x="454" y="394"/>
                    </a:lnTo>
                    <a:lnTo>
                      <a:pt x="454" y="407"/>
                    </a:lnTo>
                    <a:lnTo>
                      <a:pt x="446" y="742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8" name="Freeform 50"/>
              <p:cNvSpPr>
                <a:spLocks/>
              </p:cNvSpPr>
              <p:nvPr/>
            </p:nvSpPr>
            <p:spPr bwMode="auto">
              <a:xfrm>
                <a:off x="4006" y="2253"/>
                <a:ext cx="7" cy="11"/>
              </a:xfrm>
              <a:custGeom>
                <a:avLst/>
                <a:gdLst>
                  <a:gd name="T0" fmla="*/ 445 w 454"/>
                  <a:gd name="T1" fmla="*/ 755 h 813"/>
                  <a:gd name="T2" fmla="*/ 441 w 454"/>
                  <a:gd name="T3" fmla="*/ 776 h 813"/>
                  <a:gd name="T4" fmla="*/ 434 w 454"/>
                  <a:gd name="T5" fmla="*/ 792 h 813"/>
                  <a:gd name="T6" fmla="*/ 423 w 454"/>
                  <a:gd name="T7" fmla="*/ 803 h 813"/>
                  <a:gd name="T8" fmla="*/ 410 w 454"/>
                  <a:gd name="T9" fmla="*/ 811 h 813"/>
                  <a:gd name="T10" fmla="*/ 394 w 454"/>
                  <a:gd name="T11" fmla="*/ 813 h 813"/>
                  <a:gd name="T12" fmla="*/ 378 w 454"/>
                  <a:gd name="T13" fmla="*/ 809 h 813"/>
                  <a:gd name="T14" fmla="*/ 360 w 454"/>
                  <a:gd name="T15" fmla="*/ 800 h 813"/>
                  <a:gd name="T16" fmla="*/ 91 w 454"/>
                  <a:gd name="T17" fmla="*/ 598 h 813"/>
                  <a:gd name="T18" fmla="*/ 73 w 454"/>
                  <a:gd name="T19" fmla="*/ 582 h 813"/>
                  <a:gd name="T20" fmla="*/ 54 w 454"/>
                  <a:gd name="T21" fmla="*/ 561 h 813"/>
                  <a:gd name="T22" fmla="*/ 39 w 454"/>
                  <a:gd name="T23" fmla="*/ 538 h 813"/>
                  <a:gd name="T24" fmla="*/ 26 w 454"/>
                  <a:gd name="T25" fmla="*/ 513 h 813"/>
                  <a:gd name="T26" fmla="*/ 15 w 454"/>
                  <a:gd name="T27" fmla="*/ 486 h 813"/>
                  <a:gd name="T28" fmla="*/ 7 w 454"/>
                  <a:gd name="T29" fmla="*/ 459 h 813"/>
                  <a:gd name="T30" fmla="*/ 2 w 454"/>
                  <a:gd name="T31" fmla="*/ 432 h 813"/>
                  <a:gd name="T32" fmla="*/ 0 w 454"/>
                  <a:gd name="T33" fmla="*/ 406 h 813"/>
                  <a:gd name="T34" fmla="*/ 9 w 454"/>
                  <a:gd name="T35" fmla="*/ 57 h 813"/>
                  <a:gd name="T36" fmla="*/ 13 w 454"/>
                  <a:gd name="T37" fmla="*/ 37 h 813"/>
                  <a:gd name="T38" fmla="*/ 21 w 454"/>
                  <a:gd name="T39" fmla="*/ 20 h 813"/>
                  <a:gd name="T40" fmla="*/ 31 w 454"/>
                  <a:gd name="T41" fmla="*/ 9 h 813"/>
                  <a:gd name="T42" fmla="*/ 44 w 454"/>
                  <a:gd name="T43" fmla="*/ 2 h 813"/>
                  <a:gd name="T44" fmla="*/ 60 w 454"/>
                  <a:gd name="T45" fmla="*/ 0 h 813"/>
                  <a:gd name="T46" fmla="*/ 77 w 454"/>
                  <a:gd name="T47" fmla="*/ 4 h 813"/>
                  <a:gd name="T48" fmla="*/ 95 w 454"/>
                  <a:gd name="T49" fmla="*/ 12 h 813"/>
                  <a:gd name="T50" fmla="*/ 363 w 454"/>
                  <a:gd name="T51" fmla="*/ 215 h 813"/>
                  <a:gd name="T52" fmla="*/ 382 w 454"/>
                  <a:gd name="T53" fmla="*/ 231 h 813"/>
                  <a:gd name="T54" fmla="*/ 399 w 454"/>
                  <a:gd name="T55" fmla="*/ 252 h 813"/>
                  <a:gd name="T56" fmla="*/ 415 w 454"/>
                  <a:gd name="T57" fmla="*/ 275 h 813"/>
                  <a:gd name="T58" fmla="*/ 429 w 454"/>
                  <a:gd name="T59" fmla="*/ 300 h 813"/>
                  <a:gd name="T60" fmla="*/ 440 w 454"/>
                  <a:gd name="T61" fmla="*/ 327 h 813"/>
                  <a:gd name="T62" fmla="*/ 448 w 454"/>
                  <a:gd name="T63" fmla="*/ 354 h 813"/>
                  <a:gd name="T64" fmla="*/ 453 w 454"/>
                  <a:gd name="T65" fmla="*/ 381 h 813"/>
                  <a:gd name="T66" fmla="*/ 454 w 454"/>
                  <a:gd name="T67" fmla="*/ 406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54" h="813">
                    <a:moveTo>
                      <a:pt x="446" y="743"/>
                    </a:moveTo>
                    <a:lnTo>
                      <a:pt x="445" y="755"/>
                    </a:lnTo>
                    <a:lnTo>
                      <a:pt x="444" y="766"/>
                    </a:lnTo>
                    <a:lnTo>
                      <a:pt x="441" y="776"/>
                    </a:lnTo>
                    <a:lnTo>
                      <a:pt x="438" y="784"/>
                    </a:lnTo>
                    <a:lnTo>
                      <a:pt x="434" y="792"/>
                    </a:lnTo>
                    <a:lnTo>
                      <a:pt x="429" y="798"/>
                    </a:lnTo>
                    <a:lnTo>
                      <a:pt x="423" y="803"/>
                    </a:lnTo>
                    <a:lnTo>
                      <a:pt x="416" y="807"/>
                    </a:lnTo>
                    <a:lnTo>
                      <a:pt x="410" y="811"/>
                    </a:lnTo>
                    <a:lnTo>
                      <a:pt x="402" y="813"/>
                    </a:lnTo>
                    <a:lnTo>
                      <a:pt x="394" y="813"/>
                    </a:lnTo>
                    <a:lnTo>
                      <a:pt x="386" y="812"/>
                    </a:lnTo>
                    <a:lnTo>
                      <a:pt x="378" y="809"/>
                    </a:lnTo>
                    <a:lnTo>
                      <a:pt x="369" y="805"/>
                    </a:lnTo>
                    <a:lnTo>
                      <a:pt x="360" y="800"/>
                    </a:lnTo>
                    <a:lnTo>
                      <a:pt x="350" y="793"/>
                    </a:lnTo>
                    <a:lnTo>
                      <a:pt x="91" y="598"/>
                    </a:lnTo>
                    <a:lnTo>
                      <a:pt x="82" y="591"/>
                    </a:lnTo>
                    <a:lnTo>
                      <a:pt x="73" y="582"/>
                    </a:lnTo>
                    <a:lnTo>
                      <a:pt x="64" y="572"/>
                    </a:lnTo>
                    <a:lnTo>
                      <a:pt x="54" y="561"/>
                    </a:lnTo>
                    <a:lnTo>
                      <a:pt x="46" y="549"/>
                    </a:lnTo>
                    <a:lnTo>
                      <a:pt x="39" y="538"/>
                    </a:lnTo>
                    <a:lnTo>
                      <a:pt x="32" y="525"/>
                    </a:lnTo>
                    <a:lnTo>
                      <a:pt x="26" y="513"/>
                    </a:lnTo>
                    <a:lnTo>
                      <a:pt x="20" y="499"/>
                    </a:lnTo>
                    <a:lnTo>
                      <a:pt x="15" y="486"/>
                    </a:lnTo>
                    <a:lnTo>
                      <a:pt x="10" y="473"/>
                    </a:lnTo>
                    <a:lnTo>
                      <a:pt x="7" y="459"/>
                    </a:lnTo>
                    <a:lnTo>
                      <a:pt x="4" y="445"/>
                    </a:lnTo>
                    <a:lnTo>
                      <a:pt x="2" y="432"/>
                    </a:lnTo>
                    <a:lnTo>
                      <a:pt x="1" y="419"/>
                    </a:lnTo>
                    <a:lnTo>
                      <a:pt x="0" y="406"/>
                    </a:lnTo>
                    <a:lnTo>
                      <a:pt x="8" y="69"/>
                    </a:lnTo>
                    <a:lnTo>
                      <a:pt x="9" y="57"/>
                    </a:lnTo>
                    <a:lnTo>
                      <a:pt x="11" y="47"/>
                    </a:lnTo>
                    <a:lnTo>
                      <a:pt x="13" y="37"/>
                    </a:lnTo>
                    <a:lnTo>
                      <a:pt x="17" y="28"/>
                    </a:lnTo>
                    <a:lnTo>
                      <a:pt x="21" y="20"/>
                    </a:lnTo>
                    <a:lnTo>
                      <a:pt x="26" y="14"/>
                    </a:lnTo>
                    <a:lnTo>
                      <a:pt x="31" y="9"/>
                    </a:lnTo>
                    <a:lnTo>
                      <a:pt x="37" y="5"/>
                    </a:lnTo>
                    <a:lnTo>
                      <a:pt x="44" y="2"/>
                    </a:lnTo>
                    <a:lnTo>
                      <a:pt x="51" y="0"/>
                    </a:lnTo>
                    <a:lnTo>
                      <a:pt x="60" y="0"/>
                    </a:lnTo>
                    <a:lnTo>
                      <a:pt x="68" y="1"/>
                    </a:lnTo>
                    <a:lnTo>
                      <a:pt x="77" y="4"/>
                    </a:lnTo>
                    <a:lnTo>
                      <a:pt x="86" y="7"/>
                    </a:lnTo>
                    <a:lnTo>
                      <a:pt x="95" y="12"/>
                    </a:lnTo>
                    <a:lnTo>
                      <a:pt x="104" y="19"/>
                    </a:lnTo>
                    <a:lnTo>
                      <a:pt x="363" y="215"/>
                    </a:lnTo>
                    <a:lnTo>
                      <a:pt x="373" y="223"/>
                    </a:lnTo>
                    <a:lnTo>
                      <a:pt x="382" y="231"/>
                    </a:lnTo>
                    <a:lnTo>
                      <a:pt x="391" y="241"/>
                    </a:lnTo>
                    <a:lnTo>
                      <a:pt x="399" y="252"/>
                    </a:lnTo>
                    <a:lnTo>
                      <a:pt x="407" y="263"/>
                    </a:lnTo>
                    <a:lnTo>
                      <a:pt x="415" y="275"/>
                    </a:lnTo>
                    <a:lnTo>
                      <a:pt x="423" y="287"/>
                    </a:lnTo>
                    <a:lnTo>
                      <a:pt x="429" y="300"/>
                    </a:lnTo>
                    <a:lnTo>
                      <a:pt x="435" y="313"/>
                    </a:lnTo>
                    <a:lnTo>
                      <a:pt x="440" y="327"/>
                    </a:lnTo>
                    <a:lnTo>
                      <a:pt x="444" y="341"/>
                    </a:lnTo>
                    <a:lnTo>
                      <a:pt x="448" y="354"/>
                    </a:lnTo>
                    <a:lnTo>
                      <a:pt x="451" y="368"/>
                    </a:lnTo>
                    <a:lnTo>
                      <a:pt x="453" y="381"/>
                    </a:lnTo>
                    <a:lnTo>
                      <a:pt x="454" y="394"/>
                    </a:lnTo>
                    <a:lnTo>
                      <a:pt x="454" y="406"/>
                    </a:lnTo>
                    <a:lnTo>
                      <a:pt x="446" y="743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" name="Freeform 51"/>
              <p:cNvSpPr>
                <a:spLocks/>
              </p:cNvSpPr>
              <p:nvPr/>
            </p:nvSpPr>
            <p:spPr bwMode="auto">
              <a:xfrm>
                <a:off x="4044" y="2275"/>
                <a:ext cx="8" cy="4"/>
              </a:xfrm>
              <a:custGeom>
                <a:avLst/>
                <a:gdLst>
                  <a:gd name="T0" fmla="*/ 524 w 524"/>
                  <a:gd name="T1" fmla="*/ 300 h 300"/>
                  <a:gd name="T2" fmla="*/ 0 w 524"/>
                  <a:gd name="T3" fmla="*/ 0 h 300"/>
                  <a:gd name="T4" fmla="*/ 6 w 524"/>
                  <a:gd name="T5" fmla="*/ 2 h 300"/>
                  <a:gd name="T6" fmla="*/ 12 w 524"/>
                  <a:gd name="T7" fmla="*/ 4 h 300"/>
                  <a:gd name="T8" fmla="*/ 19 w 524"/>
                  <a:gd name="T9" fmla="*/ 7 h 300"/>
                  <a:gd name="T10" fmla="*/ 26 w 524"/>
                  <a:gd name="T11" fmla="*/ 10 h 300"/>
                  <a:gd name="T12" fmla="*/ 499 w 524"/>
                  <a:gd name="T13" fmla="*/ 281 h 300"/>
                  <a:gd name="T14" fmla="*/ 512 w 524"/>
                  <a:gd name="T15" fmla="*/ 289 h 300"/>
                  <a:gd name="T16" fmla="*/ 524 w 524"/>
                  <a:gd name="T17" fmla="*/ 30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4" h="300">
                    <a:moveTo>
                      <a:pt x="524" y="30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2" y="4"/>
                    </a:lnTo>
                    <a:lnTo>
                      <a:pt x="19" y="7"/>
                    </a:lnTo>
                    <a:lnTo>
                      <a:pt x="26" y="10"/>
                    </a:lnTo>
                    <a:lnTo>
                      <a:pt x="499" y="281"/>
                    </a:lnTo>
                    <a:lnTo>
                      <a:pt x="512" y="289"/>
                    </a:lnTo>
                    <a:lnTo>
                      <a:pt x="524" y="300"/>
                    </a:lnTo>
                    <a:close/>
                  </a:path>
                </a:pathLst>
              </a:custGeom>
              <a:solidFill>
                <a:srgbClr val="A8A7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0" name="Freeform 52"/>
              <p:cNvSpPr>
                <a:spLocks/>
              </p:cNvSpPr>
              <p:nvPr/>
            </p:nvSpPr>
            <p:spPr bwMode="auto">
              <a:xfrm>
                <a:off x="4044" y="2275"/>
                <a:ext cx="8" cy="4"/>
              </a:xfrm>
              <a:custGeom>
                <a:avLst/>
                <a:gdLst>
                  <a:gd name="T0" fmla="*/ 577 w 577"/>
                  <a:gd name="T1" fmla="*/ 334 h 334"/>
                  <a:gd name="T2" fmla="*/ 0 w 577"/>
                  <a:gd name="T3" fmla="*/ 3 h 334"/>
                  <a:gd name="T4" fmla="*/ 6 w 577"/>
                  <a:gd name="T5" fmla="*/ 1 h 334"/>
                  <a:gd name="T6" fmla="*/ 13 w 577"/>
                  <a:gd name="T7" fmla="*/ 0 h 334"/>
                  <a:gd name="T8" fmla="*/ 20 w 577"/>
                  <a:gd name="T9" fmla="*/ 1 h 334"/>
                  <a:gd name="T10" fmla="*/ 28 w 577"/>
                  <a:gd name="T11" fmla="*/ 2 h 334"/>
                  <a:gd name="T12" fmla="*/ 552 w 577"/>
                  <a:gd name="T13" fmla="*/ 302 h 334"/>
                  <a:gd name="T14" fmla="*/ 559 w 577"/>
                  <a:gd name="T15" fmla="*/ 310 h 334"/>
                  <a:gd name="T16" fmla="*/ 566 w 577"/>
                  <a:gd name="T17" fmla="*/ 317 h 334"/>
                  <a:gd name="T18" fmla="*/ 572 w 577"/>
                  <a:gd name="T19" fmla="*/ 326 h 334"/>
                  <a:gd name="T20" fmla="*/ 577 w 577"/>
                  <a:gd name="T21" fmla="*/ 334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334">
                    <a:moveTo>
                      <a:pt x="577" y="334"/>
                    </a:moveTo>
                    <a:lnTo>
                      <a:pt x="0" y="3"/>
                    </a:lnTo>
                    <a:lnTo>
                      <a:pt x="6" y="1"/>
                    </a:lnTo>
                    <a:lnTo>
                      <a:pt x="13" y="0"/>
                    </a:lnTo>
                    <a:lnTo>
                      <a:pt x="20" y="1"/>
                    </a:lnTo>
                    <a:lnTo>
                      <a:pt x="28" y="2"/>
                    </a:lnTo>
                    <a:lnTo>
                      <a:pt x="552" y="302"/>
                    </a:lnTo>
                    <a:lnTo>
                      <a:pt x="559" y="310"/>
                    </a:lnTo>
                    <a:lnTo>
                      <a:pt x="566" y="317"/>
                    </a:lnTo>
                    <a:lnTo>
                      <a:pt x="572" y="326"/>
                    </a:lnTo>
                    <a:lnTo>
                      <a:pt x="577" y="334"/>
                    </a:lnTo>
                    <a:close/>
                  </a:path>
                </a:pathLst>
              </a:custGeom>
              <a:solidFill>
                <a:srgbClr val="A7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1" name="Freeform 53"/>
              <p:cNvSpPr>
                <a:spLocks/>
              </p:cNvSpPr>
              <p:nvPr/>
            </p:nvSpPr>
            <p:spPr bwMode="auto">
              <a:xfrm>
                <a:off x="4044" y="2275"/>
                <a:ext cx="8" cy="5"/>
              </a:xfrm>
              <a:custGeom>
                <a:avLst/>
                <a:gdLst>
                  <a:gd name="T0" fmla="*/ 602 w 602"/>
                  <a:gd name="T1" fmla="*/ 354 h 354"/>
                  <a:gd name="T2" fmla="*/ 0 w 602"/>
                  <a:gd name="T3" fmla="*/ 9 h 354"/>
                  <a:gd name="T4" fmla="*/ 3 w 602"/>
                  <a:gd name="T5" fmla="*/ 7 h 354"/>
                  <a:gd name="T6" fmla="*/ 6 w 602"/>
                  <a:gd name="T7" fmla="*/ 4 h 354"/>
                  <a:gd name="T8" fmla="*/ 10 w 602"/>
                  <a:gd name="T9" fmla="*/ 2 h 354"/>
                  <a:gd name="T10" fmla="*/ 14 w 602"/>
                  <a:gd name="T11" fmla="*/ 0 h 354"/>
                  <a:gd name="T12" fmla="*/ 591 w 602"/>
                  <a:gd name="T13" fmla="*/ 331 h 354"/>
                  <a:gd name="T14" fmla="*/ 597 w 602"/>
                  <a:gd name="T15" fmla="*/ 342 h 354"/>
                  <a:gd name="T16" fmla="*/ 602 w 602"/>
                  <a:gd name="T17" fmla="*/ 354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2" h="354">
                    <a:moveTo>
                      <a:pt x="602" y="354"/>
                    </a:moveTo>
                    <a:lnTo>
                      <a:pt x="0" y="9"/>
                    </a:lnTo>
                    <a:lnTo>
                      <a:pt x="3" y="7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4" y="0"/>
                    </a:lnTo>
                    <a:lnTo>
                      <a:pt x="591" y="331"/>
                    </a:lnTo>
                    <a:lnTo>
                      <a:pt x="597" y="342"/>
                    </a:lnTo>
                    <a:lnTo>
                      <a:pt x="602" y="354"/>
                    </a:lnTo>
                    <a:close/>
                  </a:path>
                </a:pathLst>
              </a:custGeom>
              <a:solidFill>
                <a:srgbClr val="A6A5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2" name="Freeform 54"/>
              <p:cNvSpPr>
                <a:spLocks/>
              </p:cNvSpPr>
              <p:nvPr/>
            </p:nvSpPr>
            <p:spPr bwMode="auto">
              <a:xfrm>
                <a:off x="4044" y="2275"/>
                <a:ext cx="8" cy="5"/>
              </a:xfrm>
              <a:custGeom>
                <a:avLst/>
                <a:gdLst>
                  <a:gd name="T0" fmla="*/ 613 w 613"/>
                  <a:gd name="T1" fmla="*/ 365 h 365"/>
                  <a:gd name="T2" fmla="*/ 0 w 613"/>
                  <a:gd name="T3" fmla="*/ 14 h 365"/>
                  <a:gd name="T4" fmla="*/ 3 w 613"/>
                  <a:gd name="T5" fmla="*/ 6 h 365"/>
                  <a:gd name="T6" fmla="*/ 7 w 613"/>
                  <a:gd name="T7" fmla="*/ 0 h 365"/>
                  <a:gd name="T8" fmla="*/ 609 w 613"/>
                  <a:gd name="T9" fmla="*/ 345 h 365"/>
                  <a:gd name="T10" fmla="*/ 611 w 613"/>
                  <a:gd name="T11" fmla="*/ 355 h 365"/>
                  <a:gd name="T12" fmla="*/ 613 w 613"/>
                  <a:gd name="T13" fmla="*/ 365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3" h="365">
                    <a:moveTo>
                      <a:pt x="613" y="365"/>
                    </a:moveTo>
                    <a:lnTo>
                      <a:pt x="0" y="14"/>
                    </a:lnTo>
                    <a:lnTo>
                      <a:pt x="3" y="6"/>
                    </a:lnTo>
                    <a:lnTo>
                      <a:pt x="7" y="0"/>
                    </a:lnTo>
                    <a:lnTo>
                      <a:pt x="609" y="345"/>
                    </a:lnTo>
                    <a:lnTo>
                      <a:pt x="611" y="355"/>
                    </a:lnTo>
                    <a:lnTo>
                      <a:pt x="613" y="365"/>
                    </a:lnTo>
                    <a:close/>
                  </a:path>
                </a:pathLst>
              </a:custGeom>
              <a:solidFill>
                <a:srgbClr val="A6A5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3" name="Freeform 55"/>
              <p:cNvSpPr>
                <a:spLocks/>
              </p:cNvSpPr>
              <p:nvPr/>
            </p:nvSpPr>
            <p:spPr bwMode="auto">
              <a:xfrm>
                <a:off x="4044" y="2275"/>
                <a:ext cx="8" cy="5"/>
              </a:xfrm>
              <a:custGeom>
                <a:avLst/>
                <a:gdLst>
                  <a:gd name="T0" fmla="*/ 614 w 615"/>
                  <a:gd name="T1" fmla="*/ 367 h 367"/>
                  <a:gd name="T2" fmla="*/ 0 w 615"/>
                  <a:gd name="T3" fmla="*/ 16 h 367"/>
                  <a:gd name="T4" fmla="*/ 0 w 615"/>
                  <a:gd name="T5" fmla="*/ 12 h 367"/>
                  <a:gd name="T6" fmla="*/ 0 w 615"/>
                  <a:gd name="T7" fmla="*/ 9 h 367"/>
                  <a:gd name="T8" fmla="*/ 1 w 615"/>
                  <a:gd name="T9" fmla="*/ 4 h 367"/>
                  <a:gd name="T10" fmla="*/ 2 w 615"/>
                  <a:gd name="T11" fmla="*/ 0 h 367"/>
                  <a:gd name="T12" fmla="*/ 615 w 615"/>
                  <a:gd name="T13" fmla="*/ 351 h 367"/>
                  <a:gd name="T14" fmla="*/ 615 w 615"/>
                  <a:gd name="T15" fmla="*/ 356 h 367"/>
                  <a:gd name="T16" fmla="*/ 615 w 615"/>
                  <a:gd name="T17" fmla="*/ 361 h 367"/>
                  <a:gd name="T18" fmla="*/ 614 w 615"/>
                  <a:gd name="T19" fmla="*/ 364 h 367"/>
                  <a:gd name="T20" fmla="*/ 614 w 615"/>
                  <a:gd name="T21" fmla="*/ 367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5" h="367">
                    <a:moveTo>
                      <a:pt x="614" y="367"/>
                    </a:moveTo>
                    <a:lnTo>
                      <a:pt x="0" y="16"/>
                    </a:lnTo>
                    <a:lnTo>
                      <a:pt x="0" y="12"/>
                    </a:lnTo>
                    <a:lnTo>
                      <a:pt x="0" y="9"/>
                    </a:lnTo>
                    <a:lnTo>
                      <a:pt x="1" y="4"/>
                    </a:lnTo>
                    <a:lnTo>
                      <a:pt x="2" y="0"/>
                    </a:lnTo>
                    <a:lnTo>
                      <a:pt x="615" y="351"/>
                    </a:lnTo>
                    <a:lnTo>
                      <a:pt x="615" y="356"/>
                    </a:lnTo>
                    <a:lnTo>
                      <a:pt x="615" y="361"/>
                    </a:lnTo>
                    <a:lnTo>
                      <a:pt x="614" y="364"/>
                    </a:lnTo>
                    <a:lnTo>
                      <a:pt x="614" y="367"/>
                    </a:lnTo>
                    <a:close/>
                  </a:path>
                </a:pathLst>
              </a:custGeom>
              <a:solidFill>
                <a:srgbClr val="A5A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4" name="Freeform 56"/>
              <p:cNvSpPr>
                <a:spLocks/>
              </p:cNvSpPr>
              <p:nvPr/>
            </p:nvSpPr>
            <p:spPr bwMode="auto">
              <a:xfrm>
                <a:off x="4044" y="2275"/>
                <a:ext cx="8" cy="5"/>
              </a:xfrm>
              <a:custGeom>
                <a:avLst/>
                <a:gdLst>
                  <a:gd name="T0" fmla="*/ 608 w 614"/>
                  <a:gd name="T1" fmla="*/ 365 h 365"/>
                  <a:gd name="T2" fmla="*/ 3 w 614"/>
                  <a:gd name="T3" fmla="*/ 19 h 365"/>
                  <a:gd name="T4" fmla="*/ 1 w 614"/>
                  <a:gd name="T5" fmla="*/ 9 h 365"/>
                  <a:gd name="T6" fmla="*/ 0 w 614"/>
                  <a:gd name="T7" fmla="*/ 0 h 365"/>
                  <a:gd name="T8" fmla="*/ 614 w 614"/>
                  <a:gd name="T9" fmla="*/ 351 h 365"/>
                  <a:gd name="T10" fmla="*/ 611 w 614"/>
                  <a:gd name="T11" fmla="*/ 359 h 365"/>
                  <a:gd name="T12" fmla="*/ 608 w 614"/>
                  <a:gd name="T13" fmla="*/ 365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4" h="365">
                    <a:moveTo>
                      <a:pt x="608" y="365"/>
                    </a:moveTo>
                    <a:lnTo>
                      <a:pt x="3" y="19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614" y="351"/>
                    </a:lnTo>
                    <a:lnTo>
                      <a:pt x="611" y="359"/>
                    </a:lnTo>
                    <a:lnTo>
                      <a:pt x="608" y="365"/>
                    </a:lnTo>
                    <a:close/>
                  </a:path>
                </a:pathLst>
              </a:custGeom>
              <a:solidFill>
                <a:srgbClr val="A4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5" name="Freeform 57"/>
              <p:cNvSpPr>
                <a:spLocks/>
              </p:cNvSpPr>
              <p:nvPr/>
            </p:nvSpPr>
            <p:spPr bwMode="auto">
              <a:xfrm>
                <a:off x="4044" y="2276"/>
                <a:ext cx="8" cy="4"/>
              </a:xfrm>
              <a:custGeom>
                <a:avLst/>
                <a:gdLst>
                  <a:gd name="T0" fmla="*/ 593 w 605"/>
                  <a:gd name="T1" fmla="*/ 356 h 356"/>
                  <a:gd name="T2" fmla="*/ 9 w 605"/>
                  <a:gd name="T3" fmla="*/ 23 h 356"/>
                  <a:gd name="T4" fmla="*/ 4 w 605"/>
                  <a:gd name="T5" fmla="*/ 12 h 356"/>
                  <a:gd name="T6" fmla="*/ 0 w 605"/>
                  <a:gd name="T7" fmla="*/ 0 h 356"/>
                  <a:gd name="T8" fmla="*/ 605 w 605"/>
                  <a:gd name="T9" fmla="*/ 346 h 356"/>
                  <a:gd name="T10" fmla="*/ 599 w 605"/>
                  <a:gd name="T11" fmla="*/ 352 h 356"/>
                  <a:gd name="T12" fmla="*/ 593 w 605"/>
                  <a:gd name="T13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5" h="356">
                    <a:moveTo>
                      <a:pt x="593" y="356"/>
                    </a:moveTo>
                    <a:lnTo>
                      <a:pt x="9" y="23"/>
                    </a:lnTo>
                    <a:lnTo>
                      <a:pt x="4" y="12"/>
                    </a:lnTo>
                    <a:lnTo>
                      <a:pt x="0" y="0"/>
                    </a:lnTo>
                    <a:lnTo>
                      <a:pt x="605" y="346"/>
                    </a:lnTo>
                    <a:lnTo>
                      <a:pt x="599" y="352"/>
                    </a:lnTo>
                    <a:lnTo>
                      <a:pt x="593" y="356"/>
                    </a:lnTo>
                    <a:close/>
                  </a:path>
                </a:pathLst>
              </a:custGeom>
              <a:solidFill>
                <a:srgbClr val="A3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6" name="Freeform 58"/>
              <p:cNvSpPr>
                <a:spLocks/>
              </p:cNvSpPr>
              <p:nvPr/>
            </p:nvSpPr>
            <p:spPr bwMode="auto">
              <a:xfrm>
                <a:off x="4044" y="2276"/>
                <a:ext cx="8" cy="5"/>
              </a:xfrm>
              <a:custGeom>
                <a:avLst/>
                <a:gdLst>
                  <a:gd name="T0" fmla="*/ 561 w 584"/>
                  <a:gd name="T1" fmla="*/ 339 h 339"/>
                  <a:gd name="T2" fmla="*/ 20 w 584"/>
                  <a:gd name="T3" fmla="*/ 28 h 339"/>
                  <a:gd name="T4" fmla="*/ 14 w 584"/>
                  <a:gd name="T5" fmla="*/ 22 h 339"/>
                  <a:gd name="T6" fmla="*/ 9 w 584"/>
                  <a:gd name="T7" fmla="*/ 15 h 339"/>
                  <a:gd name="T8" fmla="*/ 4 w 584"/>
                  <a:gd name="T9" fmla="*/ 7 h 339"/>
                  <a:gd name="T10" fmla="*/ 0 w 584"/>
                  <a:gd name="T11" fmla="*/ 0 h 339"/>
                  <a:gd name="T12" fmla="*/ 584 w 584"/>
                  <a:gd name="T13" fmla="*/ 333 h 339"/>
                  <a:gd name="T14" fmla="*/ 579 w 584"/>
                  <a:gd name="T15" fmla="*/ 336 h 339"/>
                  <a:gd name="T16" fmla="*/ 573 w 584"/>
                  <a:gd name="T17" fmla="*/ 337 h 339"/>
                  <a:gd name="T18" fmla="*/ 567 w 584"/>
                  <a:gd name="T19" fmla="*/ 339 h 339"/>
                  <a:gd name="T20" fmla="*/ 561 w 584"/>
                  <a:gd name="T21" fmla="*/ 33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4" h="339">
                    <a:moveTo>
                      <a:pt x="561" y="339"/>
                    </a:moveTo>
                    <a:lnTo>
                      <a:pt x="20" y="28"/>
                    </a:lnTo>
                    <a:lnTo>
                      <a:pt x="14" y="22"/>
                    </a:lnTo>
                    <a:lnTo>
                      <a:pt x="9" y="15"/>
                    </a:lnTo>
                    <a:lnTo>
                      <a:pt x="4" y="7"/>
                    </a:lnTo>
                    <a:lnTo>
                      <a:pt x="0" y="0"/>
                    </a:lnTo>
                    <a:lnTo>
                      <a:pt x="584" y="333"/>
                    </a:lnTo>
                    <a:lnTo>
                      <a:pt x="579" y="336"/>
                    </a:lnTo>
                    <a:lnTo>
                      <a:pt x="573" y="337"/>
                    </a:lnTo>
                    <a:lnTo>
                      <a:pt x="567" y="339"/>
                    </a:lnTo>
                    <a:lnTo>
                      <a:pt x="561" y="339"/>
                    </a:lnTo>
                    <a:close/>
                  </a:path>
                </a:pathLst>
              </a:custGeom>
              <a:solidFill>
                <a:srgbClr val="A2A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7" name="Freeform 59"/>
              <p:cNvSpPr>
                <a:spLocks/>
              </p:cNvSpPr>
              <p:nvPr/>
            </p:nvSpPr>
            <p:spPr bwMode="auto">
              <a:xfrm>
                <a:off x="4044" y="2276"/>
                <a:ext cx="8" cy="5"/>
              </a:xfrm>
              <a:custGeom>
                <a:avLst/>
                <a:gdLst>
                  <a:gd name="T0" fmla="*/ 0 w 541"/>
                  <a:gd name="T1" fmla="*/ 0 h 311"/>
                  <a:gd name="T2" fmla="*/ 541 w 541"/>
                  <a:gd name="T3" fmla="*/ 311 h 311"/>
                  <a:gd name="T4" fmla="*/ 533 w 541"/>
                  <a:gd name="T5" fmla="*/ 308 h 311"/>
                  <a:gd name="T6" fmla="*/ 525 w 541"/>
                  <a:gd name="T7" fmla="*/ 306 h 311"/>
                  <a:gd name="T8" fmla="*/ 516 w 541"/>
                  <a:gd name="T9" fmla="*/ 303 h 311"/>
                  <a:gd name="T10" fmla="*/ 507 w 541"/>
                  <a:gd name="T11" fmla="*/ 298 h 311"/>
                  <a:gd name="T12" fmla="*/ 33 w 541"/>
                  <a:gd name="T13" fmla="*/ 27 h 311"/>
                  <a:gd name="T14" fmla="*/ 24 w 541"/>
                  <a:gd name="T15" fmla="*/ 22 h 311"/>
                  <a:gd name="T16" fmla="*/ 15 w 541"/>
                  <a:gd name="T17" fmla="*/ 15 h 311"/>
                  <a:gd name="T18" fmla="*/ 7 w 541"/>
                  <a:gd name="T19" fmla="*/ 8 h 311"/>
                  <a:gd name="T20" fmla="*/ 0 w 541"/>
                  <a:gd name="T21" fmla="*/ 0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1" h="311">
                    <a:moveTo>
                      <a:pt x="0" y="0"/>
                    </a:moveTo>
                    <a:lnTo>
                      <a:pt x="541" y="311"/>
                    </a:lnTo>
                    <a:lnTo>
                      <a:pt x="533" y="308"/>
                    </a:lnTo>
                    <a:lnTo>
                      <a:pt x="525" y="306"/>
                    </a:lnTo>
                    <a:lnTo>
                      <a:pt x="516" y="303"/>
                    </a:lnTo>
                    <a:lnTo>
                      <a:pt x="507" y="298"/>
                    </a:lnTo>
                    <a:lnTo>
                      <a:pt x="33" y="27"/>
                    </a:lnTo>
                    <a:lnTo>
                      <a:pt x="24" y="22"/>
                    </a:lnTo>
                    <a:lnTo>
                      <a:pt x="15" y="15"/>
                    </a:lnTo>
                    <a:lnTo>
                      <a:pt x="7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2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8" name="Freeform 60"/>
              <p:cNvSpPr>
                <a:spLocks/>
              </p:cNvSpPr>
              <p:nvPr/>
            </p:nvSpPr>
            <p:spPr bwMode="auto">
              <a:xfrm>
                <a:off x="4044" y="2279"/>
                <a:ext cx="8" cy="4"/>
              </a:xfrm>
              <a:custGeom>
                <a:avLst/>
                <a:gdLst>
                  <a:gd name="T0" fmla="*/ 523 w 523"/>
                  <a:gd name="T1" fmla="*/ 298 h 298"/>
                  <a:gd name="T2" fmla="*/ 0 w 523"/>
                  <a:gd name="T3" fmla="*/ 0 h 298"/>
                  <a:gd name="T4" fmla="*/ 12 w 523"/>
                  <a:gd name="T5" fmla="*/ 4 h 298"/>
                  <a:gd name="T6" fmla="*/ 26 w 523"/>
                  <a:gd name="T7" fmla="*/ 10 h 298"/>
                  <a:gd name="T8" fmla="*/ 499 w 523"/>
                  <a:gd name="T9" fmla="*/ 280 h 298"/>
                  <a:gd name="T10" fmla="*/ 512 w 523"/>
                  <a:gd name="T11" fmla="*/ 289 h 298"/>
                  <a:gd name="T12" fmla="*/ 523 w 523"/>
                  <a:gd name="T13" fmla="*/ 298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3" h="298">
                    <a:moveTo>
                      <a:pt x="523" y="298"/>
                    </a:moveTo>
                    <a:lnTo>
                      <a:pt x="0" y="0"/>
                    </a:lnTo>
                    <a:lnTo>
                      <a:pt x="12" y="4"/>
                    </a:lnTo>
                    <a:lnTo>
                      <a:pt x="26" y="10"/>
                    </a:lnTo>
                    <a:lnTo>
                      <a:pt x="499" y="280"/>
                    </a:lnTo>
                    <a:lnTo>
                      <a:pt x="512" y="289"/>
                    </a:lnTo>
                    <a:lnTo>
                      <a:pt x="523" y="298"/>
                    </a:lnTo>
                    <a:close/>
                  </a:path>
                </a:pathLst>
              </a:custGeom>
              <a:solidFill>
                <a:srgbClr val="A8A7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9" name="Freeform 61"/>
              <p:cNvSpPr>
                <a:spLocks/>
              </p:cNvSpPr>
              <p:nvPr/>
            </p:nvSpPr>
            <p:spPr bwMode="auto">
              <a:xfrm>
                <a:off x="4044" y="2279"/>
                <a:ext cx="8" cy="5"/>
              </a:xfrm>
              <a:custGeom>
                <a:avLst/>
                <a:gdLst>
                  <a:gd name="T0" fmla="*/ 577 w 577"/>
                  <a:gd name="T1" fmla="*/ 332 h 332"/>
                  <a:gd name="T2" fmla="*/ 0 w 577"/>
                  <a:gd name="T3" fmla="*/ 3 h 332"/>
                  <a:gd name="T4" fmla="*/ 6 w 577"/>
                  <a:gd name="T5" fmla="*/ 1 h 332"/>
                  <a:gd name="T6" fmla="*/ 13 w 577"/>
                  <a:gd name="T7" fmla="*/ 0 h 332"/>
                  <a:gd name="T8" fmla="*/ 20 w 577"/>
                  <a:gd name="T9" fmla="*/ 0 h 332"/>
                  <a:gd name="T10" fmla="*/ 28 w 577"/>
                  <a:gd name="T11" fmla="*/ 2 h 332"/>
                  <a:gd name="T12" fmla="*/ 551 w 577"/>
                  <a:gd name="T13" fmla="*/ 300 h 332"/>
                  <a:gd name="T14" fmla="*/ 558 w 577"/>
                  <a:gd name="T15" fmla="*/ 308 h 332"/>
                  <a:gd name="T16" fmla="*/ 565 w 577"/>
                  <a:gd name="T17" fmla="*/ 315 h 332"/>
                  <a:gd name="T18" fmla="*/ 571 w 577"/>
                  <a:gd name="T19" fmla="*/ 324 h 332"/>
                  <a:gd name="T20" fmla="*/ 577 w 577"/>
                  <a:gd name="T21" fmla="*/ 332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7" h="332">
                    <a:moveTo>
                      <a:pt x="577" y="332"/>
                    </a:moveTo>
                    <a:lnTo>
                      <a:pt x="0" y="3"/>
                    </a:lnTo>
                    <a:lnTo>
                      <a:pt x="6" y="1"/>
                    </a:lnTo>
                    <a:lnTo>
                      <a:pt x="13" y="0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551" y="300"/>
                    </a:lnTo>
                    <a:lnTo>
                      <a:pt x="558" y="308"/>
                    </a:lnTo>
                    <a:lnTo>
                      <a:pt x="565" y="315"/>
                    </a:lnTo>
                    <a:lnTo>
                      <a:pt x="571" y="324"/>
                    </a:lnTo>
                    <a:lnTo>
                      <a:pt x="577" y="332"/>
                    </a:lnTo>
                    <a:close/>
                  </a:path>
                </a:pathLst>
              </a:custGeom>
              <a:solidFill>
                <a:srgbClr val="A7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0" name="Freeform 62"/>
              <p:cNvSpPr>
                <a:spLocks/>
              </p:cNvSpPr>
              <p:nvPr/>
            </p:nvSpPr>
            <p:spPr bwMode="auto">
              <a:xfrm>
                <a:off x="4044" y="2279"/>
                <a:ext cx="8" cy="5"/>
              </a:xfrm>
              <a:custGeom>
                <a:avLst/>
                <a:gdLst>
                  <a:gd name="T0" fmla="*/ 601 w 601"/>
                  <a:gd name="T1" fmla="*/ 353 h 353"/>
                  <a:gd name="T2" fmla="*/ 0 w 601"/>
                  <a:gd name="T3" fmla="*/ 9 h 353"/>
                  <a:gd name="T4" fmla="*/ 3 w 601"/>
                  <a:gd name="T5" fmla="*/ 6 h 353"/>
                  <a:gd name="T6" fmla="*/ 6 w 601"/>
                  <a:gd name="T7" fmla="*/ 3 h 353"/>
                  <a:gd name="T8" fmla="*/ 10 w 601"/>
                  <a:gd name="T9" fmla="*/ 1 h 353"/>
                  <a:gd name="T10" fmla="*/ 14 w 601"/>
                  <a:gd name="T11" fmla="*/ 0 h 353"/>
                  <a:gd name="T12" fmla="*/ 591 w 601"/>
                  <a:gd name="T13" fmla="*/ 329 h 353"/>
                  <a:gd name="T14" fmla="*/ 597 w 601"/>
                  <a:gd name="T15" fmla="*/ 341 h 353"/>
                  <a:gd name="T16" fmla="*/ 601 w 601"/>
                  <a:gd name="T17" fmla="*/ 353 h 3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1" h="353">
                    <a:moveTo>
                      <a:pt x="601" y="353"/>
                    </a:moveTo>
                    <a:lnTo>
                      <a:pt x="0" y="9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0" y="1"/>
                    </a:lnTo>
                    <a:lnTo>
                      <a:pt x="14" y="0"/>
                    </a:lnTo>
                    <a:lnTo>
                      <a:pt x="591" y="329"/>
                    </a:lnTo>
                    <a:lnTo>
                      <a:pt x="597" y="341"/>
                    </a:lnTo>
                    <a:lnTo>
                      <a:pt x="601" y="353"/>
                    </a:lnTo>
                    <a:close/>
                  </a:path>
                </a:pathLst>
              </a:custGeom>
              <a:solidFill>
                <a:srgbClr val="A6A5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1" name="Freeform 63"/>
              <p:cNvSpPr>
                <a:spLocks/>
              </p:cNvSpPr>
              <p:nvPr/>
            </p:nvSpPr>
            <p:spPr bwMode="auto">
              <a:xfrm>
                <a:off x="4044" y="2279"/>
                <a:ext cx="8" cy="5"/>
              </a:xfrm>
              <a:custGeom>
                <a:avLst/>
                <a:gdLst>
                  <a:gd name="T0" fmla="*/ 612 w 612"/>
                  <a:gd name="T1" fmla="*/ 364 h 364"/>
                  <a:gd name="T2" fmla="*/ 0 w 612"/>
                  <a:gd name="T3" fmla="*/ 13 h 364"/>
                  <a:gd name="T4" fmla="*/ 3 w 612"/>
                  <a:gd name="T5" fmla="*/ 6 h 364"/>
                  <a:gd name="T6" fmla="*/ 7 w 612"/>
                  <a:gd name="T7" fmla="*/ 0 h 364"/>
                  <a:gd name="T8" fmla="*/ 608 w 612"/>
                  <a:gd name="T9" fmla="*/ 344 h 364"/>
                  <a:gd name="T10" fmla="*/ 611 w 612"/>
                  <a:gd name="T11" fmla="*/ 354 h 364"/>
                  <a:gd name="T12" fmla="*/ 612 w 612"/>
                  <a:gd name="T13" fmla="*/ 364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2" h="364">
                    <a:moveTo>
                      <a:pt x="612" y="364"/>
                    </a:moveTo>
                    <a:lnTo>
                      <a:pt x="0" y="13"/>
                    </a:lnTo>
                    <a:lnTo>
                      <a:pt x="3" y="6"/>
                    </a:lnTo>
                    <a:lnTo>
                      <a:pt x="7" y="0"/>
                    </a:lnTo>
                    <a:lnTo>
                      <a:pt x="608" y="344"/>
                    </a:lnTo>
                    <a:lnTo>
                      <a:pt x="611" y="354"/>
                    </a:lnTo>
                    <a:lnTo>
                      <a:pt x="612" y="364"/>
                    </a:lnTo>
                    <a:close/>
                  </a:path>
                </a:pathLst>
              </a:custGeom>
              <a:solidFill>
                <a:srgbClr val="A6A5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2" name="Freeform 64"/>
              <p:cNvSpPr>
                <a:spLocks/>
              </p:cNvSpPr>
              <p:nvPr/>
            </p:nvSpPr>
            <p:spPr bwMode="auto">
              <a:xfrm>
                <a:off x="4044" y="2279"/>
                <a:ext cx="8" cy="5"/>
              </a:xfrm>
              <a:custGeom>
                <a:avLst/>
                <a:gdLst>
                  <a:gd name="T0" fmla="*/ 614 w 615"/>
                  <a:gd name="T1" fmla="*/ 368 h 368"/>
                  <a:gd name="T2" fmla="*/ 0 w 615"/>
                  <a:gd name="T3" fmla="*/ 16 h 368"/>
                  <a:gd name="T4" fmla="*/ 0 w 615"/>
                  <a:gd name="T5" fmla="*/ 13 h 368"/>
                  <a:gd name="T6" fmla="*/ 0 w 615"/>
                  <a:gd name="T7" fmla="*/ 10 h 368"/>
                  <a:gd name="T8" fmla="*/ 1 w 615"/>
                  <a:gd name="T9" fmla="*/ 5 h 368"/>
                  <a:gd name="T10" fmla="*/ 2 w 615"/>
                  <a:gd name="T11" fmla="*/ 0 h 368"/>
                  <a:gd name="T12" fmla="*/ 614 w 615"/>
                  <a:gd name="T13" fmla="*/ 351 h 368"/>
                  <a:gd name="T14" fmla="*/ 615 w 615"/>
                  <a:gd name="T15" fmla="*/ 357 h 368"/>
                  <a:gd name="T16" fmla="*/ 615 w 615"/>
                  <a:gd name="T17" fmla="*/ 362 h 368"/>
                  <a:gd name="T18" fmla="*/ 614 w 615"/>
                  <a:gd name="T19" fmla="*/ 365 h 368"/>
                  <a:gd name="T20" fmla="*/ 614 w 615"/>
                  <a:gd name="T2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5" h="368">
                    <a:moveTo>
                      <a:pt x="614" y="368"/>
                    </a:moveTo>
                    <a:lnTo>
                      <a:pt x="0" y="16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1" y="5"/>
                    </a:lnTo>
                    <a:lnTo>
                      <a:pt x="2" y="0"/>
                    </a:lnTo>
                    <a:lnTo>
                      <a:pt x="614" y="351"/>
                    </a:lnTo>
                    <a:lnTo>
                      <a:pt x="615" y="357"/>
                    </a:lnTo>
                    <a:lnTo>
                      <a:pt x="615" y="362"/>
                    </a:lnTo>
                    <a:lnTo>
                      <a:pt x="614" y="365"/>
                    </a:lnTo>
                    <a:lnTo>
                      <a:pt x="614" y="368"/>
                    </a:lnTo>
                    <a:close/>
                  </a:path>
                </a:pathLst>
              </a:custGeom>
              <a:solidFill>
                <a:srgbClr val="A5A4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3" name="Freeform 65"/>
              <p:cNvSpPr>
                <a:spLocks/>
              </p:cNvSpPr>
              <p:nvPr/>
            </p:nvSpPr>
            <p:spPr bwMode="auto">
              <a:xfrm>
                <a:off x="4044" y="2280"/>
                <a:ext cx="8" cy="5"/>
              </a:xfrm>
              <a:custGeom>
                <a:avLst/>
                <a:gdLst>
                  <a:gd name="T0" fmla="*/ 608 w 614"/>
                  <a:gd name="T1" fmla="*/ 366 h 366"/>
                  <a:gd name="T2" fmla="*/ 3 w 614"/>
                  <a:gd name="T3" fmla="*/ 19 h 366"/>
                  <a:gd name="T4" fmla="*/ 1 w 614"/>
                  <a:gd name="T5" fmla="*/ 9 h 366"/>
                  <a:gd name="T6" fmla="*/ 0 w 614"/>
                  <a:gd name="T7" fmla="*/ 0 h 366"/>
                  <a:gd name="T8" fmla="*/ 614 w 614"/>
                  <a:gd name="T9" fmla="*/ 352 h 366"/>
                  <a:gd name="T10" fmla="*/ 611 w 614"/>
                  <a:gd name="T11" fmla="*/ 359 h 366"/>
                  <a:gd name="T12" fmla="*/ 608 w 614"/>
                  <a:gd name="T13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4" h="366">
                    <a:moveTo>
                      <a:pt x="608" y="366"/>
                    </a:moveTo>
                    <a:lnTo>
                      <a:pt x="3" y="19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614" y="352"/>
                    </a:lnTo>
                    <a:lnTo>
                      <a:pt x="611" y="359"/>
                    </a:lnTo>
                    <a:lnTo>
                      <a:pt x="608" y="366"/>
                    </a:lnTo>
                    <a:close/>
                  </a:path>
                </a:pathLst>
              </a:custGeom>
              <a:solidFill>
                <a:srgbClr val="A4A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4" name="Freeform 66"/>
              <p:cNvSpPr>
                <a:spLocks/>
              </p:cNvSpPr>
              <p:nvPr/>
            </p:nvSpPr>
            <p:spPr bwMode="auto">
              <a:xfrm>
                <a:off x="4044" y="2280"/>
                <a:ext cx="8" cy="5"/>
              </a:xfrm>
              <a:custGeom>
                <a:avLst/>
                <a:gdLst>
                  <a:gd name="T0" fmla="*/ 593 w 605"/>
                  <a:gd name="T1" fmla="*/ 357 h 357"/>
                  <a:gd name="T2" fmla="*/ 9 w 605"/>
                  <a:gd name="T3" fmla="*/ 22 h 357"/>
                  <a:gd name="T4" fmla="*/ 3 w 605"/>
                  <a:gd name="T5" fmla="*/ 11 h 357"/>
                  <a:gd name="T6" fmla="*/ 0 w 605"/>
                  <a:gd name="T7" fmla="*/ 0 h 357"/>
                  <a:gd name="T8" fmla="*/ 605 w 605"/>
                  <a:gd name="T9" fmla="*/ 347 h 357"/>
                  <a:gd name="T10" fmla="*/ 600 w 605"/>
                  <a:gd name="T11" fmla="*/ 352 h 357"/>
                  <a:gd name="T12" fmla="*/ 593 w 605"/>
                  <a:gd name="T13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5" h="357">
                    <a:moveTo>
                      <a:pt x="593" y="357"/>
                    </a:moveTo>
                    <a:lnTo>
                      <a:pt x="9" y="22"/>
                    </a:lnTo>
                    <a:lnTo>
                      <a:pt x="3" y="11"/>
                    </a:lnTo>
                    <a:lnTo>
                      <a:pt x="0" y="0"/>
                    </a:lnTo>
                    <a:lnTo>
                      <a:pt x="605" y="347"/>
                    </a:lnTo>
                    <a:lnTo>
                      <a:pt x="600" y="352"/>
                    </a:lnTo>
                    <a:lnTo>
                      <a:pt x="593" y="357"/>
                    </a:lnTo>
                    <a:close/>
                  </a:path>
                </a:pathLst>
              </a:custGeom>
              <a:solidFill>
                <a:srgbClr val="A3A2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5" name="Freeform 67"/>
              <p:cNvSpPr>
                <a:spLocks/>
              </p:cNvSpPr>
              <p:nvPr/>
            </p:nvSpPr>
            <p:spPr bwMode="auto">
              <a:xfrm>
                <a:off x="4044" y="2280"/>
                <a:ext cx="8" cy="5"/>
              </a:xfrm>
              <a:custGeom>
                <a:avLst/>
                <a:gdLst>
                  <a:gd name="T0" fmla="*/ 561 w 584"/>
                  <a:gd name="T1" fmla="*/ 339 h 339"/>
                  <a:gd name="T2" fmla="*/ 19 w 584"/>
                  <a:gd name="T3" fmla="*/ 30 h 339"/>
                  <a:gd name="T4" fmla="*/ 14 w 584"/>
                  <a:gd name="T5" fmla="*/ 22 h 339"/>
                  <a:gd name="T6" fmla="*/ 8 w 584"/>
                  <a:gd name="T7" fmla="*/ 15 h 339"/>
                  <a:gd name="T8" fmla="*/ 4 w 584"/>
                  <a:gd name="T9" fmla="*/ 7 h 339"/>
                  <a:gd name="T10" fmla="*/ 0 w 584"/>
                  <a:gd name="T11" fmla="*/ 0 h 339"/>
                  <a:gd name="T12" fmla="*/ 584 w 584"/>
                  <a:gd name="T13" fmla="*/ 335 h 339"/>
                  <a:gd name="T14" fmla="*/ 579 w 584"/>
                  <a:gd name="T15" fmla="*/ 337 h 339"/>
                  <a:gd name="T16" fmla="*/ 574 w 584"/>
                  <a:gd name="T17" fmla="*/ 339 h 339"/>
                  <a:gd name="T18" fmla="*/ 568 w 584"/>
                  <a:gd name="T19" fmla="*/ 339 h 339"/>
                  <a:gd name="T20" fmla="*/ 561 w 584"/>
                  <a:gd name="T21" fmla="*/ 33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4" h="339">
                    <a:moveTo>
                      <a:pt x="561" y="339"/>
                    </a:moveTo>
                    <a:lnTo>
                      <a:pt x="19" y="30"/>
                    </a:lnTo>
                    <a:lnTo>
                      <a:pt x="14" y="22"/>
                    </a:lnTo>
                    <a:lnTo>
                      <a:pt x="8" y="15"/>
                    </a:lnTo>
                    <a:lnTo>
                      <a:pt x="4" y="7"/>
                    </a:lnTo>
                    <a:lnTo>
                      <a:pt x="0" y="0"/>
                    </a:lnTo>
                    <a:lnTo>
                      <a:pt x="584" y="335"/>
                    </a:lnTo>
                    <a:lnTo>
                      <a:pt x="579" y="337"/>
                    </a:lnTo>
                    <a:lnTo>
                      <a:pt x="574" y="339"/>
                    </a:lnTo>
                    <a:lnTo>
                      <a:pt x="568" y="339"/>
                    </a:lnTo>
                    <a:lnTo>
                      <a:pt x="561" y="339"/>
                    </a:lnTo>
                    <a:close/>
                  </a:path>
                </a:pathLst>
              </a:custGeom>
              <a:solidFill>
                <a:srgbClr val="A2A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6" name="Freeform 68"/>
              <p:cNvSpPr>
                <a:spLocks/>
              </p:cNvSpPr>
              <p:nvPr/>
            </p:nvSpPr>
            <p:spPr bwMode="auto">
              <a:xfrm>
                <a:off x="4044" y="2281"/>
                <a:ext cx="8" cy="4"/>
              </a:xfrm>
              <a:custGeom>
                <a:avLst/>
                <a:gdLst>
                  <a:gd name="T0" fmla="*/ 0 w 542"/>
                  <a:gd name="T1" fmla="*/ 0 h 309"/>
                  <a:gd name="T2" fmla="*/ 542 w 542"/>
                  <a:gd name="T3" fmla="*/ 309 h 309"/>
                  <a:gd name="T4" fmla="*/ 534 w 542"/>
                  <a:gd name="T5" fmla="*/ 308 h 309"/>
                  <a:gd name="T6" fmla="*/ 526 w 542"/>
                  <a:gd name="T7" fmla="*/ 306 h 309"/>
                  <a:gd name="T8" fmla="*/ 517 w 542"/>
                  <a:gd name="T9" fmla="*/ 302 h 309"/>
                  <a:gd name="T10" fmla="*/ 508 w 542"/>
                  <a:gd name="T11" fmla="*/ 298 h 309"/>
                  <a:gd name="T12" fmla="*/ 34 w 542"/>
                  <a:gd name="T13" fmla="*/ 27 h 309"/>
                  <a:gd name="T14" fmla="*/ 25 w 542"/>
                  <a:gd name="T15" fmla="*/ 21 h 309"/>
                  <a:gd name="T16" fmla="*/ 16 w 542"/>
                  <a:gd name="T17" fmla="*/ 15 h 309"/>
                  <a:gd name="T18" fmla="*/ 8 w 542"/>
                  <a:gd name="T19" fmla="*/ 8 h 309"/>
                  <a:gd name="T20" fmla="*/ 0 w 542"/>
                  <a:gd name="T21" fmla="*/ 0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2" h="309">
                    <a:moveTo>
                      <a:pt x="0" y="0"/>
                    </a:moveTo>
                    <a:lnTo>
                      <a:pt x="542" y="309"/>
                    </a:lnTo>
                    <a:lnTo>
                      <a:pt x="534" y="308"/>
                    </a:lnTo>
                    <a:lnTo>
                      <a:pt x="526" y="306"/>
                    </a:lnTo>
                    <a:lnTo>
                      <a:pt x="517" y="302"/>
                    </a:lnTo>
                    <a:lnTo>
                      <a:pt x="508" y="298"/>
                    </a:lnTo>
                    <a:lnTo>
                      <a:pt x="34" y="27"/>
                    </a:lnTo>
                    <a:lnTo>
                      <a:pt x="25" y="21"/>
                    </a:lnTo>
                    <a:lnTo>
                      <a:pt x="16" y="15"/>
                    </a:lnTo>
                    <a:lnTo>
                      <a:pt x="8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2A1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7" name="Freeform 69"/>
              <p:cNvSpPr>
                <a:spLocks/>
              </p:cNvSpPr>
              <p:nvPr/>
            </p:nvSpPr>
            <p:spPr bwMode="auto">
              <a:xfrm>
                <a:off x="4053" y="2132"/>
                <a:ext cx="26" cy="8"/>
              </a:xfrm>
              <a:custGeom>
                <a:avLst/>
                <a:gdLst>
                  <a:gd name="T0" fmla="*/ 0 w 1857"/>
                  <a:gd name="T1" fmla="*/ 88 h 591"/>
                  <a:gd name="T2" fmla="*/ 5 w 1857"/>
                  <a:gd name="T3" fmla="*/ 89 h 591"/>
                  <a:gd name="T4" fmla="*/ 20 w 1857"/>
                  <a:gd name="T5" fmla="*/ 89 h 591"/>
                  <a:gd name="T6" fmla="*/ 43 w 1857"/>
                  <a:gd name="T7" fmla="*/ 90 h 591"/>
                  <a:gd name="T8" fmla="*/ 74 w 1857"/>
                  <a:gd name="T9" fmla="*/ 92 h 591"/>
                  <a:gd name="T10" fmla="*/ 114 w 1857"/>
                  <a:gd name="T11" fmla="*/ 94 h 591"/>
                  <a:gd name="T12" fmla="*/ 160 w 1857"/>
                  <a:gd name="T13" fmla="*/ 95 h 591"/>
                  <a:gd name="T14" fmla="*/ 214 w 1857"/>
                  <a:gd name="T15" fmla="*/ 97 h 591"/>
                  <a:gd name="T16" fmla="*/ 273 w 1857"/>
                  <a:gd name="T17" fmla="*/ 99 h 591"/>
                  <a:gd name="T18" fmla="*/ 340 w 1857"/>
                  <a:gd name="T19" fmla="*/ 101 h 591"/>
                  <a:gd name="T20" fmla="*/ 412 w 1857"/>
                  <a:gd name="T21" fmla="*/ 103 h 591"/>
                  <a:gd name="T22" fmla="*/ 488 w 1857"/>
                  <a:gd name="T23" fmla="*/ 105 h 591"/>
                  <a:gd name="T24" fmla="*/ 570 w 1857"/>
                  <a:gd name="T25" fmla="*/ 107 h 591"/>
                  <a:gd name="T26" fmla="*/ 654 w 1857"/>
                  <a:gd name="T27" fmla="*/ 108 h 591"/>
                  <a:gd name="T28" fmla="*/ 742 w 1857"/>
                  <a:gd name="T29" fmla="*/ 109 h 591"/>
                  <a:gd name="T30" fmla="*/ 834 w 1857"/>
                  <a:gd name="T31" fmla="*/ 110 h 591"/>
                  <a:gd name="T32" fmla="*/ 928 w 1857"/>
                  <a:gd name="T33" fmla="*/ 110 h 591"/>
                  <a:gd name="T34" fmla="*/ 934 w 1857"/>
                  <a:gd name="T35" fmla="*/ 111 h 591"/>
                  <a:gd name="T36" fmla="*/ 947 w 1857"/>
                  <a:gd name="T37" fmla="*/ 112 h 591"/>
                  <a:gd name="T38" fmla="*/ 969 w 1857"/>
                  <a:gd name="T39" fmla="*/ 113 h 591"/>
                  <a:gd name="T40" fmla="*/ 999 w 1857"/>
                  <a:gd name="T41" fmla="*/ 115 h 591"/>
                  <a:gd name="T42" fmla="*/ 1037 w 1857"/>
                  <a:gd name="T43" fmla="*/ 116 h 591"/>
                  <a:gd name="T44" fmla="*/ 1082 w 1857"/>
                  <a:gd name="T45" fmla="*/ 116 h 591"/>
                  <a:gd name="T46" fmla="*/ 1135 w 1857"/>
                  <a:gd name="T47" fmla="*/ 115 h 591"/>
                  <a:gd name="T48" fmla="*/ 1194 w 1857"/>
                  <a:gd name="T49" fmla="*/ 113 h 591"/>
                  <a:gd name="T50" fmla="*/ 1259 w 1857"/>
                  <a:gd name="T51" fmla="*/ 109 h 591"/>
                  <a:gd name="T52" fmla="*/ 1330 w 1857"/>
                  <a:gd name="T53" fmla="*/ 103 h 591"/>
                  <a:gd name="T54" fmla="*/ 1367 w 1857"/>
                  <a:gd name="T55" fmla="*/ 99 h 591"/>
                  <a:gd name="T56" fmla="*/ 1407 w 1857"/>
                  <a:gd name="T57" fmla="*/ 94 h 591"/>
                  <a:gd name="T58" fmla="*/ 1447 w 1857"/>
                  <a:gd name="T59" fmla="*/ 89 h 591"/>
                  <a:gd name="T60" fmla="*/ 1489 w 1857"/>
                  <a:gd name="T61" fmla="*/ 83 h 591"/>
                  <a:gd name="T62" fmla="*/ 1531 w 1857"/>
                  <a:gd name="T63" fmla="*/ 76 h 591"/>
                  <a:gd name="T64" fmla="*/ 1575 w 1857"/>
                  <a:gd name="T65" fmla="*/ 67 h 591"/>
                  <a:gd name="T66" fmla="*/ 1619 w 1857"/>
                  <a:gd name="T67" fmla="*/ 58 h 591"/>
                  <a:gd name="T68" fmla="*/ 1665 w 1857"/>
                  <a:gd name="T69" fmla="*/ 49 h 591"/>
                  <a:gd name="T70" fmla="*/ 1711 w 1857"/>
                  <a:gd name="T71" fmla="*/ 38 h 591"/>
                  <a:gd name="T72" fmla="*/ 1760 w 1857"/>
                  <a:gd name="T73" fmla="*/ 26 h 591"/>
                  <a:gd name="T74" fmla="*/ 1808 w 1857"/>
                  <a:gd name="T75" fmla="*/ 14 h 591"/>
                  <a:gd name="T76" fmla="*/ 1857 w 1857"/>
                  <a:gd name="T77" fmla="*/ 0 h 591"/>
                  <a:gd name="T78" fmla="*/ 603 w 1857"/>
                  <a:gd name="T79" fmla="*/ 591 h 591"/>
                  <a:gd name="T80" fmla="*/ 585 w 1857"/>
                  <a:gd name="T81" fmla="*/ 576 h 591"/>
                  <a:gd name="T82" fmla="*/ 533 w 1857"/>
                  <a:gd name="T83" fmla="*/ 534 h 591"/>
                  <a:gd name="T84" fmla="*/ 458 w 1857"/>
                  <a:gd name="T85" fmla="*/ 472 h 591"/>
                  <a:gd name="T86" fmla="*/ 367 w 1857"/>
                  <a:gd name="T87" fmla="*/ 397 h 591"/>
                  <a:gd name="T88" fmla="*/ 267 w 1857"/>
                  <a:gd name="T89" fmla="*/ 315 h 591"/>
                  <a:gd name="T90" fmla="*/ 168 w 1857"/>
                  <a:gd name="T91" fmla="*/ 231 h 591"/>
                  <a:gd name="T92" fmla="*/ 76 w 1857"/>
                  <a:gd name="T93" fmla="*/ 153 h 591"/>
                  <a:gd name="T94" fmla="*/ 0 w 1857"/>
                  <a:gd name="T95" fmla="*/ 88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857" h="591">
                    <a:moveTo>
                      <a:pt x="0" y="88"/>
                    </a:moveTo>
                    <a:lnTo>
                      <a:pt x="5" y="89"/>
                    </a:lnTo>
                    <a:lnTo>
                      <a:pt x="20" y="89"/>
                    </a:lnTo>
                    <a:lnTo>
                      <a:pt x="43" y="90"/>
                    </a:lnTo>
                    <a:lnTo>
                      <a:pt x="74" y="92"/>
                    </a:lnTo>
                    <a:lnTo>
                      <a:pt x="114" y="94"/>
                    </a:lnTo>
                    <a:lnTo>
                      <a:pt x="160" y="95"/>
                    </a:lnTo>
                    <a:lnTo>
                      <a:pt x="214" y="97"/>
                    </a:lnTo>
                    <a:lnTo>
                      <a:pt x="273" y="99"/>
                    </a:lnTo>
                    <a:lnTo>
                      <a:pt x="340" y="101"/>
                    </a:lnTo>
                    <a:lnTo>
                      <a:pt x="412" y="103"/>
                    </a:lnTo>
                    <a:lnTo>
                      <a:pt x="488" y="105"/>
                    </a:lnTo>
                    <a:lnTo>
                      <a:pt x="570" y="107"/>
                    </a:lnTo>
                    <a:lnTo>
                      <a:pt x="654" y="108"/>
                    </a:lnTo>
                    <a:lnTo>
                      <a:pt x="742" y="109"/>
                    </a:lnTo>
                    <a:lnTo>
                      <a:pt x="834" y="110"/>
                    </a:lnTo>
                    <a:lnTo>
                      <a:pt x="928" y="110"/>
                    </a:lnTo>
                    <a:lnTo>
                      <a:pt x="934" y="111"/>
                    </a:lnTo>
                    <a:lnTo>
                      <a:pt x="947" y="112"/>
                    </a:lnTo>
                    <a:lnTo>
                      <a:pt x="969" y="113"/>
                    </a:lnTo>
                    <a:lnTo>
                      <a:pt x="999" y="115"/>
                    </a:lnTo>
                    <a:lnTo>
                      <a:pt x="1037" y="116"/>
                    </a:lnTo>
                    <a:lnTo>
                      <a:pt x="1082" y="116"/>
                    </a:lnTo>
                    <a:lnTo>
                      <a:pt x="1135" y="115"/>
                    </a:lnTo>
                    <a:lnTo>
                      <a:pt x="1194" y="113"/>
                    </a:lnTo>
                    <a:lnTo>
                      <a:pt x="1259" y="109"/>
                    </a:lnTo>
                    <a:lnTo>
                      <a:pt x="1330" y="103"/>
                    </a:lnTo>
                    <a:lnTo>
                      <a:pt x="1367" y="99"/>
                    </a:lnTo>
                    <a:lnTo>
                      <a:pt x="1407" y="94"/>
                    </a:lnTo>
                    <a:lnTo>
                      <a:pt x="1447" y="89"/>
                    </a:lnTo>
                    <a:lnTo>
                      <a:pt x="1489" y="83"/>
                    </a:lnTo>
                    <a:lnTo>
                      <a:pt x="1531" y="76"/>
                    </a:lnTo>
                    <a:lnTo>
                      <a:pt x="1575" y="67"/>
                    </a:lnTo>
                    <a:lnTo>
                      <a:pt x="1619" y="58"/>
                    </a:lnTo>
                    <a:lnTo>
                      <a:pt x="1665" y="49"/>
                    </a:lnTo>
                    <a:lnTo>
                      <a:pt x="1711" y="38"/>
                    </a:lnTo>
                    <a:lnTo>
                      <a:pt x="1760" y="26"/>
                    </a:lnTo>
                    <a:lnTo>
                      <a:pt x="1808" y="14"/>
                    </a:lnTo>
                    <a:lnTo>
                      <a:pt x="1857" y="0"/>
                    </a:lnTo>
                    <a:lnTo>
                      <a:pt x="603" y="591"/>
                    </a:lnTo>
                    <a:lnTo>
                      <a:pt x="585" y="576"/>
                    </a:lnTo>
                    <a:lnTo>
                      <a:pt x="533" y="534"/>
                    </a:lnTo>
                    <a:lnTo>
                      <a:pt x="458" y="472"/>
                    </a:lnTo>
                    <a:lnTo>
                      <a:pt x="367" y="397"/>
                    </a:lnTo>
                    <a:lnTo>
                      <a:pt x="267" y="315"/>
                    </a:lnTo>
                    <a:lnTo>
                      <a:pt x="168" y="231"/>
                    </a:lnTo>
                    <a:lnTo>
                      <a:pt x="76" y="153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8" name="Freeform 70"/>
              <p:cNvSpPr>
                <a:spLocks/>
              </p:cNvSpPr>
              <p:nvPr/>
            </p:nvSpPr>
            <p:spPr bwMode="auto">
              <a:xfrm>
                <a:off x="3991" y="2110"/>
                <a:ext cx="60" cy="77"/>
              </a:xfrm>
              <a:custGeom>
                <a:avLst/>
                <a:gdLst>
                  <a:gd name="T0" fmla="*/ 55 w 4373"/>
                  <a:gd name="T1" fmla="*/ 1325 h 5669"/>
                  <a:gd name="T2" fmla="*/ 169 w 4373"/>
                  <a:gd name="T3" fmla="*/ 1527 h 5669"/>
                  <a:gd name="T4" fmla="*/ 283 w 4373"/>
                  <a:gd name="T5" fmla="*/ 1706 h 5669"/>
                  <a:gd name="T6" fmla="*/ 401 w 4373"/>
                  <a:gd name="T7" fmla="*/ 1862 h 5669"/>
                  <a:gd name="T8" fmla="*/ 522 w 4373"/>
                  <a:gd name="T9" fmla="*/ 2000 h 5669"/>
                  <a:gd name="T10" fmla="*/ 648 w 4373"/>
                  <a:gd name="T11" fmla="*/ 2121 h 5669"/>
                  <a:gd name="T12" fmla="*/ 778 w 4373"/>
                  <a:gd name="T13" fmla="*/ 2227 h 5669"/>
                  <a:gd name="T14" fmla="*/ 916 w 4373"/>
                  <a:gd name="T15" fmla="*/ 2321 h 5669"/>
                  <a:gd name="T16" fmla="*/ 1058 w 4373"/>
                  <a:gd name="T17" fmla="*/ 2404 h 5669"/>
                  <a:gd name="T18" fmla="*/ 1209 w 4373"/>
                  <a:gd name="T19" fmla="*/ 2481 h 5669"/>
                  <a:gd name="T20" fmla="*/ 1368 w 4373"/>
                  <a:gd name="T21" fmla="*/ 2553 h 5669"/>
                  <a:gd name="T22" fmla="*/ 1535 w 4373"/>
                  <a:gd name="T23" fmla="*/ 2621 h 5669"/>
                  <a:gd name="T24" fmla="*/ 1803 w 4373"/>
                  <a:gd name="T25" fmla="*/ 2724 h 5669"/>
                  <a:gd name="T26" fmla="*/ 2097 w 4373"/>
                  <a:gd name="T27" fmla="*/ 2834 h 5669"/>
                  <a:gd name="T28" fmla="*/ 2306 w 4373"/>
                  <a:gd name="T29" fmla="*/ 2916 h 5669"/>
                  <a:gd name="T30" fmla="*/ 2525 w 4373"/>
                  <a:gd name="T31" fmla="*/ 3006 h 5669"/>
                  <a:gd name="T32" fmla="*/ 2732 w 4373"/>
                  <a:gd name="T33" fmla="*/ 3111 h 5669"/>
                  <a:gd name="T34" fmla="*/ 2921 w 4373"/>
                  <a:gd name="T35" fmla="*/ 3229 h 5669"/>
                  <a:gd name="T36" fmla="*/ 3095 w 4373"/>
                  <a:gd name="T37" fmla="*/ 3360 h 5669"/>
                  <a:gd name="T38" fmla="*/ 3252 w 4373"/>
                  <a:gd name="T39" fmla="*/ 3503 h 5669"/>
                  <a:gd name="T40" fmla="*/ 3397 w 4373"/>
                  <a:gd name="T41" fmla="*/ 3655 h 5669"/>
                  <a:gd name="T42" fmla="*/ 3528 w 4373"/>
                  <a:gd name="T43" fmla="*/ 3817 h 5669"/>
                  <a:gd name="T44" fmla="*/ 3649 w 4373"/>
                  <a:gd name="T45" fmla="*/ 3989 h 5669"/>
                  <a:gd name="T46" fmla="*/ 3759 w 4373"/>
                  <a:gd name="T47" fmla="*/ 4168 h 5669"/>
                  <a:gd name="T48" fmla="*/ 3860 w 4373"/>
                  <a:gd name="T49" fmla="*/ 4354 h 5669"/>
                  <a:gd name="T50" fmla="*/ 3953 w 4373"/>
                  <a:gd name="T51" fmla="*/ 4546 h 5669"/>
                  <a:gd name="T52" fmla="*/ 4039 w 4373"/>
                  <a:gd name="T53" fmla="*/ 4743 h 5669"/>
                  <a:gd name="T54" fmla="*/ 4120 w 4373"/>
                  <a:gd name="T55" fmla="*/ 4944 h 5669"/>
                  <a:gd name="T56" fmla="*/ 4196 w 4373"/>
                  <a:gd name="T57" fmla="*/ 5149 h 5669"/>
                  <a:gd name="T58" fmla="*/ 4304 w 4373"/>
                  <a:gd name="T59" fmla="*/ 5460 h 5669"/>
                  <a:gd name="T60" fmla="*/ 4373 w 4373"/>
                  <a:gd name="T61" fmla="*/ 2661 h 5669"/>
                  <a:gd name="T62" fmla="*/ 0 w 4373"/>
                  <a:gd name="T63" fmla="*/ 1214 h 56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373" h="5669">
                    <a:moveTo>
                      <a:pt x="0" y="1214"/>
                    </a:moveTo>
                    <a:lnTo>
                      <a:pt x="55" y="1325"/>
                    </a:lnTo>
                    <a:lnTo>
                      <a:pt x="112" y="1428"/>
                    </a:lnTo>
                    <a:lnTo>
                      <a:pt x="169" y="1527"/>
                    </a:lnTo>
                    <a:lnTo>
                      <a:pt x="225" y="1619"/>
                    </a:lnTo>
                    <a:lnTo>
                      <a:pt x="283" y="1706"/>
                    </a:lnTo>
                    <a:lnTo>
                      <a:pt x="341" y="1786"/>
                    </a:lnTo>
                    <a:lnTo>
                      <a:pt x="401" y="1862"/>
                    </a:lnTo>
                    <a:lnTo>
                      <a:pt x="461" y="1934"/>
                    </a:lnTo>
                    <a:lnTo>
                      <a:pt x="522" y="2000"/>
                    </a:lnTo>
                    <a:lnTo>
                      <a:pt x="584" y="2063"/>
                    </a:lnTo>
                    <a:lnTo>
                      <a:pt x="648" y="2121"/>
                    </a:lnTo>
                    <a:lnTo>
                      <a:pt x="713" y="2176"/>
                    </a:lnTo>
                    <a:lnTo>
                      <a:pt x="778" y="2227"/>
                    </a:lnTo>
                    <a:lnTo>
                      <a:pt x="846" y="2275"/>
                    </a:lnTo>
                    <a:lnTo>
                      <a:pt x="916" y="2321"/>
                    </a:lnTo>
                    <a:lnTo>
                      <a:pt x="987" y="2364"/>
                    </a:lnTo>
                    <a:lnTo>
                      <a:pt x="1058" y="2404"/>
                    </a:lnTo>
                    <a:lnTo>
                      <a:pt x="1133" y="2444"/>
                    </a:lnTo>
                    <a:lnTo>
                      <a:pt x="1209" y="2481"/>
                    </a:lnTo>
                    <a:lnTo>
                      <a:pt x="1287" y="2517"/>
                    </a:lnTo>
                    <a:lnTo>
                      <a:pt x="1368" y="2553"/>
                    </a:lnTo>
                    <a:lnTo>
                      <a:pt x="1450" y="2588"/>
                    </a:lnTo>
                    <a:lnTo>
                      <a:pt x="1535" y="2621"/>
                    </a:lnTo>
                    <a:lnTo>
                      <a:pt x="1622" y="2656"/>
                    </a:lnTo>
                    <a:lnTo>
                      <a:pt x="1803" y="2724"/>
                    </a:lnTo>
                    <a:lnTo>
                      <a:pt x="1996" y="2797"/>
                    </a:lnTo>
                    <a:lnTo>
                      <a:pt x="2097" y="2834"/>
                    </a:lnTo>
                    <a:lnTo>
                      <a:pt x="2200" y="2874"/>
                    </a:lnTo>
                    <a:lnTo>
                      <a:pt x="2306" y="2916"/>
                    </a:lnTo>
                    <a:lnTo>
                      <a:pt x="2416" y="2959"/>
                    </a:lnTo>
                    <a:lnTo>
                      <a:pt x="2525" y="3006"/>
                    </a:lnTo>
                    <a:lnTo>
                      <a:pt x="2632" y="3057"/>
                    </a:lnTo>
                    <a:lnTo>
                      <a:pt x="2732" y="3111"/>
                    </a:lnTo>
                    <a:lnTo>
                      <a:pt x="2829" y="3169"/>
                    </a:lnTo>
                    <a:lnTo>
                      <a:pt x="2921" y="3229"/>
                    </a:lnTo>
                    <a:lnTo>
                      <a:pt x="3010" y="3293"/>
                    </a:lnTo>
                    <a:lnTo>
                      <a:pt x="3095" y="3360"/>
                    </a:lnTo>
                    <a:lnTo>
                      <a:pt x="3176" y="3430"/>
                    </a:lnTo>
                    <a:lnTo>
                      <a:pt x="3252" y="3503"/>
                    </a:lnTo>
                    <a:lnTo>
                      <a:pt x="3326" y="3577"/>
                    </a:lnTo>
                    <a:lnTo>
                      <a:pt x="3397" y="3655"/>
                    </a:lnTo>
                    <a:lnTo>
                      <a:pt x="3464" y="3735"/>
                    </a:lnTo>
                    <a:lnTo>
                      <a:pt x="3528" y="3817"/>
                    </a:lnTo>
                    <a:lnTo>
                      <a:pt x="3590" y="3902"/>
                    </a:lnTo>
                    <a:lnTo>
                      <a:pt x="3649" y="3989"/>
                    </a:lnTo>
                    <a:lnTo>
                      <a:pt x="3705" y="4077"/>
                    </a:lnTo>
                    <a:lnTo>
                      <a:pt x="3759" y="4168"/>
                    </a:lnTo>
                    <a:lnTo>
                      <a:pt x="3810" y="4260"/>
                    </a:lnTo>
                    <a:lnTo>
                      <a:pt x="3860" y="4354"/>
                    </a:lnTo>
                    <a:lnTo>
                      <a:pt x="3908" y="4449"/>
                    </a:lnTo>
                    <a:lnTo>
                      <a:pt x="3953" y="4546"/>
                    </a:lnTo>
                    <a:lnTo>
                      <a:pt x="3996" y="4644"/>
                    </a:lnTo>
                    <a:lnTo>
                      <a:pt x="4039" y="4743"/>
                    </a:lnTo>
                    <a:lnTo>
                      <a:pt x="4080" y="4843"/>
                    </a:lnTo>
                    <a:lnTo>
                      <a:pt x="4120" y="4944"/>
                    </a:lnTo>
                    <a:lnTo>
                      <a:pt x="4158" y="5046"/>
                    </a:lnTo>
                    <a:lnTo>
                      <a:pt x="4196" y="5149"/>
                    </a:lnTo>
                    <a:lnTo>
                      <a:pt x="4232" y="5252"/>
                    </a:lnTo>
                    <a:lnTo>
                      <a:pt x="4304" y="5460"/>
                    </a:lnTo>
                    <a:lnTo>
                      <a:pt x="4373" y="5669"/>
                    </a:lnTo>
                    <a:lnTo>
                      <a:pt x="4373" y="2661"/>
                    </a:lnTo>
                    <a:lnTo>
                      <a:pt x="5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rgbClr val="79C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9" name="Freeform 71"/>
              <p:cNvSpPr>
                <a:spLocks/>
              </p:cNvSpPr>
              <p:nvPr/>
            </p:nvSpPr>
            <p:spPr bwMode="auto">
              <a:xfrm>
                <a:off x="4017" y="2180"/>
                <a:ext cx="2" cy="3"/>
              </a:xfrm>
              <a:custGeom>
                <a:avLst/>
                <a:gdLst>
                  <a:gd name="T0" fmla="*/ 0 w 206"/>
                  <a:gd name="T1" fmla="*/ 107 h 214"/>
                  <a:gd name="T2" fmla="*/ 171 w 206"/>
                  <a:gd name="T3" fmla="*/ 214 h 214"/>
                  <a:gd name="T4" fmla="*/ 206 w 206"/>
                  <a:gd name="T5" fmla="*/ 147 h 214"/>
                  <a:gd name="T6" fmla="*/ 0 w 206"/>
                  <a:gd name="T7" fmla="*/ 0 h 214"/>
                  <a:gd name="T8" fmla="*/ 0 w 206"/>
                  <a:gd name="T9" fmla="*/ 107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14">
                    <a:moveTo>
                      <a:pt x="0" y="107"/>
                    </a:moveTo>
                    <a:lnTo>
                      <a:pt x="171" y="214"/>
                    </a:lnTo>
                    <a:lnTo>
                      <a:pt x="206" y="147"/>
                    </a:lnTo>
                    <a:lnTo>
                      <a:pt x="0" y="0"/>
                    </a:lnTo>
                    <a:lnTo>
                      <a:pt x="0" y="1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0" name="Freeform 72"/>
              <p:cNvSpPr>
                <a:spLocks/>
              </p:cNvSpPr>
              <p:nvPr/>
            </p:nvSpPr>
            <p:spPr bwMode="auto">
              <a:xfrm>
                <a:off x="3915" y="2098"/>
                <a:ext cx="102" cy="85"/>
              </a:xfrm>
              <a:custGeom>
                <a:avLst/>
                <a:gdLst>
                  <a:gd name="T0" fmla="*/ 5857 w 7470"/>
                  <a:gd name="T1" fmla="*/ 4457 h 6165"/>
                  <a:gd name="T2" fmla="*/ 2106 w 7470"/>
                  <a:gd name="T3" fmla="*/ 979 h 6165"/>
                  <a:gd name="T4" fmla="*/ 1740 w 7470"/>
                  <a:gd name="T5" fmla="*/ 691 h 6165"/>
                  <a:gd name="T6" fmla="*/ 1444 w 7470"/>
                  <a:gd name="T7" fmla="*/ 467 h 6165"/>
                  <a:gd name="T8" fmla="*/ 1211 w 7470"/>
                  <a:gd name="T9" fmla="*/ 297 h 6165"/>
                  <a:gd name="T10" fmla="*/ 1036 w 7470"/>
                  <a:gd name="T11" fmla="*/ 175 h 6165"/>
                  <a:gd name="T12" fmla="*/ 912 w 7470"/>
                  <a:gd name="T13" fmla="*/ 94 h 6165"/>
                  <a:gd name="T14" fmla="*/ 831 w 7470"/>
                  <a:gd name="T15" fmla="*/ 45 h 6165"/>
                  <a:gd name="T16" fmla="*/ 787 w 7470"/>
                  <a:gd name="T17" fmla="*/ 22 h 6165"/>
                  <a:gd name="T18" fmla="*/ 773 w 7470"/>
                  <a:gd name="T19" fmla="*/ 15 h 6165"/>
                  <a:gd name="T20" fmla="*/ 719 w 7470"/>
                  <a:gd name="T21" fmla="*/ 7 h 6165"/>
                  <a:gd name="T22" fmla="*/ 667 w 7470"/>
                  <a:gd name="T23" fmla="*/ 0 h 6165"/>
                  <a:gd name="T24" fmla="*/ 659 w 7470"/>
                  <a:gd name="T25" fmla="*/ 50 h 6165"/>
                  <a:gd name="T26" fmla="*/ 649 w 7470"/>
                  <a:gd name="T27" fmla="*/ 98 h 6165"/>
                  <a:gd name="T28" fmla="*/ 637 w 7470"/>
                  <a:gd name="T29" fmla="*/ 145 h 6165"/>
                  <a:gd name="T30" fmla="*/ 624 w 7470"/>
                  <a:gd name="T31" fmla="*/ 188 h 6165"/>
                  <a:gd name="T32" fmla="*/ 593 w 7470"/>
                  <a:gd name="T33" fmla="*/ 269 h 6165"/>
                  <a:gd name="T34" fmla="*/ 562 w 7470"/>
                  <a:gd name="T35" fmla="*/ 337 h 6165"/>
                  <a:gd name="T36" fmla="*/ 532 w 7470"/>
                  <a:gd name="T37" fmla="*/ 393 h 6165"/>
                  <a:gd name="T38" fmla="*/ 506 w 7470"/>
                  <a:gd name="T39" fmla="*/ 434 h 6165"/>
                  <a:gd name="T40" fmla="*/ 482 w 7470"/>
                  <a:gd name="T41" fmla="*/ 470 h 6165"/>
                  <a:gd name="T42" fmla="*/ 417 w 7470"/>
                  <a:gd name="T43" fmla="*/ 568 h 6165"/>
                  <a:gd name="T44" fmla="*/ 354 w 7470"/>
                  <a:gd name="T45" fmla="*/ 655 h 6165"/>
                  <a:gd name="T46" fmla="*/ 289 w 7470"/>
                  <a:gd name="T47" fmla="*/ 732 h 6165"/>
                  <a:gd name="T48" fmla="*/ 226 w 7470"/>
                  <a:gd name="T49" fmla="*/ 798 h 6165"/>
                  <a:gd name="T50" fmla="*/ 166 w 7470"/>
                  <a:gd name="T51" fmla="*/ 856 h 6165"/>
                  <a:gd name="T52" fmla="*/ 107 w 7470"/>
                  <a:gd name="T53" fmla="*/ 905 h 6165"/>
                  <a:gd name="T54" fmla="*/ 51 w 7470"/>
                  <a:gd name="T55" fmla="*/ 945 h 6165"/>
                  <a:gd name="T56" fmla="*/ 0 w 7470"/>
                  <a:gd name="T57" fmla="*/ 979 h 6165"/>
                  <a:gd name="T58" fmla="*/ 5 w 7470"/>
                  <a:gd name="T59" fmla="*/ 994 h 6165"/>
                  <a:gd name="T60" fmla="*/ 6640 w 7470"/>
                  <a:gd name="T61" fmla="*/ 5846 h 6165"/>
                  <a:gd name="T62" fmla="*/ 6731 w 7470"/>
                  <a:gd name="T63" fmla="*/ 5915 h 6165"/>
                  <a:gd name="T64" fmla="*/ 6817 w 7470"/>
                  <a:gd name="T65" fmla="*/ 5974 h 6165"/>
                  <a:gd name="T66" fmla="*/ 6898 w 7470"/>
                  <a:gd name="T67" fmla="*/ 6023 h 6165"/>
                  <a:gd name="T68" fmla="*/ 6975 w 7470"/>
                  <a:gd name="T69" fmla="*/ 6063 h 6165"/>
                  <a:gd name="T70" fmla="*/ 7045 w 7470"/>
                  <a:gd name="T71" fmla="*/ 6095 h 6165"/>
                  <a:gd name="T72" fmla="*/ 7111 w 7470"/>
                  <a:gd name="T73" fmla="*/ 6120 h 6165"/>
                  <a:gd name="T74" fmla="*/ 7170 w 7470"/>
                  <a:gd name="T75" fmla="*/ 6138 h 6165"/>
                  <a:gd name="T76" fmla="*/ 7224 w 7470"/>
                  <a:gd name="T77" fmla="*/ 6151 h 6165"/>
                  <a:gd name="T78" fmla="*/ 7271 w 7470"/>
                  <a:gd name="T79" fmla="*/ 6159 h 6165"/>
                  <a:gd name="T80" fmla="*/ 7312 w 7470"/>
                  <a:gd name="T81" fmla="*/ 6163 h 6165"/>
                  <a:gd name="T82" fmla="*/ 7347 w 7470"/>
                  <a:gd name="T83" fmla="*/ 6165 h 6165"/>
                  <a:gd name="T84" fmla="*/ 7387 w 7470"/>
                  <a:gd name="T85" fmla="*/ 6164 h 6165"/>
                  <a:gd name="T86" fmla="*/ 7415 w 7470"/>
                  <a:gd name="T87" fmla="*/ 6160 h 6165"/>
                  <a:gd name="T88" fmla="*/ 7438 w 7470"/>
                  <a:gd name="T89" fmla="*/ 6126 h 6165"/>
                  <a:gd name="T90" fmla="*/ 7463 w 7470"/>
                  <a:gd name="T91" fmla="*/ 6058 h 6165"/>
                  <a:gd name="T92" fmla="*/ 7470 w 7470"/>
                  <a:gd name="T93" fmla="*/ 5988 h 6165"/>
                  <a:gd name="T94" fmla="*/ 7461 w 7470"/>
                  <a:gd name="T95" fmla="*/ 5917 h 6165"/>
                  <a:gd name="T96" fmla="*/ 7438 w 7470"/>
                  <a:gd name="T97" fmla="*/ 5847 h 6165"/>
                  <a:gd name="T98" fmla="*/ 7406 w 7470"/>
                  <a:gd name="T99" fmla="*/ 5778 h 6165"/>
                  <a:gd name="T100" fmla="*/ 7364 w 7470"/>
                  <a:gd name="T101" fmla="*/ 5711 h 6165"/>
                  <a:gd name="T102" fmla="*/ 7316 w 7470"/>
                  <a:gd name="T103" fmla="*/ 5646 h 6165"/>
                  <a:gd name="T104" fmla="*/ 7265 w 7470"/>
                  <a:gd name="T105" fmla="*/ 5586 h 6165"/>
                  <a:gd name="T106" fmla="*/ 7212 w 7470"/>
                  <a:gd name="T107" fmla="*/ 5529 h 6165"/>
                  <a:gd name="T108" fmla="*/ 7159 w 7470"/>
                  <a:gd name="T109" fmla="*/ 5479 h 6165"/>
                  <a:gd name="T110" fmla="*/ 7110 w 7470"/>
                  <a:gd name="T111" fmla="*/ 5434 h 6165"/>
                  <a:gd name="T112" fmla="*/ 7046 w 7470"/>
                  <a:gd name="T113" fmla="*/ 5381 h 6165"/>
                  <a:gd name="T114" fmla="*/ 6993 w 7470"/>
                  <a:gd name="T115" fmla="*/ 5341 h 6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70" h="6165">
                    <a:moveTo>
                      <a:pt x="6986" y="5336"/>
                    </a:moveTo>
                    <a:lnTo>
                      <a:pt x="5857" y="4457"/>
                    </a:lnTo>
                    <a:lnTo>
                      <a:pt x="2027" y="1292"/>
                    </a:lnTo>
                    <a:lnTo>
                      <a:pt x="2106" y="979"/>
                    </a:lnTo>
                    <a:lnTo>
                      <a:pt x="1914" y="826"/>
                    </a:lnTo>
                    <a:lnTo>
                      <a:pt x="1740" y="691"/>
                    </a:lnTo>
                    <a:lnTo>
                      <a:pt x="1583" y="571"/>
                    </a:lnTo>
                    <a:lnTo>
                      <a:pt x="1444" y="467"/>
                    </a:lnTo>
                    <a:lnTo>
                      <a:pt x="1320" y="376"/>
                    </a:lnTo>
                    <a:lnTo>
                      <a:pt x="1211" y="297"/>
                    </a:lnTo>
                    <a:lnTo>
                      <a:pt x="1117" y="231"/>
                    </a:lnTo>
                    <a:lnTo>
                      <a:pt x="1036" y="175"/>
                    </a:lnTo>
                    <a:lnTo>
                      <a:pt x="968" y="131"/>
                    </a:lnTo>
                    <a:lnTo>
                      <a:pt x="912" y="94"/>
                    </a:lnTo>
                    <a:lnTo>
                      <a:pt x="866" y="66"/>
                    </a:lnTo>
                    <a:lnTo>
                      <a:pt x="831" y="45"/>
                    </a:lnTo>
                    <a:lnTo>
                      <a:pt x="805" y="31"/>
                    </a:lnTo>
                    <a:lnTo>
                      <a:pt x="787" y="22"/>
                    </a:lnTo>
                    <a:lnTo>
                      <a:pt x="777" y="17"/>
                    </a:lnTo>
                    <a:lnTo>
                      <a:pt x="773" y="15"/>
                    </a:lnTo>
                    <a:lnTo>
                      <a:pt x="746" y="11"/>
                    </a:lnTo>
                    <a:lnTo>
                      <a:pt x="719" y="7"/>
                    </a:lnTo>
                    <a:lnTo>
                      <a:pt x="692" y="3"/>
                    </a:lnTo>
                    <a:lnTo>
                      <a:pt x="667" y="0"/>
                    </a:lnTo>
                    <a:lnTo>
                      <a:pt x="663" y="25"/>
                    </a:lnTo>
                    <a:lnTo>
                      <a:pt x="659" y="50"/>
                    </a:lnTo>
                    <a:lnTo>
                      <a:pt x="654" y="74"/>
                    </a:lnTo>
                    <a:lnTo>
                      <a:pt x="649" y="98"/>
                    </a:lnTo>
                    <a:lnTo>
                      <a:pt x="643" y="122"/>
                    </a:lnTo>
                    <a:lnTo>
                      <a:pt x="637" y="145"/>
                    </a:lnTo>
                    <a:lnTo>
                      <a:pt x="631" y="167"/>
                    </a:lnTo>
                    <a:lnTo>
                      <a:pt x="624" y="188"/>
                    </a:lnTo>
                    <a:lnTo>
                      <a:pt x="609" y="231"/>
                    </a:lnTo>
                    <a:lnTo>
                      <a:pt x="593" y="269"/>
                    </a:lnTo>
                    <a:lnTo>
                      <a:pt x="577" y="304"/>
                    </a:lnTo>
                    <a:lnTo>
                      <a:pt x="562" y="337"/>
                    </a:lnTo>
                    <a:lnTo>
                      <a:pt x="546" y="367"/>
                    </a:lnTo>
                    <a:lnTo>
                      <a:pt x="532" y="393"/>
                    </a:lnTo>
                    <a:lnTo>
                      <a:pt x="518" y="416"/>
                    </a:lnTo>
                    <a:lnTo>
                      <a:pt x="506" y="434"/>
                    </a:lnTo>
                    <a:lnTo>
                      <a:pt x="488" y="460"/>
                    </a:lnTo>
                    <a:lnTo>
                      <a:pt x="482" y="470"/>
                    </a:lnTo>
                    <a:lnTo>
                      <a:pt x="450" y="520"/>
                    </a:lnTo>
                    <a:lnTo>
                      <a:pt x="417" y="568"/>
                    </a:lnTo>
                    <a:lnTo>
                      <a:pt x="385" y="613"/>
                    </a:lnTo>
                    <a:lnTo>
                      <a:pt x="354" y="655"/>
                    </a:lnTo>
                    <a:lnTo>
                      <a:pt x="321" y="695"/>
                    </a:lnTo>
                    <a:lnTo>
                      <a:pt x="289" y="732"/>
                    </a:lnTo>
                    <a:lnTo>
                      <a:pt x="258" y="767"/>
                    </a:lnTo>
                    <a:lnTo>
                      <a:pt x="226" y="798"/>
                    </a:lnTo>
                    <a:lnTo>
                      <a:pt x="196" y="829"/>
                    </a:lnTo>
                    <a:lnTo>
                      <a:pt x="166" y="856"/>
                    </a:lnTo>
                    <a:lnTo>
                      <a:pt x="136" y="881"/>
                    </a:lnTo>
                    <a:lnTo>
                      <a:pt x="107" y="905"/>
                    </a:lnTo>
                    <a:lnTo>
                      <a:pt x="79" y="926"/>
                    </a:lnTo>
                    <a:lnTo>
                      <a:pt x="51" y="945"/>
                    </a:lnTo>
                    <a:lnTo>
                      <a:pt x="25" y="964"/>
                    </a:lnTo>
                    <a:lnTo>
                      <a:pt x="0" y="979"/>
                    </a:lnTo>
                    <a:lnTo>
                      <a:pt x="4" y="990"/>
                    </a:lnTo>
                    <a:lnTo>
                      <a:pt x="5" y="994"/>
                    </a:lnTo>
                    <a:lnTo>
                      <a:pt x="6592" y="5807"/>
                    </a:lnTo>
                    <a:lnTo>
                      <a:pt x="6640" y="5846"/>
                    </a:lnTo>
                    <a:lnTo>
                      <a:pt x="6686" y="5882"/>
                    </a:lnTo>
                    <a:lnTo>
                      <a:pt x="6731" y="5915"/>
                    </a:lnTo>
                    <a:lnTo>
                      <a:pt x="6775" y="5946"/>
                    </a:lnTo>
                    <a:lnTo>
                      <a:pt x="6817" y="5974"/>
                    </a:lnTo>
                    <a:lnTo>
                      <a:pt x="6859" y="5999"/>
                    </a:lnTo>
                    <a:lnTo>
                      <a:pt x="6898" y="6023"/>
                    </a:lnTo>
                    <a:lnTo>
                      <a:pt x="6938" y="6045"/>
                    </a:lnTo>
                    <a:lnTo>
                      <a:pt x="6975" y="6063"/>
                    </a:lnTo>
                    <a:lnTo>
                      <a:pt x="7011" y="6080"/>
                    </a:lnTo>
                    <a:lnTo>
                      <a:pt x="7045" y="6095"/>
                    </a:lnTo>
                    <a:lnTo>
                      <a:pt x="7078" y="6108"/>
                    </a:lnTo>
                    <a:lnTo>
                      <a:pt x="7111" y="6120"/>
                    </a:lnTo>
                    <a:lnTo>
                      <a:pt x="7141" y="6130"/>
                    </a:lnTo>
                    <a:lnTo>
                      <a:pt x="7170" y="6138"/>
                    </a:lnTo>
                    <a:lnTo>
                      <a:pt x="7198" y="6145"/>
                    </a:lnTo>
                    <a:lnTo>
                      <a:pt x="7224" y="6151"/>
                    </a:lnTo>
                    <a:lnTo>
                      <a:pt x="7248" y="6155"/>
                    </a:lnTo>
                    <a:lnTo>
                      <a:pt x="7271" y="6159"/>
                    </a:lnTo>
                    <a:lnTo>
                      <a:pt x="7293" y="6162"/>
                    </a:lnTo>
                    <a:lnTo>
                      <a:pt x="7312" y="6163"/>
                    </a:lnTo>
                    <a:lnTo>
                      <a:pt x="7330" y="6164"/>
                    </a:lnTo>
                    <a:lnTo>
                      <a:pt x="7347" y="6165"/>
                    </a:lnTo>
                    <a:lnTo>
                      <a:pt x="7361" y="6165"/>
                    </a:lnTo>
                    <a:lnTo>
                      <a:pt x="7387" y="6164"/>
                    </a:lnTo>
                    <a:lnTo>
                      <a:pt x="7405" y="6162"/>
                    </a:lnTo>
                    <a:lnTo>
                      <a:pt x="7415" y="6160"/>
                    </a:lnTo>
                    <a:lnTo>
                      <a:pt x="7419" y="6159"/>
                    </a:lnTo>
                    <a:lnTo>
                      <a:pt x="7438" y="6126"/>
                    </a:lnTo>
                    <a:lnTo>
                      <a:pt x="7453" y="6093"/>
                    </a:lnTo>
                    <a:lnTo>
                      <a:pt x="7463" y="6058"/>
                    </a:lnTo>
                    <a:lnTo>
                      <a:pt x="7469" y="6023"/>
                    </a:lnTo>
                    <a:lnTo>
                      <a:pt x="7470" y="5988"/>
                    </a:lnTo>
                    <a:lnTo>
                      <a:pt x="7467" y="5953"/>
                    </a:lnTo>
                    <a:lnTo>
                      <a:pt x="7461" y="5917"/>
                    </a:lnTo>
                    <a:lnTo>
                      <a:pt x="7451" y="5882"/>
                    </a:lnTo>
                    <a:lnTo>
                      <a:pt x="7438" y="5847"/>
                    </a:lnTo>
                    <a:lnTo>
                      <a:pt x="7423" y="5813"/>
                    </a:lnTo>
                    <a:lnTo>
                      <a:pt x="7406" y="5778"/>
                    </a:lnTo>
                    <a:lnTo>
                      <a:pt x="7386" y="5744"/>
                    </a:lnTo>
                    <a:lnTo>
                      <a:pt x="7364" y="5711"/>
                    </a:lnTo>
                    <a:lnTo>
                      <a:pt x="7341" y="5677"/>
                    </a:lnTo>
                    <a:lnTo>
                      <a:pt x="7316" y="5646"/>
                    </a:lnTo>
                    <a:lnTo>
                      <a:pt x="7291" y="5615"/>
                    </a:lnTo>
                    <a:lnTo>
                      <a:pt x="7265" y="5586"/>
                    </a:lnTo>
                    <a:lnTo>
                      <a:pt x="7238" y="5556"/>
                    </a:lnTo>
                    <a:lnTo>
                      <a:pt x="7212" y="5529"/>
                    </a:lnTo>
                    <a:lnTo>
                      <a:pt x="7186" y="5503"/>
                    </a:lnTo>
                    <a:lnTo>
                      <a:pt x="7159" y="5479"/>
                    </a:lnTo>
                    <a:lnTo>
                      <a:pt x="7134" y="5456"/>
                    </a:lnTo>
                    <a:lnTo>
                      <a:pt x="7110" y="5434"/>
                    </a:lnTo>
                    <a:lnTo>
                      <a:pt x="7086" y="5414"/>
                    </a:lnTo>
                    <a:lnTo>
                      <a:pt x="7046" y="5381"/>
                    </a:lnTo>
                    <a:lnTo>
                      <a:pt x="7015" y="5357"/>
                    </a:lnTo>
                    <a:lnTo>
                      <a:pt x="6993" y="5341"/>
                    </a:lnTo>
                    <a:lnTo>
                      <a:pt x="6986" y="5336"/>
                    </a:lnTo>
                    <a:close/>
                  </a:path>
                </a:pathLst>
              </a:custGeom>
              <a:solidFill>
                <a:srgbClr val="0070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1" name="Freeform 73"/>
              <p:cNvSpPr>
                <a:spLocks/>
              </p:cNvSpPr>
              <p:nvPr/>
            </p:nvSpPr>
            <p:spPr bwMode="auto">
              <a:xfrm>
                <a:off x="3914" y="2098"/>
                <a:ext cx="10" cy="13"/>
              </a:xfrm>
              <a:custGeom>
                <a:avLst/>
                <a:gdLst>
                  <a:gd name="T0" fmla="*/ 570 w 749"/>
                  <a:gd name="T1" fmla="*/ 470 h 989"/>
                  <a:gd name="T2" fmla="*/ 600 w 749"/>
                  <a:gd name="T3" fmla="*/ 426 h 989"/>
                  <a:gd name="T4" fmla="*/ 628 w 749"/>
                  <a:gd name="T5" fmla="*/ 377 h 989"/>
                  <a:gd name="T6" fmla="*/ 659 w 749"/>
                  <a:gd name="T7" fmla="*/ 314 h 989"/>
                  <a:gd name="T8" fmla="*/ 691 w 749"/>
                  <a:gd name="T9" fmla="*/ 241 h 989"/>
                  <a:gd name="T10" fmla="*/ 713 w 749"/>
                  <a:gd name="T11" fmla="*/ 177 h 989"/>
                  <a:gd name="T12" fmla="*/ 725 w 749"/>
                  <a:gd name="T13" fmla="*/ 132 h 989"/>
                  <a:gd name="T14" fmla="*/ 736 w 749"/>
                  <a:gd name="T15" fmla="*/ 84 h 989"/>
                  <a:gd name="T16" fmla="*/ 745 w 749"/>
                  <a:gd name="T17" fmla="*/ 35 h 989"/>
                  <a:gd name="T18" fmla="*/ 656 w 749"/>
                  <a:gd name="T19" fmla="*/ 2 h 989"/>
                  <a:gd name="T20" fmla="*/ 493 w 749"/>
                  <a:gd name="T21" fmla="*/ 4 h 989"/>
                  <a:gd name="T22" fmla="*/ 359 w 749"/>
                  <a:gd name="T23" fmla="*/ 27 h 989"/>
                  <a:gd name="T24" fmla="*/ 250 w 749"/>
                  <a:gd name="T25" fmla="*/ 68 h 989"/>
                  <a:gd name="T26" fmla="*/ 164 w 749"/>
                  <a:gd name="T27" fmla="*/ 125 h 989"/>
                  <a:gd name="T28" fmla="*/ 99 w 749"/>
                  <a:gd name="T29" fmla="*/ 194 h 989"/>
                  <a:gd name="T30" fmla="*/ 53 w 749"/>
                  <a:gd name="T31" fmla="*/ 274 h 989"/>
                  <a:gd name="T32" fmla="*/ 22 w 749"/>
                  <a:gd name="T33" fmla="*/ 361 h 989"/>
                  <a:gd name="T34" fmla="*/ 5 w 749"/>
                  <a:gd name="T35" fmla="*/ 451 h 989"/>
                  <a:gd name="T36" fmla="*/ 0 w 749"/>
                  <a:gd name="T37" fmla="*/ 544 h 989"/>
                  <a:gd name="T38" fmla="*/ 4 w 749"/>
                  <a:gd name="T39" fmla="*/ 635 h 989"/>
                  <a:gd name="T40" fmla="*/ 14 w 749"/>
                  <a:gd name="T41" fmla="*/ 723 h 989"/>
                  <a:gd name="T42" fmla="*/ 29 w 749"/>
                  <a:gd name="T43" fmla="*/ 802 h 989"/>
                  <a:gd name="T44" fmla="*/ 47 w 749"/>
                  <a:gd name="T45" fmla="*/ 874 h 989"/>
                  <a:gd name="T46" fmla="*/ 70 w 749"/>
                  <a:gd name="T47" fmla="*/ 954 h 989"/>
                  <a:gd name="T48" fmla="*/ 107 w 749"/>
                  <a:gd name="T49" fmla="*/ 974 h 989"/>
                  <a:gd name="T50" fmla="*/ 161 w 749"/>
                  <a:gd name="T51" fmla="*/ 936 h 989"/>
                  <a:gd name="T52" fmla="*/ 218 w 749"/>
                  <a:gd name="T53" fmla="*/ 891 h 989"/>
                  <a:gd name="T54" fmla="*/ 278 w 749"/>
                  <a:gd name="T55" fmla="*/ 839 h 989"/>
                  <a:gd name="T56" fmla="*/ 340 w 749"/>
                  <a:gd name="T57" fmla="*/ 777 h 989"/>
                  <a:gd name="T58" fmla="*/ 403 w 749"/>
                  <a:gd name="T59" fmla="*/ 705 h 989"/>
                  <a:gd name="T60" fmla="*/ 467 w 749"/>
                  <a:gd name="T61" fmla="*/ 623 h 989"/>
                  <a:gd name="T62" fmla="*/ 532 w 749"/>
                  <a:gd name="T63" fmla="*/ 530 h 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49" h="989">
                    <a:moveTo>
                      <a:pt x="564" y="480"/>
                    </a:moveTo>
                    <a:lnTo>
                      <a:pt x="570" y="470"/>
                    </a:lnTo>
                    <a:lnTo>
                      <a:pt x="588" y="444"/>
                    </a:lnTo>
                    <a:lnTo>
                      <a:pt x="600" y="426"/>
                    </a:lnTo>
                    <a:lnTo>
                      <a:pt x="614" y="403"/>
                    </a:lnTo>
                    <a:lnTo>
                      <a:pt x="628" y="377"/>
                    </a:lnTo>
                    <a:lnTo>
                      <a:pt x="644" y="347"/>
                    </a:lnTo>
                    <a:lnTo>
                      <a:pt x="659" y="314"/>
                    </a:lnTo>
                    <a:lnTo>
                      <a:pt x="675" y="279"/>
                    </a:lnTo>
                    <a:lnTo>
                      <a:pt x="691" y="241"/>
                    </a:lnTo>
                    <a:lnTo>
                      <a:pt x="706" y="198"/>
                    </a:lnTo>
                    <a:lnTo>
                      <a:pt x="713" y="177"/>
                    </a:lnTo>
                    <a:lnTo>
                      <a:pt x="719" y="155"/>
                    </a:lnTo>
                    <a:lnTo>
                      <a:pt x="725" y="132"/>
                    </a:lnTo>
                    <a:lnTo>
                      <a:pt x="731" y="108"/>
                    </a:lnTo>
                    <a:lnTo>
                      <a:pt x="736" y="84"/>
                    </a:lnTo>
                    <a:lnTo>
                      <a:pt x="741" y="60"/>
                    </a:lnTo>
                    <a:lnTo>
                      <a:pt x="745" y="35"/>
                    </a:lnTo>
                    <a:lnTo>
                      <a:pt x="749" y="10"/>
                    </a:lnTo>
                    <a:lnTo>
                      <a:pt x="656" y="2"/>
                    </a:lnTo>
                    <a:lnTo>
                      <a:pt x="571" y="0"/>
                    </a:lnTo>
                    <a:lnTo>
                      <a:pt x="493" y="4"/>
                    </a:lnTo>
                    <a:lnTo>
                      <a:pt x="424" y="13"/>
                    </a:lnTo>
                    <a:lnTo>
                      <a:pt x="359" y="27"/>
                    </a:lnTo>
                    <a:lnTo>
                      <a:pt x="301" y="45"/>
                    </a:lnTo>
                    <a:lnTo>
                      <a:pt x="250" y="68"/>
                    </a:lnTo>
                    <a:lnTo>
                      <a:pt x="204" y="94"/>
                    </a:lnTo>
                    <a:lnTo>
                      <a:pt x="164" y="125"/>
                    </a:lnTo>
                    <a:lnTo>
                      <a:pt x="129" y="158"/>
                    </a:lnTo>
                    <a:lnTo>
                      <a:pt x="99" y="194"/>
                    </a:lnTo>
                    <a:lnTo>
                      <a:pt x="74" y="233"/>
                    </a:lnTo>
                    <a:lnTo>
                      <a:pt x="53" y="274"/>
                    </a:lnTo>
                    <a:lnTo>
                      <a:pt x="35" y="316"/>
                    </a:lnTo>
                    <a:lnTo>
                      <a:pt x="22" y="361"/>
                    </a:lnTo>
                    <a:lnTo>
                      <a:pt x="12" y="406"/>
                    </a:lnTo>
                    <a:lnTo>
                      <a:pt x="5" y="451"/>
                    </a:lnTo>
                    <a:lnTo>
                      <a:pt x="1" y="498"/>
                    </a:lnTo>
                    <a:lnTo>
                      <a:pt x="0" y="544"/>
                    </a:lnTo>
                    <a:lnTo>
                      <a:pt x="1" y="589"/>
                    </a:lnTo>
                    <a:lnTo>
                      <a:pt x="4" y="635"/>
                    </a:lnTo>
                    <a:lnTo>
                      <a:pt x="8" y="679"/>
                    </a:lnTo>
                    <a:lnTo>
                      <a:pt x="14" y="723"/>
                    </a:lnTo>
                    <a:lnTo>
                      <a:pt x="21" y="764"/>
                    </a:lnTo>
                    <a:lnTo>
                      <a:pt x="29" y="802"/>
                    </a:lnTo>
                    <a:lnTo>
                      <a:pt x="37" y="840"/>
                    </a:lnTo>
                    <a:lnTo>
                      <a:pt x="47" y="874"/>
                    </a:lnTo>
                    <a:lnTo>
                      <a:pt x="55" y="904"/>
                    </a:lnTo>
                    <a:lnTo>
                      <a:pt x="70" y="954"/>
                    </a:lnTo>
                    <a:lnTo>
                      <a:pt x="82" y="989"/>
                    </a:lnTo>
                    <a:lnTo>
                      <a:pt x="107" y="974"/>
                    </a:lnTo>
                    <a:lnTo>
                      <a:pt x="133" y="955"/>
                    </a:lnTo>
                    <a:lnTo>
                      <a:pt x="161" y="936"/>
                    </a:lnTo>
                    <a:lnTo>
                      <a:pt x="189" y="915"/>
                    </a:lnTo>
                    <a:lnTo>
                      <a:pt x="218" y="891"/>
                    </a:lnTo>
                    <a:lnTo>
                      <a:pt x="248" y="866"/>
                    </a:lnTo>
                    <a:lnTo>
                      <a:pt x="278" y="839"/>
                    </a:lnTo>
                    <a:lnTo>
                      <a:pt x="308" y="808"/>
                    </a:lnTo>
                    <a:lnTo>
                      <a:pt x="340" y="777"/>
                    </a:lnTo>
                    <a:lnTo>
                      <a:pt x="371" y="742"/>
                    </a:lnTo>
                    <a:lnTo>
                      <a:pt x="403" y="705"/>
                    </a:lnTo>
                    <a:lnTo>
                      <a:pt x="436" y="665"/>
                    </a:lnTo>
                    <a:lnTo>
                      <a:pt x="467" y="623"/>
                    </a:lnTo>
                    <a:lnTo>
                      <a:pt x="499" y="578"/>
                    </a:lnTo>
                    <a:lnTo>
                      <a:pt x="532" y="530"/>
                    </a:lnTo>
                    <a:lnTo>
                      <a:pt x="564" y="480"/>
                    </a:lnTo>
                    <a:close/>
                  </a:path>
                </a:pathLst>
              </a:custGeom>
              <a:solidFill>
                <a:srgbClr val="009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2" name="Freeform 74"/>
              <p:cNvSpPr>
                <a:spLocks/>
              </p:cNvSpPr>
              <p:nvPr/>
            </p:nvSpPr>
            <p:spPr bwMode="auto">
              <a:xfrm>
                <a:off x="3922" y="2105"/>
                <a:ext cx="95" cy="75"/>
              </a:xfrm>
              <a:custGeom>
                <a:avLst/>
                <a:gdLst>
                  <a:gd name="T0" fmla="*/ 0 w 6902"/>
                  <a:gd name="T1" fmla="*/ 97 h 5517"/>
                  <a:gd name="T2" fmla="*/ 6556 w 6902"/>
                  <a:gd name="T3" fmla="*/ 5175 h 5517"/>
                  <a:gd name="T4" fmla="*/ 6564 w 6902"/>
                  <a:gd name="T5" fmla="*/ 5181 h 5517"/>
                  <a:gd name="T6" fmla="*/ 6586 w 6902"/>
                  <a:gd name="T7" fmla="*/ 5199 h 5517"/>
                  <a:gd name="T8" fmla="*/ 6619 w 6902"/>
                  <a:gd name="T9" fmla="*/ 5230 h 5517"/>
                  <a:gd name="T10" fmla="*/ 6662 w 6902"/>
                  <a:gd name="T11" fmla="*/ 5269 h 5517"/>
                  <a:gd name="T12" fmla="*/ 6714 w 6902"/>
                  <a:gd name="T13" fmla="*/ 5318 h 5517"/>
                  <a:gd name="T14" fmla="*/ 6773 w 6902"/>
                  <a:gd name="T15" fmla="*/ 5377 h 5517"/>
                  <a:gd name="T16" fmla="*/ 6804 w 6902"/>
                  <a:gd name="T17" fmla="*/ 5409 h 5517"/>
                  <a:gd name="T18" fmla="*/ 6835 w 6902"/>
                  <a:gd name="T19" fmla="*/ 5443 h 5517"/>
                  <a:gd name="T20" fmla="*/ 6869 w 6902"/>
                  <a:gd name="T21" fmla="*/ 5480 h 5517"/>
                  <a:gd name="T22" fmla="*/ 6902 w 6902"/>
                  <a:gd name="T23" fmla="*/ 5517 h 5517"/>
                  <a:gd name="T24" fmla="*/ 6901 w 6902"/>
                  <a:gd name="T25" fmla="*/ 5510 h 5517"/>
                  <a:gd name="T26" fmla="*/ 6898 w 6902"/>
                  <a:gd name="T27" fmla="*/ 5488 h 5517"/>
                  <a:gd name="T28" fmla="*/ 6894 w 6902"/>
                  <a:gd name="T29" fmla="*/ 5472 h 5517"/>
                  <a:gd name="T30" fmla="*/ 6888 w 6902"/>
                  <a:gd name="T31" fmla="*/ 5453 h 5517"/>
                  <a:gd name="T32" fmla="*/ 6880 w 6902"/>
                  <a:gd name="T33" fmla="*/ 5430 h 5517"/>
                  <a:gd name="T34" fmla="*/ 6870 w 6902"/>
                  <a:gd name="T35" fmla="*/ 5406 h 5517"/>
                  <a:gd name="T36" fmla="*/ 6857 w 6902"/>
                  <a:gd name="T37" fmla="*/ 5379 h 5517"/>
                  <a:gd name="T38" fmla="*/ 6839 w 6902"/>
                  <a:gd name="T39" fmla="*/ 5349 h 5517"/>
                  <a:gd name="T40" fmla="*/ 6829 w 6902"/>
                  <a:gd name="T41" fmla="*/ 5334 h 5517"/>
                  <a:gd name="T42" fmla="*/ 6818 w 6902"/>
                  <a:gd name="T43" fmla="*/ 5317 h 5517"/>
                  <a:gd name="T44" fmla="*/ 6807 w 6902"/>
                  <a:gd name="T45" fmla="*/ 5301 h 5517"/>
                  <a:gd name="T46" fmla="*/ 6794 w 6902"/>
                  <a:gd name="T47" fmla="*/ 5284 h 5517"/>
                  <a:gd name="T48" fmla="*/ 6780 w 6902"/>
                  <a:gd name="T49" fmla="*/ 5267 h 5517"/>
                  <a:gd name="T50" fmla="*/ 6764 w 6902"/>
                  <a:gd name="T51" fmla="*/ 5249 h 5517"/>
                  <a:gd name="T52" fmla="*/ 6748 w 6902"/>
                  <a:gd name="T53" fmla="*/ 5231 h 5517"/>
                  <a:gd name="T54" fmla="*/ 6730 w 6902"/>
                  <a:gd name="T55" fmla="*/ 5212 h 5517"/>
                  <a:gd name="T56" fmla="*/ 6711 w 6902"/>
                  <a:gd name="T57" fmla="*/ 5193 h 5517"/>
                  <a:gd name="T58" fmla="*/ 6691 w 6902"/>
                  <a:gd name="T59" fmla="*/ 5174 h 5517"/>
                  <a:gd name="T60" fmla="*/ 6668 w 6902"/>
                  <a:gd name="T61" fmla="*/ 5154 h 5517"/>
                  <a:gd name="T62" fmla="*/ 6645 w 6902"/>
                  <a:gd name="T63" fmla="*/ 5134 h 5517"/>
                  <a:gd name="T64" fmla="*/ 67 w 6902"/>
                  <a:gd name="T65" fmla="*/ 0 h 5517"/>
                  <a:gd name="T66" fmla="*/ 0 w 6902"/>
                  <a:gd name="T67" fmla="*/ 97 h 5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902" h="5517">
                    <a:moveTo>
                      <a:pt x="0" y="97"/>
                    </a:moveTo>
                    <a:lnTo>
                      <a:pt x="6556" y="5175"/>
                    </a:lnTo>
                    <a:lnTo>
                      <a:pt x="6564" y="5181"/>
                    </a:lnTo>
                    <a:lnTo>
                      <a:pt x="6586" y="5199"/>
                    </a:lnTo>
                    <a:lnTo>
                      <a:pt x="6619" y="5230"/>
                    </a:lnTo>
                    <a:lnTo>
                      <a:pt x="6662" y="5269"/>
                    </a:lnTo>
                    <a:lnTo>
                      <a:pt x="6714" y="5318"/>
                    </a:lnTo>
                    <a:lnTo>
                      <a:pt x="6773" y="5377"/>
                    </a:lnTo>
                    <a:lnTo>
                      <a:pt x="6804" y="5409"/>
                    </a:lnTo>
                    <a:lnTo>
                      <a:pt x="6835" y="5443"/>
                    </a:lnTo>
                    <a:lnTo>
                      <a:pt x="6869" y="5480"/>
                    </a:lnTo>
                    <a:lnTo>
                      <a:pt x="6902" y="5517"/>
                    </a:lnTo>
                    <a:lnTo>
                      <a:pt x="6901" y="5510"/>
                    </a:lnTo>
                    <a:lnTo>
                      <a:pt x="6898" y="5488"/>
                    </a:lnTo>
                    <a:lnTo>
                      <a:pt x="6894" y="5472"/>
                    </a:lnTo>
                    <a:lnTo>
                      <a:pt x="6888" y="5453"/>
                    </a:lnTo>
                    <a:lnTo>
                      <a:pt x="6880" y="5430"/>
                    </a:lnTo>
                    <a:lnTo>
                      <a:pt x="6870" y="5406"/>
                    </a:lnTo>
                    <a:lnTo>
                      <a:pt x="6857" y="5379"/>
                    </a:lnTo>
                    <a:lnTo>
                      <a:pt x="6839" y="5349"/>
                    </a:lnTo>
                    <a:lnTo>
                      <a:pt x="6829" y="5334"/>
                    </a:lnTo>
                    <a:lnTo>
                      <a:pt x="6818" y="5317"/>
                    </a:lnTo>
                    <a:lnTo>
                      <a:pt x="6807" y="5301"/>
                    </a:lnTo>
                    <a:lnTo>
                      <a:pt x="6794" y="5284"/>
                    </a:lnTo>
                    <a:lnTo>
                      <a:pt x="6780" y="5267"/>
                    </a:lnTo>
                    <a:lnTo>
                      <a:pt x="6764" y="5249"/>
                    </a:lnTo>
                    <a:lnTo>
                      <a:pt x="6748" y="5231"/>
                    </a:lnTo>
                    <a:lnTo>
                      <a:pt x="6730" y="5212"/>
                    </a:lnTo>
                    <a:lnTo>
                      <a:pt x="6711" y="5193"/>
                    </a:lnTo>
                    <a:lnTo>
                      <a:pt x="6691" y="5174"/>
                    </a:lnTo>
                    <a:lnTo>
                      <a:pt x="6668" y="5154"/>
                    </a:lnTo>
                    <a:lnTo>
                      <a:pt x="6645" y="5134"/>
                    </a:lnTo>
                    <a:lnTo>
                      <a:pt x="67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9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3" name="Freeform 75"/>
              <p:cNvSpPr>
                <a:spLocks/>
              </p:cNvSpPr>
              <p:nvPr/>
            </p:nvSpPr>
            <p:spPr bwMode="auto">
              <a:xfrm>
                <a:off x="3925" y="2102"/>
                <a:ext cx="18" cy="14"/>
              </a:xfrm>
              <a:custGeom>
                <a:avLst/>
                <a:gdLst>
                  <a:gd name="T0" fmla="*/ 1327 w 1365"/>
                  <a:gd name="T1" fmla="*/ 997 h 997"/>
                  <a:gd name="T2" fmla="*/ 0 w 1365"/>
                  <a:gd name="T3" fmla="*/ 0 h 997"/>
                  <a:gd name="T4" fmla="*/ 1365 w 1365"/>
                  <a:gd name="T5" fmla="*/ 827 h 997"/>
                  <a:gd name="T6" fmla="*/ 1327 w 1365"/>
                  <a:gd name="T7" fmla="*/ 997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65" h="997">
                    <a:moveTo>
                      <a:pt x="1327" y="997"/>
                    </a:moveTo>
                    <a:lnTo>
                      <a:pt x="0" y="0"/>
                    </a:lnTo>
                    <a:lnTo>
                      <a:pt x="1365" y="827"/>
                    </a:lnTo>
                    <a:lnTo>
                      <a:pt x="1327" y="997"/>
                    </a:lnTo>
                    <a:close/>
                  </a:path>
                </a:pathLst>
              </a:custGeom>
              <a:solidFill>
                <a:srgbClr val="007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4" name="Freeform 76"/>
              <p:cNvSpPr>
                <a:spLocks/>
              </p:cNvSpPr>
              <p:nvPr/>
            </p:nvSpPr>
            <p:spPr bwMode="auto">
              <a:xfrm>
                <a:off x="3980" y="2093"/>
                <a:ext cx="81" cy="41"/>
              </a:xfrm>
              <a:custGeom>
                <a:avLst/>
                <a:gdLst>
                  <a:gd name="T0" fmla="*/ 0 w 5948"/>
                  <a:gd name="T1" fmla="*/ 0 h 2998"/>
                  <a:gd name="T2" fmla="*/ 30 w 5948"/>
                  <a:gd name="T3" fmla="*/ 10 h 2998"/>
                  <a:gd name="T4" fmla="*/ 118 w 5948"/>
                  <a:gd name="T5" fmla="*/ 41 h 2998"/>
                  <a:gd name="T6" fmla="*/ 183 w 5948"/>
                  <a:gd name="T7" fmla="*/ 64 h 2998"/>
                  <a:gd name="T8" fmla="*/ 260 w 5948"/>
                  <a:gd name="T9" fmla="*/ 93 h 2998"/>
                  <a:gd name="T10" fmla="*/ 350 w 5948"/>
                  <a:gd name="T11" fmla="*/ 128 h 2998"/>
                  <a:gd name="T12" fmla="*/ 453 w 5948"/>
                  <a:gd name="T13" fmla="*/ 168 h 2998"/>
                  <a:gd name="T14" fmla="*/ 567 w 5948"/>
                  <a:gd name="T15" fmla="*/ 213 h 2998"/>
                  <a:gd name="T16" fmla="*/ 692 w 5948"/>
                  <a:gd name="T17" fmla="*/ 265 h 2998"/>
                  <a:gd name="T18" fmla="*/ 828 w 5948"/>
                  <a:gd name="T19" fmla="*/ 322 h 2998"/>
                  <a:gd name="T20" fmla="*/ 975 w 5948"/>
                  <a:gd name="T21" fmla="*/ 386 h 2998"/>
                  <a:gd name="T22" fmla="*/ 1132 w 5948"/>
                  <a:gd name="T23" fmla="*/ 454 h 2998"/>
                  <a:gd name="T24" fmla="*/ 1298 w 5948"/>
                  <a:gd name="T25" fmla="*/ 530 h 2998"/>
                  <a:gd name="T26" fmla="*/ 1474 w 5948"/>
                  <a:gd name="T27" fmla="*/ 611 h 2998"/>
                  <a:gd name="T28" fmla="*/ 1658 w 5948"/>
                  <a:gd name="T29" fmla="*/ 698 h 2998"/>
                  <a:gd name="T30" fmla="*/ 1850 w 5948"/>
                  <a:gd name="T31" fmla="*/ 791 h 2998"/>
                  <a:gd name="T32" fmla="*/ 2049 w 5948"/>
                  <a:gd name="T33" fmla="*/ 891 h 2998"/>
                  <a:gd name="T34" fmla="*/ 2256 w 5948"/>
                  <a:gd name="T35" fmla="*/ 997 h 2998"/>
                  <a:gd name="T36" fmla="*/ 2471 w 5948"/>
                  <a:gd name="T37" fmla="*/ 1110 h 2998"/>
                  <a:gd name="T38" fmla="*/ 2691 w 5948"/>
                  <a:gd name="T39" fmla="*/ 1228 h 2998"/>
                  <a:gd name="T40" fmla="*/ 2918 w 5948"/>
                  <a:gd name="T41" fmla="*/ 1354 h 2998"/>
                  <a:gd name="T42" fmla="*/ 3150 w 5948"/>
                  <a:gd name="T43" fmla="*/ 1486 h 2998"/>
                  <a:gd name="T44" fmla="*/ 3387 w 5948"/>
                  <a:gd name="T45" fmla="*/ 1624 h 2998"/>
                  <a:gd name="T46" fmla="*/ 3629 w 5948"/>
                  <a:gd name="T47" fmla="*/ 1769 h 2998"/>
                  <a:gd name="T48" fmla="*/ 3875 w 5948"/>
                  <a:gd name="T49" fmla="*/ 1921 h 2998"/>
                  <a:gd name="T50" fmla="*/ 4125 w 5948"/>
                  <a:gd name="T51" fmla="*/ 2081 h 2998"/>
                  <a:gd name="T52" fmla="*/ 4378 w 5948"/>
                  <a:gd name="T53" fmla="*/ 2247 h 2998"/>
                  <a:gd name="T54" fmla="*/ 4633 w 5948"/>
                  <a:gd name="T55" fmla="*/ 2419 h 2998"/>
                  <a:gd name="T56" fmla="*/ 4892 w 5948"/>
                  <a:gd name="T57" fmla="*/ 2600 h 2998"/>
                  <a:gd name="T58" fmla="*/ 5152 w 5948"/>
                  <a:gd name="T59" fmla="*/ 2787 h 2998"/>
                  <a:gd name="T60" fmla="*/ 5414 w 5948"/>
                  <a:gd name="T61" fmla="*/ 2982 h 2998"/>
                  <a:gd name="T62" fmla="*/ 5948 w 5948"/>
                  <a:gd name="T63" fmla="*/ 2998 h 2998"/>
                  <a:gd name="T64" fmla="*/ 5914 w 5948"/>
                  <a:gd name="T65" fmla="*/ 2969 h 2998"/>
                  <a:gd name="T66" fmla="*/ 5816 w 5948"/>
                  <a:gd name="T67" fmla="*/ 2885 h 2998"/>
                  <a:gd name="T68" fmla="*/ 5744 w 5948"/>
                  <a:gd name="T69" fmla="*/ 2826 h 2998"/>
                  <a:gd name="T70" fmla="*/ 5658 w 5948"/>
                  <a:gd name="T71" fmla="*/ 2754 h 2998"/>
                  <a:gd name="T72" fmla="*/ 5557 w 5948"/>
                  <a:gd name="T73" fmla="*/ 2674 h 2998"/>
                  <a:gd name="T74" fmla="*/ 5442 w 5948"/>
                  <a:gd name="T75" fmla="*/ 2584 h 2998"/>
                  <a:gd name="T76" fmla="*/ 5316 w 5948"/>
                  <a:gd name="T77" fmla="*/ 2486 h 2998"/>
                  <a:gd name="T78" fmla="*/ 5175 w 5948"/>
                  <a:gd name="T79" fmla="*/ 2381 h 2998"/>
                  <a:gd name="T80" fmla="*/ 5024 w 5948"/>
                  <a:gd name="T81" fmla="*/ 2269 h 2998"/>
                  <a:gd name="T82" fmla="*/ 4861 w 5948"/>
                  <a:gd name="T83" fmla="*/ 2152 h 2998"/>
                  <a:gd name="T84" fmla="*/ 4687 w 5948"/>
                  <a:gd name="T85" fmla="*/ 2030 h 2998"/>
                  <a:gd name="T86" fmla="*/ 4503 w 5948"/>
                  <a:gd name="T87" fmla="*/ 1904 h 2998"/>
                  <a:gd name="T88" fmla="*/ 4308 w 5948"/>
                  <a:gd name="T89" fmla="*/ 1775 h 2998"/>
                  <a:gd name="T90" fmla="*/ 4105 w 5948"/>
                  <a:gd name="T91" fmla="*/ 1644 h 2998"/>
                  <a:gd name="T92" fmla="*/ 3892 w 5948"/>
                  <a:gd name="T93" fmla="*/ 1513 h 2998"/>
                  <a:gd name="T94" fmla="*/ 3672 w 5948"/>
                  <a:gd name="T95" fmla="*/ 1381 h 2998"/>
                  <a:gd name="T96" fmla="*/ 3442 w 5948"/>
                  <a:gd name="T97" fmla="*/ 1249 h 2998"/>
                  <a:gd name="T98" fmla="*/ 3207 w 5948"/>
                  <a:gd name="T99" fmla="*/ 1119 h 2998"/>
                  <a:gd name="T100" fmla="*/ 2964 w 5948"/>
                  <a:gd name="T101" fmla="*/ 992 h 2998"/>
                  <a:gd name="T102" fmla="*/ 2715 w 5948"/>
                  <a:gd name="T103" fmla="*/ 868 h 2998"/>
                  <a:gd name="T104" fmla="*/ 2461 w 5948"/>
                  <a:gd name="T105" fmla="*/ 747 h 2998"/>
                  <a:gd name="T106" fmla="*/ 2202 w 5948"/>
                  <a:gd name="T107" fmla="*/ 632 h 2998"/>
                  <a:gd name="T108" fmla="*/ 1937 w 5948"/>
                  <a:gd name="T109" fmla="*/ 523 h 2998"/>
                  <a:gd name="T110" fmla="*/ 1669 w 5948"/>
                  <a:gd name="T111" fmla="*/ 420 h 2998"/>
                  <a:gd name="T112" fmla="*/ 1396 w 5948"/>
                  <a:gd name="T113" fmla="*/ 326 h 2998"/>
                  <a:gd name="T114" fmla="*/ 1121 w 5948"/>
                  <a:gd name="T115" fmla="*/ 239 h 2998"/>
                  <a:gd name="T116" fmla="*/ 844 w 5948"/>
                  <a:gd name="T117" fmla="*/ 163 h 2998"/>
                  <a:gd name="T118" fmla="*/ 564 w 5948"/>
                  <a:gd name="T119" fmla="*/ 97 h 2998"/>
                  <a:gd name="T120" fmla="*/ 283 w 5948"/>
                  <a:gd name="T121" fmla="*/ 42 h 2998"/>
                  <a:gd name="T122" fmla="*/ 0 w 5948"/>
                  <a:gd name="T123" fmla="*/ 0 h 2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948" h="2998">
                    <a:moveTo>
                      <a:pt x="0" y="0"/>
                    </a:moveTo>
                    <a:lnTo>
                      <a:pt x="30" y="10"/>
                    </a:lnTo>
                    <a:lnTo>
                      <a:pt x="118" y="41"/>
                    </a:lnTo>
                    <a:lnTo>
                      <a:pt x="183" y="64"/>
                    </a:lnTo>
                    <a:lnTo>
                      <a:pt x="260" y="93"/>
                    </a:lnTo>
                    <a:lnTo>
                      <a:pt x="350" y="128"/>
                    </a:lnTo>
                    <a:lnTo>
                      <a:pt x="453" y="168"/>
                    </a:lnTo>
                    <a:lnTo>
                      <a:pt x="567" y="213"/>
                    </a:lnTo>
                    <a:lnTo>
                      <a:pt x="692" y="265"/>
                    </a:lnTo>
                    <a:lnTo>
                      <a:pt x="828" y="322"/>
                    </a:lnTo>
                    <a:lnTo>
                      <a:pt x="975" y="386"/>
                    </a:lnTo>
                    <a:lnTo>
                      <a:pt x="1132" y="454"/>
                    </a:lnTo>
                    <a:lnTo>
                      <a:pt x="1298" y="530"/>
                    </a:lnTo>
                    <a:lnTo>
                      <a:pt x="1474" y="611"/>
                    </a:lnTo>
                    <a:lnTo>
                      <a:pt x="1658" y="698"/>
                    </a:lnTo>
                    <a:lnTo>
                      <a:pt x="1850" y="791"/>
                    </a:lnTo>
                    <a:lnTo>
                      <a:pt x="2049" y="891"/>
                    </a:lnTo>
                    <a:lnTo>
                      <a:pt x="2256" y="997"/>
                    </a:lnTo>
                    <a:lnTo>
                      <a:pt x="2471" y="1110"/>
                    </a:lnTo>
                    <a:lnTo>
                      <a:pt x="2691" y="1228"/>
                    </a:lnTo>
                    <a:lnTo>
                      <a:pt x="2918" y="1354"/>
                    </a:lnTo>
                    <a:lnTo>
                      <a:pt x="3150" y="1486"/>
                    </a:lnTo>
                    <a:lnTo>
                      <a:pt x="3387" y="1624"/>
                    </a:lnTo>
                    <a:lnTo>
                      <a:pt x="3629" y="1769"/>
                    </a:lnTo>
                    <a:lnTo>
                      <a:pt x="3875" y="1921"/>
                    </a:lnTo>
                    <a:lnTo>
                      <a:pt x="4125" y="2081"/>
                    </a:lnTo>
                    <a:lnTo>
                      <a:pt x="4378" y="2247"/>
                    </a:lnTo>
                    <a:lnTo>
                      <a:pt x="4633" y="2419"/>
                    </a:lnTo>
                    <a:lnTo>
                      <a:pt x="4892" y="2600"/>
                    </a:lnTo>
                    <a:lnTo>
                      <a:pt x="5152" y="2787"/>
                    </a:lnTo>
                    <a:lnTo>
                      <a:pt x="5414" y="2982"/>
                    </a:lnTo>
                    <a:lnTo>
                      <a:pt x="5948" y="2998"/>
                    </a:lnTo>
                    <a:lnTo>
                      <a:pt x="5914" y="2969"/>
                    </a:lnTo>
                    <a:lnTo>
                      <a:pt x="5816" y="2885"/>
                    </a:lnTo>
                    <a:lnTo>
                      <a:pt x="5744" y="2826"/>
                    </a:lnTo>
                    <a:lnTo>
                      <a:pt x="5658" y="2754"/>
                    </a:lnTo>
                    <a:lnTo>
                      <a:pt x="5557" y="2674"/>
                    </a:lnTo>
                    <a:lnTo>
                      <a:pt x="5442" y="2584"/>
                    </a:lnTo>
                    <a:lnTo>
                      <a:pt x="5316" y="2486"/>
                    </a:lnTo>
                    <a:lnTo>
                      <a:pt x="5175" y="2381"/>
                    </a:lnTo>
                    <a:lnTo>
                      <a:pt x="5024" y="2269"/>
                    </a:lnTo>
                    <a:lnTo>
                      <a:pt x="4861" y="2152"/>
                    </a:lnTo>
                    <a:lnTo>
                      <a:pt x="4687" y="2030"/>
                    </a:lnTo>
                    <a:lnTo>
                      <a:pt x="4503" y="1904"/>
                    </a:lnTo>
                    <a:lnTo>
                      <a:pt x="4308" y="1775"/>
                    </a:lnTo>
                    <a:lnTo>
                      <a:pt x="4105" y="1644"/>
                    </a:lnTo>
                    <a:lnTo>
                      <a:pt x="3892" y="1513"/>
                    </a:lnTo>
                    <a:lnTo>
                      <a:pt x="3672" y="1381"/>
                    </a:lnTo>
                    <a:lnTo>
                      <a:pt x="3442" y="1249"/>
                    </a:lnTo>
                    <a:lnTo>
                      <a:pt x="3207" y="1119"/>
                    </a:lnTo>
                    <a:lnTo>
                      <a:pt x="2964" y="992"/>
                    </a:lnTo>
                    <a:lnTo>
                      <a:pt x="2715" y="868"/>
                    </a:lnTo>
                    <a:lnTo>
                      <a:pt x="2461" y="747"/>
                    </a:lnTo>
                    <a:lnTo>
                      <a:pt x="2202" y="632"/>
                    </a:lnTo>
                    <a:lnTo>
                      <a:pt x="1937" y="523"/>
                    </a:lnTo>
                    <a:lnTo>
                      <a:pt x="1669" y="420"/>
                    </a:lnTo>
                    <a:lnTo>
                      <a:pt x="1396" y="326"/>
                    </a:lnTo>
                    <a:lnTo>
                      <a:pt x="1121" y="239"/>
                    </a:lnTo>
                    <a:lnTo>
                      <a:pt x="844" y="163"/>
                    </a:lnTo>
                    <a:lnTo>
                      <a:pt x="564" y="97"/>
                    </a:lnTo>
                    <a:lnTo>
                      <a:pt x="283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336" name="Picture 28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4395" y="2514196"/>
              <a:ext cx="197730" cy="210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6" name="TextBox 155"/>
            <p:cNvSpPr txBox="1">
              <a:spLocks noChangeArrowheads="1"/>
            </p:cNvSpPr>
            <p:nvPr/>
          </p:nvSpPr>
          <p:spPr bwMode="auto">
            <a:xfrm>
              <a:off x="6528594" y="2760259"/>
              <a:ext cx="72072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tx2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1000" dirty="0" smtClean="0">
                  <a:latin typeface="微软雅黑" pitchFamily="34" charset="-122"/>
                  <a:ea typeface="微软雅黑" pitchFamily="34" charset="-122"/>
                </a:rPr>
                <a:t>移动</a:t>
              </a:r>
              <a:endParaRPr lang="zh-CN" altLang="en-US" sz="10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57" name="矩形 356"/>
          <p:cNvSpPr/>
          <p:nvPr/>
        </p:nvSpPr>
        <p:spPr>
          <a:xfrm>
            <a:off x="7201658" y="2638298"/>
            <a:ext cx="1295400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个性推荐</a:t>
            </a:r>
          </a:p>
        </p:txBody>
      </p:sp>
      <p:sp>
        <p:nvSpPr>
          <p:cNvPr id="358" name="矩形 357"/>
          <p:cNvSpPr/>
          <p:nvPr/>
        </p:nvSpPr>
        <p:spPr>
          <a:xfrm>
            <a:off x="7201658" y="3063914"/>
            <a:ext cx="1295400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自动化运维</a:t>
            </a:r>
          </a:p>
        </p:txBody>
      </p:sp>
      <p:sp>
        <p:nvSpPr>
          <p:cNvPr id="359" name="矩形 358"/>
          <p:cNvSpPr/>
          <p:nvPr/>
        </p:nvSpPr>
        <p:spPr>
          <a:xfrm>
            <a:off x="7201658" y="3915146"/>
            <a:ext cx="1295400" cy="2585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kern="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200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0" name="矩形 359"/>
          <p:cNvSpPr/>
          <p:nvPr/>
        </p:nvSpPr>
        <p:spPr>
          <a:xfrm>
            <a:off x="7201658" y="4340764"/>
            <a:ext cx="1295400" cy="2585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0" kern="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1200" b="0" kern="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1" name="矩形 360"/>
          <p:cNvSpPr/>
          <p:nvPr/>
        </p:nvSpPr>
        <p:spPr>
          <a:xfrm>
            <a:off x="7201658" y="3489530"/>
            <a:ext cx="1295400" cy="27699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algn="ctr">
              <a:buClr>
                <a:schemeClr val="accent2"/>
              </a:buClr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知识检索</a:t>
            </a:r>
          </a:p>
        </p:txBody>
      </p:sp>
      <p:sp>
        <p:nvSpPr>
          <p:cNvPr id="131" name="流程图: 磁盘 140"/>
          <p:cNvSpPr>
            <a:spLocks noChangeArrowheads="1"/>
          </p:cNvSpPr>
          <p:nvPr/>
        </p:nvSpPr>
        <p:spPr bwMode="auto">
          <a:xfrm>
            <a:off x="4044305" y="4198374"/>
            <a:ext cx="1440160" cy="612000"/>
          </a:xfrm>
          <a:prstGeom prst="flowChartMagneticDisk">
            <a:avLst/>
          </a:prstGeom>
          <a:noFill/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非结构化数据</a:t>
            </a:r>
            <a:endParaRPr lang="en-US" altLang="zh-CN" sz="12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文</a:t>
            </a:r>
            <a:r>
              <a:rPr lang="zh-CN" altLang="en-US" sz="1200" b="1" dirty="0">
                <a:latin typeface="微软雅黑" pitchFamily="34" charset="-122"/>
                <a:ea typeface="微软雅黑" pitchFamily="34" charset="-122"/>
              </a:rPr>
              <a:t>件</a:t>
            </a: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5" name="流程图: 磁盘 140"/>
          <p:cNvSpPr>
            <a:spLocks noChangeArrowheads="1"/>
          </p:cNvSpPr>
          <p:nvPr/>
        </p:nvSpPr>
        <p:spPr bwMode="auto">
          <a:xfrm>
            <a:off x="4044305" y="3801875"/>
            <a:ext cx="1440160" cy="611408"/>
          </a:xfrm>
          <a:prstGeom prst="flowChartMagneticDisk">
            <a:avLst/>
          </a:prstGeom>
          <a:noFill/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结构化数据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矩形 147"/>
          <p:cNvSpPr>
            <a:spLocks noChangeArrowheads="1"/>
          </p:cNvSpPr>
          <p:nvPr/>
        </p:nvSpPr>
        <p:spPr bwMode="auto">
          <a:xfrm>
            <a:off x="4332337" y="2830222"/>
            <a:ext cx="792088" cy="1440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1000" dirty="0" smtClean="0">
                <a:latin typeface="微软雅黑" pitchFamily="34" charset="-122"/>
                <a:ea typeface="微软雅黑" pitchFamily="34" charset="-122"/>
              </a:rPr>
              <a:t>判断标</a:t>
            </a:r>
            <a:r>
              <a:rPr lang="zh-CN" altLang="en-US" sz="1000" dirty="0">
                <a:latin typeface="微软雅黑" pitchFamily="34" charset="-122"/>
                <a:ea typeface="微软雅黑" pitchFamily="34" charset="-122"/>
              </a:rPr>
              <a:t>准</a:t>
            </a:r>
            <a:endParaRPr lang="en-US" altLang="zh-CN" sz="1000" dirty="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32705761"/>
              </p:ext>
            </p:extLst>
          </p:nvPr>
        </p:nvGraphicFramePr>
        <p:xfrm>
          <a:off x="5901796" y="1177007"/>
          <a:ext cx="1142814" cy="1035675"/>
        </p:xfrm>
        <a:graphic>
          <a:graphicData uri="http://schemas.openxmlformats.org/presentationml/2006/ole">
            <p:oleObj spid="_x0000_s117776" name="工作表" showAsIcon="1" r:id="rId4" imgW="914400" imgH="828675" progId="Excel.Sheet.12">
              <p:embed/>
            </p:oleObj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38397652"/>
              </p:ext>
            </p:extLst>
          </p:nvPr>
        </p:nvGraphicFramePr>
        <p:xfrm>
          <a:off x="4010186" y="3675636"/>
          <a:ext cx="1522537" cy="378722"/>
        </p:xfrm>
        <a:graphic>
          <a:graphicData uri="http://schemas.openxmlformats.org/presentationml/2006/ole">
            <p:oleObj spid="_x0000_s117777" name="VISIO" r:id="rId5" imgW="873389" imgH="527071" progId="Visio.Drawing.11">
              <p:embed/>
            </p:oleObj>
          </a:graphicData>
        </a:graphic>
      </p:graphicFrame>
      <p:sp>
        <p:nvSpPr>
          <p:cNvPr id="138" name="Rectangle 3"/>
          <p:cNvSpPr txBox="1">
            <a:spLocks noChangeArrowheads="1"/>
          </p:cNvSpPr>
          <p:nvPr/>
        </p:nvSpPr>
        <p:spPr>
          <a:xfrm>
            <a:off x="331827" y="4869160"/>
            <a:ext cx="8416637" cy="1728192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ctr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1400" b="1" dirty="0" smtClean="0">
                <a:solidFill>
                  <a:srgbClr val="000000"/>
                </a:solidFill>
              </a:rPr>
              <a:t>项目</a:t>
            </a:r>
            <a:r>
              <a:rPr kumimoji="1" lang="zh-CN" altLang="en-US" sz="1400" b="1" dirty="0">
                <a:solidFill>
                  <a:srgbClr val="000000"/>
                </a:solidFill>
              </a:rPr>
              <a:t>移转文档判断</a:t>
            </a:r>
            <a:r>
              <a:rPr kumimoji="1" lang="zh-CN" altLang="en-US" sz="1400" b="1" dirty="0" smtClean="0">
                <a:solidFill>
                  <a:srgbClr val="000000"/>
                </a:solidFill>
              </a:rPr>
              <a:t>：</a:t>
            </a:r>
            <a:r>
              <a:rPr kumimoji="1" lang="zh-CN" altLang="en-US" sz="1400" dirty="0" smtClean="0">
                <a:solidFill>
                  <a:srgbClr val="000000"/>
                </a:solidFill>
              </a:rPr>
              <a:t>依据</a:t>
            </a:r>
            <a:r>
              <a:rPr kumimoji="1" lang="zh-CN" altLang="en-US" sz="1400" dirty="0">
                <a:solidFill>
                  <a:srgbClr val="000000"/>
                </a:solidFill>
              </a:rPr>
              <a:t>判断表对项目移转文档完整性进行判断，对项目移转知识培训完成，对运维人员能力掌握情况进行判断</a:t>
            </a:r>
            <a:r>
              <a:rPr kumimoji="1" lang="zh-CN" altLang="en-US" sz="1400" dirty="0" smtClean="0">
                <a:solidFill>
                  <a:srgbClr val="000000"/>
                </a:solidFill>
              </a:rPr>
              <a:t>。</a:t>
            </a:r>
            <a:endParaRPr kumimoji="1" lang="en-US" altLang="zh-CN" sz="1400" dirty="0" smtClean="0">
              <a:solidFill>
                <a:srgbClr val="000000"/>
              </a:solidFill>
            </a:endParaRPr>
          </a:p>
          <a:p>
            <a:pPr fontAlgn="ctr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1400" b="1" dirty="0" smtClean="0">
                <a:solidFill>
                  <a:srgbClr val="000000"/>
                </a:solidFill>
              </a:rPr>
              <a:t>知识库</a:t>
            </a:r>
            <a:r>
              <a:rPr kumimoji="1" lang="zh-CN" altLang="en-US" sz="1400" b="1" dirty="0">
                <a:solidFill>
                  <a:srgbClr val="000000"/>
                </a:solidFill>
              </a:rPr>
              <a:t>建立判断</a:t>
            </a:r>
            <a:r>
              <a:rPr kumimoji="1" lang="zh-CN" altLang="en-US" sz="1400" b="1" dirty="0" smtClean="0">
                <a:solidFill>
                  <a:srgbClr val="000000"/>
                </a:solidFill>
              </a:rPr>
              <a:t>：</a:t>
            </a:r>
            <a:r>
              <a:rPr kumimoji="1" lang="en-US" altLang="zh-CN" sz="1400" dirty="0" smtClean="0">
                <a:solidFill>
                  <a:srgbClr val="000000"/>
                </a:solidFill>
              </a:rPr>
              <a:t> </a:t>
            </a:r>
            <a:r>
              <a:rPr kumimoji="1" lang="zh-CN" altLang="en-US" sz="1400" dirty="0">
                <a:solidFill>
                  <a:srgbClr val="000000"/>
                </a:solidFill>
              </a:rPr>
              <a:t>依据判断表对项目移转文档的整理完成，服务目录对应的技术手册编制与整理完成，知识库建立完成</a:t>
            </a:r>
            <a:r>
              <a:rPr kumimoji="1" lang="en-US" altLang="zh-CN" sz="1400" dirty="0">
                <a:solidFill>
                  <a:srgbClr val="000000"/>
                </a:solidFill>
              </a:rPr>
              <a:t>(</a:t>
            </a:r>
            <a:r>
              <a:rPr kumimoji="1" lang="zh-CN" altLang="en-US" sz="1400" dirty="0">
                <a:solidFill>
                  <a:srgbClr val="000000"/>
                </a:solidFill>
              </a:rPr>
              <a:t>知识库索引对应的知识分类、岗位、对象</a:t>
            </a:r>
            <a:r>
              <a:rPr kumimoji="1" lang="en-US" altLang="zh-CN" sz="1400" dirty="0">
                <a:solidFill>
                  <a:srgbClr val="000000"/>
                </a:solidFill>
              </a:rPr>
              <a:t>)</a:t>
            </a:r>
            <a:r>
              <a:rPr kumimoji="1" lang="zh-CN" altLang="en-US" sz="1400" dirty="0">
                <a:solidFill>
                  <a:srgbClr val="000000"/>
                </a:solidFill>
              </a:rPr>
              <a:t>，知识培训完成，知识库与岗位对应整理并且培训完成，人员能力掌握情况达标</a:t>
            </a:r>
            <a:r>
              <a:rPr kumimoji="1" lang="zh-CN" altLang="en-US" sz="1400" dirty="0" smtClean="0">
                <a:solidFill>
                  <a:srgbClr val="000000"/>
                </a:solidFill>
              </a:rPr>
              <a:t>。</a:t>
            </a:r>
            <a:endParaRPr kumimoji="1" lang="en-US" altLang="zh-CN" sz="1400" b="1" dirty="0">
              <a:solidFill>
                <a:srgbClr val="000000"/>
              </a:solidFill>
            </a:endParaRPr>
          </a:p>
        </p:txBody>
      </p:sp>
      <p:sp>
        <p:nvSpPr>
          <p:cNvPr id="140" name="Rectangle 3"/>
          <p:cNvSpPr txBox="1">
            <a:spLocks noChangeArrowheads="1"/>
          </p:cNvSpPr>
          <p:nvPr/>
        </p:nvSpPr>
        <p:spPr>
          <a:xfrm>
            <a:off x="323528" y="620688"/>
            <a:ext cx="8352928" cy="864095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800" dirty="0" smtClean="0"/>
              <a:t>以服务目录为核心，构建结构化的知识库。实现</a:t>
            </a:r>
            <a:r>
              <a:rPr lang="zh-CN" altLang="en-US" sz="1800" dirty="0"/>
              <a:t>知识的创建、储存、</a:t>
            </a:r>
            <a:r>
              <a:rPr lang="zh-CN" altLang="en-US" sz="1800" dirty="0" smtClean="0"/>
              <a:t>共享</a:t>
            </a:r>
            <a:r>
              <a:rPr lang="zh-CN" altLang="en-US" sz="1800" dirty="0"/>
              <a:t>；</a:t>
            </a:r>
            <a:r>
              <a:rPr lang="zh-CN" altLang="en-US" sz="1800" dirty="0" smtClean="0"/>
              <a:t>实现知</a:t>
            </a:r>
            <a:r>
              <a:rPr lang="zh-CN" altLang="zh-CN" sz="1800" dirty="0" smtClean="0"/>
              <a:t>识</a:t>
            </a:r>
            <a:r>
              <a:rPr lang="zh-CN" altLang="zh-CN" sz="1800" dirty="0"/>
              <a:t>对</a:t>
            </a:r>
            <a:r>
              <a:rPr lang="en-US" altLang="zh-CN" sz="1800" dirty="0"/>
              <a:t>IT</a:t>
            </a:r>
            <a:r>
              <a:rPr lang="zh-CN" altLang="zh-CN" sz="1800" dirty="0"/>
              <a:t>运维服务管理的价值和</a:t>
            </a:r>
            <a:r>
              <a:rPr lang="zh-CN" altLang="zh-CN" sz="1800" dirty="0" smtClean="0"/>
              <a:t>作用</a:t>
            </a:r>
            <a:r>
              <a:rPr lang="zh-CN" altLang="en-US" sz="1800" dirty="0"/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3844206" y="2043404"/>
            <a:ext cx="1733575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1、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项目移转文档判断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知识库建立判断</a:t>
            </a:r>
          </a:p>
        </p:txBody>
      </p:sp>
    </p:spTree>
    <p:extLst>
      <p:ext uri="{BB962C8B-B14F-4D97-AF65-F5344CB8AC3E}">
        <p14:creationId xmlns:p14="http://schemas.microsoft.com/office/powerpoint/2010/main" xmlns="" val="269395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监控</a:t>
            </a:r>
            <a:endParaRPr lang="zh-CN" altLang="en-US" dirty="0"/>
          </a:p>
        </p:txBody>
      </p:sp>
      <p:cxnSp>
        <p:nvCxnSpPr>
          <p:cNvPr id="170" name="直接连接符 169"/>
          <p:cNvCxnSpPr/>
          <p:nvPr/>
        </p:nvCxnSpPr>
        <p:spPr bwMode="auto">
          <a:xfrm>
            <a:off x="5569516" y="2077617"/>
            <a:ext cx="0" cy="36668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71" name="矩形 170"/>
          <p:cNvSpPr/>
          <p:nvPr/>
        </p:nvSpPr>
        <p:spPr>
          <a:xfrm>
            <a:off x="5668048" y="4093760"/>
            <a:ext cx="1478512" cy="1650701"/>
          </a:xfrm>
          <a:prstGeom prst="rect">
            <a:avLst/>
          </a:prstGeom>
          <a:ln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zh-CN" altLang="en-US" sz="160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5668048" y="2032534"/>
            <a:ext cx="1442550" cy="1617912"/>
          </a:xfrm>
          <a:prstGeom prst="rect">
            <a:avLst/>
          </a:prstGeom>
          <a:ln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zh-CN" altLang="en-US" sz="160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3" name="流程图: 可选过程 172"/>
          <p:cNvSpPr/>
          <p:nvPr/>
        </p:nvSpPr>
        <p:spPr>
          <a:xfrm>
            <a:off x="5543632" y="1552676"/>
            <a:ext cx="3306941" cy="395518"/>
          </a:xfrm>
          <a:prstGeom prst="flowChartAlternateProcess">
            <a:avLst/>
          </a:prstGeom>
          <a:ln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 anchorCtr="0"/>
          <a:lstStyle/>
          <a:p>
            <a:pPr algn="ctr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监控信息应用</a:t>
            </a:r>
          </a:p>
        </p:txBody>
      </p:sp>
      <p:sp>
        <p:nvSpPr>
          <p:cNvPr id="174" name="流程图: 可选过程 173"/>
          <p:cNvSpPr/>
          <p:nvPr/>
        </p:nvSpPr>
        <p:spPr>
          <a:xfrm>
            <a:off x="1671077" y="1552676"/>
            <a:ext cx="3807514" cy="395518"/>
          </a:xfrm>
          <a:prstGeom prst="flowChartAlternateProcess">
            <a:avLst/>
          </a:prstGeom>
          <a:gradFill>
            <a:gsLst>
              <a:gs pos="0">
                <a:srgbClr val="FFB8A7">
                  <a:lumMod val="37000"/>
                  <a:lumOff val="63000"/>
                  <a:alpha val="29000"/>
                </a:srgbClr>
              </a:gs>
              <a:gs pos="35000">
                <a:srgbClr val="FFB8A7">
                  <a:lumMod val="28000"/>
                  <a:lumOff val="72000"/>
                </a:srgbClr>
              </a:gs>
              <a:gs pos="100000">
                <a:srgbClr val="FFB8A7">
                  <a:lumMod val="54000"/>
                  <a:lumOff val="46000"/>
                </a:srgbClr>
              </a:gs>
            </a:gsLst>
            <a:lin ang="16200000" scaled="1"/>
          </a:gradFill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监控信息数据中心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(DB)</a:t>
            </a:r>
            <a:endParaRPr lang="zh-CN" altLang="en-US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5" name="流程图: 可选过程 174"/>
          <p:cNvSpPr/>
          <p:nvPr/>
        </p:nvSpPr>
        <p:spPr>
          <a:xfrm>
            <a:off x="323528" y="1552676"/>
            <a:ext cx="1306128" cy="395518"/>
          </a:xfrm>
          <a:prstGeom prst="flowChartAlternateProcess">
            <a:avLst/>
          </a:pr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35000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</a:gradFill>
          <a:ln>
            <a:solidFill>
              <a:schemeClr val="tx2">
                <a:lumMod val="40000"/>
                <a:lumOff val="60000"/>
              </a:schemeClr>
            </a:solidFill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 anchorCtr="0"/>
          <a:lstStyle/>
          <a:p>
            <a:pPr algn="ctr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</a:rPr>
              <a:t>监控对象</a:t>
            </a:r>
          </a:p>
        </p:txBody>
      </p:sp>
      <p:sp>
        <p:nvSpPr>
          <p:cNvPr id="176" name="矩形 175"/>
          <p:cNvSpPr/>
          <p:nvPr/>
        </p:nvSpPr>
        <p:spPr>
          <a:xfrm>
            <a:off x="7452320" y="2033576"/>
            <a:ext cx="1398253" cy="3710885"/>
          </a:xfrm>
          <a:prstGeom prst="rect">
            <a:avLst/>
          </a:prstGeom>
          <a:ln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zh-CN" altLang="en-US" sz="160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2148832" y="2019834"/>
            <a:ext cx="3329759" cy="1627860"/>
          </a:xfrm>
          <a:prstGeom prst="rect">
            <a:avLst/>
          </a:prstGeom>
          <a:solidFill>
            <a:srgbClr val="FFE5E5"/>
          </a:solidFill>
        </p:spPr>
        <p:txBody>
          <a:bodyPr wrap="square" rtlCol="0" anchor="ctr">
            <a:noAutofit/>
          </a:bodyPr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2137207" y="4054776"/>
            <a:ext cx="3329759" cy="1696716"/>
          </a:xfrm>
          <a:prstGeom prst="rect">
            <a:avLst/>
          </a:prstGeom>
          <a:solidFill>
            <a:srgbClr val="FFE5E5"/>
          </a:solidFill>
        </p:spPr>
        <p:txBody>
          <a:bodyPr wrap="square" rtlCol="0" anchor="ctr">
            <a:noAutofit/>
          </a:bodyPr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8" name="Freeform 3"/>
          <p:cNvSpPr>
            <a:spLocks noEditPoints="1"/>
          </p:cNvSpPr>
          <p:nvPr/>
        </p:nvSpPr>
        <p:spPr bwMode="auto">
          <a:xfrm>
            <a:off x="2801605" y="4966685"/>
            <a:ext cx="667804" cy="660366"/>
          </a:xfrm>
          <a:custGeom>
            <a:avLst/>
            <a:gdLst>
              <a:gd name="T0" fmla="*/ 137 w 636"/>
              <a:gd name="T1" fmla="*/ 344 h 633"/>
              <a:gd name="T2" fmla="*/ 146 w 636"/>
              <a:gd name="T3" fmla="*/ 379 h 633"/>
              <a:gd name="T4" fmla="*/ 157 w 636"/>
              <a:gd name="T5" fmla="*/ 404 h 633"/>
              <a:gd name="T6" fmla="*/ 177 w 636"/>
              <a:gd name="T7" fmla="*/ 432 h 633"/>
              <a:gd name="T8" fmla="*/ 202 w 636"/>
              <a:gd name="T9" fmla="*/ 457 h 633"/>
              <a:gd name="T10" fmla="*/ 231 w 636"/>
              <a:gd name="T11" fmla="*/ 477 h 633"/>
              <a:gd name="T12" fmla="*/ 272 w 636"/>
              <a:gd name="T13" fmla="*/ 493 h 633"/>
              <a:gd name="T14" fmla="*/ 308 w 636"/>
              <a:gd name="T15" fmla="*/ 498 h 633"/>
              <a:gd name="T16" fmla="*/ 346 w 636"/>
              <a:gd name="T17" fmla="*/ 496 h 633"/>
              <a:gd name="T18" fmla="*/ 381 w 636"/>
              <a:gd name="T19" fmla="*/ 487 h 633"/>
              <a:gd name="T20" fmla="*/ 405 w 636"/>
              <a:gd name="T21" fmla="*/ 477 h 633"/>
              <a:gd name="T22" fmla="*/ 434 w 636"/>
              <a:gd name="T23" fmla="*/ 457 h 633"/>
              <a:gd name="T24" fmla="*/ 460 w 636"/>
              <a:gd name="T25" fmla="*/ 432 h 633"/>
              <a:gd name="T26" fmla="*/ 479 w 636"/>
              <a:gd name="T27" fmla="*/ 404 h 633"/>
              <a:gd name="T28" fmla="*/ 495 w 636"/>
              <a:gd name="T29" fmla="*/ 362 h 633"/>
              <a:gd name="T30" fmla="*/ 501 w 636"/>
              <a:gd name="T31" fmla="*/ 325 h 633"/>
              <a:gd name="T32" fmla="*/ 499 w 636"/>
              <a:gd name="T33" fmla="*/ 288 h 633"/>
              <a:gd name="T34" fmla="*/ 490 w 636"/>
              <a:gd name="T35" fmla="*/ 254 h 633"/>
              <a:gd name="T36" fmla="*/ 479 w 636"/>
              <a:gd name="T37" fmla="*/ 230 h 633"/>
              <a:gd name="T38" fmla="*/ 460 w 636"/>
              <a:gd name="T39" fmla="*/ 201 h 633"/>
              <a:gd name="T40" fmla="*/ 434 w 636"/>
              <a:gd name="T41" fmla="*/ 176 h 633"/>
              <a:gd name="T42" fmla="*/ 405 w 636"/>
              <a:gd name="T43" fmla="*/ 157 h 633"/>
              <a:gd name="T44" fmla="*/ 364 w 636"/>
              <a:gd name="T45" fmla="*/ 139 h 633"/>
              <a:gd name="T46" fmla="*/ 328 w 636"/>
              <a:gd name="T47" fmla="*/ 134 h 633"/>
              <a:gd name="T48" fmla="*/ 290 w 636"/>
              <a:gd name="T49" fmla="*/ 136 h 633"/>
              <a:gd name="T50" fmla="*/ 255 w 636"/>
              <a:gd name="T51" fmla="*/ 145 h 633"/>
              <a:gd name="T52" fmla="*/ 231 w 636"/>
              <a:gd name="T53" fmla="*/ 157 h 633"/>
              <a:gd name="T54" fmla="*/ 202 w 636"/>
              <a:gd name="T55" fmla="*/ 176 h 633"/>
              <a:gd name="T56" fmla="*/ 177 w 636"/>
              <a:gd name="T57" fmla="*/ 201 h 633"/>
              <a:gd name="T58" fmla="*/ 157 w 636"/>
              <a:gd name="T59" fmla="*/ 230 h 633"/>
              <a:gd name="T60" fmla="*/ 141 w 636"/>
              <a:gd name="T61" fmla="*/ 271 h 633"/>
              <a:gd name="T62" fmla="*/ 135 w 636"/>
              <a:gd name="T63" fmla="*/ 307 h 633"/>
              <a:gd name="T64" fmla="*/ 429 w 636"/>
              <a:gd name="T65" fmla="*/ 551 h 633"/>
              <a:gd name="T66" fmla="*/ 382 w 636"/>
              <a:gd name="T67" fmla="*/ 628 h 633"/>
              <a:gd name="T68" fmla="*/ 299 w 636"/>
              <a:gd name="T69" fmla="*/ 575 h 633"/>
              <a:gd name="T70" fmla="*/ 219 w 636"/>
              <a:gd name="T71" fmla="*/ 618 h 633"/>
              <a:gd name="T72" fmla="*/ 184 w 636"/>
              <a:gd name="T73" fmla="*/ 536 h 633"/>
              <a:gd name="T74" fmla="*/ 146 w 636"/>
              <a:gd name="T75" fmla="*/ 507 h 633"/>
              <a:gd name="T76" fmla="*/ 94 w 636"/>
              <a:gd name="T77" fmla="*/ 440 h 633"/>
              <a:gd name="T78" fmla="*/ 75 w 636"/>
              <a:gd name="T79" fmla="*/ 395 h 633"/>
              <a:gd name="T80" fmla="*/ 64 w 636"/>
              <a:gd name="T81" fmla="*/ 311 h 633"/>
              <a:gd name="T82" fmla="*/ 70 w 636"/>
              <a:gd name="T83" fmla="*/ 262 h 633"/>
              <a:gd name="T84" fmla="*/ 102 w 636"/>
              <a:gd name="T85" fmla="*/ 184 h 633"/>
              <a:gd name="T86" fmla="*/ 132 w 636"/>
              <a:gd name="T87" fmla="*/ 144 h 633"/>
              <a:gd name="T88" fmla="*/ 200 w 636"/>
              <a:gd name="T89" fmla="*/ 93 h 633"/>
              <a:gd name="T90" fmla="*/ 246 w 636"/>
              <a:gd name="T91" fmla="*/ 74 h 633"/>
              <a:gd name="T92" fmla="*/ 296 w 636"/>
              <a:gd name="T93" fmla="*/ 0 h 633"/>
              <a:gd name="T94" fmla="*/ 367 w 636"/>
              <a:gd name="T95" fmla="*/ 67 h 633"/>
              <a:gd name="T96" fmla="*/ 444 w 636"/>
              <a:gd name="T97" fmla="*/ 25 h 633"/>
              <a:gd name="T98" fmla="*/ 478 w 636"/>
              <a:gd name="T99" fmla="*/ 116 h 633"/>
              <a:gd name="T100" fmla="*/ 574 w 636"/>
              <a:gd name="T101" fmla="*/ 126 h 633"/>
              <a:gd name="T102" fmla="*/ 550 w 636"/>
              <a:gd name="T103" fmla="*/ 205 h 633"/>
              <a:gd name="T104" fmla="*/ 567 w 636"/>
              <a:gd name="T105" fmla="*/ 245 h 633"/>
              <a:gd name="T106" fmla="*/ 577 w 636"/>
              <a:gd name="T107" fmla="*/ 329 h 633"/>
              <a:gd name="T108" fmla="*/ 571 w 636"/>
              <a:gd name="T109" fmla="*/ 377 h 633"/>
              <a:gd name="T110" fmla="*/ 537 w 636"/>
              <a:gd name="T111" fmla="*/ 456 h 633"/>
              <a:gd name="T112" fmla="*/ 509 w 636"/>
              <a:gd name="T113" fmla="*/ 493 h 633"/>
              <a:gd name="T114" fmla="*/ 495 w 636"/>
              <a:gd name="T115" fmla="*/ 581 h 63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636"/>
              <a:gd name="T175" fmla="*/ 0 h 633"/>
              <a:gd name="T176" fmla="*/ 636 w 636"/>
              <a:gd name="T177" fmla="*/ 633 h 633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636" h="633">
                <a:moveTo>
                  <a:pt x="135" y="316"/>
                </a:moveTo>
                <a:lnTo>
                  <a:pt x="135" y="325"/>
                </a:lnTo>
                <a:lnTo>
                  <a:pt x="136" y="335"/>
                </a:lnTo>
                <a:lnTo>
                  <a:pt x="137" y="344"/>
                </a:lnTo>
                <a:lnTo>
                  <a:pt x="139" y="354"/>
                </a:lnTo>
                <a:lnTo>
                  <a:pt x="141" y="362"/>
                </a:lnTo>
                <a:lnTo>
                  <a:pt x="143" y="371"/>
                </a:lnTo>
                <a:lnTo>
                  <a:pt x="146" y="379"/>
                </a:lnTo>
                <a:lnTo>
                  <a:pt x="149" y="388"/>
                </a:lnTo>
                <a:lnTo>
                  <a:pt x="151" y="392"/>
                </a:lnTo>
                <a:lnTo>
                  <a:pt x="153" y="396"/>
                </a:lnTo>
                <a:lnTo>
                  <a:pt x="157" y="404"/>
                </a:lnTo>
                <a:lnTo>
                  <a:pt x="161" y="411"/>
                </a:lnTo>
                <a:lnTo>
                  <a:pt x="166" y="419"/>
                </a:lnTo>
                <a:lnTo>
                  <a:pt x="171" y="426"/>
                </a:lnTo>
                <a:lnTo>
                  <a:pt x="177" y="432"/>
                </a:lnTo>
                <a:lnTo>
                  <a:pt x="182" y="439"/>
                </a:lnTo>
                <a:lnTo>
                  <a:pt x="189" y="445"/>
                </a:lnTo>
                <a:lnTo>
                  <a:pt x="196" y="451"/>
                </a:lnTo>
                <a:lnTo>
                  <a:pt x="202" y="457"/>
                </a:lnTo>
                <a:lnTo>
                  <a:pt x="209" y="462"/>
                </a:lnTo>
                <a:lnTo>
                  <a:pt x="216" y="468"/>
                </a:lnTo>
                <a:lnTo>
                  <a:pt x="223" y="472"/>
                </a:lnTo>
                <a:lnTo>
                  <a:pt x="231" y="477"/>
                </a:lnTo>
                <a:lnTo>
                  <a:pt x="247" y="484"/>
                </a:lnTo>
                <a:lnTo>
                  <a:pt x="255" y="487"/>
                </a:lnTo>
                <a:lnTo>
                  <a:pt x="264" y="490"/>
                </a:lnTo>
                <a:lnTo>
                  <a:pt x="272" y="493"/>
                </a:lnTo>
                <a:lnTo>
                  <a:pt x="281" y="495"/>
                </a:lnTo>
                <a:lnTo>
                  <a:pt x="290" y="496"/>
                </a:lnTo>
                <a:lnTo>
                  <a:pt x="299" y="498"/>
                </a:lnTo>
                <a:lnTo>
                  <a:pt x="308" y="498"/>
                </a:lnTo>
                <a:lnTo>
                  <a:pt x="319" y="499"/>
                </a:lnTo>
                <a:lnTo>
                  <a:pt x="328" y="498"/>
                </a:lnTo>
                <a:lnTo>
                  <a:pt x="337" y="498"/>
                </a:lnTo>
                <a:lnTo>
                  <a:pt x="346" y="496"/>
                </a:lnTo>
                <a:lnTo>
                  <a:pt x="355" y="495"/>
                </a:lnTo>
                <a:lnTo>
                  <a:pt x="364" y="493"/>
                </a:lnTo>
                <a:lnTo>
                  <a:pt x="372" y="490"/>
                </a:lnTo>
                <a:lnTo>
                  <a:pt x="381" y="487"/>
                </a:lnTo>
                <a:lnTo>
                  <a:pt x="389" y="484"/>
                </a:lnTo>
                <a:lnTo>
                  <a:pt x="393" y="482"/>
                </a:lnTo>
                <a:lnTo>
                  <a:pt x="397" y="481"/>
                </a:lnTo>
                <a:lnTo>
                  <a:pt x="405" y="477"/>
                </a:lnTo>
                <a:lnTo>
                  <a:pt x="413" y="472"/>
                </a:lnTo>
                <a:lnTo>
                  <a:pt x="420" y="468"/>
                </a:lnTo>
                <a:lnTo>
                  <a:pt x="427" y="462"/>
                </a:lnTo>
                <a:lnTo>
                  <a:pt x="434" y="457"/>
                </a:lnTo>
                <a:lnTo>
                  <a:pt x="442" y="451"/>
                </a:lnTo>
                <a:lnTo>
                  <a:pt x="448" y="445"/>
                </a:lnTo>
                <a:lnTo>
                  <a:pt x="454" y="439"/>
                </a:lnTo>
                <a:lnTo>
                  <a:pt x="460" y="432"/>
                </a:lnTo>
                <a:lnTo>
                  <a:pt x="465" y="426"/>
                </a:lnTo>
                <a:lnTo>
                  <a:pt x="470" y="419"/>
                </a:lnTo>
                <a:lnTo>
                  <a:pt x="475" y="411"/>
                </a:lnTo>
                <a:lnTo>
                  <a:pt x="479" y="404"/>
                </a:lnTo>
                <a:lnTo>
                  <a:pt x="487" y="388"/>
                </a:lnTo>
                <a:lnTo>
                  <a:pt x="490" y="379"/>
                </a:lnTo>
                <a:lnTo>
                  <a:pt x="493" y="371"/>
                </a:lnTo>
                <a:lnTo>
                  <a:pt x="495" y="362"/>
                </a:lnTo>
                <a:lnTo>
                  <a:pt x="497" y="354"/>
                </a:lnTo>
                <a:lnTo>
                  <a:pt x="499" y="344"/>
                </a:lnTo>
                <a:lnTo>
                  <a:pt x="500" y="335"/>
                </a:lnTo>
                <a:lnTo>
                  <a:pt x="501" y="325"/>
                </a:lnTo>
                <a:lnTo>
                  <a:pt x="501" y="316"/>
                </a:lnTo>
                <a:lnTo>
                  <a:pt x="501" y="307"/>
                </a:lnTo>
                <a:lnTo>
                  <a:pt x="500" y="298"/>
                </a:lnTo>
                <a:lnTo>
                  <a:pt x="499" y="288"/>
                </a:lnTo>
                <a:lnTo>
                  <a:pt x="497" y="279"/>
                </a:lnTo>
                <a:lnTo>
                  <a:pt x="495" y="271"/>
                </a:lnTo>
                <a:lnTo>
                  <a:pt x="493" y="262"/>
                </a:lnTo>
                <a:lnTo>
                  <a:pt x="490" y="254"/>
                </a:lnTo>
                <a:lnTo>
                  <a:pt x="487" y="245"/>
                </a:lnTo>
                <a:lnTo>
                  <a:pt x="485" y="241"/>
                </a:lnTo>
                <a:lnTo>
                  <a:pt x="483" y="237"/>
                </a:lnTo>
                <a:lnTo>
                  <a:pt x="479" y="230"/>
                </a:lnTo>
                <a:lnTo>
                  <a:pt x="475" y="222"/>
                </a:lnTo>
                <a:lnTo>
                  <a:pt x="470" y="215"/>
                </a:lnTo>
                <a:lnTo>
                  <a:pt x="465" y="207"/>
                </a:lnTo>
                <a:lnTo>
                  <a:pt x="460" y="201"/>
                </a:lnTo>
                <a:lnTo>
                  <a:pt x="454" y="194"/>
                </a:lnTo>
                <a:lnTo>
                  <a:pt x="448" y="188"/>
                </a:lnTo>
                <a:lnTo>
                  <a:pt x="442" y="182"/>
                </a:lnTo>
                <a:lnTo>
                  <a:pt x="434" y="176"/>
                </a:lnTo>
                <a:lnTo>
                  <a:pt x="427" y="171"/>
                </a:lnTo>
                <a:lnTo>
                  <a:pt x="420" y="166"/>
                </a:lnTo>
                <a:lnTo>
                  <a:pt x="413" y="161"/>
                </a:lnTo>
                <a:lnTo>
                  <a:pt x="405" y="157"/>
                </a:lnTo>
                <a:lnTo>
                  <a:pt x="389" y="148"/>
                </a:lnTo>
                <a:lnTo>
                  <a:pt x="381" y="145"/>
                </a:lnTo>
                <a:lnTo>
                  <a:pt x="372" y="142"/>
                </a:lnTo>
                <a:lnTo>
                  <a:pt x="364" y="139"/>
                </a:lnTo>
                <a:lnTo>
                  <a:pt x="355" y="137"/>
                </a:lnTo>
                <a:lnTo>
                  <a:pt x="346" y="136"/>
                </a:lnTo>
                <a:lnTo>
                  <a:pt x="337" y="135"/>
                </a:lnTo>
                <a:lnTo>
                  <a:pt x="328" y="134"/>
                </a:lnTo>
                <a:lnTo>
                  <a:pt x="319" y="134"/>
                </a:lnTo>
                <a:lnTo>
                  <a:pt x="308" y="134"/>
                </a:lnTo>
                <a:lnTo>
                  <a:pt x="299" y="135"/>
                </a:lnTo>
                <a:lnTo>
                  <a:pt x="290" y="136"/>
                </a:lnTo>
                <a:lnTo>
                  <a:pt x="281" y="137"/>
                </a:lnTo>
                <a:lnTo>
                  <a:pt x="272" y="139"/>
                </a:lnTo>
                <a:lnTo>
                  <a:pt x="264" y="142"/>
                </a:lnTo>
                <a:lnTo>
                  <a:pt x="255" y="145"/>
                </a:lnTo>
                <a:lnTo>
                  <a:pt x="247" y="148"/>
                </a:lnTo>
                <a:lnTo>
                  <a:pt x="243" y="150"/>
                </a:lnTo>
                <a:lnTo>
                  <a:pt x="239" y="153"/>
                </a:lnTo>
                <a:lnTo>
                  <a:pt x="231" y="157"/>
                </a:lnTo>
                <a:lnTo>
                  <a:pt x="223" y="161"/>
                </a:lnTo>
                <a:lnTo>
                  <a:pt x="216" y="166"/>
                </a:lnTo>
                <a:lnTo>
                  <a:pt x="209" y="171"/>
                </a:lnTo>
                <a:lnTo>
                  <a:pt x="202" y="176"/>
                </a:lnTo>
                <a:lnTo>
                  <a:pt x="196" y="182"/>
                </a:lnTo>
                <a:lnTo>
                  <a:pt x="189" y="188"/>
                </a:lnTo>
                <a:lnTo>
                  <a:pt x="182" y="194"/>
                </a:lnTo>
                <a:lnTo>
                  <a:pt x="177" y="201"/>
                </a:lnTo>
                <a:lnTo>
                  <a:pt x="171" y="207"/>
                </a:lnTo>
                <a:lnTo>
                  <a:pt x="166" y="215"/>
                </a:lnTo>
                <a:lnTo>
                  <a:pt x="161" y="222"/>
                </a:lnTo>
                <a:lnTo>
                  <a:pt x="157" y="230"/>
                </a:lnTo>
                <a:lnTo>
                  <a:pt x="149" y="245"/>
                </a:lnTo>
                <a:lnTo>
                  <a:pt x="146" y="254"/>
                </a:lnTo>
                <a:lnTo>
                  <a:pt x="143" y="262"/>
                </a:lnTo>
                <a:lnTo>
                  <a:pt x="141" y="271"/>
                </a:lnTo>
                <a:lnTo>
                  <a:pt x="139" y="279"/>
                </a:lnTo>
                <a:lnTo>
                  <a:pt x="137" y="288"/>
                </a:lnTo>
                <a:lnTo>
                  <a:pt x="136" y="298"/>
                </a:lnTo>
                <a:lnTo>
                  <a:pt x="135" y="307"/>
                </a:lnTo>
                <a:lnTo>
                  <a:pt x="135" y="316"/>
                </a:lnTo>
                <a:close/>
                <a:moveTo>
                  <a:pt x="495" y="581"/>
                </a:moveTo>
                <a:lnTo>
                  <a:pt x="441" y="545"/>
                </a:lnTo>
                <a:lnTo>
                  <a:pt x="429" y="551"/>
                </a:lnTo>
                <a:lnTo>
                  <a:pt x="419" y="556"/>
                </a:lnTo>
                <a:lnTo>
                  <a:pt x="408" y="560"/>
                </a:lnTo>
                <a:lnTo>
                  <a:pt x="396" y="564"/>
                </a:lnTo>
                <a:lnTo>
                  <a:pt x="382" y="628"/>
                </a:lnTo>
                <a:lnTo>
                  <a:pt x="362" y="631"/>
                </a:lnTo>
                <a:lnTo>
                  <a:pt x="342" y="633"/>
                </a:lnTo>
                <a:lnTo>
                  <a:pt x="311" y="575"/>
                </a:lnTo>
                <a:lnTo>
                  <a:pt x="299" y="575"/>
                </a:lnTo>
                <a:lnTo>
                  <a:pt x="287" y="573"/>
                </a:lnTo>
                <a:lnTo>
                  <a:pt x="275" y="572"/>
                </a:lnTo>
                <a:lnTo>
                  <a:pt x="263" y="569"/>
                </a:lnTo>
                <a:lnTo>
                  <a:pt x="219" y="618"/>
                </a:lnTo>
                <a:lnTo>
                  <a:pt x="209" y="615"/>
                </a:lnTo>
                <a:lnTo>
                  <a:pt x="200" y="612"/>
                </a:lnTo>
                <a:lnTo>
                  <a:pt x="181" y="604"/>
                </a:lnTo>
                <a:lnTo>
                  <a:pt x="184" y="536"/>
                </a:lnTo>
                <a:lnTo>
                  <a:pt x="174" y="530"/>
                </a:lnTo>
                <a:lnTo>
                  <a:pt x="164" y="522"/>
                </a:lnTo>
                <a:lnTo>
                  <a:pt x="155" y="515"/>
                </a:lnTo>
                <a:lnTo>
                  <a:pt x="146" y="507"/>
                </a:lnTo>
                <a:lnTo>
                  <a:pt x="80" y="527"/>
                </a:lnTo>
                <a:lnTo>
                  <a:pt x="68" y="513"/>
                </a:lnTo>
                <a:lnTo>
                  <a:pt x="56" y="498"/>
                </a:lnTo>
                <a:lnTo>
                  <a:pt x="94" y="440"/>
                </a:lnTo>
                <a:lnTo>
                  <a:pt x="89" y="429"/>
                </a:lnTo>
                <a:lnTo>
                  <a:pt x="84" y="418"/>
                </a:lnTo>
                <a:lnTo>
                  <a:pt x="79" y="407"/>
                </a:lnTo>
                <a:lnTo>
                  <a:pt x="75" y="395"/>
                </a:lnTo>
                <a:lnTo>
                  <a:pt x="5" y="380"/>
                </a:lnTo>
                <a:lnTo>
                  <a:pt x="2" y="362"/>
                </a:lnTo>
                <a:lnTo>
                  <a:pt x="0" y="343"/>
                </a:lnTo>
                <a:lnTo>
                  <a:pt x="64" y="311"/>
                </a:lnTo>
                <a:lnTo>
                  <a:pt x="65" y="298"/>
                </a:lnTo>
                <a:lnTo>
                  <a:pt x="66" y="286"/>
                </a:lnTo>
                <a:lnTo>
                  <a:pt x="68" y="274"/>
                </a:lnTo>
                <a:lnTo>
                  <a:pt x="70" y="262"/>
                </a:lnTo>
                <a:lnTo>
                  <a:pt x="16" y="213"/>
                </a:lnTo>
                <a:lnTo>
                  <a:pt x="23" y="197"/>
                </a:lnTo>
                <a:lnTo>
                  <a:pt x="30" y="181"/>
                </a:lnTo>
                <a:lnTo>
                  <a:pt x="102" y="184"/>
                </a:lnTo>
                <a:lnTo>
                  <a:pt x="109" y="174"/>
                </a:lnTo>
                <a:lnTo>
                  <a:pt x="116" y="164"/>
                </a:lnTo>
                <a:lnTo>
                  <a:pt x="124" y="154"/>
                </a:lnTo>
                <a:lnTo>
                  <a:pt x="132" y="144"/>
                </a:lnTo>
                <a:lnTo>
                  <a:pt x="111" y="75"/>
                </a:lnTo>
                <a:lnTo>
                  <a:pt x="124" y="64"/>
                </a:lnTo>
                <a:lnTo>
                  <a:pt x="138" y="54"/>
                </a:lnTo>
                <a:lnTo>
                  <a:pt x="200" y="93"/>
                </a:lnTo>
                <a:lnTo>
                  <a:pt x="211" y="87"/>
                </a:lnTo>
                <a:lnTo>
                  <a:pt x="222" y="82"/>
                </a:lnTo>
                <a:lnTo>
                  <a:pt x="234" y="78"/>
                </a:lnTo>
                <a:lnTo>
                  <a:pt x="246" y="74"/>
                </a:lnTo>
                <a:lnTo>
                  <a:pt x="261" y="4"/>
                </a:lnTo>
                <a:lnTo>
                  <a:pt x="270" y="3"/>
                </a:lnTo>
                <a:lnTo>
                  <a:pt x="279" y="1"/>
                </a:lnTo>
                <a:lnTo>
                  <a:pt x="296" y="0"/>
                </a:lnTo>
                <a:lnTo>
                  <a:pt x="330" y="63"/>
                </a:lnTo>
                <a:lnTo>
                  <a:pt x="343" y="64"/>
                </a:lnTo>
                <a:lnTo>
                  <a:pt x="355" y="65"/>
                </a:lnTo>
                <a:lnTo>
                  <a:pt x="367" y="67"/>
                </a:lnTo>
                <a:lnTo>
                  <a:pt x="379" y="69"/>
                </a:lnTo>
                <a:lnTo>
                  <a:pt x="426" y="18"/>
                </a:lnTo>
                <a:lnTo>
                  <a:pt x="435" y="21"/>
                </a:lnTo>
                <a:lnTo>
                  <a:pt x="444" y="25"/>
                </a:lnTo>
                <a:lnTo>
                  <a:pt x="461" y="32"/>
                </a:lnTo>
                <a:lnTo>
                  <a:pt x="458" y="102"/>
                </a:lnTo>
                <a:lnTo>
                  <a:pt x="468" y="109"/>
                </a:lnTo>
                <a:lnTo>
                  <a:pt x="478" y="116"/>
                </a:lnTo>
                <a:lnTo>
                  <a:pt x="487" y="124"/>
                </a:lnTo>
                <a:lnTo>
                  <a:pt x="496" y="132"/>
                </a:lnTo>
                <a:lnTo>
                  <a:pt x="561" y="111"/>
                </a:lnTo>
                <a:lnTo>
                  <a:pt x="574" y="126"/>
                </a:lnTo>
                <a:lnTo>
                  <a:pt x="579" y="134"/>
                </a:lnTo>
                <a:lnTo>
                  <a:pt x="585" y="142"/>
                </a:lnTo>
                <a:lnTo>
                  <a:pt x="547" y="200"/>
                </a:lnTo>
                <a:lnTo>
                  <a:pt x="550" y="205"/>
                </a:lnTo>
                <a:lnTo>
                  <a:pt x="553" y="211"/>
                </a:lnTo>
                <a:lnTo>
                  <a:pt x="558" y="222"/>
                </a:lnTo>
                <a:lnTo>
                  <a:pt x="562" y="233"/>
                </a:lnTo>
                <a:lnTo>
                  <a:pt x="567" y="245"/>
                </a:lnTo>
                <a:lnTo>
                  <a:pt x="631" y="259"/>
                </a:lnTo>
                <a:lnTo>
                  <a:pt x="634" y="278"/>
                </a:lnTo>
                <a:lnTo>
                  <a:pt x="636" y="298"/>
                </a:lnTo>
                <a:lnTo>
                  <a:pt x="577" y="329"/>
                </a:lnTo>
                <a:lnTo>
                  <a:pt x="577" y="341"/>
                </a:lnTo>
                <a:lnTo>
                  <a:pt x="575" y="354"/>
                </a:lnTo>
                <a:lnTo>
                  <a:pt x="574" y="365"/>
                </a:lnTo>
                <a:lnTo>
                  <a:pt x="571" y="377"/>
                </a:lnTo>
                <a:lnTo>
                  <a:pt x="619" y="421"/>
                </a:lnTo>
                <a:lnTo>
                  <a:pt x="612" y="440"/>
                </a:lnTo>
                <a:lnTo>
                  <a:pt x="603" y="458"/>
                </a:lnTo>
                <a:lnTo>
                  <a:pt x="537" y="456"/>
                </a:lnTo>
                <a:lnTo>
                  <a:pt x="531" y="465"/>
                </a:lnTo>
                <a:lnTo>
                  <a:pt x="524" y="475"/>
                </a:lnTo>
                <a:lnTo>
                  <a:pt x="516" y="484"/>
                </a:lnTo>
                <a:lnTo>
                  <a:pt x="509" y="493"/>
                </a:lnTo>
                <a:lnTo>
                  <a:pt x="528" y="555"/>
                </a:lnTo>
                <a:lnTo>
                  <a:pt x="512" y="569"/>
                </a:lnTo>
                <a:lnTo>
                  <a:pt x="504" y="575"/>
                </a:lnTo>
                <a:lnTo>
                  <a:pt x="495" y="58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Freeform 3"/>
          <p:cNvSpPr>
            <a:spLocks noEditPoints="1"/>
          </p:cNvSpPr>
          <p:nvPr/>
        </p:nvSpPr>
        <p:spPr bwMode="auto">
          <a:xfrm>
            <a:off x="2361923" y="4534637"/>
            <a:ext cx="667804" cy="660366"/>
          </a:xfrm>
          <a:custGeom>
            <a:avLst/>
            <a:gdLst>
              <a:gd name="T0" fmla="*/ 137 w 636"/>
              <a:gd name="T1" fmla="*/ 344 h 633"/>
              <a:gd name="T2" fmla="*/ 146 w 636"/>
              <a:gd name="T3" fmla="*/ 379 h 633"/>
              <a:gd name="T4" fmla="*/ 157 w 636"/>
              <a:gd name="T5" fmla="*/ 404 h 633"/>
              <a:gd name="T6" fmla="*/ 177 w 636"/>
              <a:gd name="T7" fmla="*/ 432 h 633"/>
              <a:gd name="T8" fmla="*/ 202 w 636"/>
              <a:gd name="T9" fmla="*/ 457 h 633"/>
              <a:gd name="T10" fmla="*/ 231 w 636"/>
              <a:gd name="T11" fmla="*/ 477 h 633"/>
              <a:gd name="T12" fmla="*/ 272 w 636"/>
              <a:gd name="T13" fmla="*/ 493 h 633"/>
              <a:gd name="T14" fmla="*/ 308 w 636"/>
              <a:gd name="T15" fmla="*/ 498 h 633"/>
              <a:gd name="T16" fmla="*/ 346 w 636"/>
              <a:gd name="T17" fmla="*/ 496 h 633"/>
              <a:gd name="T18" fmla="*/ 381 w 636"/>
              <a:gd name="T19" fmla="*/ 487 h 633"/>
              <a:gd name="T20" fmla="*/ 405 w 636"/>
              <a:gd name="T21" fmla="*/ 477 h 633"/>
              <a:gd name="T22" fmla="*/ 434 w 636"/>
              <a:gd name="T23" fmla="*/ 457 h 633"/>
              <a:gd name="T24" fmla="*/ 460 w 636"/>
              <a:gd name="T25" fmla="*/ 432 h 633"/>
              <a:gd name="T26" fmla="*/ 479 w 636"/>
              <a:gd name="T27" fmla="*/ 404 h 633"/>
              <a:gd name="T28" fmla="*/ 495 w 636"/>
              <a:gd name="T29" fmla="*/ 362 h 633"/>
              <a:gd name="T30" fmla="*/ 501 w 636"/>
              <a:gd name="T31" fmla="*/ 325 h 633"/>
              <a:gd name="T32" fmla="*/ 499 w 636"/>
              <a:gd name="T33" fmla="*/ 288 h 633"/>
              <a:gd name="T34" fmla="*/ 490 w 636"/>
              <a:gd name="T35" fmla="*/ 254 h 633"/>
              <a:gd name="T36" fmla="*/ 479 w 636"/>
              <a:gd name="T37" fmla="*/ 230 h 633"/>
              <a:gd name="T38" fmla="*/ 460 w 636"/>
              <a:gd name="T39" fmla="*/ 201 h 633"/>
              <a:gd name="T40" fmla="*/ 434 w 636"/>
              <a:gd name="T41" fmla="*/ 176 h 633"/>
              <a:gd name="T42" fmla="*/ 405 w 636"/>
              <a:gd name="T43" fmla="*/ 157 h 633"/>
              <a:gd name="T44" fmla="*/ 364 w 636"/>
              <a:gd name="T45" fmla="*/ 139 h 633"/>
              <a:gd name="T46" fmla="*/ 328 w 636"/>
              <a:gd name="T47" fmla="*/ 134 h 633"/>
              <a:gd name="T48" fmla="*/ 290 w 636"/>
              <a:gd name="T49" fmla="*/ 136 h 633"/>
              <a:gd name="T50" fmla="*/ 255 w 636"/>
              <a:gd name="T51" fmla="*/ 145 h 633"/>
              <a:gd name="T52" fmla="*/ 231 w 636"/>
              <a:gd name="T53" fmla="*/ 157 h 633"/>
              <a:gd name="T54" fmla="*/ 202 w 636"/>
              <a:gd name="T55" fmla="*/ 176 h 633"/>
              <a:gd name="T56" fmla="*/ 177 w 636"/>
              <a:gd name="T57" fmla="*/ 201 h 633"/>
              <a:gd name="T58" fmla="*/ 157 w 636"/>
              <a:gd name="T59" fmla="*/ 230 h 633"/>
              <a:gd name="T60" fmla="*/ 141 w 636"/>
              <a:gd name="T61" fmla="*/ 271 h 633"/>
              <a:gd name="T62" fmla="*/ 135 w 636"/>
              <a:gd name="T63" fmla="*/ 307 h 633"/>
              <a:gd name="T64" fmla="*/ 429 w 636"/>
              <a:gd name="T65" fmla="*/ 551 h 633"/>
              <a:gd name="T66" fmla="*/ 382 w 636"/>
              <a:gd name="T67" fmla="*/ 628 h 633"/>
              <a:gd name="T68" fmla="*/ 299 w 636"/>
              <a:gd name="T69" fmla="*/ 575 h 633"/>
              <a:gd name="T70" fmla="*/ 219 w 636"/>
              <a:gd name="T71" fmla="*/ 618 h 633"/>
              <a:gd name="T72" fmla="*/ 184 w 636"/>
              <a:gd name="T73" fmla="*/ 536 h 633"/>
              <a:gd name="T74" fmla="*/ 146 w 636"/>
              <a:gd name="T75" fmla="*/ 507 h 633"/>
              <a:gd name="T76" fmla="*/ 94 w 636"/>
              <a:gd name="T77" fmla="*/ 440 h 633"/>
              <a:gd name="T78" fmla="*/ 75 w 636"/>
              <a:gd name="T79" fmla="*/ 395 h 633"/>
              <a:gd name="T80" fmla="*/ 64 w 636"/>
              <a:gd name="T81" fmla="*/ 311 h 633"/>
              <a:gd name="T82" fmla="*/ 70 w 636"/>
              <a:gd name="T83" fmla="*/ 262 h 633"/>
              <a:gd name="T84" fmla="*/ 102 w 636"/>
              <a:gd name="T85" fmla="*/ 184 h 633"/>
              <a:gd name="T86" fmla="*/ 132 w 636"/>
              <a:gd name="T87" fmla="*/ 144 h 633"/>
              <a:gd name="T88" fmla="*/ 200 w 636"/>
              <a:gd name="T89" fmla="*/ 93 h 633"/>
              <a:gd name="T90" fmla="*/ 246 w 636"/>
              <a:gd name="T91" fmla="*/ 74 h 633"/>
              <a:gd name="T92" fmla="*/ 296 w 636"/>
              <a:gd name="T93" fmla="*/ 0 h 633"/>
              <a:gd name="T94" fmla="*/ 367 w 636"/>
              <a:gd name="T95" fmla="*/ 67 h 633"/>
              <a:gd name="T96" fmla="*/ 444 w 636"/>
              <a:gd name="T97" fmla="*/ 25 h 633"/>
              <a:gd name="T98" fmla="*/ 478 w 636"/>
              <a:gd name="T99" fmla="*/ 116 h 633"/>
              <a:gd name="T100" fmla="*/ 574 w 636"/>
              <a:gd name="T101" fmla="*/ 126 h 633"/>
              <a:gd name="T102" fmla="*/ 550 w 636"/>
              <a:gd name="T103" fmla="*/ 205 h 633"/>
              <a:gd name="T104" fmla="*/ 567 w 636"/>
              <a:gd name="T105" fmla="*/ 245 h 633"/>
              <a:gd name="T106" fmla="*/ 577 w 636"/>
              <a:gd name="T107" fmla="*/ 329 h 633"/>
              <a:gd name="T108" fmla="*/ 571 w 636"/>
              <a:gd name="T109" fmla="*/ 377 h 633"/>
              <a:gd name="T110" fmla="*/ 537 w 636"/>
              <a:gd name="T111" fmla="*/ 456 h 633"/>
              <a:gd name="T112" fmla="*/ 509 w 636"/>
              <a:gd name="T113" fmla="*/ 493 h 633"/>
              <a:gd name="T114" fmla="*/ 495 w 636"/>
              <a:gd name="T115" fmla="*/ 581 h 63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636"/>
              <a:gd name="T175" fmla="*/ 0 h 633"/>
              <a:gd name="T176" fmla="*/ 636 w 636"/>
              <a:gd name="T177" fmla="*/ 633 h 633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636" h="633">
                <a:moveTo>
                  <a:pt x="135" y="316"/>
                </a:moveTo>
                <a:lnTo>
                  <a:pt x="135" y="325"/>
                </a:lnTo>
                <a:lnTo>
                  <a:pt x="136" y="335"/>
                </a:lnTo>
                <a:lnTo>
                  <a:pt x="137" y="344"/>
                </a:lnTo>
                <a:lnTo>
                  <a:pt x="139" y="354"/>
                </a:lnTo>
                <a:lnTo>
                  <a:pt x="141" y="362"/>
                </a:lnTo>
                <a:lnTo>
                  <a:pt x="143" y="371"/>
                </a:lnTo>
                <a:lnTo>
                  <a:pt x="146" y="379"/>
                </a:lnTo>
                <a:lnTo>
                  <a:pt x="149" y="388"/>
                </a:lnTo>
                <a:lnTo>
                  <a:pt x="151" y="392"/>
                </a:lnTo>
                <a:lnTo>
                  <a:pt x="153" y="396"/>
                </a:lnTo>
                <a:lnTo>
                  <a:pt x="157" y="404"/>
                </a:lnTo>
                <a:lnTo>
                  <a:pt x="161" y="411"/>
                </a:lnTo>
                <a:lnTo>
                  <a:pt x="166" y="419"/>
                </a:lnTo>
                <a:lnTo>
                  <a:pt x="171" y="426"/>
                </a:lnTo>
                <a:lnTo>
                  <a:pt x="177" y="432"/>
                </a:lnTo>
                <a:lnTo>
                  <a:pt x="182" y="439"/>
                </a:lnTo>
                <a:lnTo>
                  <a:pt x="189" y="445"/>
                </a:lnTo>
                <a:lnTo>
                  <a:pt x="196" y="451"/>
                </a:lnTo>
                <a:lnTo>
                  <a:pt x="202" y="457"/>
                </a:lnTo>
                <a:lnTo>
                  <a:pt x="209" y="462"/>
                </a:lnTo>
                <a:lnTo>
                  <a:pt x="216" y="468"/>
                </a:lnTo>
                <a:lnTo>
                  <a:pt x="223" y="472"/>
                </a:lnTo>
                <a:lnTo>
                  <a:pt x="231" y="477"/>
                </a:lnTo>
                <a:lnTo>
                  <a:pt x="247" y="484"/>
                </a:lnTo>
                <a:lnTo>
                  <a:pt x="255" y="487"/>
                </a:lnTo>
                <a:lnTo>
                  <a:pt x="264" y="490"/>
                </a:lnTo>
                <a:lnTo>
                  <a:pt x="272" y="493"/>
                </a:lnTo>
                <a:lnTo>
                  <a:pt x="281" y="495"/>
                </a:lnTo>
                <a:lnTo>
                  <a:pt x="290" y="496"/>
                </a:lnTo>
                <a:lnTo>
                  <a:pt x="299" y="498"/>
                </a:lnTo>
                <a:lnTo>
                  <a:pt x="308" y="498"/>
                </a:lnTo>
                <a:lnTo>
                  <a:pt x="319" y="499"/>
                </a:lnTo>
                <a:lnTo>
                  <a:pt x="328" y="498"/>
                </a:lnTo>
                <a:lnTo>
                  <a:pt x="337" y="498"/>
                </a:lnTo>
                <a:lnTo>
                  <a:pt x="346" y="496"/>
                </a:lnTo>
                <a:lnTo>
                  <a:pt x="355" y="495"/>
                </a:lnTo>
                <a:lnTo>
                  <a:pt x="364" y="493"/>
                </a:lnTo>
                <a:lnTo>
                  <a:pt x="372" y="490"/>
                </a:lnTo>
                <a:lnTo>
                  <a:pt x="381" y="487"/>
                </a:lnTo>
                <a:lnTo>
                  <a:pt x="389" y="484"/>
                </a:lnTo>
                <a:lnTo>
                  <a:pt x="393" y="482"/>
                </a:lnTo>
                <a:lnTo>
                  <a:pt x="397" y="481"/>
                </a:lnTo>
                <a:lnTo>
                  <a:pt x="405" y="477"/>
                </a:lnTo>
                <a:lnTo>
                  <a:pt x="413" y="472"/>
                </a:lnTo>
                <a:lnTo>
                  <a:pt x="420" y="468"/>
                </a:lnTo>
                <a:lnTo>
                  <a:pt x="427" y="462"/>
                </a:lnTo>
                <a:lnTo>
                  <a:pt x="434" y="457"/>
                </a:lnTo>
                <a:lnTo>
                  <a:pt x="442" y="451"/>
                </a:lnTo>
                <a:lnTo>
                  <a:pt x="448" y="445"/>
                </a:lnTo>
                <a:lnTo>
                  <a:pt x="454" y="439"/>
                </a:lnTo>
                <a:lnTo>
                  <a:pt x="460" y="432"/>
                </a:lnTo>
                <a:lnTo>
                  <a:pt x="465" y="426"/>
                </a:lnTo>
                <a:lnTo>
                  <a:pt x="470" y="419"/>
                </a:lnTo>
                <a:lnTo>
                  <a:pt x="475" y="411"/>
                </a:lnTo>
                <a:lnTo>
                  <a:pt x="479" y="404"/>
                </a:lnTo>
                <a:lnTo>
                  <a:pt x="487" y="388"/>
                </a:lnTo>
                <a:lnTo>
                  <a:pt x="490" y="379"/>
                </a:lnTo>
                <a:lnTo>
                  <a:pt x="493" y="371"/>
                </a:lnTo>
                <a:lnTo>
                  <a:pt x="495" y="362"/>
                </a:lnTo>
                <a:lnTo>
                  <a:pt x="497" y="354"/>
                </a:lnTo>
                <a:lnTo>
                  <a:pt x="499" y="344"/>
                </a:lnTo>
                <a:lnTo>
                  <a:pt x="500" y="335"/>
                </a:lnTo>
                <a:lnTo>
                  <a:pt x="501" y="325"/>
                </a:lnTo>
                <a:lnTo>
                  <a:pt x="501" y="316"/>
                </a:lnTo>
                <a:lnTo>
                  <a:pt x="501" y="307"/>
                </a:lnTo>
                <a:lnTo>
                  <a:pt x="500" y="298"/>
                </a:lnTo>
                <a:lnTo>
                  <a:pt x="499" y="288"/>
                </a:lnTo>
                <a:lnTo>
                  <a:pt x="497" y="279"/>
                </a:lnTo>
                <a:lnTo>
                  <a:pt x="495" y="271"/>
                </a:lnTo>
                <a:lnTo>
                  <a:pt x="493" y="262"/>
                </a:lnTo>
                <a:lnTo>
                  <a:pt x="490" y="254"/>
                </a:lnTo>
                <a:lnTo>
                  <a:pt x="487" y="245"/>
                </a:lnTo>
                <a:lnTo>
                  <a:pt x="485" y="241"/>
                </a:lnTo>
                <a:lnTo>
                  <a:pt x="483" y="237"/>
                </a:lnTo>
                <a:lnTo>
                  <a:pt x="479" y="230"/>
                </a:lnTo>
                <a:lnTo>
                  <a:pt x="475" y="222"/>
                </a:lnTo>
                <a:lnTo>
                  <a:pt x="470" y="215"/>
                </a:lnTo>
                <a:lnTo>
                  <a:pt x="465" y="207"/>
                </a:lnTo>
                <a:lnTo>
                  <a:pt x="460" y="201"/>
                </a:lnTo>
                <a:lnTo>
                  <a:pt x="454" y="194"/>
                </a:lnTo>
                <a:lnTo>
                  <a:pt x="448" y="188"/>
                </a:lnTo>
                <a:lnTo>
                  <a:pt x="442" y="182"/>
                </a:lnTo>
                <a:lnTo>
                  <a:pt x="434" y="176"/>
                </a:lnTo>
                <a:lnTo>
                  <a:pt x="427" y="171"/>
                </a:lnTo>
                <a:lnTo>
                  <a:pt x="420" y="166"/>
                </a:lnTo>
                <a:lnTo>
                  <a:pt x="413" y="161"/>
                </a:lnTo>
                <a:lnTo>
                  <a:pt x="405" y="157"/>
                </a:lnTo>
                <a:lnTo>
                  <a:pt x="389" y="148"/>
                </a:lnTo>
                <a:lnTo>
                  <a:pt x="381" y="145"/>
                </a:lnTo>
                <a:lnTo>
                  <a:pt x="372" y="142"/>
                </a:lnTo>
                <a:lnTo>
                  <a:pt x="364" y="139"/>
                </a:lnTo>
                <a:lnTo>
                  <a:pt x="355" y="137"/>
                </a:lnTo>
                <a:lnTo>
                  <a:pt x="346" y="136"/>
                </a:lnTo>
                <a:lnTo>
                  <a:pt x="337" y="135"/>
                </a:lnTo>
                <a:lnTo>
                  <a:pt x="328" y="134"/>
                </a:lnTo>
                <a:lnTo>
                  <a:pt x="319" y="134"/>
                </a:lnTo>
                <a:lnTo>
                  <a:pt x="308" y="134"/>
                </a:lnTo>
                <a:lnTo>
                  <a:pt x="299" y="135"/>
                </a:lnTo>
                <a:lnTo>
                  <a:pt x="290" y="136"/>
                </a:lnTo>
                <a:lnTo>
                  <a:pt x="281" y="137"/>
                </a:lnTo>
                <a:lnTo>
                  <a:pt x="272" y="139"/>
                </a:lnTo>
                <a:lnTo>
                  <a:pt x="264" y="142"/>
                </a:lnTo>
                <a:lnTo>
                  <a:pt x="255" y="145"/>
                </a:lnTo>
                <a:lnTo>
                  <a:pt x="247" y="148"/>
                </a:lnTo>
                <a:lnTo>
                  <a:pt x="243" y="150"/>
                </a:lnTo>
                <a:lnTo>
                  <a:pt x="239" y="153"/>
                </a:lnTo>
                <a:lnTo>
                  <a:pt x="231" y="157"/>
                </a:lnTo>
                <a:lnTo>
                  <a:pt x="223" y="161"/>
                </a:lnTo>
                <a:lnTo>
                  <a:pt x="216" y="166"/>
                </a:lnTo>
                <a:lnTo>
                  <a:pt x="209" y="171"/>
                </a:lnTo>
                <a:lnTo>
                  <a:pt x="202" y="176"/>
                </a:lnTo>
                <a:lnTo>
                  <a:pt x="196" y="182"/>
                </a:lnTo>
                <a:lnTo>
                  <a:pt x="189" y="188"/>
                </a:lnTo>
                <a:lnTo>
                  <a:pt x="182" y="194"/>
                </a:lnTo>
                <a:lnTo>
                  <a:pt x="177" y="201"/>
                </a:lnTo>
                <a:lnTo>
                  <a:pt x="171" y="207"/>
                </a:lnTo>
                <a:lnTo>
                  <a:pt x="166" y="215"/>
                </a:lnTo>
                <a:lnTo>
                  <a:pt x="161" y="222"/>
                </a:lnTo>
                <a:lnTo>
                  <a:pt x="157" y="230"/>
                </a:lnTo>
                <a:lnTo>
                  <a:pt x="149" y="245"/>
                </a:lnTo>
                <a:lnTo>
                  <a:pt x="146" y="254"/>
                </a:lnTo>
                <a:lnTo>
                  <a:pt x="143" y="262"/>
                </a:lnTo>
                <a:lnTo>
                  <a:pt x="141" y="271"/>
                </a:lnTo>
                <a:lnTo>
                  <a:pt x="139" y="279"/>
                </a:lnTo>
                <a:lnTo>
                  <a:pt x="137" y="288"/>
                </a:lnTo>
                <a:lnTo>
                  <a:pt x="136" y="298"/>
                </a:lnTo>
                <a:lnTo>
                  <a:pt x="135" y="307"/>
                </a:lnTo>
                <a:lnTo>
                  <a:pt x="135" y="316"/>
                </a:lnTo>
                <a:close/>
                <a:moveTo>
                  <a:pt x="495" y="581"/>
                </a:moveTo>
                <a:lnTo>
                  <a:pt x="441" y="545"/>
                </a:lnTo>
                <a:lnTo>
                  <a:pt x="429" y="551"/>
                </a:lnTo>
                <a:lnTo>
                  <a:pt x="419" y="556"/>
                </a:lnTo>
                <a:lnTo>
                  <a:pt x="408" y="560"/>
                </a:lnTo>
                <a:lnTo>
                  <a:pt x="396" y="564"/>
                </a:lnTo>
                <a:lnTo>
                  <a:pt x="382" y="628"/>
                </a:lnTo>
                <a:lnTo>
                  <a:pt x="362" y="631"/>
                </a:lnTo>
                <a:lnTo>
                  <a:pt x="342" y="633"/>
                </a:lnTo>
                <a:lnTo>
                  <a:pt x="311" y="575"/>
                </a:lnTo>
                <a:lnTo>
                  <a:pt x="299" y="575"/>
                </a:lnTo>
                <a:lnTo>
                  <a:pt x="287" y="573"/>
                </a:lnTo>
                <a:lnTo>
                  <a:pt x="275" y="572"/>
                </a:lnTo>
                <a:lnTo>
                  <a:pt x="263" y="569"/>
                </a:lnTo>
                <a:lnTo>
                  <a:pt x="219" y="618"/>
                </a:lnTo>
                <a:lnTo>
                  <a:pt x="209" y="615"/>
                </a:lnTo>
                <a:lnTo>
                  <a:pt x="200" y="612"/>
                </a:lnTo>
                <a:lnTo>
                  <a:pt x="181" y="604"/>
                </a:lnTo>
                <a:lnTo>
                  <a:pt x="184" y="536"/>
                </a:lnTo>
                <a:lnTo>
                  <a:pt x="174" y="530"/>
                </a:lnTo>
                <a:lnTo>
                  <a:pt x="164" y="522"/>
                </a:lnTo>
                <a:lnTo>
                  <a:pt x="155" y="515"/>
                </a:lnTo>
                <a:lnTo>
                  <a:pt x="146" y="507"/>
                </a:lnTo>
                <a:lnTo>
                  <a:pt x="80" y="527"/>
                </a:lnTo>
                <a:lnTo>
                  <a:pt x="68" y="513"/>
                </a:lnTo>
                <a:lnTo>
                  <a:pt x="56" y="498"/>
                </a:lnTo>
                <a:lnTo>
                  <a:pt x="94" y="440"/>
                </a:lnTo>
                <a:lnTo>
                  <a:pt x="89" y="429"/>
                </a:lnTo>
                <a:lnTo>
                  <a:pt x="84" y="418"/>
                </a:lnTo>
                <a:lnTo>
                  <a:pt x="79" y="407"/>
                </a:lnTo>
                <a:lnTo>
                  <a:pt x="75" y="395"/>
                </a:lnTo>
                <a:lnTo>
                  <a:pt x="5" y="380"/>
                </a:lnTo>
                <a:lnTo>
                  <a:pt x="2" y="362"/>
                </a:lnTo>
                <a:lnTo>
                  <a:pt x="0" y="343"/>
                </a:lnTo>
                <a:lnTo>
                  <a:pt x="64" y="311"/>
                </a:lnTo>
                <a:lnTo>
                  <a:pt x="65" y="298"/>
                </a:lnTo>
                <a:lnTo>
                  <a:pt x="66" y="286"/>
                </a:lnTo>
                <a:lnTo>
                  <a:pt x="68" y="274"/>
                </a:lnTo>
                <a:lnTo>
                  <a:pt x="70" y="262"/>
                </a:lnTo>
                <a:lnTo>
                  <a:pt x="16" y="213"/>
                </a:lnTo>
                <a:lnTo>
                  <a:pt x="23" y="197"/>
                </a:lnTo>
                <a:lnTo>
                  <a:pt x="30" y="181"/>
                </a:lnTo>
                <a:lnTo>
                  <a:pt x="102" y="184"/>
                </a:lnTo>
                <a:lnTo>
                  <a:pt x="109" y="174"/>
                </a:lnTo>
                <a:lnTo>
                  <a:pt x="116" y="164"/>
                </a:lnTo>
                <a:lnTo>
                  <a:pt x="124" y="154"/>
                </a:lnTo>
                <a:lnTo>
                  <a:pt x="132" y="144"/>
                </a:lnTo>
                <a:lnTo>
                  <a:pt x="111" y="75"/>
                </a:lnTo>
                <a:lnTo>
                  <a:pt x="124" y="64"/>
                </a:lnTo>
                <a:lnTo>
                  <a:pt x="138" y="54"/>
                </a:lnTo>
                <a:lnTo>
                  <a:pt x="200" y="93"/>
                </a:lnTo>
                <a:lnTo>
                  <a:pt x="211" y="87"/>
                </a:lnTo>
                <a:lnTo>
                  <a:pt x="222" y="82"/>
                </a:lnTo>
                <a:lnTo>
                  <a:pt x="234" y="78"/>
                </a:lnTo>
                <a:lnTo>
                  <a:pt x="246" y="74"/>
                </a:lnTo>
                <a:lnTo>
                  <a:pt x="261" y="4"/>
                </a:lnTo>
                <a:lnTo>
                  <a:pt x="270" y="3"/>
                </a:lnTo>
                <a:lnTo>
                  <a:pt x="279" y="1"/>
                </a:lnTo>
                <a:lnTo>
                  <a:pt x="296" y="0"/>
                </a:lnTo>
                <a:lnTo>
                  <a:pt x="330" y="63"/>
                </a:lnTo>
                <a:lnTo>
                  <a:pt x="343" y="64"/>
                </a:lnTo>
                <a:lnTo>
                  <a:pt x="355" y="65"/>
                </a:lnTo>
                <a:lnTo>
                  <a:pt x="367" y="67"/>
                </a:lnTo>
                <a:lnTo>
                  <a:pt x="379" y="69"/>
                </a:lnTo>
                <a:lnTo>
                  <a:pt x="426" y="18"/>
                </a:lnTo>
                <a:lnTo>
                  <a:pt x="435" y="21"/>
                </a:lnTo>
                <a:lnTo>
                  <a:pt x="444" y="25"/>
                </a:lnTo>
                <a:lnTo>
                  <a:pt x="461" y="32"/>
                </a:lnTo>
                <a:lnTo>
                  <a:pt x="458" y="102"/>
                </a:lnTo>
                <a:lnTo>
                  <a:pt x="468" y="109"/>
                </a:lnTo>
                <a:lnTo>
                  <a:pt x="478" y="116"/>
                </a:lnTo>
                <a:lnTo>
                  <a:pt x="487" y="124"/>
                </a:lnTo>
                <a:lnTo>
                  <a:pt x="496" y="132"/>
                </a:lnTo>
                <a:lnTo>
                  <a:pt x="561" y="111"/>
                </a:lnTo>
                <a:lnTo>
                  <a:pt x="574" y="126"/>
                </a:lnTo>
                <a:lnTo>
                  <a:pt x="579" y="134"/>
                </a:lnTo>
                <a:lnTo>
                  <a:pt x="585" y="142"/>
                </a:lnTo>
                <a:lnTo>
                  <a:pt x="547" y="200"/>
                </a:lnTo>
                <a:lnTo>
                  <a:pt x="550" y="205"/>
                </a:lnTo>
                <a:lnTo>
                  <a:pt x="553" y="211"/>
                </a:lnTo>
                <a:lnTo>
                  <a:pt x="558" y="222"/>
                </a:lnTo>
                <a:lnTo>
                  <a:pt x="562" y="233"/>
                </a:lnTo>
                <a:lnTo>
                  <a:pt x="567" y="245"/>
                </a:lnTo>
                <a:lnTo>
                  <a:pt x="631" y="259"/>
                </a:lnTo>
                <a:lnTo>
                  <a:pt x="634" y="278"/>
                </a:lnTo>
                <a:lnTo>
                  <a:pt x="636" y="298"/>
                </a:lnTo>
                <a:lnTo>
                  <a:pt x="577" y="329"/>
                </a:lnTo>
                <a:lnTo>
                  <a:pt x="577" y="341"/>
                </a:lnTo>
                <a:lnTo>
                  <a:pt x="575" y="354"/>
                </a:lnTo>
                <a:lnTo>
                  <a:pt x="574" y="365"/>
                </a:lnTo>
                <a:lnTo>
                  <a:pt x="571" y="377"/>
                </a:lnTo>
                <a:lnTo>
                  <a:pt x="619" y="421"/>
                </a:lnTo>
                <a:lnTo>
                  <a:pt x="612" y="440"/>
                </a:lnTo>
                <a:lnTo>
                  <a:pt x="603" y="458"/>
                </a:lnTo>
                <a:lnTo>
                  <a:pt x="537" y="456"/>
                </a:lnTo>
                <a:lnTo>
                  <a:pt x="531" y="465"/>
                </a:lnTo>
                <a:lnTo>
                  <a:pt x="524" y="475"/>
                </a:lnTo>
                <a:lnTo>
                  <a:pt x="516" y="484"/>
                </a:lnTo>
                <a:lnTo>
                  <a:pt x="509" y="493"/>
                </a:lnTo>
                <a:lnTo>
                  <a:pt x="528" y="555"/>
                </a:lnTo>
                <a:lnTo>
                  <a:pt x="512" y="569"/>
                </a:lnTo>
                <a:lnTo>
                  <a:pt x="504" y="575"/>
                </a:lnTo>
                <a:lnTo>
                  <a:pt x="495" y="58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矩形 202"/>
          <p:cNvSpPr/>
          <p:nvPr/>
        </p:nvSpPr>
        <p:spPr>
          <a:xfrm>
            <a:off x="2456193" y="4698668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清洗</a:t>
            </a:r>
          </a:p>
        </p:txBody>
      </p:sp>
      <p:sp>
        <p:nvSpPr>
          <p:cNvPr id="204" name="矩形 203"/>
          <p:cNvSpPr/>
          <p:nvPr/>
        </p:nvSpPr>
        <p:spPr>
          <a:xfrm>
            <a:off x="2916833" y="5142719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整合</a:t>
            </a:r>
          </a:p>
        </p:txBody>
      </p:sp>
      <p:sp>
        <p:nvSpPr>
          <p:cNvPr id="205" name="矩形 204"/>
          <p:cNvSpPr/>
          <p:nvPr/>
        </p:nvSpPr>
        <p:spPr>
          <a:xfrm>
            <a:off x="2185140" y="4078070"/>
            <a:ext cx="1531685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标准化</a:t>
            </a:r>
            <a:endParaRPr lang="en-US" altLang="zh-CN" sz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6" name="AutoShape 54"/>
          <p:cNvSpPr>
            <a:spLocks noChangeArrowheads="1"/>
          </p:cNvSpPr>
          <p:nvPr/>
        </p:nvSpPr>
        <p:spPr bwMode="auto">
          <a:xfrm>
            <a:off x="3494592" y="5011582"/>
            <a:ext cx="1835150" cy="531167"/>
          </a:xfrm>
          <a:prstGeom prst="cube">
            <a:avLst>
              <a:gd name="adj" fmla="val 25000"/>
            </a:avLst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监控数据</a:t>
            </a:r>
            <a:endParaRPr lang="zh-CN" altLang="en-US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7" name="AutoShape 51"/>
          <p:cNvSpPr>
            <a:spLocks noChangeArrowheads="1"/>
          </p:cNvSpPr>
          <p:nvPr/>
        </p:nvSpPr>
        <p:spPr bwMode="auto">
          <a:xfrm>
            <a:off x="3506467" y="4552149"/>
            <a:ext cx="689002" cy="583933"/>
          </a:xfrm>
          <a:prstGeom prst="cube">
            <a:avLst>
              <a:gd name="adj" fmla="val 25000"/>
            </a:avLst>
          </a:prstGeom>
          <a:solidFill>
            <a:srgbClr val="00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CI</a:t>
            </a:r>
          </a:p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8" name="AutoShape 51"/>
          <p:cNvSpPr>
            <a:spLocks noChangeArrowheads="1"/>
          </p:cNvSpPr>
          <p:nvPr/>
        </p:nvSpPr>
        <p:spPr bwMode="auto">
          <a:xfrm>
            <a:off x="4086640" y="4552149"/>
            <a:ext cx="689002" cy="583933"/>
          </a:xfrm>
          <a:prstGeom prst="cube">
            <a:avLst>
              <a:gd name="adj" fmla="val 25000"/>
            </a:avLst>
          </a:prstGeom>
          <a:solidFill>
            <a:srgbClr val="00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状态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9" name="AutoShape 51"/>
          <p:cNvSpPr>
            <a:spLocks noChangeArrowheads="1"/>
          </p:cNvSpPr>
          <p:nvPr/>
        </p:nvSpPr>
        <p:spPr bwMode="auto">
          <a:xfrm>
            <a:off x="4658140" y="4552148"/>
            <a:ext cx="689002" cy="583933"/>
          </a:xfrm>
          <a:prstGeom prst="cube">
            <a:avLst>
              <a:gd name="adj" fmla="val 25000"/>
            </a:avLst>
          </a:prstGeom>
          <a:solidFill>
            <a:srgbClr val="00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故障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2" name="椭圆 211"/>
          <p:cNvSpPr/>
          <p:nvPr/>
        </p:nvSpPr>
        <p:spPr>
          <a:xfrm>
            <a:off x="2222164" y="2520025"/>
            <a:ext cx="1219200" cy="360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altLang="zh-CN" sz="1200" b="0" dirty="0" smtClean="0">
                <a:latin typeface="微软雅黑" pitchFamily="34" charset="-122"/>
                <a:ea typeface="微软雅黑" pitchFamily="34" charset="-122"/>
              </a:rPr>
              <a:t>CI</a:t>
            </a:r>
            <a:r>
              <a:rPr lang="zh-CN" altLang="en-US" sz="1200" b="0" dirty="0" smtClean="0">
                <a:latin typeface="微软雅黑" pitchFamily="34" charset="-122"/>
                <a:ea typeface="微软雅黑" pitchFamily="34" charset="-122"/>
              </a:rPr>
              <a:t>状态信息</a:t>
            </a:r>
            <a:endParaRPr lang="zh-CN" altLang="en-US" sz="12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3" name="椭圆 212"/>
          <p:cNvSpPr/>
          <p:nvPr/>
        </p:nvSpPr>
        <p:spPr>
          <a:xfrm>
            <a:off x="3198188" y="2304024"/>
            <a:ext cx="1219200" cy="360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altLang="zh-CN" sz="1200" b="0" dirty="0" smtClean="0">
                <a:latin typeface="微软雅黑" pitchFamily="34" charset="-122"/>
                <a:ea typeface="微软雅黑" pitchFamily="34" charset="-122"/>
              </a:rPr>
              <a:t>CI</a:t>
            </a:r>
            <a:r>
              <a:rPr lang="zh-CN" altLang="en-US" sz="1200" b="0" dirty="0" smtClean="0">
                <a:latin typeface="微软雅黑" pitchFamily="34" charset="-122"/>
                <a:ea typeface="微软雅黑" pitchFamily="34" charset="-122"/>
              </a:rPr>
              <a:t>关系信息</a:t>
            </a:r>
            <a:endParaRPr lang="zh-CN" altLang="en-US" sz="12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4" name="椭圆 213"/>
          <p:cNvSpPr/>
          <p:nvPr/>
        </p:nvSpPr>
        <p:spPr>
          <a:xfrm>
            <a:off x="4206300" y="2520025"/>
            <a:ext cx="1219200" cy="360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故障分类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信息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" name="椭圆 214"/>
          <p:cNvSpPr/>
          <p:nvPr/>
        </p:nvSpPr>
        <p:spPr>
          <a:xfrm>
            <a:off x="4254040" y="2916092"/>
            <a:ext cx="1219200" cy="360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故障状态信息</a:t>
            </a:r>
          </a:p>
        </p:txBody>
      </p:sp>
      <p:sp>
        <p:nvSpPr>
          <p:cNvPr id="216" name="椭圆 215"/>
          <p:cNvSpPr/>
          <p:nvPr/>
        </p:nvSpPr>
        <p:spPr>
          <a:xfrm>
            <a:off x="2209523" y="2916092"/>
            <a:ext cx="1219200" cy="360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lIns="18000" rIns="18000" rtlCol="0" anchor="ctr">
            <a:noAutofit/>
          </a:bodyPr>
          <a:lstStyle/>
          <a:p>
            <a:pPr algn="ctr"/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CI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类型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信息</a:t>
            </a:r>
            <a:endParaRPr lang="zh-CN" altLang="en-US" sz="12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2220840" y="2050796"/>
            <a:ext cx="1228494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数据建模</a:t>
            </a:r>
            <a:endParaRPr lang="en-US" altLang="zh-CN" sz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6" name="椭圆 235"/>
          <p:cNvSpPr/>
          <p:nvPr/>
        </p:nvSpPr>
        <p:spPr>
          <a:xfrm>
            <a:off x="3331352" y="2662429"/>
            <a:ext cx="1086036" cy="78264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lIns="0" rIns="0" rtlCol="0" anchor="ctr">
            <a:noAutofit/>
          </a:bodyPr>
          <a:lstStyle/>
          <a:p>
            <a:pPr algn="ctr"/>
            <a:r>
              <a:rPr lang="zh-CN" altLang="en-US" sz="1200" b="0" dirty="0" smtClean="0">
                <a:latin typeface="微软雅黑" pitchFamily="34" charset="-122"/>
                <a:ea typeface="微软雅黑" pitchFamily="34" charset="-122"/>
              </a:rPr>
              <a:t>资产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(CI)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信息</a:t>
            </a:r>
            <a:endParaRPr lang="zh-CN" altLang="en-US" sz="12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5721807" y="2023874"/>
            <a:ext cx="1228494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指标定义</a:t>
            </a:r>
            <a:endParaRPr lang="en-US" altLang="zh-CN" sz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721807" y="4078070"/>
            <a:ext cx="1228494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数据分析</a:t>
            </a:r>
            <a:endParaRPr lang="en-US" altLang="zh-CN" sz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0" name="流程图: 预定义过程 239"/>
          <p:cNvSpPr/>
          <p:nvPr/>
        </p:nvSpPr>
        <p:spPr>
          <a:xfrm>
            <a:off x="5798173" y="2328979"/>
            <a:ext cx="1206500" cy="369906"/>
          </a:xfrm>
          <a:prstGeom prst="flowChartPredefinedProcess">
            <a:avLst/>
          </a:prstGeom>
          <a:noFill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0" dirty="0" smtClean="0">
                <a:latin typeface="微软雅黑" pitchFamily="34" charset="-122"/>
                <a:ea typeface="微软雅黑" pitchFamily="34" charset="-122"/>
              </a:rPr>
              <a:t>指标</a:t>
            </a:r>
            <a:r>
              <a:rPr lang="en-US" altLang="zh-CN" sz="1100" b="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1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流程图: 预定义过程 240"/>
          <p:cNvSpPr/>
          <p:nvPr/>
        </p:nvSpPr>
        <p:spPr>
          <a:xfrm>
            <a:off x="5798173" y="2761027"/>
            <a:ext cx="1206500" cy="369906"/>
          </a:xfrm>
          <a:prstGeom prst="flowChartPredefinedProcess">
            <a:avLst/>
          </a:prstGeom>
          <a:noFill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0" dirty="0" smtClean="0">
                <a:latin typeface="微软雅黑" pitchFamily="34" charset="-122"/>
                <a:ea typeface="微软雅黑" pitchFamily="34" charset="-122"/>
              </a:rPr>
              <a:t>指标</a:t>
            </a:r>
            <a:r>
              <a:rPr lang="en-US" altLang="zh-CN" sz="1100" b="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1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2" name="流程图: 预定义过程 241"/>
          <p:cNvSpPr/>
          <p:nvPr/>
        </p:nvSpPr>
        <p:spPr>
          <a:xfrm>
            <a:off x="5798173" y="3193075"/>
            <a:ext cx="1206500" cy="369906"/>
          </a:xfrm>
          <a:prstGeom prst="flowChartPredefinedProcess">
            <a:avLst/>
          </a:prstGeom>
          <a:noFill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0" dirty="0" smtClean="0">
                <a:latin typeface="微软雅黑" pitchFamily="34" charset="-122"/>
                <a:ea typeface="微软雅黑" pitchFamily="34" charset="-122"/>
              </a:rPr>
              <a:t>指标</a:t>
            </a:r>
            <a:r>
              <a:rPr lang="en-US" altLang="zh-CN" sz="1100" b="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1100" b="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100" b="0" dirty="0" smtClean="0">
                <a:latin typeface="微软雅黑" pitchFamily="34" charset="-122"/>
                <a:ea typeface="微软雅黑" pitchFamily="34" charset="-122"/>
              </a:rPr>
              <a:t>......</a:t>
            </a:r>
          </a:p>
        </p:txBody>
      </p:sp>
      <p:sp>
        <p:nvSpPr>
          <p:cNvPr id="243" name="矩形 242"/>
          <p:cNvSpPr/>
          <p:nvPr/>
        </p:nvSpPr>
        <p:spPr>
          <a:xfrm>
            <a:off x="5757191" y="4643101"/>
            <a:ext cx="1269757" cy="297020"/>
          </a:xfrm>
          <a:prstGeom prst="rect">
            <a:avLst/>
          </a:prstGeom>
          <a:noFill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0" dirty="0"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zh-CN" altLang="en-US" sz="1100" b="0" dirty="0" smtClean="0">
                <a:solidFill>
                  <a:schemeClr val="dk1"/>
                </a:solidFill>
                <a:latin typeface="微软雅黑" pitchFamily="34" charset="-122"/>
                <a:ea typeface="微软雅黑" pitchFamily="34" charset="-122"/>
              </a:rPr>
              <a:t>维度定义</a:t>
            </a:r>
            <a:endParaRPr lang="zh-CN" altLang="en-US" sz="1100" b="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5757191" y="5219165"/>
            <a:ext cx="1269757" cy="297020"/>
          </a:xfrm>
          <a:prstGeom prst="rect">
            <a:avLst/>
          </a:prstGeom>
          <a:noFill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0" dirty="0" smtClean="0">
                <a:latin typeface="微软雅黑" pitchFamily="34" charset="-122"/>
                <a:ea typeface="微软雅黑" pitchFamily="34" charset="-122"/>
              </a:rPr>
              <a:t>数据统计</a:t>
            </a:r>
            <a:endParaRPr lang="zh-CN" altLang="en-US" sz="1100" b="0" dirty="0">
              <a:solidFill>
                <a:schemeClr val="dk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45" name="直接箭头连接符 244"/>
          <p:cNvCxnSpPr>
            <a:stCxn id="243" idx="2"/>
            <a:endCxn id="244" idx="0"/>
          </p:cNvCxnSpPr>
          <p:nvPr/>
        </p:nvCxnSpPr>
        <p:spPr bwMode="auto">
          <a:xfrm>
            <a:off x="6392070" y="4940121"/>
            <a:ext cx="0" cy="27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2" name="AutoShape 6"/>
          <p:cNvSpPr>
            <a:spLocks noChangeArrowheads="1"/>
          </p:cNvSpPr>
          <p:nvPr/>
        </p:nvSpPr>
        <p:spPr bwMode="auto">
          <a:xfrm>
            <a:off x="6683107" y="5913759"/>
            <a:ext cx="1009650" cy="485775"/>
          </a:xfrm>
          <a:prstGeom prst="chevron">
            <a:avLst>
              <a:gd name="adj" fmla="val 30561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noProof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1200" b="0" kern="0" noProof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noProof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统计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3" name="AutoShape 7"/>
          <p:cNvSpPr>
            <a:spLocks noChangeArrowheads="1"/>
          </p:cNvSpPr>
          <p:nvPr/>
        </p:nvSpPr>
        <p:spPr bwMode="auto">
          <a:xfrm>
            <a:off x="2072635" y="5913759"/>
            <a:ext cx="873425" cy="485775"/>
          </a:xfrm>
          <a:prstGeom prst="chevron">
            <a:avLst>
              <a:gd name="adj" fmla="val 18992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接口</a:t>
            </a:r>
            <a:endParaRPr lang="en-US" altLang="zh-CN" sz="1200" b="0" kern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规范</a:t>
            </a:r>
            <a:endParaRPr lang="zh-CN" altLang="en-US" sz="1200" b="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4" name="AutoShape 9"/>
          <p:cNvSpPr>
            <a:spLocks noChangeArrowheads="1"/>
          </p:cNvSpPr>
          <p:nvPr/>
        </p:nvSpPr>
        <p:spPr bwMode="auto">
          <a:xfrm>
            <a:off x="2766083" y="5913759"/>
            <a:ext cx="1036704" cy="485775"/>
          </a:xfrm>
          <a:prstGeom prst="chevron">
            <a:avLst>
              <a:gd name="adj" fmla="val 27678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1200" b="0" kern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建模</a:t>
            </a:r>
            <a:endParaRPr lang="zh-CN" altLang="en-US" sz="1200" b="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5" name="AutoShape 10"/>
          <p:cNvSpPr>
            <a:spLocks noChangeArrowheads="1"/>
          </p:cNvSpPr>
          <p:nvPr/>
        </p:nvSpPr>
        <p:spPr bwMode="auto">
          <a:xfrm>
            <a:off x="3596110" y="5913759"/>
            <a:ext cx="1072277" cy="485775"/>
          </a:xfrm>
          <a:prstGeom prst="chevron">
            <a:avLst>
              <a:gd name="adj" fmla="val 20914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1200" b="0" kern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清洗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" name="AutoShape 15"/>
          <p:cNvSpPr>
            <a:spLocks noChangeArrowheads="1"/>
          </p:cNvSpPr>
          <p:nvPr/>
        </p:nvSpPr>
        <p:spPr bwMode="auto">
          <a:xfrm>
            <a:off x="6177381" y="5917400"/>
            <a:ext cx="863600" cy="485775"/>
          </a:xfrm>
          <a:prstGeom prst="chevron">
            <a:avLst>
              <a:gd name="adj" fmla="val 20914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noProof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应用维</a:t>
            </a:r>
            <a:endParaRPr lang="en-US" altLang="zh-CN" sz="1200" b="0" kern="0" noProof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noProof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度定义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7" name="AutoShape 16"/>
          <p:cNvSpPr>
            <a:spLocks noChangeArrowheads="1"/>
          </p:cNvSpPr>
          <p:nvPr/>
        </p:nvSpPr>
        <p:spPr bwMode="auto">
          <a:xfrm>
            <a:off x="4452918" y="5917400"/>
            <a:ext cx="1003052" cy="485775"/>
          </a:xfrm>
          <a:prstGeom prst="chevron">
            <a:avLst>
              <a:gd name="adj" fmla="val 20589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1200" b="0" kern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整合</a:t>
            </a:r>
            <a:endParaRPr lang="zh-CN" altLang="en-US" sz="1200" b="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8" name="AutoShape 17"/>
          <p:cNvSpPr>
            <a:spLocks noChangeArrowheads="1"/>
          </p:cNvSpPr>
          <p:nvPr/>
        </p:nvSpPr>
        <p:spPr bwMode="auto">
          <a:xfrm>
            <a:off x="5355564" y="5913759"/>
            <a:ext cx="981075" cy="485775"/>
          </a:xfrm>
          <a:prstGeom prst="chevron">
            <a:avLst>
              <a:gd name="adj" fmla="val 23796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指标</a:t>
            </a:r>
            <a:endParaRPr lang="en-US" altLang="zh-CN" sz="1200" b="0" kern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定义</a:t>
            </a:r>
            <a:endParaRPr lang="zh-CN" altLang="en-US" sz="1200" b="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" name="流程图: 直接访问存储器 258"/>
          <p:cNvSpPr/>
          <p:nvPr/>
        </p:nvSpPr>
        <p:spPr>
          <a:xfrm>
            <a:off x="384940" y="5917400"/>
            <a:ext cx="833163" cy="485775"/>
          </a:xfrm>
          <a:prstGeom prst="flowChartMagneticDrum">
            <a:avLst/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</a:pPr>
            <a:r>
              <a:rPr lang="zh-CN" altLang="en-US" sz="1200" b="0" dirty="0" smtClean="0">
                <a:latin typeface="微软雅黑" pitchFamily="34" charset="-122"/>
                <a:ea typeface="微软雅黑" pitchFamily="34" charset="-122"/>
              </a:rPr>
              <a:t>数据源</a:t>
            </a:r>
            <a:endParaRPr lang="zh-CN" altLang="en-US" sz="1200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0" name="流程图: 多文档 259"/>
          <p:cNvSpPr/>
          <p:nvPr/>
        </p:nvSpPr>
        <p:spPr>
          <a:xfrm>
            <a:off x="7636835" y="5867237"/>
            <a:ext cx="1134504" cy="586099"/>
          </a:xfrm>
          <a:prstGeom prst="flowChartMultidocument">
            <a:avLst/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 algn="ctr" fontAlgn="auto">
              <a:spcBef>
                <a:spcPct val="20000"/>
              </a:spcBef>
              <a:spcAft>
                <a:spcPts val="0"/>
              </a:spcAft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endParaRPr lang="zh-CN" altLang="en-US" sz="1200" b="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1" name="AutoShape 7"/>
          <p:cNvSpPr>
            <a:spLocks noChangeArrowheads="1"/>
          </p:cNvSpPr>
          <p:nvPr/>
        </p:nvSpPr>
        <p:spPr bwMode="auto">
          <a:xfrm>
            <a:off x="1100291" y="5913759"/>
            <a:ext cx="1058863" cy="485775"/>
          </a:xfrm>
          <a:prstGeom prst="chevron">
            <a:avLst>
              <a:gd name="adj" fmla="val 18992"/>
            </a:avLst>
          </a:prstGeom>
          <a:solidFill>
            <a:srgbClr val="99CC00"/>
          </a:solidFill>
          <a:ln w="3175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1200" b="0" kern="0" dirty="0" smtClea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zh-CN" altLang="en-US" sz="1200" b="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抽取</a:t>
            </a:r>
            <a:endParaRPr lang="zh-CN" altLang="en-US" sz="1200" b="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3" name="Freeform 37"/>
          <p:cNvSpPr>
            <a:spLocks/>
          </p:cNvSpPr>
          <p:nvPr/>
        </p:nvSpPr>
        <p:spPr bwMode="auto">
          <a:xfrm rot="5400000">
            <a:off x="1069120" y="4468533"/>
            <a:ext cx="1872000" cy="708064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760" h="2132">
                <a:moveTo>
                  <a:pt x="2880" y="0"/>
                </a:moveTo>
                <a:lnTo>
                  <a:pt x="1837" y="454"/>
                </a:lnTo>
                <a:cubicBezTo>
                  <a:pt x="1837" y="454"/>
                  <a:pt x="2063" y="454"/>
                  <a:pt x="2290" y="454"/>
                </a:cubicBezTo>
                <a:cubicBezTo>
                  <a:pt x="1735" y="1140"/>
                  <a:pt x="0" y="1044"/>
                  <a:pt x="0" y="1044"/>
                </a:cubicBezTo>
                <a:lnTo>
                  <a:pt x="0" y="2132"/>
                </a:lnTo>
                <a:lnTo>
                  <a:pt x="5760" y="2132"/>
                </a:lnTo>
                <a:lnTo>
                  <a:pt x="5760" y="1021"/>
                </a:lnTo>
                <a:cubicBezTo>
                  <a:pt x="5760" y="1021"/>
                  <a:pt x="4283" y="1096"/>
                  <a:pt x="3447" y="454"/>
                </a:cubicBezTo>
                <a:cubicBezTo>
                  <a:pt x="3674" y="454"/>
                  <a:pt x="3901" y="454"/>
                  <a:pt x="3901" y="454"/>
                </a:cubicBezTo>
                <a:lnTo>
                  <a:pt x="2880" y="0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vert270" wrap="none" anchor="ctr"/>
          <a:lstStyle/>
          <a:p>
            <a:pPr algn="ctr"/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07115" y="4423720"/>
            <a:ext cx="2667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数据抽取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528" y="2019834"/>
            <a:ext cx="1306128" cy="37397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8" name="矩形 487"/>
          <p:cNvSpPr/>
          <p:nvPr/>
        </p:nvSpPr>
        <p:spPr>
          <a:xfrm>
            <a:off x="428933" y="2158373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网络安全设备</a:t>
            </a:r>
          </a:p>
        </p:txBody>
      </p:sp>
      <p:sp>
        <p:nvSpPr>
          <p:cNvPr id="489" name="矩形 488"/>
          <p:cNvSpPr/>
          <p:nvPr/>
        </p:nvSpPr>
        <p:spPr>
          <a:xfrm>
            <a:off x="428933" y="2678834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</a:p>
        </p:txBody>
      </p:sp>
      <p:sp>
        <p:nvSpPr>
          <p:cNvPr id="490" name="矩形 489"/>
          <p:cNvSpPr/>
          <p:nvPr/>
        </p:nvSpPr>
        <p:spPr>
          <a:xfrm>
            <a:off x="428933" y="3199295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</a:p>
        </p:txBody>
      </p:sp>
      <p:sp>
        <p:nvSpPr>
          <p:cNvPr id="491" name="矩形 490"/>
          <p:cNvSpPr/>
          <p:nvPr/>
        </p:nvSpPr>
        <p:spPr>
          <a:xfrm>
            <a:off x="428933" y="3719756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</a:p>
        </p:txBody>
      </p:sp>
      <p:sp>
        <p:nvSpPr>
          <p:cNvPr id="492" name="矩形 491"/>
          <p:cNvSpPr/>
          <p:nvPr/>
        </p:nvSpPr>
        <p:spPr>
          <a:xfrm>
            <a:off x="428933" y="4240217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中间件</a:t>
            </a:r>
          </a:p>
        </p:txBody>
      </p:sp>
      <p:sp>
        <p:nvSpPr>
          <p:cNvPr id="493" name="矩形 492"/>
          <p:cNvSpPr/>
          <p:nvPr/>
        </p:nvSpPr>
        <p:spPr>
          <a:xfrm>
            <a:off x="428933" y="5281139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  <p:sp>
        <p:nvSpPr>
          <p:cNvPr id="502" name="矩形 501"/>
          <p:cNvSpPr/>
          <p:nvPr/>
        </p:nvSpPr>
        <p:spPr>
          <a:xfrm>
            <a:off x="428933" y="4760678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机房环境</a:t>
            </a:r>
          </a:p>
        </p:txBody>
      </p:sp>
      <p:sp>
        <p:nvSpPr>
          <p:cNvPr id="5" name="矩形 4"/>
          <p:cNvSpPr/>
          <p:nvPr/>
        </p:nvSpPr>
        <p:spPr>
          <a:xfrm>
            <a:off x="2509347" y="3283456"/>
            <a:ext cx="583493" cy="307777"/>
          </a:xfrm>
          <a:prstGeom prst="rect">
            <a:avLst/>
          </a:prstGeom>
        </p:spPr>
        <p:txBody>
          <a:bodyPr wrap="none" lIns="0" rIns="0" anchor="ctr" anchorCtr="0">
            <a:spAutoFit/>
          </a:bodyPr>
          <a:lstStyle/>
          <a:p>
            <a:pPr algn="ctr"/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…………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7" name="Freeform 37"/>
          <p:cNvSpPr>
            <a:spLocks/>
          </p:cNvSpPr>
          <p:nvPr/>
        </p:nvSpPr>
        <p:spPr bwMode="auto">
          <a:xfrm rot="5400000">
            <a:off x="1069120" y="2600014"/>
            <a:ext cx="1872000" cy="708064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760" h="2132">
                <a:moveTo>
                  <a:pt x="2880" y="0"/>
                </a:moveTo>
                <a:lnTo>
                  <a:pt x="1837" y="454"/>
                </a:lnTo>
                <a:cubicBezTo>
                  <a:pt x="1837" y="454"/>
                  <a:pt x="2063" y="454"/>
                  <a:pt x="2290" y="454"/>
                </a:cubicBezTo>
                <a:cubicBezTo>
                  <a:pt x="1735" y="1140"/>
                  <a:pt x="0" y="1044"/>
                  <a:pt x="0" y="1044"/>
                </a:cubicBezTo>
                <a:lnTo>
                  <a:pt x="0" y="2132"/>
                </a:lnTo>
                <a:lnTo>
                  <a:pt x="5760" y="2132"/>
                </a:lnTo>
                <a:lnTo>
                  <a:pt x="5760" y="1021"/>
                </a:lnTo>
                <a:cubicBezTo>
                  <a:pt x="5760" y="1021"/>
                  <a:pt x="4283" y="1096"/>
                  <a:pt x="3447" y="454"/>
                </a:cubicBezTo>
                <a:cubicBezTo>
                  <a:pt x="3674" y="454"/>
                  <a:pt x="3901" y="454"/>
                  <a:pt x="3901" y="454"/>
                </a:cubicBezTo>
                <a:lnTo>
                  <a:pt x="2880" y="0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vert270" wrap="none" anchor="ctr"/>
          <a:lstStyle/>
          <a:p>
            <a:pPr algn="ctr"/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6" name="棱台 245"/>
          <p:cNvSpPr/>
          <p:nvPr/>
        </p:nvSpPr>
        <p:spPr>
          <a:xfrm>
            <a:off x="1671077" y="2019834"/>
            <a:ext cx="261656" cy="3724628"/>
          </a:xfrm>
          <a:prstGeom prst="bevel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6200000" scaled="0"/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统一数据接口规范</a:t>
            </a:r>
            <a:endParaRPr lang="zh-CN" altLang="en-US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8" name="矩形 507"/>
          <p:cNvSpPr/>
          <p:nvPr/>
        </p:nvSpPr>
        <p:spPr>
          <a:xfrm>
            <a:off x="1889023" y="2524554"/>
            <a:ext cx="2667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数据规范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509" name="KSO_Shape"/>
          <p:cNvSpPr>
            <a:spLocks/>
          </p:cNvSpPr>
          <p:nvPr/>
        </p:nvSpPr>
        <p:spPr bwMode="auto">
          <a:xfrm rot="5400000">
            <a:off x="3645358" y="3600377"/>
            <a:ext cx="302587" cy="486718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rgbClr val="7030A0"/>
              </a:gs>
            </a:gsLst>
            <a:lin ang="5400000" scaled="1"/>
          </a:gradFill>
          <a:ln w="9525">
            <a:noFill/>
            <a:round/>
            <a:headEnd/>
            <a:tailEnd/>
          </a:ln>
          <a:extLst/>
        </p:spPr>
        <p:txBody>
          <a:bodyPr vert="vert270" wrap="none" anchor="ctr"/>
          <a:lstStyle/>
          <a:p>
            <a:pPr algn="ctr"/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0" name="KSO_Shape"/>
          <p:cNvSpPr>
            <a:spLocks/>
          </p:cNvSpPr>
          <p:nvPr/>
        </p:nvSpPr>
        <p:spPr bwMode="auto">
          <a:xfrm rot="5400000">
            <a:off x="6254983" y="3644673"/>
            <a:ext cx="302587" cy="486718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rgbClr val="7030A0"/>
              </a:gs>
            </a:gsLst>
            <a:lin ang="5400000" scaled="1"/>
          </a:gradFill>
          <a:ln w="9525">
            <a:noFill/>
            <a:round/>
            <a:headEnd/>
            <a:tailEnd/>
          </a:ln>
          <a:extLst/>
        </p:spPr>
        <p:txBody>
          <a:bodyPr vert="vert270" wrap="none" anchor="ctr"/>
          <a:lstStyle/>
          <a:p>
            <a:pPr algn="ctr"/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1" name="KSO_Shape"/>
          <p:cNvSpPr>
            <a:spLocks/>
          </p:cNvSpPr>
          <p:nvPr/>
        </p:nvSpPr>
        <p:spPr bwMode="auto">
          <a:xfrm>
            <a:off x="5453021" y="4708285"/>
            <a:ext cx="302587" cy="486718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rgbClr val="7030A0"/>
              </a:gs>
            </a:gsLst>
            <a:lin ang="5400000" scaled="1"/>
          </a:gradFill>
          <a:ln w="9525">
            <a:noFill/>
            <a:round/>
            <a:headEnd/>
            <a:tailEnd/>
          </a:ln>
          <a:extLst/>
        </p:spPr>
        <p:txBody>
          <a:bodyPr vert="vert270" wrap="none" anchor="ctr"/>
          <a:lstStyle/>
          <a:p>
            <a:pPr algn="ctr"/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" name="KSO_Shape"/>
          <p:cNvSpPr>
            <a:spLocks/>
          </p:cNvSpPr>
          <p:nvPr/>
        </p:nvSpPr>
        <p:spPr bwMode="auto">
          <a:xfrm>
            <a:off x="7110871" y="4300399"/>
            <a:ext cx="302587" cy="486718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rgbClr val="7030A0"/>
              </a:gs>
            </a:gsLst>
            <a:lin ang="5400000" scaled="1"/>
          </a:gradFill>
          <a:ln w="9525">
            <a:noFill/>
            <a:round/>
            <a:headEnd/>
            <a:tailEnd/>
          </a:ln>
          <a:extLst/>
        </p:spPr>
        <p:txBody>
          <a:bodyPr vert="vert270" wrap="none" anchor="ctr"/>
          <a:lstStyle/>
          <a:p>
            <a:pPr algn="ctr"/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06208" y="2194829"/>
            <a:ext cx="4924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看</a:t>
            </a:r>
            <a:r>
              <a:rPr kumimoji="1" lang="zh-CN" altLang="en-US" sz="1200" dirty="0">
                <a:latin typeface="微软雅黑" pitchFamily="34" charset="-122"/>
                <a:ea typeface="微软雅黑" pitchFamily="34" charset="-122"/>
              </a:rPr>
              <a:t>板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2500915"/>
            <a:ext cx="432000" cy="432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4403939"/>
            <a:ext cx="432000" cy="432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2964257"/>
            <a:ext cx="432000" cy="432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3427599"/>
            <a:ext cx="432000" cy="432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2122821"/>
            <a:ext cx="432000" cy="346752"/>
          </a:xfrm>
          <a:prstGeom prst="rect">
            <a:avLst/>
          </a:prstGeom>
        </p:spPr>
      </p:pic>
      <p:sp>
        <p:nvSpPr>
          <p:cNvPr id="518" name="矩形 517"/>
          <p:cNvSpPr/>
          <p:nvPr/>
        </p:nvSpPr>
        <p:spPr>
          <a:xfrm>
            <a:off x="7606208" y="2638740"/>
            <a:ext cx="4924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查询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9" name="矩形 518"/>
          <p:cNvSpPr/>
          <p:nvPr/>
        </p:nvSpPr>
        <p:spPr>
          <a:xfrm>
            <a:off x="7606208" y="3082651"/>
            <a:ext cx="4924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预警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0" name="矩形 519"/>
          <p:cNvSpPr/>
          <p:nvPr/>
        </p:nvSpPr>
        <p:spPr>
          <a:xfrm>
            <a:off x="7606208" y="3526562"/>
            <a:ext cx="4924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告警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3" name="矩形 522"/>
          <p:cNvSpPr/>
          <p:nvPr/>
        </p:nvSpPr>
        <p:spPr>
          <a:xfrm>
            <a:off x="7452321" y="3970473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发现问题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3890941"/>
            <a:ext cx="432000" cy="481656"/>
          </a:xfrm>
          <a:prstGeom prst="rect">
            <a:avLst/>
          </a:prstGeom>
        </p:spPr>
      </p:pic>
      <p:sp>
        <p:nvSpPr>
          <p:cNvPr id="524" name="矩形 523"/>
          <p:cNvSpPr/>
          <p:nvPr/>
        </p:nvSpPr>
        <p:spPr>
          <a:xfrm>
            <a:off x="7452321" y="4414384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故障定</a:t>
            </a:r>
            <a:r>
              <a:rPr kumimoji="1" lang="zh-CN" altLang="en-US" sz="1200" dirty="0">
                <a:latin typeface="微软雅黑" pitchFamily="34" charset="-122"/>
                <a:ea typeface="微软雅黑" pitchFamily="34" charset="-122"/>
              </a:rPr>
              <a:t>位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25" name="图片 5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18132" y="4867281"/>
            <a:ext cx="432000" cy="320544"/>
          </a:xfrm>
          <a:prstGeom prst="rect">
            <a:avLst/>
          </a:prstGeom>
        </p:spPr>
      </p:pic>
      <p:sp>
        <p:nvSpPr>
          <p:cNvPr id="526" name="矩形 525"/>
          <p:cNvSpPr/>
          <p:nvPr/>
        </p:nvSpPr>
        <p:spPr>
          <a:xfrm>
            <a:off x="7452321" y="4858295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统计分析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18778" y="5219165"/>
            <a:ext cx="230708" cy="432000"/>
          </a:xfrm>
          <a:prstGeom prst="rect">
            <a:avLst/>
          </a:prstGeom>
        </p:spPr>
      </p:pic>
      <p:sp>
        <p:nvSpPr>
          <p:cNvPr id="527" name="矩形 526"/>
          <p:cNvSpPr/>
          <p:nvPr/>
        </p:nvSpPr>
        <p:spPr>
          <a:xfrm>
            <a:off x="7452321" y="5302206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kumimoji="1" lang="zh-CN" altLang="en-US" sz="1200" dirty="0" smtClean="0">
                <a:latin typeface="微软雅黑" pitchFamily="34" charset="-122"/>
                <a:ea typeface="微软雅黑" pitchFamily="34" charset="-122"/>
              </a:rPr>
              <a:t>主动服务</a:t>
            </a:r>
            <a:endParaRPr kumimoji="1"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8" name="Rectangle 3"/>
          <p:cNvSpPr txBox="1">
            <a:spLocks noChangeArrowheads="1"/>
          </p:cNvSpPr>
          <p:nvPr/>
        </p:nvSpPr>
        <p:spPr>
          <a:xfrm>
            <a:off x="323527" y="620688"/>
            <a:ext cx="8527045" cy="864095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800" dirty="0" smtClean="0"/>
              <a:t>防预式：以</a:t>
            </a:r>
            <a:r>
              <a:rPr lang="zh-CN" altLang="en-US" sz="1800" dirty="0"/>
              <a:t>业务为导向</a:t>
            </a:r>
            <a:r>
              <a:rPr lang="zh-CN" altLang="en-US" sz="1800" dirty="0" smtClean="0"/>
              <a:t>，以</a:t>
            </a:r>
            <a:r>
              <a:rPr lang="en-US" altLang="zh-CN" sz="1800" dirty="0" smtClean="0"/>
              <a:t>CMDB</a:t>
            </a:r>
            <a:r>
              <a:rPr lang="zh-CN" altLang="en-US" sz="1800" dirty="0" smtClean="0"/>
              <a:t>为基础；实现自动化</a:t>
            </a:r>
            <a:r>
              <a:rPr lang="zh-CN" altLang="en-US" sz="1800" dirty="0"/>
              <a:t>监控，及时主动发现故障和隐患</a:t>
            </a:r>
            <a:r>
              <a:rPr lang="zh-CN" altLang="en-US" sz="1800" dirty="0" smtClean="0"/>
              <a:t>，缩短</a:t>
            </a:r>
            <a:r>
              <a:rPr lang="zh-CN" altLang="en-US" sz="1800" dirty="0"/>
              <a:t>故障解决的时间，降低故障发生率，提高业务系统可用性。</a:t>
            </a:r>
          </a:p>
        </p:txBody>
      </p:sp>
      <p:sp>
        <p:nvSpPr>
          <p:cNvPr id="530" name="矩形 529"/>
          <p:cNvSpPr/>
          <p:nvPr/>
        </p:nvSpPr>
        <p:spPr>
          <a:xfrm>
            <a:off x="4571893" y="3283456"/>
            <a:ext cx="583493" cy="307777"/>
          </a:xfrm>
          <a:prstGeom prst="rect">
            <a:avLst/>
          </a:prstGeom>
        </p:spPr>
        <p:txBody>
          <a:bodyPr wrap="none" lIns="0" rIns="0" anchor="ctr" anchorCtr="0">
            <a:spAutoFit/>
          </a:bodyPr>
          <a:lstStyle/>
          <a:p>
            <a:pPr algn="ctr"/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…………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69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reeform 37"/>
          <p:cNvSpPr>
            <a:spLocks/>
          </p:cNvSpPr>
          <p:nvPr/>
        </p:nvSpPr>
        <p:spPr bwMode="auto">
          <a:xfrm rot="5400000">
            <a:off x="3743157" y="3457413"/>
            <a:ext cx="3657950" cy="1000132"/>
          </a:xfrm>
          <a:custGeom>
            <a:avLst/>
            <a:gdLst>
              <a:gd name="T0" fmla="*/ 4572000 w 5760"/>
              <a:gd name="T1" fmla="*/ 0 h 2132"/>
              <a:gd name="T2" fmla="*/ 2916237 w 5760"/>
              <a:gd name="T3" fmla="*/ 720725 h 2132"/>
              <a:gd name="T4" fmla="*/ 3635375 w 5760"/>
              <a:gd name="T5" fmla="*/ 720725 h 2132"/>
              <a:gd name="T6" fmla="*/ 0 w 5760"/>
              <a:gd name="T7" fmla="*/ 1657350 h 2132"/>
              <a:gd name="T8" fmla="*/ 0 w 5760"/>
              <a:gd name="T9" fmla="*/ 3384550 h 2132"/>
              <a:gd name="T10" fmla="*/ 9144000 w 5760"/>
              <a:gd name="T11" fmla="*/ 3384550 h 2132"/>
              <a:gd name="T12" fmla="*/ 9144000 w 5760"/>
              <a:gd name="T13" fmla="*/ 1620837 h 2132"/>
              <a:gd name="T14" fmla="*/ 5472112 w 5760"/>
              <a:gd name="T15" fmla="*/ 720725 h 2132"/>
              <a:gd name="T16" fmla="*/ 6192837 w 5760"/>
              <a:gd name="T17" fmla="*/ 720725 h 2132"/>
              <a:gd name="T18" fmla="*/ 4572000 w 5760"/>
              <a:gd name="T19" fmla="*/ 0 h 21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760"/>
              <a:gd name="T31" fmla="*/ 0 h 2132"/>
              <a:gd name="T32" fmla="*/ 5760 w 5760"/>
              <a:gd name="T33" fmla="*/ 2132 h 213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760" h="2132">
                <a:moveTo>
                  <a:pt x="2880" y="0"/>
                </a:moveTo>
                <a:lnTo>
                  <a:pt x="1837" y="454"/>
                </a:lnTo>
                <a:cubicBezTo>
                  <a:pt x="1837" y="454"/>
                  <a:pt x="2063" y="454"/>
                  <a:pt x="2290" y="454"/>
                </a:cubicBezTo>
                <a:cubicBezTo>
                  <a:pt x="1735" y="1140"/>
                  <a:pt x="0" y="1044"/>
                  <a:pt x="0" y="1044"/>
                </a:cubicBezTo>
                <a:lnTo>
                  <a:pt x="0" y="2132"/>
                </a:lnTo>
                <a:lnTo>
                  <a:pt x="5760" y="2132"/>
                </a:lnTo>
                <a:lnTo>
                  <a:pt x="5760" y="1021"/>
                </a:lnTo>
                <a:cubicBezTo>
                  <a:pt x="5760" y="1021"/>
                  <a:pt x="4283" y="1096"/>
                  <a:pt x="3447" y="454"/>
                </a:cubicBezTo>
                <a:cubicBezTo>
                  <a:pt x="3674" y="454"/>
                  <a:pt x="3901" y="454"/>
                  <a:pt x="3901" y="454"/>
                </a:cubicBezTo>
                <a:lnTo>
                  <a:pt x="2880" y="0"/>
                </a:lnTo>
                <a:close/>
              </a:path>
            </a:pathLst>
          </a:custGeom>
          <a:gradFill rotWithShape="1">
            <a:gsLst>
              <a:gs pos="0">
                <a:schemeClr val="accent4"/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vert270" wrap="none" anchor="ctr"/>
          <a:lstStyle/>
          <a:p>
            <a:pPr algn="ctr"/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7" name="Rectangle 2"/>
          <p:cNvSpPr>
            <a:spLocks noChangeArrowheads="1"/>
          </p:cNvSpPr>
          <p:nvPr/>
        </p:nvSpPr>
        <p:spPr bwMode="auto">
          <a:xfrm>
            <a:off x="142844" y="1714488"/>
            <a:ext cx="5429256" cy="4786346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2700000" scaled="1"/>
          </a:gradFill>
          <a:ln w="9525" algn="ctr">
            <a:solidFill>
              <a:srgbClr val="E6E6E6"/>
            </a:solidFill>
            <a:miter lim="800000"/>
            <a:headEnd/>
            <a:tailEnd/>
          </a:ln>
          <a:effectLst>
            <a:outerShdw dist="17961" dir="2700000" algn="ctr" rotWithShape="0">
              <a:srgbClr val="A9A9A9"/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统计分析</a:t>
            </a:r>
            <a:endParaRPr lang="zh-CN" altLang="en-US" dirty="0"/>
          </a:p>
        </p:txBody>
      </p:sp>
      <p:grpSp>
        <p:nvGrpSpPr>
          <p:cNvPr id="196" name="组合 195"/>
          <p:cNvGrpSpPr/>
          <p:nvPr/>
        </p:nvGrpSpPr>
        <p:grpSpPr>
          <a:xfrm>
            <a:off x="357127" y="1857364"/>
            <a:ext cx="5000659" cy="4572032"/>
            <a:chOff x="915174" y="785794"/>
            <a:chExt cx="6296135" cy="4572032"/>
          </a:xfrm>
        </p:grpSpPr>
        <p:sp>
          <p:nvSpPr>
            <p:cNvPr id="50" name="圆角矩形 49"/>
            <p:cNvSpPr/>
            <p:nvPr/>
          </p:nvSpPr>
          <p:spPr>
            <a:xfrm>
              <a:off x="915174" y="2714620"/>
              <a:ext cx="1728000" cy="51410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b="1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报表统计平台</a:t>
              </a:r>
              <a:endParaRPr lang="zh-CN" altLang="en-US" sz="14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3052857" y="1322686"/>
              <a:ext cx="1716195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1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事件报表</a:t>
              </a:r>
              <a:endParaRPr lang="zh-CN" altLang="en-US" sz="10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3052857" y="2214554"/>
              <a:ext cx="1716195" cy="18360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r>
                <a:rPr lang="zh-CN" altLang="en-US" sz="1000" b="1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问题报表</a:t>
              </a:r>
              <a:endParaRPr lang="zh-CN" altLang="en-US" sz="10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3052857" y="3329070"/>
              <a:ext cx="1716195" cy="17136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变更报表</a:t>
              </a:r>
              <a:endParaRPr lang="zh-CN" altLang="en-US" sz="10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54" name="圆角矩形 53"/>
            <p:cNvSpPr/>
            <p:nvPr/>
          </p:nvSpPr>
          <p:spPr>
            <a:xfrm>
              <a:off x="3052857" y="4500570"/>
              <a:ext cx="1716195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r>
                <a:rPr lang="zh-CN" altLang="en-US" sz="1000" b="1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配置报表</a:t>
              </a:r>
              <a:endParaRPr lang="zh-CN" altLang="en-US" sz="1000" b="1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5411309" y="785794"/>
              <a:ext cx="1800000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事件统计表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5411309" y="1448647"/>
              <a:ext cx="1800000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事件满意度分析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5411309" y="1669598"/>
              <a:ext cx="1800000" cy="17136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事件升级统计分析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62" name="形状 24"/>
            <p:cNvCxnSpPr>
              <a:stCxn id="51" idx="3"/>
              <a:endCxn id="55" idx="1"/>
            </p:cNvCxnSpPr>
            <p:nvPr/>
          </p:nvCxnSpPr>
          <p:spPr>
            <a:xfrm flipV="1">
              <a:off x="4769052" y="874538"/>
              <a:ext cx="642257" cy="536892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形状 24"/>
            <p:cNvCxnSpPr>
              <a:stCxn id="51" idx="3"/>
              <a:endCxn id="151" idx="1"/>
            </p:cNvCxnSpPr>
            <p:nvPr/>
          </p:nvCxnSpPr>
          <p:spPr>
            <a:xfrm flipV="1">
              <a:off x="4769052" y="1095489"/>
              <a:ext cx="642257" cy="31594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形状 24"/>
            <p:cNvCxnSpPr>
              <a:stCxn id="51" idx="3"/>
              <a:endCxn id="57" idx="1"/>
            </p:cNvCxnSpPr>
            <p:nvPr/>
          </p:nvCxnSpPr>
          <p:spPr>
            <a:xfrm>
              <a:off x="4769052" y="1411430"/>
              <a:ext cx="642257" cy="343852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圆角矩形 78"/>
            <p:cNvSpPr/>
            <p:nvPr/>
          </p:nvSpPr>
          <p:spPr>
            <a:xfrm>
              <a:off x="5411309" y="2099260"/>
              <a:ext cx="1800000" cy="16524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问题工时统计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圆角矩形 79"/>
            <p:cNvSpPr/>
            <p:nvPr/>
          </p:nvSpPr>
          <p:spPr>
            <a:xfrm>
              <a:off x="5411309" y="2307971"/>
              <a:ext cx="1800000" cy="18360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问题状态统计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5411309" y="2535042"/>
              <a:ext cx="1800000" cy="17136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问题解决方式统计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2" name="形状 24"/>
            <p:cNvCxnSpPr>
              <a:stCxn id="52" idx="3"/>
              <a:endCxn id="79" idx="1"/>
            </p:cNvCxnSpPr>
            <p:nvPr/>
          </p:nvCxnSpPr>
          <p:spPr>
            <a:xfrm flipV="1">
              <a:off x="4769052" y="2181884"/>
              <a:ext cx="642257" cy="124474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形状 24"/>
            <p:cNvCxnSpPr>
              <a:stCxn id="52" idx="3"/>
              <a:endCxn id="80" idx="1"/>
            </p:cNvCxnSpPr>
            <p:nvPr/>
          </p:nvCxnSpPr>
          <p:spPr>
            <a:xfrm>
              <a:off x="4769052" y="2306358"/>
              <a:ext cx="642257" cy="93417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形状 24"/>
            <p:cNvCxnSpPr>
              <a:stCxn id="52" idx="3"/>
              <a:endCxn id="81" idx="1"/>
            </p:cNvCxnSpPr>
            <p:nvPr/>
          </p:nvCxnSpPr>
          <p:spPr>
            <a:xfrm>
              <a:off x="4769052" y="2306358"/>
              <a:ext cx="642257" cy="31436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圆角矩形 84"/>
            <p:cNvSpPr/>
            <p:nvPr/>
          </p:nvSpPr>
          <p:spPr>
            <a:xfrm>
              <a:off x="5411309" y="3191775"/>
              <a:ext cx="1800000" cy="17136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变更类型统计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6" name="圆角矩形 85"/>
            <p:cNvSpPr/>
            <p:nvPr/>
          </p:nvSpPr>
          <p:spPr>
            <a:xfrm>
              <a:off x="5411309" y="3406606"/>
              <a:ext cx="1800000" cy="18360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变更次数统计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7" name="形状 24"/>
            <p:cNvCxnSpPr>
              <a:stCxn id="53" idx="3"/>
              <a:endCxn id="85" idx="1"/>
            </p:cNvCxnSpPr>
            <p:nvPr/>
          </p:nvCxnSpPr>
          <p:spPr>
            <a:xfrm flipV="1">
              <a:off x="4769052" y="3277459"/>
              <a:ext cx="642257" cy="1372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形状 24"/>
            <p:cNvCxnSpPr>
              <a:stCxn id="53" idx="3"/>
              <a:endCxn id="86" idx="1"/>
            </p:cNvCxnSpPr>
            <p:nvPr/>
          </p:nvCxnSpPr>
          <p:spPr>
            <a:xfrm>
              <a:off x="4769052" y="3414754"/>
              <a:ext cx="642257" cy="8365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圆角矩形 104"/>
            <p:cNvSpPr/>
            <p:nvPr/>
          </p:nvSpPr>
          <p:spPr>
            <a:xfrm>
              <a:off x="5411309" y="3633677"/>
              <a:ext cx="1800000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变更状态统计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5411309" y="3854628"/>
              <a:ext cx="1800000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按时完成变更率统计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07" name="形状 24"/>
            <p:cNvCxnSpPr>
              <a:stCxn id="53" idx="3"/>
              <a:endCxn id="105" idx="1"/>
            </p:cNvCxnSpPr>
            <p:nvPr/>
          </p:nvCxnSpPr>
          <p:spPr>
            <a:xfrm>
              <a:off x="4769052" y="3414754"/>
              <a:ext cx="642257" cy="307667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形状 24"/>
            <p:cNvCxnSpPr>
              <a:stCxn id="53" idx="3"/>
              <a:endCxn id="106" idx="1"/>
            </p:cNvCxnSpPr>
            <p:nvPr/>
          </p:nvCxnSpPr>
          <p:spPr>
            <a:xfrm>
              <a:off x="4769052" y="3414754"/>
              <a:ext cx="642257" cy="52861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左大括号 114"/>
            <p:cNvSpPr/>
            <p:nvPr/>
          </p:nvSpPr>
          <p:spPr>
            <a:xfrm>
              <a:off x="2631704" y="1404008"/>
              <a:ext cx="410623" cy="31680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圆角矩形 140"/>
            <p:cNvSpPr/>
            <p:nvPr/>
          </p:nvSpPr>
          <p:spPr>
            <a:xfrm>
              <a:off x="5411309" y="4075579"/>
              <a:ext cx="1800000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2" name="圆角矩形 141"/>
            <p:cNvSpPr/>
            <p:nvPr/>
          </p:nvSpPr>
          <p:spPr>
            <a:xfrm>
              <a:off x="5411309" y="4296530"/>
              <a:ext cx="1800000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审计统计分析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43" name="形状 24"/>
            <p:cNvCxnSpPr>
              <a:stCxn id="54" idx="3"/>
              <a:endCxn id="141" idx="1"/>
            </p:cNvCxnSpPr>
            <p:nvPr/>
          </p:nvCxnSpPr>
          <p:spPr>
            <a:xfrm flipV="1">
              <a:off x="4769052" y="4164323"/>
              <a:ext cx="642257" cy="42499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形状 24"/>
            <p:cNvCxnSpPr>
              <a:stCxn id="54" idx="3"/>
              <a:endCxn id="142" idx="1"/>
            </p:cNvCxnSpPr>
            <p:nvPr/>
          </p:nvCxnSpPr>
          <p:spPr>
            <a:xfrm flipV="1">
              <a:off x="4769052" y="4385274"/>
              <a:ext cx="642257" cy="20404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圆角矩形 150"/>
            <p:cNvSpPr/>
            <p:nvPr/>
          </p:nvSpPr>
          <p:spPr>
            <a:xfrm>
              <a:off x="5411309" y="1006745"/>
              <a:ext cx="1800000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事件处理分析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5411309" y="1227696"/>
              <a:ext cx="1800000" cy="1774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事件工时统计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3" name="圆角矩形 152"/>
            <p:cNvSpPr/>
            <p:nvPr/>
          </p:nvSpPr>
          <p:spPr>
            <a:xfrm>
              <a:off x="5411309" y="1884429"/>
              <a:ext cx="1800000" cy="17136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问题统计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4" name="圆角矩形 153"/>
            <p:cNvSpPr/>
            <p:nvPr/>
          </p:nvSpPr>
          <p:spPr>
            <a:xfrm>
              <a:off x="5411309" y="2749873"/>
              <a:ext cx="1800000" cy="18360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工时统计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5" name="圆角矩形 154"/>
            <p:cNvSpPr/>
            <p:nvPr/>
          </p:nvSpPr>
          <p:spPr>
            <a:xfrm>
              <a:off x="5411309" y="2976944"/>
              <a:ext cx="1800000" cy="17136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变更成功率统计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圆角矩形 155"/>
            <p:cNvSpPr/>
            <p:nvPr/>
          </p:nvSpPr>
          <p:spPr>
            <a:xfrm>
              <a:off x="5411309" y="4517481"/>
              <a:ext cx="1800000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变更活跃度分析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圆角矩形 156"/>
            <p:cNvSpPr/>
            <p:nvPr/>
          </p:nvSpPr>
          <p:spPr>
            <a:xfrm>
              <a:off x="5411309" y="4738432"/>
              <a:ext cx="1800000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变更状态统计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圆角矩形 157"/>
            <p:cNvSpPr/>
            <p:nvPr/>
          </p:nvSpPr>
          <p:spPr>
            <a:xfrm>
              <a:off x="5411309" y="4959383"/>
              <a:ext cx="1800000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变更次数统计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9" name="圆角矩形 158"/>
            <p:cNvSpPr/>
            <p:nvPr/>
          </p:nvSpPr>
          <p:spPr>
            <a:xfrm>
              <a:off x="5411309" y="5180338"/>
              <a:ext cx="1800000" cy="17748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CI</a:t>
              </a:r>
              <a:r>
                <a:rPr lang="zh-CN" altLang="en-US" sz="1000" dirty="0" smtClea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数量统计分析表</a:t>
              </a:r>
              <a:endParaRPr lang="zh-CN" altLang="en-US" sz="10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61" name="形状 24"/>
            <p:cNvCxnSpPr>
              <a:stCxn id="51" idx="3"/>
              <a:endCxn id="152" idx="1"/>
            </p:cNvCxnSpPr>
            <p:nvPr/>
          </p:nvCxnSpPr>
          <p:spPr>
            <a:xfrm flipV="1">
              <a:off x="4769052" y="1316440"/>
              <a:ext cx="642257" cy="9499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形状 24"/>
            <p:cNvCxnSpPr>
              <a:stCxn id="51" idx="3"/>
              <a:endCxn id="56" idx="1"/>
            </p:cNvCxnSpPr>
            <p:nvPr/>
          </p:nvCxnSpPr>
          <p:spPr>
            <a:xfrm>
              <a:off x="4769052" y="1411430"/>
              <a:ext cx="642257" cy="12596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形状 24"/>
            <p:cNvCxnSpPr>
              <a:stCxn id="52" idx="3"/>
              <a:endCxn id="153" idx="1"/>
            </p:cNvCxnSpPr>
            <p:nvPr/>
          </p:nvCxnSpPr>
          <p:spPr>
            <a:xfrm flipV="1">
              <a:off x="4769052" y="1970113"/>
              <a:ext cx="642257" cy="33624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形状 24"/>
            <p:cNvCxnSpPr>
              <a:stCxn id="53" idx="3"/>
              <a:endCxn id="154" idx="1"/>
            </p:cNvCxnSpPr>
            <p:nvPr/>
          </p:nvCxnSpPr>
          <p:spPr>
            <a:xfrm flipV="1">
              <a:off x="4769052" y="2841677"/>
              <a:ext cx="642257" cy="573077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形状 24"/>
            <p:cNvCxnSpPr>
              <a:stCxn id="53" idx="3"/>
              <a:endCxn id="155" idx="1"/>
            </p:cNvCxnSpPr>
            <p:nvPr/>
          </p:nvCxnSpPr>
          <p:spPr>
            <a:xfrm flipV="1">
              <a:off x="4769052" y="3062628"/>
              <a:ext cx="642257" cy="352126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形状 24"/>
            <p:cNvCxnSpPr>
              <a:stCxn id="54" idx="3"/>
              <a:endCxn id="156" idx="1"/>
            </p:cNvCxnSpPr>
            <p:nvPr/>
          </p:nvCxnSpPr>
          <p:spPr>
            <a:xfrm>
              <a:off x="4769052" y="4589314"/>
              <a:ext cx="642257" cy="1691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形状 24"/>
            <p:cNvCxnSpPr>
              <a:stCxn id="54" idx="3"/>
              <a:endCxn id="157" idx="1"/>
            </p:cNvCxnSpPr>
            <p:nvPr/>
          </p:nvCxnSpPr>
          <p:spPr>
            <a:xfrm>
              <a:off x="4769052" y="4589314"/>
              <a:ext cx="642257" cy="237862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形状 24"/>
            <p:cNvCxnSpPr>
              <a:stCxn id="54" idx="3"/>
              <a:endCxn id="158" idx="1"/>
            </p:cNvCxnSpPr>
            <p:nvPr/>
          </p:nvCxnSpPr>
          <p:spPr>
            <a:xfrm>
              <a:off x="4769052" y="4589314"/>
              <a:ext cx="642257" cy="458813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形状 24"/>
            <p:cNvCxnSpPr>
              <a:stCxn id="54" idx="3"/>
              <a:endCxn id="159" idx="1"/>
            </p:cNvCxnSpPr>
            <p:nvPr/>
          </p:nvCxnSpPr>
          <p:spPr>
            <a:xfrm>
              <a:off x="4769052" y="4589314"/>
              <a:ext cx="642257" cy="679768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" name="矩形 214"/>
          <p:cNvSpPr/>
          <p:nvPr/>
        </p:nvSpPr>
        <p:spPr>
          <a:xfrm>
            <a:off x="6357950" y="1700808"/>
            <a:ext cx="2214578" cy="35350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7286644" y="1772816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质量目标制定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7286644" y="2165937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体系标准制定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7286644" y="2559058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质量监控分析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7286644" y="2952179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质量改善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286644" y="3345300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标准执行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7286644" y="4131542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质量改善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7286644" y="3738421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流程执行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棱台 223"/>
          <p:cNvSpPr/>
          <p:nvPr/>
        </p:nvSpPr>
        <p:spPr>
          <a:xfrm>
            <a:off x="6072198" y="1700807"/>
            <a:ext cx="261656" cy="4780591"/>
          </a:xfrm>
          <a:prstGeom prst="bevel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6200000" scaled="0"/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运行分析报告</a:t>
            </a:r>
            <a:endParaRPr lang="en-US" altLang="zh-CN" sz="120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120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1200" dirty="0" smtClean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质量管理报告</a:t>
            </a:r>
            <a:endParaRPr lang="zh-CN" altLang="en-US" sz="1200" dirty="0">
              <a:solidFill>
                <a:sysClr val="windowText" lastClr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7286644" y="4917785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监控结果统计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7286644" y="4524663"/>
            <a:ext cx="1080000" cy="2616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监控运行执行</a:t>
            </a:r>
            <a:endParaRPr kumimoji="1" lang="zh-CN" altLang="en-US" sz="11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8" name="TextBox 227"/>
          <p:cNvSpPr txBox="1"/>
          <p:nvPr/>
        </p:nvSpPr>
        <p:spPr bwMode="auto">
          <a:xfrm>
            <a:off x="6465661" y="2630072"/>
            <a:ext cx="392355" cy="164307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eaVert" wrap="square" lIns="0" rIns="0" anchor="ctr">
            <a:noAutofit/>
          </a:bodyPr>
          <a:lstStyle/>
          <a:p>
            <a:pPr algn="ctr"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质量管理体系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9" name="左大括号 228"/>
          <p:cNvSpPr/>
          <p:nvPr/>
        </p:nvSpPr>
        <p:spPr>
          <a:xfrm>
            <a:off x="6929454" y="1915692"/>
            <a:ext cx="326134" cy="31680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231" name="直接箭头连接符 230"/>
          <p:cNvCxnSpPr/>
          <p:nvPr/>
        </p:nvCxnSpPr>
        <p:spPr bwMode="auto">
          <a:xfrm>
            <a:off x="6215074" y="3857628"/>
            <a:ext cx="0" cy="27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5927" y="773088"/>
            <a:ext cx="8272537" cy="864095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zh-CN" altLang="en-US" sz="1800" dirty="0" smtClean="0"/>
              <a:t>报表</a:t>
            </a:r>
            <a:r>
              <a:rPr lang="zh-CN" altLang="en-US" sz="1800" dirty="0"/>
              <a:t>统计分析：在服务执行过程中，对事件、问题、变更、配置管理进行报表统计和分析，制定月、季、年度的运行分析报告，同时进行质量检核，并生成质量管理报告，促进运维持续改善。</a:t>
            </a:r>
          </a:p>
        </p:txBody>
      </p:sp>
      <p:sp>
        <p:nvSpPr>
          <p:cNvPr id="70" name="矩形 69"/>
          <p:cNvSpPr/>
          <p:nvPr/>
        </p:nvSpPr>
        <p:spPr>
          <a:xfrm>
            <a:off x="6356689" y="5263243"/>
            <a:ext cx="2214578" cy="122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TextBox 70"/>
          <p:cNvSpPr txBox="1"/>
          <p:nvPr/>
        </p:nvSpPr>
        <p:spPr bwMode="auto">
          <a:xfrm>
            <a:off x="6537099" y="5456844"/>
            <a:ext cx="1829545" cy="79506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vert="horz" wrap="square" lIns="0" rIns="0" anchor="ctr">
            <a:noAutofit/>
          </a:bodyPr>
          <a:lstStyle/>
          <a:p>
            <a:pPr algn="ctr"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基于业务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KPI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体系建立的绩效管理体系报告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8299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/>
              <a:t>事件管理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382247" y="878637"/>
            <a:ext cx="8414848" cy="5574699"/>
            <a:chOff x="382247" y="878637"/>
            <a:chExt cx="8414848" cy="5574699"/>
          </a:xfrm>
        </p:grpSpPr>
        <p:sp>
          <p:nvSpPr>
            <p:cNvPr id="18" name="圆角矩形 3"/>
            <p:cNvSpPr>
              <a:spLocks noChangeArrowheads="1"/>
            </p:cNvSpPr>
            <p:nvPr/>
          </p:nvSpPr>
          <p:spPr bwMode="auto">
            <a:xfrm>
              <a:off x="384873" y="878637"/>
              <a:ext cx="8323503" cy="462131"/>
            </a:xfrm>
            <a:prstGeom prst="roundRect">
              <a:avLst>
                <a:gd name="adj" fmla="val 3727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lIns="0" rIns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rgbClr val="FF0000"/>
                </a:buClr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事件管理流程设计</a:t>
              </a:r>
              <a:endPara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9" name="TextBox 33"/>
            <p:cNvSpPr>
              <a:spLocks noChangeArrowheads="1"/>
            </p:cNvSpPr>
            <p:nvPr/>
          </p:nvSpPr>
          <p:spPr bwMode="auto">
            <a:xfrm>
              <a:off x="1285150" y="1580032"/>
              <a:ext cx="1469961" cy="4660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事件记录</a:t>
              </a:r>
            </a:p>
          </p:txBody>
        </p:sp>
        <p:sp>
          <p:nvSpPr>
            <p:cNvPr id="20" name="TextBox 34"/>
            <p:cNvSpPr>
              <a:spLocks noChangeArrowheads="1"/>
            </p:cNvSpPr>
            <p:nvPr/>
          </p:nvSpPr>
          <p:spPr bwMode="auto">
            <a:xfrm>
              <a:off x="3232352" y="1580032"/>
              <a:ext cx="1471490" cy="4660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事件分派</a:t>
              </a:r>
            </a:p>
          </p:txBody>
        </p:sp>
        <p:sp>
          <p:nvSpPr>
            <p:cNvPr id="21" name="TextBox 35"/>
            <p:cNvSpPr>
              <a:spLocks noChangeArrowheads="1"/>
            </p:cNvSpPr>
            <p:nvPr/>
          </p:nvSpPr>
          <p:spPr bwMode="auto">
            <a:xfrm>
              <a:off x="5242267" y="1580032"/>
              <a:ext cx="1471490" cy="4660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事件处理</a:t>
              </a:r>
            </a:p>
          </p:txBody>
        </p:sp>
        <p:sp>
          <p:nvSpPr>
            <p:cNvPr id="22" name="TextBox 37"/>
            <p:cNvSpPr>
              <a:spLocks noChangeArrowheads="1"/>
            </p:cNvSpPr>
            <p:nvPr/>
          </p:nvSpPr>
          <p:spPr bwMode="auto">
            <a:xfrm>
              <a:off x="7236886" y="1580032"/>
              <a:ext cx="1471490" cy="4660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事件关闭</a:t>
              </a:r>
            </a:p>
          </p:txBody>
        </p:sp>
        <p:cxnSp>
          <p:nvCxnSpPr>
            <p:cNvPr id="23" name="直接箭头连接符 5"/>
            <p:cNvCxnSpPr>
              <a:cxnSpLocks noChangeShapeType="1"/>
              <a:stCxn id="19" idx="3"/>
              <a:endCxn id="20" idx="1"/>
            </p:cNvCxnSpPr>
            <p:nvPr/>
          </p:nvCxnSpPr>
          <p:spPr bwMode="auto">
            <a:xfrm>
              <a:off x="2755840" y="1814035"/>
              <a:ext cx="476552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4" name="直接箭头连接符 43"/>
            <p:cNvCxnSpPr>
              <a:cxnSpLocks noChangeShapeType="1"/>
              <a:stCxn id="20" idx="3"/>
              <a:endCxn id="21" idx="1"/>
            </p:cNvCxnSpPr>
            <p:nvPr/>
          </p:nvCxnSpPr>
          <p:spPr bwMode="auto">
            <a:xfrm>
              <a:off x="4704443" y="1814035"/>
              <a:ext cx="537603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5" name="直接箭头连接符 44"/>
            <p:cNvCxnSpPr>
              <a:cxnSpLocks noChangeShapeType="1"/>
              <a:stCxn id="21" idx="3"/>
              <a:endCxn id="22" idx="1"/>
            </p:cNvCxnSpPr>
            <p:nvPr/>
          </p:nvCxnSpPr>
          <p:spPr bwMode="auto">
            <a:xfrm>
              <a:off x="6714097" y="1814035"/>
              <a:ext cx="522341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6" name="圆角矩形 1"/>
            <p:cNvSpPr>
              <a:spLocks noChangeArrowheads="1"/>
            </p:cNvSpPr>
            <p:nvPr/>
          </p:nvSpPr>
          <p:spPr bwMode="auto">
            <a:xfrm>
              <a:off x="1405991" y="2139577"/>
              <a:ext cx="1228280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首问支持</a:t>
              </a:r>
            </a:p>
          </p:txBody>
        </p:sp>
        <p:sp>
          <p:nvSpPr>
            <p:cNvPr id="27" name="圆角矩形 1"/>
            <p:cNvSpPr>
              <a:spLocks noChangeArrowheads="1"/>
            </p:cNvSpPr>
            <p:nvPr/>
          </p:nvSpPr>
          <p:spPr bwMode="auto">
            <a:xfrm>
              <a:off x="5364636" y="2142802"/>
              <a:ext cx="1226752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事件分类确认</a:t>
              </a:r>
            </a:p>
          </p:txBody>
        </p:sp>
        <p:sp>
          <p:nvSpPr>
            <p:cNvPr id="28" name="圆角矩形 1"/>
            <p:cNvSpPr>
              <a:spLocks noChangeArrowheads="1"/>
            </p:cNvSpPr>
            <p:nvPr/>
          </p:nvSpPr>
          <p:spPr bwMode="auto">
            <a:xfrm>
              <a:off x="1405991" y="2607209"/>
              <a:ext cx="1228280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</a:t>
              </a:r>
              <a:r>
                <a:rPr lang="en-US" altLang="zh-CN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/</a:t>
              </a: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紧急事件标识</a:t>
              </a:r>
            </a:p>
          </p:txBody>
        </p:sp>
        <p:sp>
          <p:nvSpPr>
            <p:cNvPr id="29" name="圆角矩形 1"/>
            <p:cNvSpPr>
              <a:spLocks noChangeArrowheads="1"/>
            </p:cNvSpPr>
            <p:nvPr/>
          </p:nvSpPr>
          <p:spPr bwMode="auto">
            <a:xfrm>
              <a:off x="1405991" y="3073229"/>
              <a:ext cx="1228280" cy="37410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重复事件识别</a:t>
              </a:r>
            </a:p>
          </p:txBody>
        </p:sp>
        <p:sp>
          <p:nvSpPr>
            <p:cNvPr id="30" name="圆角矩形 1"/>
            <p:cNvSpPr>
              <a:spLocks noChangeArrowheads="1"/>
            </p:cNvSpPr>
            <p:nvPr/>
          </p:nvSpPr>
          <p:spPr bwMode="auto">
            <a:xfrm>
              <a:off x="5373814" y="2585054"/>
              <a:ext cx="1228280" cy="37410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</a:t>
              </a:r>
              <a:r>
                <a:rPr lang="zh-CN" altLang="en-US" sz="1200" kern="0" dirty="0" smtClean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升级</a:t>
              </a:r>
              <a:endPara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1" name="圆角矩形 1"/>
            <p:cNvSpPr>
              <a:spLocks noChangeArrowheads="1"/>
            </p:cNvSpPr>
            <p:nvPr/>
          </p:nvSpPr>
          <p:spPr bwMode="auto">
            <a:xfrm>
              <a:off x="7359255" y="2139577"/>
              <a:ext cx="1226752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事件回访</a:t>
              </a:r>
            </a:p>
          </p:txBody>
        </p:sp>
        <p:sp>
          <p:nvSpPr>
            <p:cNvPr id="32" name="圆角矩形 1"/>
            <p:cNvSpPr>
              <a:spLocks noChangeArrowheads="1"/>
            </p:cNvSpPr>
            <p:nvPr/>
          </p:nvSpPr>
          <p:spPr bwMode="auto">
            <a:xfrm>
              <a:off x="3354721" y="2139577"/>
              <a:ext cx="1228280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分派与转派</a:t>
              </a:r>
            </a:p>
          </p:txBody>
        </p:sp>
        <p:sp>
          <p:nvSpPr>
            <p:cNvPr id="33" name="圆角矩形 1"/>
            <p:cNvSpPr>
              <a:spLocks noChangeArrowheads="1"/>
            </p:cNvSpPr>
            <p:nvPr/>
          </p:nvSpPr>
          <p:spPr bwMode="auto">
            <a:xfrm>
              <a:off x="7359255" y="2607209"/>
              <a:ext cx="1226752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知识点申请</a:t>
              </a:r>
              <a:endParaRPr 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grpSp>
          <p:nvGrpSpPr>
            <p:cNvPr id="34" name="Group 24"/>
            <p:cNvGrpSpPr>
              <a:grpSpLocks/>
            </p:cNvGrpSpPr>
            <p:nvPr/>
          </p:nvGrpSpPr>
          <p:grpSpPr bwMode="auto">
            <a:xfrm>
              <a:off x="1006688" y="4540625"/>
              <a:ext cx="7770703" cy="642755"/>
              <a:chOff x="-51562" y="174"/>
              <a:chExt cx="4239320" cy="619820"/>
            </a:xfrm>
          </p:grpSpPr>
          <p:sp>
            <p:nvSpPr>
              <p:cNvPr id="41" name="TextBox 68"/>
              <p:cNvSpPr>
                <a:spLocks noChangeArrowheads="1"/>
              </p:cNvSpPr>
              <p:nvPr/>
            </p:nvSpPr>
            <p:spPr bwMode="auto">
              <a:xfrm>
                <a:off x="-51562" y="174"/>
                <a:ext cx="1032468" cy="277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40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普通事件通知规则</a:t>
                </a:r>
              </a:p>
            </p:txBody>
          </p:sp>
          <p:sp>
            <p:nvSpPr>
              <p:cNvPr id="42" name="TextBox 83"/>
              <p:cNvSpPr>
                <a:spLocks noChangeArrowheads="1"/>
              </p:cNvSpPr>
              <p:nvPr/>
            </p:nvSpPr>
            <p:spPr bwMode="auto">
              <a:xfrm>
                <a:off x="1162675" y="174"/>
                <a:ext cx="1825830" cy="277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40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事件升级规则</a:t>
                </a:r>
              </a:p>
            </p:txBody>
          </p:sp>
          <p:sp>
            <p:nvSpPr>
              <p:cNvPr id="43" name="TextBox 84"/>
              <p:cNvSpPr>
                <a:spLocks noChangeArrowheads="1"/>
              </p:cNvSpPr>
              <p:nvPr/>
            </p:nvSpPr>
            <p:spPr bwMode="auto">
              <a:xfrm>
                <a:off x="-51561" y="342271"/>
                <a:ext cx="1032468" cy="277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40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紧急事件通知规则</a:t>
                </a:r>
              </a:p>
            </p:txBody>
          </p:sp>
          <p:sp>
            <p:nvSpPr>
              <p:cNvPr id="44" name="TextBox 85"/>
              <p:cNvSpPr>
                <a:spLocks noChangeArrowheads="1"/>
              </p:cNvSpPr>
              <p:nvPr/>
            </p:nvSpPr>
            <p:spPr bwMode="auto">
              <a:xfrm>
                <a:off x="3347333" y="342271"/>
                <a:ext cx="840425" cy="277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40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事件回访</a:t>
                </a:r>
                <a:r>
                  <a:rPr lang="zh-CN" altLang="en-US" sz="1400" kern="0" dirty="0" smtClean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规则</a:t>
                </a:r>
                <a:endParaRPr lang="zh-CN" altLang="en-US" sz="140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5" name="TextBox 86"/>
              <p:cNvSpPr>
                <a:spLocks noChangeArrowheads="1"/>
              </p:cNvSpPr>
              <p:nvPr/>
            </p:nvSpPr>
            <p:spPr bwMode="auto">
              <a:xfrm>
                <a:off x="3347333" y="174"/>
                <a:ext cx="840425" cy="277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40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事件关闭</a:t>
                </a:r>
                <a:r>
                  <a:rPr lang="zh-CN" altLang="en-US" sz="1400" kern="0" dirty="0" smtClean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规则</a:t>
                </a:r>
                <a:endParaRPr lang="zh-CN" altLang="en-US" sz="140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6" name="TextBox 87"/>
              <p:cNvSpPr>
                <a:spLocks noChangeArrowheads="1"/>
              </p:cNvSpPr>
              <p:nvPr/>
            </p:nvSpPr>
            <p:spPr bwMode="auto">
              <a:xfrm>
                <a:off x="1162653" y="342271"/>
                <a:ext cx="1825852" cy="277723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defRPr/>
                </a:pPr>
                <a:r>
                  <a:rPr lang="zh-CN" altLang="en-US" sz="140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紧急事件处理规则</a:t>
                </a:r>
              </a:p>
            </p:txBody>
          </p:sp>
        </p:grpSp>
        <p:sp>
          <p:nvSpPr>
            <p:cNvPr id="35" name="TextBox 88"/>
            <p:cNvSpPr>
              <a:spLocks noChangeArrowheads="1"/>
            </p:cNvSpPr>
            <p:nvPr/>
          </p:nvSpPr>
          <p:spPr bwMode="auto">
            <a:xfrm>
              <a:off x="3232353" y="5381688"/>
              <a:ext cx="3346800" cy="4660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查询与浏览</a:t>
              </a:r>
            </a:p>
          </p:txBody>
        </p:sp>
        <p:sp>
          <p:nvSpPr>
            <p:cNvPr id="36" name="TextBox 89"/>
            <p:cNvSpPr>
              <a:spLocks noChangeArrowheads="1"/>
            </p:cNvSpPr>
            <p:nvPr/>
          </p:nvSpPr>
          <p:spPr bwMode="auto">
            <a:xfrm>
              <a:off x="7236438" y="5381688"/>
              <a:ext cx="1541082" cy="46924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统计分析</a:t>
              </a:r>
            </a:p>
          </p:txBody>
        </p:sp>
        <p:sp>
          <p:nvSpPr>
            <p:cNvPr id="37" name="TextBox 90"/>
            <p:cNvSpPr>
              <a:spLocks noChangeArrowheads="1"/>
            </p:cNvSpPr>
            <p:nvPr/>
          </p:nvSpPr>
          <p:spPr bwMode="auto">
            <a:xfrm>
              <a:off x="1006689" y="5381688"/>
              <a:ext cx="1892521" cy="4660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过程审计</a:t>
              </a:r>
            </a:p>
          </p:txBody>
        </p:sp>
        <p:sp>
          <p:nvSpPr>
            <p:cNvPr id="38" name="TextBox 99"/>
            <p:cNvSpPr>
              <a:spLocks noChangeArrowheads="1"/>
            </p:cNvSpPr>
            <p:nvPr/>
          </p:nvSpPr>
          <p:spPr bwMode="auto">
            <a:xfrm>
              <a:off x="3232352" y="5987318"/>
              <a:ext cx="5545168" cy="4660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defRPr/>
              </a:pPr>
              <a:r>
                <a:rPr lang="zh-CN" altLang="en-US" ker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流程</a:t>
              </a:r>
              <a:r>
                <a:rPr lang="en-US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KPI</a:t>
              </a:r>
              <a:r>
                <a:rPr lang="zh-CN" altLang="en-US" ker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监控</a:t>
              </a:r>
            </a:p>
          </p:txBody>
        </p:sp>
        <p:sp>
          <p:nvSpPr>
            <p:cNvPr id="40" name="圆角矩形 1"/>
            <p:cNvSpPr>
              <a:spLocks noChangeArrowheads="1"/>
            </p:cNvSpPr>
            <p:nvPr/>
          </p:nvSpPr>
          <p:spPr bwMode="auto">
            <a:xfrm>
              <a:off x="5360047" y="3047785"/>
              <a:ext cx="1228282" cy="37249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事件转问题</a:t>
              </a:r>
              <a:endParaRPr 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>
                <a:buClr>
                  <a:srgbClr val="3333CC"/>
                </a:buClr>
                <a:defRPr/>
              </a:pPr>
              <a:r>
                <a:rPr 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/</a:t>
              </a: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变更</a:t>
              </a:r>
            </a:p>
          </p:txBody>
        </p:sp>
        <p:cxnSp>
          <p:nvCxnSpPr>
            <p:cNvPr id="5" name="直接连接符 4"/>
            <p:cNvCxnSpPr/>
            <p:nvPr/>
          </p:nvCxnSpPr>
          <p:spPr bwMode="auto">
            <a:xfrm>
              <a:off x="3018779" y="1916831"/>
              <a:ext cx="0" cy="3930876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/>
          </p:nvCxnSpPr>
          <p:spPr bwMode="auto">
            <a:xfrm>
              <a:off x="6904193" y="1916831"/>
              <a:ext cx="0" cy="3930876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/>
          </p:nvCxnSpPr>
          <p:spPr bwMode="auto">
            <a:xfrm>
              <a:off x="911305" y="4437111"/>
              <a:ext cx="7885790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 bwMode="auto">
            <a:xfrm>
              <a:off x="911305" y="5229199"/>
              <a:ext cx="7885790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" name="组合 17"/>
            <p:cNvGrpSpPr>
              <a:grpSpLocks/>
            </p:cNvGrpSpPr>
            <p:nvPr/>
          </p:nvGrpSpPr>
          <p:grpSpPr bwMode="auto">
            <a:xfrm>
              <a:off x="382247" y="1580032"/>
              <a:ext cx="555489" cy="4864299"/>
              <a:chOff x="179107" y="1469207"/>
              <a:chExt cx="576841" cy="3327944"/>
            </a:xfrm>
          </p:grpSpPr>
          <p:sp>
            <p:nvSpPr>
              <p:cNvPr id="12" name="圆角矩形 11"/>
              <p:cNvSpPr/>
              <p:nvPr/>
            </p:nvSpPr>
            <p:spPr bwMode="auto">
              <a:xfrm>
                <a:off x="179354" y="1469207"/>
                <a:ext cx="576594" cy="3327944"/>
              </a:xfrm>
              <a:prstGeom prst="roundRect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25400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TextBox 1"/>
              <p:cNvSpPr txBox="1">
                <a:spLocks noChangeArrowheads="1"/>
              </p:cNvSpPr>
              <p:nvPr/>
            </p:nvSpPr>
            <p:spPr bwMode="auto">
              <a:xfrm>
                <a:off x="179107" y="4009826"/>
                <a:ext cx="576073" cy="701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事件管理功能设计</a:t>
                </a:r>
              </a:p>
            </p:txBody>
          </p:sp>
          <p:sp>
            <p:nvSpPr>
              <p:cNvPr id="14" name="TextBox 167"/>
              <p:cNvSpPr txBox="1">
                <a:spLocks noChangeArrowheads="1"/>
              </p:cNvSpPr>
              <p:nvPr/>
            </p:nvSpPr>
            <p:spPr bwMode="auto">
              <a:xfrm>
                <a:off x="179107" y="3422855"/>
                <a:ext cx="576073" cy="5429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事件规则设计</a:t>
                </a:r>
              </a:p>
            </p:txBody>
          </p:sp>
          <p:sp>
            <p:nvSpPr>
              <p:cNvPr id="15" name="TextBox 169"/>
              <p:cNvSpPr txBox="1">
                <a:spLocks noChangeArrowheads="1"/>
              </p:cNvSpPr>
              <p:nvPr/>
            </p:nvSpPr>
            <p:spPr bwMode="auto">
              <a:xfrm>
                <a:off x="251156" y="1787006"/>
                <a:ext cx="432048" cy="1018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事件流程设计</a:t>
                </a:r>
                <a:endParaRPr kumimoji="1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6" name="直接连接符 15"/>
              <p:cNvCxnSpPr/>
              <p:nvPr/>
            </p:nvCxnSpPr>
            <p:spPr bwMode="auto">
              <a:xfrm>
                <a:off x="395255" y="3268813"/>
                <a:ext cx="144198" cy="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10" name="直接连接符 9"/>
            <p:cNvCxnSpPr/>
            <p:nvPr/>
          </p:nvCxnSpPr>
          <p:spPr bwMode="auto">
            <a:xfrm>
              <a:off x="590825" y="5301207"/>
              <a:ext cx="138860" cy="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/>
            </a:ln>
            <a:effectLst/>
          </p:spPr>
        </p:cxnSp>
        <p:sp>
          <p:nvSpPr>
            <p:cNvPr id="11" name="圆角矩形 1"/>
            <p:cNvSpPr>
              <a:spLocks noChangeArrowheads="1"/>
            </p:cNvSpPr>
            <p:nvPr/>
          </p:nvSpPr>
          <p:spPr bwMode="auto">
            <a:xfrm>
              <a:off x="1407521" y="3523105"/>
              <a:ext cx="1226752" cy="37249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>
                <a:buClr>
                  <a:srgbClr val="3333CC"/>
                </a:buClr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事件分类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2469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/>
              <a:t>事件管理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302532" y="1347065"/>
            <a:ext cx="432000" cy="1968760"/>
          </a:xfrm>
          <a:prstGeom prst="rect">
            <a:avLst/>
          </a:prstGeom>
        </p:spPr>
        <p:txBody>
          <a:bodyPr vert="eaVert" wrap="square">
            <a:noAutofit/>
          </a:bodyPr>
          <a:lstStyle/>
          <a:p>
            <a:pPr>
              <a:defRPr/>
            </a:pP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普通</a:t>
            </a:r>
            <a:r>
              <a:rPr lang="zh-CN" altLang="en-US" sz="16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事件流程</a:t>
            </a: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示意图</a:t>
            </a:r>
            <a:endParaRPr lang="zh-CN" altLang="en-US" sz="16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3166" y="1070066"/>
            <a:ext cx="7897827" cy="2671861"/>
            <a:chOff x="107503" y="1084958"/>
            <a:chExt cx="5445318" cy="2671861"/>
          </a:xfrm>
        </p:grpSpPr>
        <p:grpSp>
          <p:nvGrpSpPr>
            <p:cNvPr id="5" name="组合 6"/>
            <p:cNvGrpSpPr>
              <a:grpSpLocks/>
            </p:cNvGrpSpPr>
            <p:nvPr/>
          </p:nvGrpSpPr>
          <p:grpSpPr bwMode="auto">
            <a:xfrm>
              <a:off x="1436249" y="2058802"/>
              <a:ext cx="1149845" cy="775096"/>
              <a:chOff x="5878415" y="1227312"/>
              <a:chExt cx="1398727" cy="1010250"/>
            </a:xfrm>
          </p:grpSpPr>
          <p:pic>
            <p:nvPicPr>
              <p:cNvPr id="37" name="Picture 8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2684" y="1227312"/>
                <a:ext cx="566143" cy="676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TextBox 85"/>
              <p:cNvSpPr txBox="1">
                <a:spLocks noChangeArrowheads="1"/>
              </p:cNvSpPr>
              <p:nvPr/>
            </p:nvSpPr>
            <p:spPr bwMode="auto">
              <a:xfrm>
                <a:off x="5878415" y="1906611"/>
                <a:ext cx="1398727" cy="330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50" b="1" kern="0" dirty="0" smtClean="0">
                    <a:solidFill>
                      <a:srgbClr val="000000"/>
                    </a:solidFill>
                    <a:latin typeface="微软雅黑" pitchFamily="34" charset="-122"/>
                  </a:rPr>
                  <a:t>服务台坐席</a:t>
                </a:r>
                <a:endParaRPr lang="zh-CN" altLang="en-US" sz="1050" b="1" kern="0" dirty="0">
                  <a:solidFill>
                    <a:srgbClr val="000000"/>
                  </a:solidFill>
                  <a:latin typeface="微软雅黑" pitchFamily="34" charset="-122"/>
                </a:endParaRPr>
              </a:p>
            </p:txBody>
          </p:sp>
        </p:grpSp>
        <p:grpSp>
          <p:nvGrpSpPr>
            <p:cNvPr id="6" name="组合 7"/>
            <p:cNvGrpSpPr>
              <a:grpSpLocks/>
            </p:cNvGrpSpPr>
            <p:nvPr/>
          </p:nvGrpSpPr>
          <p:grpSpPr bwMode="auto">
            <a:xfrm>
              <a:off x="3119447" y="1552779"/>
              <a:ext cx="828776" cy="810514"/>
              <a:chOff x="6788441" y="2841546"/>
              <a:chExt cx="1008112" cy="1274876"/>
            </a:xfrm>
          </p:grpSpPr>
          <p:pic>
            <p:nvPicPr>
              <p:cNvPr id="35" name="Picture 80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08917" y="2841546"/>
                <a:ext cx="515151" cy="838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" name="TextBox 77"/>
              <p:cNvSpPr txBox="1">
                <a:spLocks noChangeArrowheads="1"/>
              </p:cNvSpPr>
              <p:nvPr/>
            </p:nvSpPr>
            <p:spPr bwMode="auto">
              <a:xfrm>
                <a:off x="6788441" y="3717032"/>
                <a:ext cx="1008112" cy="399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50" b="1" kern="0" dirty="0">
                    <a:solidFill>
                      <a:srgbClr val="000000"/>
                    </a:solidFill>
                    <a:latin typeface="微软雅黑" pitchFamily="34" charset="-122"/>
                  </a:rPr>
                  <a:t>服务工程师</a:t>
                </a:r>
              </a:p>
            </p:txBody>
          </p:sp>
        </p:grpSp>
        <p:cxnSp>
          <p:nvCxnSpPr>
            <p:cNvPr id="7" name="肘形连接符 10"/>
            <p:cNvCxnSpPr>
              <a:stCxn id="35" idx="1"/>
            </p:cNvCxnSpPr>
            <p:nvPr/>
          </p:nvCxnSpPr>
          <p:spPr bwMode="auto">
            <a:xfrm flipH="1">
              <a:off x="2410295" y="1819226"/>
              <a:ext cx="890406" cy="488532"/>
            </a:xfrm>
            <a:prstGeom prst="straightConnector1">
              <a:avLst/>
            </a:prstGeom>
            <a:noFill/>
            <a:ln w="19050" cap="flat" cmpd="sng" algn="ctr">
              <a:solidFill>
                <a:srgbClr val="AAE2CA">
                  <a:lumMod val="75000"/>
                </a:srgbClr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grpSp>
          <p:nvGrpSpPr>
            <p:cNvPr id="8" name="组合 14"/>
            <p:cNvGrpSpPr>
              <a:grpSpLocks/>
            </p:cNvGrpSpPr>
            <p:nvPr/>
          </p:nvGrpSpPr>
          <p:grpSpPr bwMode="auto">
            <a:xfrm>
              <a:off x="4419943" y="1549128"/>
              <a:ext cx="1132878" cy="786540"/>
              <a:chOff x="6511517" y="2841546"/>
              <a:chExt cx="1377770" cy="1235115"/>
            </a:xfrm>
          </p:grpSpPr>
          <p:pic>
            <p:nvPicPr>
              <p:cNvPr id="33" name="Picture 80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57864" y="2841546"/>
                <a:ext cx="625975" cy="838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TextBox 77"/>
              <p:cNvSpPr txBox="1">
                <a:spLocks noChangeArrowheads="1"/>
              </p:cNvSpPr>
              <p:nvPr/>
            </p:nvSpPr>
            <p:spPr bwMode="auto">
              <a:xfrm>
                <a:off x="6511517" y="3677933"/>
                <a:ext cx="1377770" cy="398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50" b="1" kern="0" dirty="0">
                    <a:solidFill>
                      <a:srgbClr val="000000"/>
                    </a:solidFill>
                    <a:latin typeface="微软雅黑" pitchFamily="34" charset="-122"/>
                  </a:rPr>
                  <a:t>运维</a:t>
                </a:r>
                <a:r>
                  <a:rPr lang="zh-CN" altLang="en-US" sz="1050" b="1" kern="0" dirty="0" smtClean="0">
                    <a:solidFill>
                      <a:srgbClr val="000000"/>
                    </a:solidFill>
                    <a:latin typeface="微软雅黑" pitchFamily="34" charset="-122"/>
                  </a:rPr>
                  <a:t>主管</a:t>
                </a:r>
                <a:r>
                  <a:rPr lang="en-US" altLang="zh-CN" sz="1050" b="1" kern="0" dirty="0" smtClean="0">
                    <a:solidFill>
                      <a:srgbClr val="000000"/>
                    </a:solidFill>
                    <a:latin typeface="微软雅黑" pitchFamily="34" charset="-122"/>
                  </a:rPr>
                  <a:t>/</a:t>
                </a:r>
                <a:r>
                  <a:rPr lang="zh-CN" altLang="en-US" sz="1050" b="1" kern="0" dirty="0" smtClean="0">
                    <a:solidFill>
                      <a:srgbClr val="000000"/>
                    </a:solidFill>
                    <a:latin typeface="微软雅黑" pitchFamily="34" charset="-122"/>
                  </a:rPr>
                  <a:t>领域经理</a:t>
                </a:r>
                <a:endParaRPr lang="zh-CN" altLang="en-US" sz="1050" b="1" kern="0" dirty="0">
                  <a:solidFill>
                    <a:srgbClr val="000000"/>
                  </a:solidFill>
                  <a:latin typeface="微软雅黑" pitchFamily="34" charset="-122"/>
                </a:endParaRPr>
              </a:p>
            </p:txBody>
          </p:sp>
        </p:grpSp>
        <p:cxnSp>
          <p:nvCxnSpPr>
            <p:cNvPr id="9" name="肘形连接符 10"/>
            <p:cNvCxnSpPr/>
            <p:nvPr/>
          </p:nvCxnSpPr>
          <p:spPr bwMode="auto">
            <a:xfrm flipH="1" flipV="1">
              <a:off x="2441616" y="2594779"/>
              <a:ext cx="921353" cy="368866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10" name="肘形连接符 10"/>
            <p:cNvCxnSpPr/>
            <p:nvPr/>
          </p:nvCxnSpPr>
          <p:spPr bwMode="auto">
            <a:xfrm flipH="1">
              <a:off x="3914997" y="1904137"/>
              <a:ext cx="69036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pic>
          <p:nvPicPr>
            <p:cNvPr id="11" name="Picture 53" descr="j034344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664" y="1988840"/>
              <a:ext cx="353275" cy="424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图片 4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5486" y="1960274"/>
              <a:ext cx="190553" cy="357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3" name="肘形连接符 10"/>
            <p:cNvCxnSpPr/>
            <p:nvPr/>
          </p:nvCxnSpPr>
          <p:spPr bwMode="auto">
            <a:xfrm flipH="1">
              <a:off x="867748" y="2387362"/>
              <a:ext cx="55463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sp>
          <p:nvSpPr>
            <p:cNvPr id="14" name="TextBox 85"/>
            <p:cNvSpPr txBox="1">
              <a:spLocks noChangeArrowheads="1"/>
            </p:cNvSpPr>
            <p:nvPr/>
          </p:nvSpPr>
          <p:spPr bwMode="auto">
            <a:xfrm>
              <a:off x="342065" y="2420888"/>
              <a:ext cx="4855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itchFamily="34" charset="-122"/>
                </a:rPr>
                <a:t>客户</a:t>
              </a:r>
            </a:p>
          </p:txBody>
        </p:sp>
        <p:pic>
          <p:nvPicPr>
            <p:cNvPr id="15" name="Picture 44" descr="j0301260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1660" y="2744849"/>
              <a:ext cx="341158" cy="437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85"/>
            <p:cNvSpPr txBox="1">
              <a:spLocks noChangeArrowheads="1"/>
            </p:cNvSpPr>
            <p:nvPr/>
          </p:nvSpPr>
          <p:spPr bwMode="auto">
            <a:xfrm>
              <a:off x="3061761" y="3182753"/>
              <a:ext cx="1149845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050" b="1" kern="0" dirty="0" smtClean="0">
                  <a:solidFill>
                    <a:srgbClr val="000000"/>
                  </a:solidFill>
                  <a:latin typeface="微软雅黑" pitchFamily="34" charset="-122"/>
                </a:rPr>
                <a:t>服务台</a:t>
              </a:r>
              <a:r>
                <a:rPr lang="zh-CN" altLang="en-US" sz="1050" b="1" kern="0" dirty="0">
                  <a:solidFill>
                    <a:srgbClr val="000000"/>
                  </a:solidFill>
                  <a:latin typeface="微软雅黑" pitchFamily="34" charset="-122"/>
                </a:rPr>
                <a:t>主管</a:t>
              </a:r>
            </a:p>
          </p:txBody>
        </p:sp>
        <p:cxnSp>
          <p:nvCxnSpPr>
            <p:cNvPr id="17" name="肘形连接符 10"/>
            <p:cNvCxnSpPr>
              <a:stCxn id="38" idx="2"/>
              <a:endCxn id="16" idx="2"/>
            </p:cNvCxnSpPr>
            <p:nvPr/>
          </p:nvCxnSpPr>
          <p:spPr bwMode="auto">
            <a:xfrm rot="16200000" flipH="1">
              <a:off x="2522542" y="2322527"/>
              <a:ext cx="602771" cy="1625512"/>
            </a:xfrm>
            <a:prstGeom prst="bentConnector3">
              <a:avLst>
                <a:gd name="adj1" fmla="val 137925"/>
              </a:avLst>
            </a:prstGeom>
            <a:noFill/>
            <a:ln w="19050" cap="flat" cmpd="sng" algn="ctr">
              <a:solidFill>
                <a:srgbClr val="000000"/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18" name="肘形连接符 10"/>
            <p:cNvCxnSpPr>
              <a:stCxn id="34" idx="2"/>
            </p:cNvCxnSpPr>
            <p:nvPr/>
          </p:nvCxnSpPr>
          <p:spPr bwMode="auto">
            <a:xfrm rot="5400000">
              <a:off x="4260153" y="2099661"/>
              <a:ext cx="490223" cy="962237"/>
            </a:xfrm>
            <a:prstGeom prst="bentConnector2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19" name="肘形连接符 10"/>
            <p:cNvCxnSpPr>
              <a:stCxn id="37" idx="0"/>
            </p:cNvCxnSpPr>
            <p:nvPr/>
          </p:nvCxnSpPr>
          <p:spPr bwMode="auto">
            <a:xfrm rot="5400000" flipH="1" flipV="1">
              <a:off x="3083058" y="185175"/>
              <a:ext cx="734309" cy="3012946"/>
            </a:xfrm>
            <a:prstGeom prst="bentConnector2">
              <a:avLst/>
            </a:prstGeom>
            <a:noFill/>
            <a:ln w="19050" cap="flat" cmpd="sng" algn="ctr">
              <a:solidFill>
                <a:srgbClr val="AAE2CA">
                  <a:lumMod val="75000"/>
                </a:srgbClr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20" name="肘形连接符 10"/>
            <p:cNvCxnSpPr/>
            <p:nvPr/>
          </p:nvCxnSpPr>
          <p:spPr bwMode="auto">
            <a:xfrm>
              <a:off x="3499996" y="1396247"/>
              <a:ext cx="0" cy="219749"/>
            </a:xfrm>
            <a:prstGeom prst="straightConnector1">
              <a:avLst/>
            </a:prstGeom>
            <a:noFill/>
            <a:ln w="19050" cap="flat" cmpd="sng" algn="ctr">
              <a:solidFill>
                <a:srgbClr val="AAE2CA">
                  <a:lumMod val="75000"/>
                </a:srgbClr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21" name="肘形连接符 10"/>
            <p:cNvCxnSpPr/>
            <p:nvPr/>
          </p:nvCxnSpPr>
          <p:spPr bwMode="auto">
            <a:xfrm flipH="1">
              <a:off x="5029494" y="1324492"/>
              <a:ext cx="0" cy="291504"/>
            </a:xfrm>
            <a:prstGeom prst="straightConnector1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sp>
          <p:nvSpPr>
            <p:cNvPr id="22" name="TextBox 85"/>
            <p:cNvSpPr txBox="1">
              <a:spLocks noChangeArrowheads="1"/>
            </p:cNvSpPr>
            <p:nvPr/>
          </p:nvSpPr>
          <p:spPr bwMode="auto">
            <a:xfrm>
              <a:off x="2856616" y="1084958"/>
              <a:ext cx="159866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处理完成</a:t>
              </a:r>
              <a:r>
                <a:rPr lang="zh-CN" altLang="en-US" sz="1200" b="1" kern="0" dirty="0" smtClean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、回退服务台</a:t>
              </a:r>
              <a:endParaRPr lang="zh-CN" altLang="en-US" sz="1200" b="1" kern="0" dirty="0">
                <a:solidFill>
                  <a:srgbClr val="000000">
                    <a:lumMod val="60000"/>
                    <a:lumOff val="40000"/>
                  </a:srgb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TextBox 85"/>
            <p:cNvSpPr txBox="1">
              <a:spLocks noChangeArrowheads="1"/>
            </p:cNvSpPr>
            <p:nvPr/>
          </p:nvSpPr>
          <p:spPr bwMode="auto">
            <a:xfrm rot="19753476">
              <a:off x="2177169" y="1932765"/>
              <a:ext cx="10289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 smtClean="0">
                  <a:solidFill>
                    <a:srgbClr val="558ED5"/>
                  </a:solidFill>
                  <a:latin typeface="微软雅黑" pitchFamily="34" charset="-122"/>
                </a:rPr>
                <a:t>分派</a:t>
              </a:r>
              <a:endParaRPr lang="zh-CN" altLang="en-US" sz="1200" b="1" kern="0" dirty="0">
                <a:solidFill>
                  <a:srgbClr val="558ED5"/>
                </a:solidFill>
                <a:latin typeface="微软雅黑" pitchFamily="34" charset="-122"/>
              </a:endParaRPr>
            </a:p>
          </p:txBody>
        </p:sp>
        <p:sp>
          <p:nvSpPr>
            <p:cNvPr id="24" name="TextBox 85"/>
            <p:cNvSpPr txBox="1">
              <a:spLocks noChangeArrowheads="1"/>
            </p:cNvSpPr>
            <p:nvPr/>
          </p:nvSpPr>
          <p:spPr bwMode="auto">
            <a:xfrm rot="1427677">
              <a:off x="2557970" y="2517551"/>
              <a:ext cx="83138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>
                  <a:solidFill>
                    <a:srgbClr val="558ED5"/>
                  </a:solidFill>
                  <a:latin typeface="微软雅黑" pitchFamily="34" charset="-122"/>
                </a:rPr>
                <a:t>投诉</a:t>
              </a:r>
            </a:p>
          </p:txBody>
        </p:sp>
        <p:sp>
          <p:nvSpPr>
            <p:cNvPr id="25" name="TextBox 85"/>
            <p:cNvSpPr txBox="1">
              <a:spLocks noChangeArrowheads="1"/>
            </p:cNvSpPr>
            <p:nvPr/>
          </p:nvSpPr>
          <p:spPr bwMode="auto">
            <a:xfrm>
              <a:off x="3810255" y="1683267"/>
              <a:ext cx="90472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 smtClean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升级</a:t>
              </a:r>
              <a:r>
                <a:rPr lang="en-US" altLang="zh-CN" sz="1200" b="1" kern="0" dirty="0" smtClean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/</a:t>
              </a:r>
              <a:r>
                <a:rPr lang="zh-CN" altLang="en-US" sz="1200" b="1" kern="0" dirty="0" smtClean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转</a:t>
              </a:r>
              <a:r>
                <a:rPr lang="zh-CN" altLang="en-US" sz="1200" b="1" kern="0" dirty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单</a:t>
              </a:r>
            </a:p>
          </p:txBody>
        </p:sp>
        <p:sp>
          <p:nvSpPr>
            <p:cNvPr id="26" name="TextBox 85"/>
            <p:cNvSpPr txBox="1">
              <a:spLocks noChangeArrowheads="1"/>
            </p:cNvSpPr>
            <p:nvPr/>
          </p:nvSpPr>
          <p:spPr bwMode="auto">
            <a:xfrm>
              <a:off x="4024144" y="2801834"/>
              <a:ext cx="116863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指派主管、经理解决</a:t>
              </a:r>
            </a:p>
          </p:txBody>
        </p:sp>
        <p:sp>
          <p:nvSpPr>
            <p:cNvPr id="27" name="TextBox 85"/>
            <p:cNvSpPr txBox="1">
              <a:spLocks noChangeArrowheads="1"/>
            </p:cNvSpPr>
            <p:nvPr/>
          </p:nvSpPr>
          <p:spPr bwMode="auto">
            <a:xfrm>
              <a:off x="2396303" y="3429000"/>
              <a:ext cx="166261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2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1200" b="1" kern="0" dirty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处理完成、</a:t>
              </a:r>
              <a:r>
                <a:rPr lang="zh-CN" altLang="en-US" sz="1200" b="1" kern="0" dirty="0" smtClean="0">
                  <a:solidFill>
                    <a:srgbClr val="000000">
                      <a:lumMod val="60000"/>
                      <a:lumOff val="40000"/>
                    </a:srgbClr>
                  </a:solidFill>
                  <a:latin typeface="微软雅黑" pitchFamily="34" charset="-122"/>
                  <a:ea typeface="微软雅黑" pitchFamily="34" charset="-122"/>
                </a:rPr>
                <a:t>回退服务台</a:t>
              </a:r>
              <a:endParaRPr lang="zh-CN" altLang="en-US" sz="1200" b="1" kern="0" dirty="0">
                <a:solidFill>
                  <a:srgbClr val="000000">
                    <a:lumMod val="60000"/>
                    <a:lumOff val="40000"/>
                  </a:srgb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Box 85"/>
            <p:cNvSpPr txBox="1">
              <a:spLocks noChangeArrowheads="1"/>
            </p:cNvSpPr>
            <p:nvPr/>
          </p:nvSpPr>
          <p:spPr bwMode="auto">
            <a:xfrm>
              <a:off x="756096" y="2020778"/>
              <a:ext cx="8635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事件请求</a:t>
              </a:r>
              <a:r>
                <a:rPr lang="en-US" altLang="zh-CN" sz="1200" b="1" kern="0" dirty="0">
                  <a:solidFill>
                    <a:srgbClr val="558ED5"/>
                  </a:solidFill>
                  <a:latin typeface="微软雅黑" pitchFamily="34" charset="-122"/>
                </a:rPr>
                <a:t/>
              </a:r>
              <a:br>
                <a:rPr lang="en-US" altLang="zh-CN" sz="1200" b="1" kern="0" dirty="0">
                  <a:solidFill>
                    <a:srgbClr val="558ED5"/>
                  </a:solidFill>
                  <a:latin typeface="微软雅黑" pitchFamily="34" charset="-122"/>
                </a:rPr>
              </a:b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电话</a:t>
              </a:r>
            </a:p>
          </p:txBody>
        </p:sp>
        <p:sp>
          <p:nvSpPr>
            <p:cNvPr id="29" name="流程图: 联系 28"/>
            <p:cNvSpPr/>
            <p:nvPr/>
          </p:nvSpPr>
          <p:spPr bwMode="ltGray">
            <a:xfrm>
              <a:off x="2722197" y="1489304"/>
              <a:ext cx="187925" cy="174903"/>
            </a:xfrm>
            <a:prstGeom prst="flowChartConnector">
              <a:avLst/>
            </a:prstGeom>
            <a:solidFill>
              <a:srgbClr val="00B050"/>
            </a:solidFill>
            <a:ln w="9525" cap="flat" cmpd="sng" algn="ctr">
              <a:solidFill>
                <a:srgbClr val="92D05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12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TextBox 85"/>
            <p:cNvSpPr txBox="1">
              <a:spLocks noChangeArrowheads="1"/>
            </p:cNvSpPr>
            <p:nvPr/>
          </p:nvSpPr>
          <p:spPr bwMode="auto">
            <a:xfrm>
              <a:off x="2310021" y="1440536"/>
              <a:ext cx="4525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39A42E"/>
                  </a:solidFill>
                  <a:latin typeface="微软雅黑" pitchFamily="34" charset="-122"/>
                </a:rPr>
                <a:t>响应时间</a:t>
              </a:r>
            </a:p>
          </p:txBody>
        </p:sp>
        <p:cxnSp>
          <p:nvCxnSpPr>
            <p:cNvPr id="31" name="肘形连接符 10"/>
            <p:cNvCxnSpPr>
              <a:endCxn id="35" idx="1"/>
            </p:cNvCxnSpPr>
            <p:nvPr/>
          </p:nvCxnSpPr>
          <p:spPr bwMode="auto">
            <a:xfrm>
              <a:off x="2852787" y="1664207"/>
              <a:ext cx="447912" cy="155019"/>
            </a:xfrm>
            <a:prstGeom prst="straightConnector1">
              <a:avLst/>
            </a:prstGeom>
            <a:noFill/>
            <a:ln w="19050" cap="flat" cmpd="sng" algn="ctr">
              <a:solidFill>
                <a:srgbClr val="AAE2CA">
                  <a:lumMod val="75000"/>
                </a:srgbClr>
              </a:solidFill>
              <a:prstDash val="sysDash"/>
              <a:headEnd type="none" w="med" len="med"/>
              <a:tailEnd type="triangle" w="med" len="med"/>
            </a:ln>
            <a:effectLst/>
          </p:spPr>
        </p:cxnSp>
        <p:sp>
          <p:nvSpPr>
            <p:cNvPr id="32" name="圆角矩形 31"/>
            <p:cNvSpPr/>
            <p:nvPr/>
          </p:nvSpPr>
          <p:spPr>
            <a:xfrm>
              <a:off x="107503" y="1084958"/>
              <a:ext cx="5376354" cy="2671861"/>
            </a:xfrm>
            <a:prstGeom prst="roundRect">
              <a:avLst>
                <a:gd name="adj" fmla="val 7690"/>
              </a:avLst>
            </a:prstGeom>
            <a:noFill/>
            <a:ln>
              <a:solidFill>
                <a:schemeClr val="accent4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058175" y="3852472"/>
            <a:ext cx="8085825" cy="2613016"/>
            <a:chOff x="35496" y="4395882"/>
            <a:chExt cx="5589332" cy="2392109"/>
          </a:xfrm>
        </p:grpSpPr>
        <p:grpSp>
          <p:nvGrpSpPr>
            <p:cNvPr id="40" name="组合 39"/>
            <p:cNvGrpSpPr/>
            <p:nvPr/>
          </p:nvGrpSpPr>
          <p:grpSpPr>
            <a:xfrm>
              <a:off x="179512" y="4437112"/>
              <a:ext cx="5445316" cy="2350879"/>
              <a:chOff x="152853" y="4221088"/>
              <a:chExt cx="6651395" cy="2350879"/>
            </a:xfrm>
          </p:grpSpPr>
          <p:grpSp>
            <p:nvGrpSpPr>
              <p:cNvPr id="42" name="组合 14"/>
              <p:cNvGrpSpPr>
                <a:grpSpLocks/>
              </p:cNvGrpSpPr>
              <p:nvPr/>
            </p:nvGrpSpPr>
            <p:grpSpPr bwMode="auto">
              <a:xfrm>
                <a:off x="5437354" y="5085183"/>
                <a:ext cx="1366894" cy="724561"/>
                <a:chOff x="6535748" y="2841546"/>
                <a:chExt cx="1377770" cy="1137787"/>
              </a:xfrm>
            </p:grpSpPr>
            <p:pic>
              <p:nvPicPr>
                <p:cNvPr id="76" name="Picture 80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30808" y="2841546"/>
                  <a:ext cx="566451" cy="838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535748" y="3614315"/>
                  <a:ext cx="1377770" cy="3650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050" b="1" kern="0" dirty="0">
                      <a:solidFill>
                        <a:srgbClr val="000000"/>
                      </a:solidFill>
                      <a:latin typeface="微软雅黑" pitchFamily="34" charset="-122"/>
                    </a:rPr>
                    <a:t>运维主管</a:t>
                  </a:r>
                </a:p>
              </p:txBody>
            </p:sp>
          </p:grpSp>
          <p:sp>
            <p:nvSpPr>
              <p:cNvPr id="43" name="TextBox 85"/>
              <p:cNvSpPr txBox="1">
                <a:spLocks noChangeArrowheads="1"/>
              </p:cNvSpPr>
              <p:nvPr/>
            </p:nvSpPr>
            <p:spPr bwMode="auto">
              <a:xfrm>
                <a:off x="2416749" y="5168225"/>
                <a:ext cx="100312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通报</a:t>
                </a:r>
              </a:p>
            </p:txBody>
          </p:sp>
          <p:grpSp>
            <p:nvGrpSpPr>
              <p:cNvPr id="44" name="组合 7"/>
              <p:cNvGrpSpPr>
                <a:grpSpLocks/>
              </p:cNvGrpSpPr>
              <p:nvPr/>
            </p:nvGrpSpPr>
            <p:grpSpPr bwMode="auto">
              <a:xfrm>
                <a:off x="152853" y="4346862"/>
                <a:ext cx="999975" cy="789049"/>
                <a:chOff x="6748437" y="2841546"/>
                <a:chExt cx="1008112" cy="1241111"/>
              </a:xfrm>
            </p:grpSpPr>
            <p:pic>
              <p:nvPicPr>
                <p:cNvPr id="74" name="Picture 80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25967" y="2841546"/>
                  <a:ext cx="454832" cy="838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748437" y="3717032"/>
                  <a:ext cx="1008112" cy="3656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050" b="1" kern="0" dirty="0">
                      <a:solidFill>
                        <a:srgbClr val="000000"/>
                      </a:solidFill>
                      <a:latin typeface="微软雅黑" pitchFamily="34" charset="-122"/>
                    </a:rPr>
                    <a:t>服务工程师</a:t>
                  </a:r>
                </a:p>
              </p:txBody>
            </p:sp>
          </p:grpSp>
          <p:grpSp>
            <p:nvGrpSpPr>
              <p:cNvPr id="45" name="组合 14"/>
              <p:cNvGrpSpPr>
                <a:grpSpLocks/>
              </p:cNvGrpSpPr>
              <p:nvPr/>
            </p:nvGrpSpPr>
            <p:grpSpPr bwMode="auto">
              <a:xfrm>
                <a:off x="4141210" y="5079666"/>
                <a:ext cx="1366894" cy="724561"/>
                <a:chOff x="6535748" y="2841546"/>
                <a:chExt cx="1377770" cy="1137787"/>
              </a:xfrm>
            </p:grpSpPr>
            <p:pic>
              <p:nvPicPr>
                <p:cNvPr id="72" name="Picture 80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75438" y="2841546"/>
                  <a:ext cx="513604" cy="838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535748" y="3614315"/>
                  <a:ext cx="1377770" cy="3650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050" b="1" kern="0" dirty="0">
                      <a:solidFill>
                        <a:srgbClr val="000000"/>
                      </a:solidFill>
                      <a:latin typeface="微软雅黑" pitchFamily="34" charset="-122"/>
                    </a:rPr>
                    <a:t>服务工程师</a:t>
                  </a: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040618" y="4941168"/>
                <a:ext cx="1387366" cy="886138"/>
                <a:chOff x="6610383" y="2642328"/>
                <a:chExt cx="1387366" cy="886138"/>
              </a:xfrm>
            </p:grpSpPr>
            <p:grpSp>
              <p:nvGrpSpPr>
                <p:cNvPr id="68" name="组合 6"/>
                <p:cNvGrpSpPr>
                  <a:grpSpLocks/>
                </p:cNvGrpSpPr>
                <p:nvPr/>
              </p:nvGrpSpPr>
              <p:grpSpPr bwMode="auto">
                <a:xfrm>
                  <a:off x="6610383" y="2774837"/>
                  <a:ext cx="1387366" cy="753629"/>
                  <a:chOff x="6015671" y="1227312"/>
                  <a:chExt cx="1398727" cy="982268"/>
                </a:xfrm>
              </p:grpSpPr>
              <p:pic>
                <p:nvPicPr>
                  <p:cNvPr id="70" name="Picture 86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172064" y="1227312"/>
                    <a:ext cx="695325" cy="6762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1" name="Text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015671" y="1906609"/>
                    <a:ext cx="1398727" cy="30297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050" b="1" kern="0" dirty="0" smtClean="0">
                        <a:solidFill>
                          <a:srgbClr val="000000"/>
                        </a:solidFill>
                        <a:latin typeface="微软雅黑" pitchFamily="34" charset="-122"/>
                      </a:rPr>
                      <a:t>服务台</a:t>
                    </a:r>
                    <a:endParaRPr lang="zh-CN" altLang="en-US" sz="1050" b="1" kern="0" dirty="0">
                      <a:solidFill>
                        <a:srgbClr val="000000"/>
                      </a:solidFill>
                      <a:latin typeface="微软雅黑" pitchFamily="34" charset="-122"/>
                    </a:endParaRPr>
                  </a:p>
                </p:txBody>
              </p:sp>
            </p:grpSp>
            <p:pic>
              <p:nvPicPr>
                <p:cNvPr id="69" name="图片 42"/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777261" y="2642328"/>
                  <a:ext cx="284383" cy="3576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47" name="TextBox 85"/>
              <p:cNvSpPr txBox="1">
                <a:spLocks noChangeArrowheads="1"/>
              </p:cNvSpPr>
              <p:nvPr/>
            </p:nvSpPr>
            <p:spPr bwMode="auto">
              <a:xfrm>
                <a:off x="1299172" y="4954891"/>
                <a:ext cx="643805" cy="225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通报</a:t>
                </a: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1687658" y="4221088"/>
                <a:ext cx="896040" cy="377085"/>
                <a:chOff x="1687658" y="4403864"/>
                <a:chExt cx="896040" cy="377085"/>
              </a:xfrm>
            </p:grpSpPr>
            <p:sp>
              <p:nvSpPr>
                <p:cNvPr id="66" name="流程图: 联系 65"/>
                <p:cNvSpPr/>
                <p:nvPr/>
              </p:nvSpPr>
              <p:spPr bwMode="ltGray">
                <a:xfrm>
                  <a:off x="2005657" y="4606046"/>
                  <a:ext cx="226744" cy="174903"/>
                </a:xfrm>
                <a:prstGeom prst="flowChartConnector">
                  <a:avLst/>
                </a:prstGeom>
                <a:solidFill>
                  <a:srgbClr val="00B050"/>
                </a:solidFill>
                <a:ln w="9525" cap="flat" cmpd="sng" algn="ctr">
                  <a:solidFill>
                    <a:srgbClr val="92D050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1050" kern="0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1687658" y="4403864"/>
                  <a:ext cx="896040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000" b="1" kern="0" dirty="0">
                      <a:solidFill>
                        <a:srgbClr val="39A42E"/>
                      </a:solidFill>
                      <a:latin typeface="微软雅黑" pitchFamily="34" charset="-122"/>
                    </a:rPr>
                    <a:t>紧急事件判定规则</a:t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279640" y="5739890"/>
                <a:ext cx="901006" cy="832077"/>
                <a:chOff x="279640" y="5595874"/>
                <a:chExt cx="901006" cy="832077"/>
              </a:xfrm>
            </p:grpSpPr>
            <p:pic>
              <p:nvPicPr>
                <p:cNvPr id="64" name="图片 7"/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9640" y="5595874"/>
                  <a:ext cx="738659" cy="5529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5" name="TextBox 64"/>
                <p:cNvSpPr txBox="1"/>
                <p:nvPr/>
              </p:nvSpPr>
              <p:spPr>
                <a:xfrm>
                  <a:off x="383227" y="6195501"/>
                  <a:ext cx="797419" cy="2324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1050" b="1" dirty="0">
                      <a:latin typeface="微软雅黑" pitchFamily="34" charset="-122"/>
                      <a:ea typeface="微软雅黑" pitchFamily="34" charset="-122"/>
                    </a:rPr>
                    <a:t>监控系统</a:t>
                  </a: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727614" y="4952008"/>
                <a:ext cx="1060538" cy="914817"/>
                <a:chOff x="1439582" y="4992658"/>
                <a:chExt cx="1060538" cy="914817"/>
              </a:xfrm>
            </p:grpSpPr>
            <p:pic>
              <p:nvPicPr>
                <p:cNvPr id="62" name="Picture 80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41407" y="4992658"/>
                  <a:ext cx="534228" cy="5337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3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1439582" y="5527104"/>
                  <a:ext cx="1060538" cy="3803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050" b="1" kern="0" dirty="0" smtClean="0">
                      <a:solidFill>
                        <a:srgbClr val="000000"/>
                      </a:solidFill>
                      <a:latin typeface="微软雅黑" pitchFamily="34" charset="-122"/>
                    </a:rPr>
                    <a:t>运</a:t>
                  </a:r>
                  <a:r>
                    <a:rPr lang="zh-CN" altLang="en-US" sz="1050" b="1" kern="0" dirty="0">
                      <a:solidFill>
                        <a:srgbClr val="000000"/>
                      </a:solidFill>
                      <a:latin typeface="微软雅黑" pitchFamily="34" charset="-122"/>
                    </a:rPr>
                    <a:t>维主管</a:t>
                  </a:r>
                  <a:r>
                    <a:rPr lang="zh-CN" altLang="en-US" sz="1050" b="1" kern="0" dirty="0" smtClean="0">
                      <a:solidFill>
                        <a:srgbClr val="000000"/>
                      </a:solidFill>
                      <a:latin typeface="微软雅黑" pitchFamily="34" charset="-122"/>
                    </a:rPr>
                    <a:t>、</a:t>
                  </a:r>
                  <a:endParaRPr lang="en-US" altLang="zh-CN" sz="1050" b="1" kern="0" dirty="0" smtClean="0">
                    <a:solidFill>
                      <a:srgbClr val="000000"/>
                    </a:solidFill>
                    <a:latin typeface="微软雅黑" pitchFamily="34" charset="-122"/>
                  </a:endParaRPr>
                </a:p>
                <a:p>
                  <a:pPr algn="ctr" eaLnBrk="1" hangingPunct="1">
                    <a:defRPr/>
                  </a:pPr>
                  <a:r>
                    <a:rPr lang="zh-CN" altLang="en-US" sz="1050" b="1" kern="0" dirty="0" smtClean="0">
                      <a:solidFill>
                        <a:srgbClr val="000000"/>
                      </a:solidFill>
                      <a:latin typeface="微软雅黑" pitchFamily="34" charset="-122"/>
                    </a:rPr>
                    <a:t>服务台</a:t>
                  </a:r>
                  <a:r>
                    <a:rPr lang="zh-CN" altLang="en-US" sz="1050" b="1" kern="0" dirty="0">
                      <a:solidFill>
                        <a:srgbClr val="000000"/>
                      </a:solidFill>
                      <a:latin typeface="微软雅黑" pitchFamily="34" charset="-122"/>
                    </a:rPr>
                    <a:t>主管</a:t>
                  </a:r>
                </a:p>
              </p:txBody>
            </p:sp>
          </p:grpSp>
          <p:cxnSp>
            <p:nvCxnSpPr>
              <p:cNvPr id="51" name="肘形连接符 50"/>
              <p:cNvCxnSpPr>
                <a:endCxn id="62" idx="1"/>
              </p:cNvCxnSpPr>
              <p:nvPr/>
            </p:nvCxnSpPr>
            <p:spPr bwMode="auto">
              <a:xfrm>
                <a:off x="923360" y="5013176"/>
                <a:ext cx="1006079" cy="205722"/>
              </a:xfrm>
              <a:prstGeom prst="bentConnector3">
                <a:avLst>
                  <a:gd name="adj1" fmla="val 54981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52" name="肘形连接符 51"/>
              <p:cNvCxnSpPr>
                <a:stCxn id="64" idx="3"/>
                <a:endCxn id="62" idx="1"/>
              </p:cNvCxnSpPr>
              <p:nvPr/>
            </p:nvCxnSpPr>
            <p:spPr bwMode="auto">
              <a:xfrm flipV="1">
                <a:off x="1018299" y="5218897"/>
                <a:ext cx="911140" cy="797456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53" name="直接箭头连接符 52"/>
              <p:cNvCxnSpPr>
                <a:stCxn id="64" idx="0"/>
                <a:endCxn id="75" idx="2"/>
              </p:cNvCxnSpPr>
              <p:nvPr/>
            </p:nvCxnSpPr>
            <p:spPr bwMode="auto">
              <a:xfrm flipV="1">
                <a:off x="648969" y="5135911"/>
                <a:ext cx="3871" cy="60397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54" name="肘形连接符 10"/>
              <p:cNvCxnSpPr/>
              <p:nvPr/>
            </p:nvCxnSpPr>
            <p:spPr bwMode="auto">
              <a:xfrm>
                <a:off x="2123728" y="4653136"/>
                <a:ext cx="0" cy="394519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AAE2CA">
                    <a:lumMod val="75000"/>
                  </a:srgbClr>
                </a:solidFill>
                <a:prstDash val="sysDash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5" name="肘形连接符 10"/>
              <p:cNvCxnSpPr/>
              <p:nvPr/>
            </p:nvCxnSpPr>
            <p:spPr bwMode="auto">
              <a:xfrm flipH="1">
                <a:off x="2627784" y="5408105"/>
                <a:ext cx="54821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  <a:effectLst/>
            </p:spPr>
          </p:cxnSp>
          <p:sp>
            <p:nvSpPr>
              <p:cNvPr id="56" name="TextBox 85"/>
              <p:cNvSpPr txBox="1">
                <a:spLocks noChangeArrowheads="1"/>
              </p:cNvSpPr>
              <p:nvPr/>
            </p:nvSpPr>
            <p:spPr bwMode="auto">
              <a:xfrm>
                <a:off x="3673523" y="5013176"/>
                <a:ext cx="104249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指派工</a:t>
                </a:r>
                <a:endParaRPr lang="en-US" altLang="zh-CN" sz="1000" b="1" kern="0" dirty="0">
                  <a:solidFill>
                    <a:srgbClr val="558ED5"/>
                  </a:solidFill>
                  <a:latin typeface="微软雅黑" pitchFamily="34" charset="-122"/>
                </a:endParaRPr>
              </a:p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程师</a:t>
                </a:r>
              </a:p>
            </p:txBody>
          </p:sp>
          <p:cxnSp>
            <p:nvCxnSpPr>
              <p:cNvPr id="57" name="肘形连接符 10"/>
              <p:cNvCxnSpPr/>
              <p:nvPr/>
            </p:nvCxnSpPr>
            <p:spPr bwMode="auto">
              <a:xfrm flipH="1">
                <a:off x="3923928" y="5445224"/>
                <a:ext cx="54821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58" name="肘形连接符 10"/>
              <p:cNvCxnSpPr/>
              <p:nvPr/>
            </p:nvCxnSpPr>
            <p:spPr bwMode="auto">
              <a:xfrm flipH="1">
                <a:off x="5247918" y="5445224"/>
                <a:ext cx="54821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triangle" w="med" len="med"/>
                <a:tailEnd type="triangle" w="med" len="med"/>
              </a:ln>
              <a:effectLst/>
            </p:spPr>
          </p:cxnSp>
          <p:sp>
            <p:nvSpPr>
              <p:cNvPr id="59" name="TextBox 85"/>
              <p:cNvSpPr txBox="1">
                <a:spLocks noChangeArrowheads="1"/>
              </p:cNvSpPr>
              <p:nvPr/>
            </p:nvSpPr>
            <p:spPr bwMode="auto">
              <a:xfrm>
                <a:off x="5004048" y="5013176"/>
                <a:ext cx="104249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填写解</a:t>
                </a:r>
                <a:endParaRPr lang="en-US" altLang="zh-CN" sz="1000" b="1" kern="0" dirty="0">
                  <a:solidFill>
                    <a:srgbClr val="558ED5"/>
                  </a:solidFill>
                  <a:latin typeface="微软雅黑" pitchFamily="34" charset="-122"/>
                </a:endParaRPr>
              </a:p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决报告</a:t>
                </a:r>
              </a:p>
            </p:txBody>
          </p:sp>
          <p:cxnSp>
            <p:nvCxnSpPr>
              <p:cNvPr id="60" name="肘形连接符 59"/>
              <p:cNvCxnSpPr>
                <a:stCxn id="77" idx="2"/>
                <a:endCxn id="71" idx="2"/>
              </p:cNvCxnSpPr>
              <p:nvPr/>
            </p:nvCxnSpPr>
            <p:spPr bwMode="auto">
              <a:xfrm rot="5400000">
                <a:off x="4918770" y="4625275"/>
                <a:ext cx="17562" cy="2386500"/>
              </a:xfrm>
              <a:prstGeom prst="bentConnector3">
                <a:avLst>
                  <a:gd name="adj1" fmla="val 1291618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61" name="TextBox 85"/>
              <p:cNvSpPr txBox="1">
                <a:spLocks noChangeArrowheads="1"/>
              </p:cNvSpPr>
              <p:nvPr/>
            </p:nvSpPr>
            <p:spPr bwMode="auto">
              <a:xfrm>
                <a:off x="3734301" y="6093296"/>
                <a:ext cx="238650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000" b="1" kern="0" dirty="0">
                    <a:solidFill>
                      <a:srgbClr val="558ED5"/>
                    </a:solidFill>
                    <a:latin typeface="微软雅黑" pitchFamily="34" charset="-122"/>
                  </a:rPr>
                  <a:t>紧急事件评审完毕，关闭。</a:t>
                </a:r>
              </a:p>
            </p:txBody>
          </p:sp>
        </p:grpSp>
        <p:sp>
          <p:nvSpPr>
            <p:cNvPr id="41" name="圆角矩形 40"/>
            <p:cNvSpPr/>
            <p:nvPr/>
          </p:nvSpPr>
          <p:spPr>
            <a:xfrm>
              <a:off x="35496" y="4395882"/>
              <a:ext cx="5400600" cy="2353051"/>
            </a:xfrm>
            <a:prstGeom prst="roundRect">
              <a:avLst>
                <a:gd name="adj" fmla="val 7748"/>
              </a:avLst>
            </a:prstGeom>
            <a:noFill/>
            <a:ln>
              <a:solidFill>
                <a:schemeClr val="accent4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9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8" name="圆角矩形标注 77"/>
          <p:cNvSpPr/>
          <p:nvPr/>
        </p:nvSpPr>
        <p:spPr bwMode="auto">
          <a:xfrm>
            <a:off x="6586594" y="3963714"/>
            <a:ext cx="2153767" cy="675655"/>
          </a:xfrm>
          <a:prstGeom prst="wedgeRoundRectCallout">
            <a:avLst>
              <a:gd name="adj1" fmla="val -51244"/>
              <a:gd name="adj2" fmla="val 87720"/>
              <a:gd name="adj3" fmla="val 16667"/>
            </a:avLst>
          </a:prstGeom>
          <a:solidFill>
            <a:srgbClr val="2D2DB9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100" kern="0" dirty="0">
                <a:solidFill>
                  <a:srgbClr val="FF0000"/>
                </a:solidFill>
                <a:latin typeface="微软雅黑"/>
                <a:ea typeface="微软雅黑"/>
              </a:rPr>
              <a:t>紧急事件流程参与角色：</a:t>
            </a:r>
            <a:endParaRPr lang="en-US" altLang="zh-CN" sz="1100" kern="0" dirty="0">
              <a:solidFill>
                <a:srgbClr val="FF0000"/>
              </a:solidFill>
              <a:latin typeface="微软雅黑"/>
              <a:ea typeface="微软雅黑"/>
            </a:endParaRPr>
          </a:p>
          <a:p>
            <a:pPr>
              <a:defRPr/>
            </a:pPr>
            <a:r>
              <a:rPr lang="zh-CN" altLang="en-US" sz="1100" kern="0" dirty="0">
                <a:solidFill>
                  <a:srgbClr val="FF0000"/>
                </a:solidFill>
                <a:latin typeface="微软雅黑"/>
                <a:ea typeface="微软雅黑"/>
              </a:rPr>
              <a:t>服务工程师、运</a:t>
            </a:r>
            <a:r>
              <a:rPr lang="zh-CN" altLang="en-US" sz="1100" kern="0" dirty="0" smtClean="0">
                <a:solidFill>
                  <a:srgbClr val="FF0000"/>
                </a:solidFill>
                <a:latin typeface="微软雅黑"/>
                <a:ea typeface="微软雅黑"/>
              </a:rPr>
              <a:t>维主管、服务台主管；服务台台</a:t>
            </a:r>
            <a:endParaRPr lang="en-US" altLang="zh-CN" sz="1100" kern="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79" name="圆角矩形标注 78"/>
          <p:cNvSpPr/>
          <p:nvPr/>
        </p:nvSpPr>
        <p:spPr bwMode="auto">
          <a:xfrm>
            <a:off x="1331872" y="2827556"/>
            <a:ext cx="1724759" cy="863551"/>
          </a:xfrm>
          <a:prstGeom prst="wedgeRoundRectCallout">
            <a:avLst>
              <a:gd name="adj1" fmla="val 51793"/>
              <a:gd name="adj2" fmla="val -68194"/>
              <a:gd name="adj3" fmla="val 16667"/>
            </a:avLst>
          </a:prstGeom>
          <a:solidFill>
            <a:srgbClr val="2D2DB9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100" kern="0" dirty="0">
                <a:solidFill>
                  <a:srgbClr val="FF0000"/>
                </a:solidFill>
                <a:latin typeface="微软雅黑"/>
                <a:ea typeface="微软雅黑"/>
              </a:rPr>
              <a:t>普通事件流程参与角色：</a:t>
            </a:r>
            <a:endParaRPr lang="en-US" altLang="zh-CN" sz="1100" kern="0" dirty="0">
              <a:solidFill>
                <a:srgbClr val="FF0000"/>
              </a:solidFill>
              <a:latin typeface="微软雅黑"/>
              <a:ea typeface="微软雅黑"/>
            </a:endParaRPr>
          </a:p>
          <a:p>
            <a:pPr>
              <a:defRPr/>
            </a:pPr>
            <a:r>
              <a:rPr lang="zh-CN" altLang="en-US" sz="1100" kern="0" dirty="0">
                <a:solidFill>
                  <a:srgbClr val="FF0000"/>
                </a:solidFill>
                <a:latin typeface="微软雅黑"/>
                <a:ea typeface="微软雅黑"/>
              </a:rPr>
              <a:t>　</a:t>
            </a:r>
            <a:r>
              <a:rPr lang="zh-CN" altLang="en-US" sz="1100" kern="0" dirty="0" smtClean="0">
                <a:solidFill>
                  <a:srgbClr val="FF0000"/>
                </a:solidFill>
                <a:latin typeface="微软雅黑"/>
                <a:ea typeface="微软雅黑"/>
              </a:rPr>
              <a:t>服务台座席、服务台台</a:t>
            </a:r>
            <a:r>
              <a:rPr lang="zh-CN" altLang="en-US" sz="1100" kern="0" dirty="0">
                <a:solidFill>
                  <a:srgbClr val="FF0000"/>
                </a:solidFill>
                <a:latin typeface="微软雅黑"/>
                <a:ea typeface="微软雅黑"/>
              </a:rPr>
              <a:t>主管；服务工程师、运</a:t>
            </a:r>
            <a:r>
              <a:rPr lang="zh-CN" altLang="en-US" sz="1100" kern="0" dirty="0" smtClean="0">
                <a:solidFill>
                  <a:srgbClr val="FF0000"/>
                </a:solidFill>
                <a:latin typeface="微软雅黑"/>
                <a:ea typeface="微软雅黑"/>
              </a:rPr>
              <a:t>维主管；领域主管</a:t>
            </a:r>
            <a:endParaRPr lang="en-US" altLang="zh-CN" sz="1100" kern="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80" name="矩形 79"/>
          <p:cNvSpPr/>
          <p:nvPr/>
        </p:nvSpPr>
        <p:spPr bwMode="auto">
          <a:xfrm>
            <a:off x="302532" y="4065142"/>
            <a:ext cx="432000" cy="1968760"/>
          </a:xfrm>
          <a:prstGeom prst="rect">
            <a:avLst/>
          </a:prstGeom>
        </p:spPr>
        <p:txBody>
          <a:bodyPr vert="eaVert" wrap="square">
            <a:noAutofit/>
          </a:bodyPr>
          <a:lstStyle/>
          <a:p>
            <a:r>
              <a:rPr lang="zh-CN" altLang="en-US" sz="16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紧急事件流程示意图</a:t>
            </a:r>
          </a:p>
        </p:txBody>
      </p:sp>
    </p:spTree>
    <p:extLst>
      <p:ext uri="{BB962C8B-B14F-4D97-AF65-F5344CB8AC3E}">
        <p14:creationId xmlns:p14="http://schemas.microsoft.com/office/powerpoint/2010/main" xmlns="" val="412517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>
                <a:sym typeface="微软雅黑" pitchFamily="34" charset="-122"/>
              </a:rPr>
              <a:t>问题管理</a:t>
            </a:r>
            <a:endParaRPr lang="zh-CN" altLang="en-US" dirty="0"/>
          </a:p>
        </p:txBody>
      </p:sp>
      <p:grpSp>
        <p:nvGrpSpPr>
          <p:cNvPr id="50" name="组合 49"/>
          <p:cNvGrpSpPr/>
          <p:nvPr/>
        </p:nvGrpSpPr>
        <p:grpSpPr>
          <a:xfrm>
            <a:off x="354948" y="878637"/>
            <a:ext cx="8539332" cy="5214659"/>
            <a:chOff x="354948" y="878637"/>
            <a:chExt cx="8539332" cy="5214659"/>
          </a:xfrm>
        </p:grpSpPr>
        <p:sp>
          <p:nvSpPr>
            <p:cNvPr id="5" name="圆角矩形 1"/>
            <p:cNvSpPr>
              <a:spLocks noChangeArrowheads="1"/>
            </p:cNvSpPr>
            <p:nvPr/>
          </p:nvSpPr>
          <p:spPr bwMode="auto">
            <a:xfrm>
              <a:off x="7609398" y="3126601"/>
              <a:ext cx="1034568" cy="3970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知识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点申请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7" name="TextBox 16"/>
            <p:cNvSpPr>
              <a:spLocks noChangeArrowheads="1"/>
            </p:cNvSpPr>
            <p:nvPr/>
          </p:nvSpPr>
          <p:spPr bwMode="auto">
            <a:xfrm>
              <a:off x="980793" y="1544626"/>
              <a:ext cx="987362" cy="49488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问题申请</a:t>
              </a:r>
            </a:p>
          </p:txBody>
        </p:sp>
        <p:sp>
          <p:nvSpPr>
            <p:cNvPr id="8" name="TextBox 17"/>
            <p:cNvSpPr>
              <a:spLocks noChangeArrowheads="1"/>
            </p:cNvSpPr>
            <p:nvPr/>
          </p:nvSpPr>
          <p:spPr bwMode="auto">
            <a:xfrm>
              <a:off x="2289690" y="1544626"/>
              <a:ext cx="988878" cy="49488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问题识别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并记录</a:t>
              </a:r>
            </a:p>
          </p:txBody>
        </p:sp>
        <p:sp>
          <p:nvSpPr>
            <p:cNvPr id="9" name="TextBox 18"/>
            <p:cNvSpPr>
              <a:spLocks noChangeArrowheads="1"/>
            </p:cNvSpPr>
            <p:nvPr/>
          </p:nvSpPr>
          <p:spPr bwMode="auto">
            <a:xfrm>
              <a:off x="3639539" y="1544626"/>
              <a:ext cx="988878" cy="49488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问题分析</a:t>
              </a:r>
            </a:p>
          </p:txBody>
        </p:sp>
        <p:sp>
          <p:nvSpPr>
            <p:cNvPr id="10" name="TextBox 19"/>
            <p:cNvSpPr>
              <a:spLocks noChangeArrowheads="1"/>
            </p:cNvSpPr>
            <p:nvPr/>
          </p:nvSpPr>
          <p:spPr bwMode="auto">
            <a:xfrm>
              <a:off x="4980287" y="1544626"/>
              <a:ext cx="987361" cy="49488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方案审批</a:t>
              </a:r>
            </a:p>
          </p:txBody>
        </p:sp>
        <p:cxnSp>
          <p:nvCxnSpPr>
            <p:cNvPr id="11" name="直接箭头连接符 20"/>
            <p:cNvCxnSpPr>
              <a:cxnSpLocks noChangeShapeType="1"/>
              <a:stCxn id="7" idx="3"/>
              <a:endCxn id="8" idx="1"/>
            </p:cNvCxnSpPr>
            <p:nvPr/>
          </p:nvCxnSpPr>
          <p:spPr bwMode="auto">
            <a:xfrm>
              <a:off x="1968155" y="1792069"/>
              <a:ext cx="321536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" name="直接箭头连接符 21"/>
            <p:cNvCxnSpPr>
              <a:cxnSpLocks noChangeShapeType="1"/>
              <a:stCxn id="8" idx="3"/>
              <a:endCxn id="9" idx="1"/>
            </p:cNvCxnSpPr>
            <p:nvPr/>
          </p:nvCxnSpPr>
          <p:spPr bwMode="auto">
            <a:xfrm>
              <a:off x="3278569" y="1792069"/>
              <a:ext cx="360971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3" name="直接箭头连接符 22"/>
            <p:cNvCxnSpPr>
              <a:cxnSpLocks noChangeShapeType="1"/>
              <a:stCxn id="9" idx="3"/>
              <a:endCxn id="10" idx="1"/>
            </p:cNvCxnSpPr>
            <p:nvPr/>
          </p:nvCxnSpPr>
          <p:spPr bwMode="auto">
            <a:xfrm>
              <a:off x="4628416" y="1792069"/>
              <a:ext cx="351871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4" name="圆角矩形 1"/>
            <p:cNvSpPr>
              <a:spLocks noChangeArrowheads="1"/>
            </p:cNvSpPr>
            <p:nvPr/>
          </p:nvSpPr>
          <p:spPr bwMode="auto">
            <a:xfrm>
              <a:off x="1001912" y="2248055"/>
              <a:ext cx="1002611" cy="39512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事件触发问题</a:t>
              </a:r>
            </a:p>
          </p:txBody>
        </p:sp>
        <p:sp>
          <p:nvSpPr>
            <p:cNvPr id="15" name="圆角矩形 1"/>
            <p:cNvSpPr>
              <a:spLocks noChangeArrowheads="1"/>
            </p:cNvSpPr>
            <p:nvPr/>
          </p:nvSpPr>
          <p:spPr bwMode="auto">
            <a:xfrm>
              <a:off x="2186668" y="2171276"/>
              <a:ext cx="1149646" cy="39708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问题识别初审</a:t>
              </a:r>
            </a:p>
          </p:txBody>
        </p:sp>
        <p:sp>
          <p:nvSpPr>
            <p:cNvPr id="16" name="圆角矩形 1"/>
            <p:cNvSpPr>
              <a:spLocks noChangeArrowheads="1"/>
            </p:cNvSpPr>
            <p:nvPr/>
          </p:nvSpPr>
          <p:spPr bwMode="auto">
            <a:xfrm>
              <a:off x="2186667" y="2625114"/>
              <a:ext cx="1268741" cy="43464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记录并完善问题单</a:t>
              </a:r>
            </a:p>
          </p:txBody>
        </p:sp>
        <p:sp>
          <p:nvSpPr>
            <p:cNvPr id="17" name="圆角矩形 1"/>
            <p:cNvSpPr>
              <a:spLocks noChangeArrowheads="1"/>
            </p:cNvSpPr>
            <p:nvPr/>
          </p:nvSpPr>
          <p:spPr bwMode="auto">
            <a:xfrm>
              <a:off x="1850718" y="3136088"/>
              <a:ext cx="1149646" cy="43679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派发</a:t>
              </a:r>
            </a:p>
          </p:txBody>
        </p:sp>
        <p:sp>
          <p:nvSpPr>
            <p:cNvPr id="18" name="圆角矩形 1"/>
            <p:cNvSpPr>
              <a:spLocks noChangeArrowheads="1"/>
            </p:cNvSpPr>
            <p:nvPr/>
          </p:nvSpPr>
          <p:spPr bwMode="auto">
            <a:xfrm>
              <a:off x="3500430" y="2643182"/>
              <a:ext cx="1304322" cy="105964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>
                <a:buClr>
                  <a:schemeClr val="accent2"/>
                </a:buClr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提出解决方案</a:t>
              </a:r>
              <a:r>
                <a:rPr lang="en-US" altLang="zh-CN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/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临时应对方案</a:t>
              </a:r>
            </a:p>
          </p:txBody>
        </p:sp>
        <p:sp>
          <p:nvSpPr>
            <p:cNvPr id="19" name="圆角矩形 1"/>
            <p:cNvSpPr>
              <a:spLocks noChangeArrowheads="1"/>
            </p:cNvSpPr>
            <p:nvPr/>
          </p:nvSpPr>
          <p:spPr bwMode="auto">
            <a:xfrm>
              <a:off x="3357554" y="2171276"/>
              <a:ext cx="1144281" cy="39708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原因分析</a:t>
              </a:r>
            </a:p>
          </p:txBody>
        </p:sp>
        <p:sp>
          <p:nvSpPr>
            <p:cNvPr id="20" name="圆角矩形 1"/>
            <p:cNvSpPr>
              <a:spLocks noChangeArrowheads="1"/>
            </p:cNvSpPr>
            <p:nvPr/>
          </p:nvSpPr>
          <p:spPr bwMode="auto">
            <a:xfrm>
              <a:off x="4857752" y="2171276"/>
              <a:ext cx="1113310" cy="63723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通过</a:t>
              </a:r>
              <a:endParaRPr 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/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退回</a:t>
              </a:r>
              <a:r>
                <a:rPr lang="en-US" altLang="zh-CN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(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意见</a:t>
              </a:r>
              <a:r>
                <a:rPr lang="en-US" altLang="zh-CN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)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cxnSp>
          <p:nvCxnSpPr>
            <p:cNvPr id="21" name="直接箭头连接符 59"/>
            <p:cNvCxnSpPr>
              <a:cxnSpLocks noChangeShapeType="1"/>
              <a:stCxn id="10" idx="3"/>
              <a:endCxn id="22" idx="1"/>
            </p:cNvCxnSpPr>
            <p:nvPr/>
          </p:nvCxnSpPr>
          <p:spPr bwMode="auto">
            <a:xfrm>
              <a:off x="5967649" y="1792069"/>
              <a:ext cx="344288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2" name="TextBox 61"/>
            <p:cNvSpPr>
              <a:spLocks noChangeArrowheads="1"/>
            </p:cNvSpPr>
            <p:nvPr/>
          </p:nvSpPr>
          <p:spPr bwMode="auto">
            <a:xfrm>
              <a:off x="6311935" y="1544626"/>
              <a:ext cx="988878" cy="49488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问题实施</a:t>
              </a:r>
            </a:p>
          </p:txBody>
        </p:sp>
        <p:sp>
          <p:nvSpPr>
            <p:cNvPr id="23" name="圆角矩形 1"/>
            <p:cNvSpPr>
              <a:spLocks noChangeArrowheads="1"/>
            </p:cNvSpPr>
            <p:nvPr/>
          </p:nvSpPr>
          <p:spPr bwMode="auto">
            <a:xfrm>
              <a:off x="6143636" y="2162248"/>
              <a:ext cx="1230697" cy="39512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转变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更</a:t>
              </a:r>
            </a:p>
          </p:txBody>
        </p:sp>
        <p:sp>
          <p:nvSpPr>
            <p:cNvPr id="24" name="圆角矩形 1"/>
            <p:cNvSpPr>
              <a:spLocks noChangeArrowheads="1"/>
            </p:cNvSpPr>
            <p:nvPr/>
          </p:nvSpPr>
          <p:spPr bwMode="auto">
            <a:xfrm>
              <a:off x="6215074" y="2675126"/>
              <a:ext cx="1230697" cy="39512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记录实施过程</a:t>
              </a:r>
            </a:p>
          </p:txBody>
        </p:sp>
        <p:cxnSp>
          <p:nvCxnSpPr>
            <p:cNvPr id="25" name="直接箭头连接符 65"/>
            <p:cNvCxnSpPr>
              <a:cxnSpLocks noChangeShapeType="1"/>
              <a:stCxn id="22" idx="3"/>
              <a:endCxn id="26" idx="1"/>
            </p:cNvCxnSpPr>
            <p:nvPr/>
          </p:nvCxnSpPr>
          <p:spPr bwMode="auto">
            <a:xfrm>
              <a:off x="7300813" y="1792069"/>
              <a:ext cx="344287" cy="0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6" name="TextBox 68"/>
            <p:cNvSpPr>
              <a:spLocks noChangeArrowheads="1"/>
            </p:cNvSpPr>
            <p:nvPr/>
          </p:nvSpPr>
          <p:spPr bwMode="auto">
            <a:xfrm>
              <a:off x="7645100" y="1544626"/>
              <a:ext cx="988878" cy="49488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问题关闭与统计</a:t>
              </a:r>
            </a:p>
          </p:txBody>
        </p:sp>
        <p:sp>
          <p:nvSpPr>
            <p:cNvPr id="27" name="圆角矩形 1"/>
            <p:cNvSpPr>
              <a:spLocks noChangeArrowheads="1"/>
            </p:cNvSpPr>
            <p:nvPr/>
          </p:nvSpPr>
          <p:spPr bwMode="auto">
            <a:xfrm>
              <a:off x="7645100" y="2162248"/>
              <a:ext cx="1141742" cy="395127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问题关闭标识</a:t>
              </a:r>
            </a:p>
          </p:txBody>
        </p:sp>
        <p:sp>
          <p:nvSpPr>
            <p:cNvPr id="28" name="圆角矩形 1"/>
            <p:cNvSpPr>
              <a:spLocks noChangeArrowheads="1"/>
            </p:cNvSpPr>
            <p:nvPr/>
          </p:nvSpPr>
          <p:spPr bwMode="auto">
            <a:xfrm>
              <a:off x="7645100" y="2642619"/>
              <a:ext cx="1141742" cy="3970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问题关闭通知</a:t>
              </a:r>
            </a:p>
          </p:txBody>
        </p:sp>
        <p:sp>
          <p:nvSpPr>
            <p:cNvPr id="29" name="TextBox 76"/>
            <p:cNvSpPr>
              <a:spLocks noChangeArrowheads="1"/>
            </p:cNvSpPr>
            <p:nvPr/>
          </p:nvSpPr>
          <p:spPr bwMode="auto">
            <a:xfrm>
              <a:off x="1140044" y="4292314"/>
              <a:ext cx="2079373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wrap="none" lIns="18000" rIns="18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问题生成规则</a:t>
              </a:r>
            </a:p>
          </p:txBody>
        </p:sp>
        <p:sp>
          <p:nvSpPr>
            <p:cNvPr id="30" name="TextBox 77"/>
            <p:cNvSpPr>
              <a:spLocks noChangeArrowheads="1"/>
            </p:cNvSpPr>
            <p:nvPr/>
          </p:nvSpPr>
          <p:spPr bwMode="auto">
            <a:xfrm>
              <a:off x="7562280" y="4292314"/>
              <a:ext cx="1332000" cy="4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wrap="none" lIns="18000" rIns="18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问题关闭与</a:t>
              </a:r>
              <a:r>
                <a:rPr kumimoji="0" lang="zh-CN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通知</a:t>
              </a:r>
              <a:endPara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规则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Box 78"/>
            <p:cNvSpPr>
              <a:spLocks noChangeArrowheads="1"/>
            </p:cNvSpPr>
            <p:nvPr/>
          </p:nvSpPr>
          <p:spPr bwMode="auto">
            <a:xfrm>
              <a:off x="3774524" y="4912645"/>
              <a:ext cx="2193125" cy="4948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查询与浏览</a:t>
              </a:r>
            </a:p>
          </p:txBody>
        </p:sp>
        <p:sp>
          <p:nvSpPr>
            <p:cNvPr id="32" name="TextBox 79"/>
            <p:cNvSpPr>
              <a:spLocks noChangeArrowheads="1"/>
            </p:cNvSpPr>
            <p:nvPr/>
          </p:nvSpPr>
          <p:spPr bwMode="auto">
            <a:xfrm>
              <a:off x="6311935" y="4938569"/>
              <a:ext cx="2298938" cy="4948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统计分析</a:t>
              </a:r>
            </a:p>
          </p:txBody>
        </p:sp>
        <p:sp>
          <p:nvSpPr>
            <p:cNvPr id="33" name="TextBox 80"/>
            <p:cNvSpPr>
              <a:spLocks noChangeArrowheads="1"/>
            </p:cNvSpPr>
            <p:nvPr/>
          </p:nvSpPr>
          <p:spPr bwMode="auto">
            <a:xfrm>
              <a:off x="1140045" y="4912645"/>
              <a:ext cx="2079372" cy="4948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过程审计</a:t>
              </a:r>
            </a:p>
          </p:txBody>
        </p:sp>
        <p:sp>
          <p:nvSpPr>
            <p:cNvPr id="34" name="TextBox 81"/>
            <p:cNvSpPr>
              <a:spLocks noChangeArrowheads="1"/>
            </p:cNvSpPr>
            <p:nvPr/>
          </p:nvSpPr>
          <p:spPr bwMode="auto">
            <a:xfrm>
              <a:off x="6311935" y="5598409"/>
              <a:ext cx="2298937" cy="4948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流程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KPI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监控</a:t>
              </a:r>
            </a:p>
          </p:txBody>
        </p:sp>
        <p:sp>
          <p:nvSpPr>
            <p:cNvPr id="35" name="TextBox 94"/>
            <p:cNvSpPr>
              <a:spLocks noChangeArrowheads="1"/>
            </p:cNvSpPr>
            <p:nvPr/>
          </p:nvSpPr>
          <p:spPr bwMode="auto">
            <a:xfrm>
              <a:off x="3768457" y="4292314"/>
              <a:ext cx="2199191" cy="28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wrap="none" lIns="18000" rIns="18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问题解决方案审批规则</a:t>
              </a:r>
            </a:p>
          </p:txBody>
        </p:sp>
        <p:sp>
          <p:nvSpPr>
            <p:cNvPr id="36" name="圆角矩形 1"/>
            <p:cNvSpPr>
              <a:spLocks noChangeArrowheads="1"/>
            </p:cNvSpPr>
            <p:nvPr/>
          </p:nvSpPr>
          <p:spPr bwMode="auto">
            <a:xfrm>
              <a:off x="928662" y="2642619"/>
              <a:ext cx="908497" cy="39708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主动生成</a:t>
              </a:r>
            </a:p>
          </p:txBody>
        </p:sp>
        <p:grpSp>
          <p:nvGrpSpPr>
            <p:cNvPr id="37" name="组合 17"/>
            <p:cNvGrpSpPr>
              <a:grpSpLocks/>
            </p:cNvGrpSpPr>
            <p:nvPr/>
          </p:nvGrpSpPr>
          <p:grpSpPr bwMode="auto">
            <a:xfrm>
              <a:off x="354948" y="1565795"/>
              <a:ext cx="550793" cy="4527501"/>
              <a:chOff x="179107" y="1469207"/>
              <a:chExt cx="576841" cy="3327944"/>
            </a:xfrm>
          </p:grpSpPr>
          <p:sp>
            <p:nvSpPr>
              <p:cNvPr id="44" name="圆角矩形 43"/>
              <p:cNvSpPr/>
              <p:nvPr/>
            </p:nvSpPr>
            <p:spPr bwMode="auto">
              <a:xfrm>
                <a:off x="179354" y="1469207"/>
                <a:ext cx="576594" cy="3327944"/>
              </a:xfrm>
              <a:prstGeom prst="roundRect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25400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TextBox 1"/>
              <p:cNvSpPr txBox="1">
                <a:spLocks noChangeArrowheads="1"/>
              </p:cNvSpPr>
              <p:nvPr/>
            </p:nvSpPr>
            <p:spPr bwMode="auto">
              <a:xfrm>
                <a:off x="179107" y="4009826"/>
                <a:ext cx="576073" cy="701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问题管理功能设计</a:t>
                </a:r>
              </a:p>
            </p:txBody>
          </p:sp>
          <p:sp>
            <p:nvSpPr>
              <p:cNvPr id="46" name="TextBox 167"/>
              <p:cNvSpPr txBox="1">
                <a:spLocks noChangeArrowheads="1"/>
              </p:cNvSpPr>
              <p:nvPr/>
            </p:nvSpPr>
            <p:spPr bwMode="auto">
              <a:xfrm>
                <a:off x="179107" y="3321743"/>
                <a:ext cx="576073" cy="5429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问题规则设计</a:t>
                </a:r>
              </a:p>
            </p:txBody>
          </p:sp>
          <p:sp>
            <p:nvSpPr>
              <p:cNvPr id="47" name="TextBox 169"/>
              <p:cNvSpPr txBox="1">
                <a:spLocks noChangeArrowheads="1"/>
              </p:cNvSpPr>
              <p:nvPr/>
            </p:nvSpPr>
            <p:spPr bwMode="auto">
              <a:xfrm>
                <a:off x="251156" y="1873645"/>
                <a:ext cx="432048" cy="1018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44546A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问题流程设计</a:t>
                </a:r>
                <a:endParaRPr kumimoji="1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48" name="直接连接符 47"/>
              <p:cNvCxnSpPr/>
              <p:nvPr/>
            </p:nvCxnSpPr>
            <p:spPr bwMode="auto">
              <a:xfrm>
                <a:off x="395255" y="3268813"/>
                <a:ext cx="144198" cy="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  <a:headEnd type="none" w="med" len="med"/>
                <a:tailEnd type="none"/>
              </a:ln>
              <a:effectLst/>
            </p:spPr>
          </p:cxnSp>
        </p:grpSp>
        <p:cxnSp>
          <p:nvCxnSpPr>
            <p:cNvPr id="38" name="直接连接符 37"/>
            <p:cNvCxnSpPr/>
            <p:nvPr/>
          </p:nvCxnSpPr>
          <p:spPr bwMode="auto">
            <a:xfrm>
              <a:off x="561763" y="4950172"/>
              <a:ext cx="137686" cy="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headEnd type="none" w="med" len="med"/>
              <a:tailEnd type="none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>
              <a:off x="3382390" y="1874387"/>
              <a:ext cx="0" cy="3930876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6134223" y="1874387"/>
              <a:ext cx="0" cy="3930876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/>
          </p:nvCxnSpPr>
          <p:spPr bwMode="auto">
            <a:xfrm>
              <a:off x="860549" y="4149079"/>
              <a:ext cx="7819120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>
              <a:off x="860549" y="4797151"/>
              <a:ext cx="7819120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TextBox 94"/>
            <p:cNvSpPr>
              <a:spLocks noChangeArrowheads="1"/>
            </p:cNvSpPr>
            <p:nvPr/>
          </p:nvSpPr>
          <p:spPr bwMode="auto">
            <a:xfrm>
              <a:off x="6202152" y="4292314"/>
              <a:ext cx="1332000" cy="4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问题触发变更规则</a:t>
              </a:r>
            </a:p>
          </p:txBody>
        </p:sp>
        <p:sp>
          <p:nvSpPr>
            <p:cNvPr id="49" name="圆角矩形 3"/>
            <p:cNvSpPr>
              <a:spLocks noChangeArrowheads="1"/>
            </p:cNvSpPr>
            <p:nvPr/>
          </p:nvSpPr>
          <p:spPr bwMode="auto">
            <a:xfrm>
              <a:off x="384873" y="878637"/>
              <a:ext cx="8323503" cy="462131"/>
            </a:xfrm>
            <a:prstGeom prst="roundRect">
              <a:avLst>
                <a:gd name="adj" fmla="val 3727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lIns="0" rIns="0">
              <a:noAutofit/>
            </a:bodyPr>
            <a:lstStyle/>
            <a:p>
              <a:pPr lvl="0" algn="ctr">
                <a:lnSpc>
                  <a:spcPct val="120000"/>
                </a:lnSpc>
                <a:spcBef>
                  <a:spcPct val="20000"/>
                </a:spcBef>
                <a:buClr>
                  <a:srgbClr val="FF0000"/>
                </a:buClr>
                <a:defRPr/>
              </a:pPr>
              <a:r>
                <a:rPr lang="zh-CN" altLang="en-US" kern="0" dirty="0" smtClean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问题</a:t>
              </a:r>
              <a:r>
                <a:rPr lang="zh-CN" altLang="en-US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管理流程设计</a:t>
              </a:r>
              <a:endPara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12517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>
                <a:sym typeface="微软雅黑" pitchFamily="34" charset="-122"/>
              </a:rPr>
              <a:t>问题管理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 bwMode="auto">
          <a:xfrm>
            <a:off x="467544" y="1170354"/>
            <a:ext cx="432000" cy="1754590"/>
          </a:xfrm>
          <a:prstGeom prst="rect">
            <a:avLst/>
          </a:prstGeom>
        </p:spPr>
        <p:txBody>
          <a:bodyPr vert="eaVert" wrap="square">
            <a:noAutofit/>
          </a:bodyPr>
          <a:lstStyle/>
          <a:p>
            <a:pPr>
              <a:defRPr/>
            </a:pP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问题流程示意图</a:t>
            </a:r>
            <a:endParaRPr lang="zh-CN" altLang="en-US" sz="16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25578" y="908720"/>
            <a:ext cx="7550878" cy="2017631"/>
            <a:chOff x="1731570" y="2314020"/>
            <a:chExt cx="4791419" cy="1734259"/>
          </a:xfrm>
        </p:grpSpPr>
        <p:grpSp>
          <p:nvGrpSpPr>
            <p:cNvPr id="5" name="组合 6"/>
            <p:cNvGrpSpPr>
              <a:grpSpLocks/>
            </p:cNvGrpSpPr>
            <p:nvPr/>
          </p:nvGrpSpPr>
          <p:grpSpPr bwMode="auto">
            <a:xfrm>
              <a:off x="3323835" y="2913058"/>
              <a:ext cx="1398586" cy="918277"/>
              <a:chOff x="5969241" y="1227312"/>
              <a:chExt cx="1398727" cy="917084"/>
            </a:xfrm>
          </p:grpSpPr>
          <p:pic>
            <p:nvPicPr>
              <p:cNvPr id="20" name="Picture 8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72064" y="1227312"/>
                <a:ext cx="695325" cy="676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Box 85"/>
              <p:cNvSpPr txBox="1">
                <a:spLocks noChangeArrowheads="1"/>
              </p:cNvSpPr>
              <p:nvPr/>
            </p:nvSpPr>
            <p:spPr bwMode="auto">
              <a:xfrm>
                <a:off x="5969241" y="1906610"/>
                <a:ext cx="1398727" cy="2377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200" b="1" kern="0" dirty="0" smtClean="0">
                    <a:solidFill>
                      <a:srgbClr val="000000"/>
                    </a:solidFill>
                    <a:latin typeface="微软雅黑" pitchFamily="34" charset="-122"/>
                  </a:rPr>
                  <a:t>运维主管</a:t>
                </a:r>
                <a:endParaRPr lang="zh-CN" altLang="en-US" sz="1200" b="1" kern="0" dirty="0">
                  <a:solidFill>
                    <a:srgbClr val="000000"/>
                  </a:solidFill>
                  <a:latin typeface="微软雅黑" pitchFamily="34" charset="-122"/>
                </a:endParaRPr>
              </a:p>
            </p:txBody>
          </p:sp>
        </p:grpSp>
        <p:cxnSp>
          <p:nvCxnSpPr>
            <p:cNvPr id="6" name="肘形连接符 10"/>
            <p:cNvCxnSpPr/>
            <p:nvPr/>
          </p:nvCxnSpPr>
          <p:spPr bwMode="auto">
            <a:xfrm flipH="1">
              <a:off x="4351161" y="3435902"/>
              <a:ext cx="135113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pic>
          <p:nvPicPr>
            <p:cNvPr id="7" name="Picture 53" descr="j034344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1270" y="2905732"/>
              <a:ext cx="499845" cy="554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肘形连接符 10"/>
            <p:cNvCxnSpPr/>
            <p:nvPr/>
          </p:nvCxnSpPr>
          <p:spPr bwMode="auto">
            <a:xfrm flipH="1">
              <a:off x="2741895" y="3374646"/>
              <a:ext cx="67394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sp>
          <p:nvSpPr>
            <p:cNvPr id="9" name="TextBox 85"/>
            <p:cNvSpPr txBox="1">
              <a:spLocks noChangeArrowheads="1"/>
            </p:cNvSpPr>
            <p:nvPr/>
          </p:nvSpPr>
          <p:spPr bwMode="auto">
            <a:xfrm>
              <a:off x="1731570" y="3497868"/>
              <a:ext cx="759046" cy="238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000000"/>
                  </a:solidFill>
                  <a:latin typeface="微软雅黑" pitchFamily="34" charset="-122"/>
                </a:rPr>
                <a:t>服务</a:t>
              </a:r>
              <a:r>
                <a:rPr lang="zh-CN" altLang="en-US" sz="1200" b="1" kern="0" dirty="0" smtClean="0">
                  <a:solidFill>
                    <a:srgbClr val="000000"/>
                  </a:solidFill>
                  <a:latin typeface="微软雅黑" pitchFamily="34" charset="-122"/>
                </a:rPr>
                <a:t>工程师</a:t>
              </a:r>
              <a:endParaRPr lang="en-US" altLang="zh-CN" sz="1200" b="1" kern="0" dirty="0" smtClean="0">
                <a:solidFill>
                  <a:srgbClr val="000000"/>
                </a:solidFill>
                <a:latin typeface="微软雅黑" pitchFamily="34" charset="-122"/>
              </a:endParaRPr>
            </a:p>
          </p:txBody>
        </p:sp>
        <p:pic>
          <p:nvPicPr>
            <p:cNvPr id="10" name="Picture 44" descr="j0301260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0239" y="3013070"/>
              <a:ext cx="536269" cy="571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85"/>
            <p:cNvSpPr txBox="1">
              <a:spLocks noChangeArrowheads="1"/>
            </p:cNvSpPr>
            <p:nvPr/>
          </p:nvSpPr>
          <p:spPr bwMode="auto">
            <a:xfrm>
              <a:off x="5706840" y="3593240"/>
              <a:ext cx="816149" cy="238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 smtClean="0">
                  <a:solidFill>
                    <a:srgbClr val="000000"/>
                  </a:solidFill>
                  <a:latin typeface="微软雅黑" pitchFamily="34" charset="-122"/>
                </a:rPr>
                <a:t>运维工程师</a:t>
              </a:r>
              <a:endParaRPr lang="zh-CN" altLang="en-US" sz="1200" b="1" kern="0" dirty="0">
                <a:solidFill>
                  <a:srgbClr val="000000"/>
                </a:solidFill>
                <a:latin typeface="微软雅黑" pitchFamily="34" charset="-122"/>
              </a:endParaRPr>
            </a:p>
          </p:txBody>
        </p:sp>
        <p:cxnSp>
          <p:nvCxnSpPr>
            <p:cNvPr id="12" name="肘形连接符 10"/>
            <p:cNvCxnSpPr>
              <a:stCxn id="21" idx="2"/>
              <a:endCxn id="11" idx="2"/>
            </p:cNvCxnSpPr>
            <p:nvPr/>
          </p:nvCxnSpPr>
          <p:spPr bwMode="auto">
            <a:xfrm rot="5400000" flipH="1" flipV="1">
              <a:off x="5069021" y="2785441"/>
              <a:ext cx="1" cy="2091787"/>
            </a:xfrm>
            <a:prstGeom prst="bentConnector3">
              <a:avLst>
                <a:gd name="adj1" fmla="val -22860000000"/>
              </a:avLst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sp>
          <p:nvSpPr>
            <p:cNvPr id="13" name="TextBox 85"/>
            <p:cNvSpPr txBox="1">
              <a:spLocks noChangeArrowheads="1"/>
            </p:cNvSpPr>
            <p:nvPr/>
          </p:nvSpPr>
          <p:spPr bwMode="auto">
            <a:xfrm>
              <a:off x="4531478" y="2892875"/>
              <a:ext cx="1050925" cy="238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提报方案</a:t>
              </a:r>
            </a:p>
          </p:txBody>
        </p:sp>
        <p:sp>
          <p:nvSpPr>
            <p:cNvPr id="14" name="TextBox 85"/>
            <p:cNvSpPr txBox="1">
              <a:spLocks noChangeArrowheads="1"/>
            </p:cNvSpPr>
            <p:nvPr/>
          </p:nvSpPr>
          <p:spPr bwMode="auto">
            <a:xfrm>
              <a:off x="2669854" y="3173843"/>
              <a:ext cx="838200" cy="238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提出问题</a:t>
              </a:r>
            </a:p>
          </p:txBody>
        </p:sp>
        <p:sp>
          <p:nvSpPr>
            <p:cNvPr id="15" name="TextBox 85"/>
            <p:cNvSpPr txBox="1">
              <a:spLocks noChangeArrowheads="1"/>
            </p:cNvSpPr>
            <p:nvPr/>
          </p:nvSpPr>
          <p:spPr bwMode="auto">
            <a:xfrm>
              <a:off x="4464047" y="2314020"/>
              <a:ext cx="1276349" cy="238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指派工程师解决</a:t>
              </a:r>
            </a:p>
          </p:txBody>
        </p:sp>
        <p:cxnSp>
          <p:nvCxnSpPr>
            <p:cNvPr id="16" name="肘形连接符 10"/>
            <p:cNvCxnSpPr/>
            <p:nvPr/>
          </p:nvCxnSpPr>
          <p:spPr bwMode="auto">
            <a:xfrm rot="16200000" flipH="1" flipV="1">
              <a:off x="5039642" y="1928355"/>
              <a:ext cx="7657" cy="2075845"/>
            </a:xfrm>
            <a:prstGeom prst="bentConnector4">
              <a:avLst>
                <a:gd name="adj1" fmla="val -5428800"/>
                <a:gd name="adj2" fmla="val 99153"/>
              </a:avLst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17" name="肘形连接符 10"/>
            <p:cNvCxnSpPr/>
            <p:nvPr/>
          </p:nvCxnSpPr>
          <p:spPr bwMode="auto">
            <a:xfrm flipH="1">
              <a:off x="4351162" y="3119417"/>
              <a:ext cx="135113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8" name="TextBox 85"/>
            <p:cNvSpPr txBox="1">
              <a:spLocks noChangeArrowheads="1"/>
            </p:cNvSpPr>
            <p:nvPr/>
          </p:nvSpPr>
          <p:spPr bwMode="auto">
            <a:xfrm>
              <a:off x="4531480" y="3240189"/>
              <a:ext cx="1050925" cy="238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审核方案</a:t>
              </a:r>
            </a:p>
          </p:txBody>
        </p:sp>
        <p:sp>
          <p:nvSpPr>
            <p:cNvPr id="19" name="TextBox 85"/>
            <p:cNvSpPr txBox="1">
              <a:spLocks noChangeArrowheads="1"/>
            </p:cNvSpPr>
            <p:nvPr/>
          </p:nvSpPr>
          <p:spPr bwMode="auto">
            <a:xfrm>
              <a:off x="4531481" y="3810183"/>
              <a:ext cx="1050925" cy="238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 eaLnBrk="0" hangingPunct="0"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2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1200" b="1" kern="0" dirty="0">
                  <a:solidFill>
                    <a:srgbClr val="558ED5"/>
                  </a:solidFill>
                  <a:latin typeface="微软雅黑" pitchFamily="34" charset="-122"/>
                </a:rPr>
                <a:t>解决完成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179512" y="3560817"/>
            <a:ext cx="395277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l">
              <a:lnSpc>
                <a:spcPct val="200000"/>
              </a:lnSpc>
              <a:buFont typeface="Wingdings" pitchFamily="2" charset="2"/>
              <a:buChar char="p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某一时段内，同一个资源对象的某类事件反复发生。</a:t>
            </a:r>
          </a:p>
          <a:p>
            <a:pPr marL="285750" lvl="0" indent="-285750" algn="l">
              <a:lnSpc>
                <a:spcPct val="200000"/>
              </a:lnSpc>
              <a:buFont typeface="Wingdings" pitchFamily="2" charset="2"/>
              <a:buChar char="p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同类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资源对象所发生的多个事件具有相同或相似症状。</a:t>
            </a:r>
          </a:p>
          <a:p>
            <a:pPr marL="285750" lvl="0" indent="-285750" algn="l">
              <a:lnSpc>
                <a:spcPct val="200000"/>
              </a:lnSpc>
              <a:buFont typeface="Wingdings" pitchFamily="2" charset="2"/>
              <a:buChar char="p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业务造成严重影响的故障。</a:t>
            </a:r>
          </a:p>
          <a:p>
            <a:pPr marL="285750" lvl="0" indent="-285750" algn="l">
              <a:lnSpc>
                <a:spcPct val="200000"/>
              </a:lnSpc>
              <a:buFont typeface="Wingdings" pitchFamily="2" charset="2"/>
              <a:buChar char="p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临时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应对方法解决的事件。</a:t>
            </a:r>
            <a:endParaRPr lang="en-US" altLang="zh-CN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lvl="0" indent="-285750" algn="l">
              <a:lnSpc>
                <a:spcPct val="200000"/>
              </a:lnSpc>
              <a:buFont typeface="Wingdings" pitchFamily="2" charset="2"/>
              <a:buChar char="p"/>
            </a:pPr>
            <a:r>
              <a:rPr lang="zh-CN" altLang="en-US" sz="14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监控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、巡检发现的潜在且待分析的故障</a:t>
            </a:r>
            <a:r>
              <a:rPr lang="en-US" altLang="zh-CN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隐患。</a:t>
            </a:r>
            <a:endParaRPr lang="en-US" altLang="zh-CN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427984" y="3140968"/>
            <a:ext cx="17475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2、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来源：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4" name="Group 7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622768062"/>
              </p:ext>
            </p:extLst>
          </p:nvPr>
        </p:nvGraphicFramePr>
        <p:xfrm>
          <a:off x="4503868" y="3639957"/>
          <a:ext cx="4172588" cy="2885387"/>
        </p:xfrm>
        <a:graphic>
          <a:graphicData uri="http://schemas.openxmlformats.org/drawingml/2006/table">
            <a:tbl>
              <a:tblPr/>
              <a:tblGrid>
                <a:gridCol w="1260310"/>
                <a:gridCol w="2912278"/>
              </a:tblGrid>
              <a:tr h="373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问题来源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描   述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</a:txBody>
                  <a:tcPr marL="79266" marR="7926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>
                        <a:lumMod val="40000"/>
                        <a:lumOff val="60000"/>
                      </a:srgbClr>
                    </a:solidFill>
                  </a:tcPr>
                </a:tc>
              </a:tr>
              <a:tr h="7833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事件流程升级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 typeface="Wingdings" pitchFamily="2" charset="2"/>
                        <a:buChar char=""/>
                        <a:tabLst>
                          <a:tab pos="266700" algn="l"/>
                        </a:tabLst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单个重大故障升级为问题</a:t>
                      </a: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 typeface="Wingdings" pitchFamily="2" charset="2"/>
                        <a:buChar char=""/>
                        <a:tabLst>
                          <a:tab pos="266700" algn="l"/>
                        </a:tabLst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通过临时应对方法解决的事件升级为问题。</a:t>
                      </a:r>
                    </a:p>
                  </a:txBody>
                  <a:tcPr marL="79266" marR="7926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81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人工新建</a:t>
                      </a:r>
                      <a:endParaRPr kumimoji="0" lang="en-US" altLang="zh-CN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(</a:t>
                      </a:r>
                      <a:r>
                        <a:rPr kumimoji="0" lang="zh-CN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通过分析发现</a:t>
                      </a:r>
                      <a:r>
                        <a:rPr kumimoji="0" lang="en-US" altLang="zh-CN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)</a:t>
                      </a:r>
                      <a:endParaRPr kumimoji="0" lang="zh-CN" altLang="en-US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 typeface="Wingdings" pitchFamily="2" charset="2"/>
                        <a:buChar char=""/>
                        <a:tabLst>
                          <a:tab pos="266700" algn="l"/>
                        </a:tabLst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在某一时段内，同类事件反复发生。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 typeface="Wingdings" pitchFamily="2" charset="2"/>
                        <a:buChar char=""/>
                        <a:tabLst>
                          <a:tab pos="266700" algn="l"/>
                        </a:tabLst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同类现象发生的多个事件具有相同或相似症状。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 typeface="Wingdings" pitchFamily="2" charset="2"/>
                        <a:buChar char=""/>
                        <a:tabLst>
                          <a:tab pos="266700" algn="l"/>
                        </a:tabLst>
                        <a:defRPr/>
                      </a:pPr>
                      <a:r>
                        <a:rPr lang="zh-CN" altLang="en-US" sz="1200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对业务造成严重影响的故障。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 typeface="Wingdings" pitchFamily="2" charset="2"/>
                        <a:buChar char=""/>
                        <a:tabLst>
                          <a:tab pos="266700" algn="l"/>
                        </a:tabLst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监控、巡检发现的潜在且待分析的故障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隐患。</a:t>
                      </a:r>
                    </a:p>
                  </a:txBody>
                  <a:tcPr marL="79266" marR="7926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" name="矩形 24"/>
          <p:cNvSpPr/>
          <p:nvPr/>
        </p:nvSpPr>
        <p:spPr>
          <a:xfrm>
            <a:off x="179513" y="3181281"/>
            <a:ext cx="1943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1、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问题的定义：</a:t>
            </a:r>
          </a:p>
        </p:txBody>
      </p:sp>
    </p:spTree>
    <p:extLst>
      <p:ext uri="{BB962C8B-B14F-4D97-AF65-F5344CB8AC3E}">
        <p14:creationId xmlns:p14="http://schemas.microsoft.com/office/powerpoint/2010/main" xmlns="" val="344352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变更</a:t>
            </a:r>
            <a:r>
              <a:rPr lang="zh-CN" altLang="en-US" dirty="0" smtClean="0">
                <a:sym typeface="微软雅黑" pitchFamily="34" charset="-122"/>
              </a:rPr>
              <a:t>管理</a:t>
            </a:r>
            <a:endParaRPr lang="zh-CN" altLang="en-US" dirty="0"/>
          </a:p>
        </p:txBody>
      </p:sp>
      <p:grpSp>
        <p:nvGrpSpPr>
          <p:cNvPr id="52" name="组合 51"/>
          <p:cNvGrpSpPr/>
          <p:nvPr/>
        </p:nvGrpSpPr>
        <p:grpSpPr>
          <a:xfrm>
            <a:off x="384873" y="878637"/>
            <a:ext cx="8435599" cy="5205656"/>
            <a:chOff x="384873" y="878637"/>
            <a:chExt cx="8435599" cy="5205656"/>
          </a:xfrm>
        </p:grpSpPr>
        <p:grpSp>
          <p:nvGrpSpPr>
            <p:cNvPr id="51" name="组合 50"/>
            <p:cNvGrpSpPr/>
            <p:nvPr/>
          </p:nvGrpSpPr>
          <p:grpSpPr>
            <a:xfrm>
              <a:off x="390615" y="1556792"/>
              <a:ext cx="8429857" cy="4527501"/>
              <a:chOff x="250661" y="1626144"/>
              <a:chExt cx="8591656" cy="4527501"/>
            </a:xfrm>
          </p:grpSpPr>
          <p:sp>
            <p:nvSpPr>
              <p:cNvPr id="16" name="TextBox 16"/>
              <p:cNvSpPr>
                <a:spLocks noChangeArrowheads="1"/>
              </p:cNvSpPr>
              <p:nvPr/>
            </p:nvSpPr>
            <p:spPr bwMode="auto">
              <a:xfrm>
                <a:off x="907313" y="1645627"/>
                <a:ext cx="1022724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变更申请</a:t>
                </a:r>
              </a:p>
            </p:txBody>
          </p:sp>
          <p:sp>
            <p:nvSpPr>
              <p:cNvPr id="17" name="TextBox 17"/>
              <p:cNvSpPr>
                <a:spLocks noChangeArrowheads="1"/>
              </p:cNvSpPr>
              <p:nvPr/>
            </p:nvSpPr>
            <p:spPr bwMode="auto">
              <a:xfrm>
                <a:off x="2261009" y="1645627"/>
                <a:ext cx="1022724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变更需求审核</a:t>
                </a:r>
              </a:p>
            </p:txBody>
          </p:sp>
          <p:sp>
            <p:nvSpPr>
              <p:cNvPr id="18" name="TextBox 18"/>
              <p:cNvSpPr>
                <a:spLocks noChangeArrowheads="1"/>
              </p:cNvSpPr>
              <p:nvPr/>
            </p:nvSpPr>
            <p:spPr bwMode="auto">
              <a:xfrm>
                <a:off x="3658627" y="1645627"/>
                <a:ext cx="1021155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变更方案制定</a:t>
                </a:r>
              </a:p>
            </p:txBody>
          </p:sp>
          <p:sp>
            <p:nvSpPr>
              <p:cNvPr id="19" name="TextBox 19"/>
              <p:cNvSpPr>
                <a:spLocks noChangeArrowheads="1"/>
              </p:cNvSpPr>
              <p:nvPr/>
            </p:nvSpPr>
            <p:spPr bwMode="auto">
              <a:xfrm>
                <a:off x="5043696" y="1645627"/>
                <a:ext cx="1022724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风险评估</a:t>
                </a:r>
                <a:endParaRPr 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并审批</a:t>
                </a:r>
              </a:p>
            </p:txBody>
          </p:sp>
          <p:cxnSp>
            <p:nvCxnSpPr>
              <p:cNvPr id="20" name="直接箭头连接符 20"/>
              <p:cNvCxnSpPr>
                <a:cxnSpLocks noChangeShapeType="1"/>
                <a:stCxn id="16" idx="3"/>
                <a:endCxn id="17" idx="1"/>
              </p:cNvCxnSpPr>
              <p:nvPr/>
            </p:nvCxnSpPr>
            <p:spPr bwMode="auto">
              <a:xfrm>
                <a:off x="1930036" y="1852128"/>
                <a:ext cx="330973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1" name="直接箭头连接符 21"/>
              <p:cNvCxnSpPr>
                <a:cxnSpLocks noChangeShapeType="1"/>
                <a:stCxn id="17" idx="3"/>
                <a:endCxn id="18" idx="1"/>
              </p:cNvCxnSpPr>
              <p:nvPr/>
            </p:nvCxnSpPr>
            <p:spPr bwMode="auto">
              <a:xfrm>
                <a:off x="3283733" y="1852128"/>
                <a:ext cx="374894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2" name="直接箭头连接符 22"/>
              <p:cNvCxnSpPr>
                <a:cxnSpLocks noChangeShapeType="1"/>
                <a:stCxn id="18" idx="3"/>
                <a:endCxn id="19" idx="1"/>
              </p:cNvCxnSpPr>
              <p:nvPr/>
            </p:nvCxnSpPr>
            <p:spPr bwMode="auto">
              <a:xfrm>
                <a:off x="4679782" y="1852128"/>
                <a:ext cx="363914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3" name="直接箭头连接符 59"/>
              <p:cNvCxnSpPr>
                <a:cxnSpLocks noChangeShapeType="1"/>
                <a:stCxn id="19" idx="3"/>
                <a:endCxn id="24" idx="1"/>
              </p:cNvCxnSpPr>
              <p:nvPr/>
            </p:nvCxnSpPr>
            <p:spPr bwMode="auto">
              <a:xfrm>
                <a:off x="6066420" y="1852128"/>
                <a:ext cx="356072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4" name="TextBox 61"/>
              <p:cNvSpPr>
                <a:spLocks noChangeArrowheads="1"/>
              </p:cNvSpPr>
              <p:nvPr/>
            </p:nvSpPr>
            <p:spPr bwMode="auto">
              <a:xfrm>
                <a:off x="6422491" y="1645627"/>
                <a:ext cx="1022724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变更实施</a:t>
                </a:r>
              </a:p>
            </p:txBody>
          </p:sp>
          <p:cxnSp>
            <p:nvCxnSpPr>
              <p:cNvPr id="25" name="直接箭头连接符 65"/>
              <p:cNvCxnSpPr>
                <a:cxnSpLocks noChangeShapeType="1"/>
                <a:stCxn id="24" idx="3"/>
                <a:endCxn id="26" idx="1"/>
              </p:cNvCxnSpPr>
              <p:nvPr/>
            </p:nvCxnSpPr>
            <p:spPr bwMode="auto">
              <a:xfrm>
                <a:off x="7445214" y="1852128"/>
                <a:ext cx="356071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TextBox 68"/>
              <p:cNvSpPr>
                <a:spLocks noChangeArrowheads="1"/>
              </p:cNvSpPr>
              <p:nvPr/>
            </p:nvSpPr>
            <p:spPr bwMode="auto">
              <a:xfrm>
                <a:off x="7801285" y="1645627"/>
                <a:ext cx="1022724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变更关闭</a:t>
                </a:r>
              </a:p>
            </p:txBody>
          </p:sp>
          <p:sp>
            <p:nvSpPr>
              <p:cNvPr id="27" name="圆角矩形 1"/>
              <p:cNvSpPr>
                <a:spLocks noChangeArrowheads="1"/>
              </p:cNvSpPr>
              <p:nvPr/>
            </p:nvSpPr>
            <p:spPr bwMode="auto">
              <a:xfrm>
                <a:off x="990448" y="2216440"/>
                <a:ext cx="939589" cy="32905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事件生成变更</a:t>
                </a:r>
              </a:p>
            </p:txBody>
          </p:sp>
          <p:sp>
            <p:nvSpPr>
              <p:cNvPr id="28" name="圆角矩形 1"/>
              <p:cNvSpPr>
                <a:spLocks noChangeArrowheads="1"/>
              </p:cNvSpPr>
              <p:nvPr/>
            </p:nvSpPr>
            <p:spPr bwMode="auto">
              <a:xfrm>
                <a:off x="990448" y="2703310"/>
                <a:ext cx="939589" cy="32905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问题生成变更</a:t>
                </a:r>
              </a:p>
            </p:txBody>
          </p:sp>
          <p:sp>
            <p:nvSpPr>
              <p:cNvPr id="29" name="圆角矩形 1"/>
              <p:cNvSpPr>
                <a:spLocks noChangeArrowheads="1"/>
              </p:cNvSpPr>
              <p:nvPr/>
            </p:nvSpPr>
            <p:spPr bwMode="auto">
              <a:xfrm>
                <a:off x="992017" y="3188501"/>
                <a:ext cx="939589" cy="33073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变更分类</a:t>
                </a:r>
              </a:p>
            </p:txBody>
          </p:sp>
          <p:sp>
            <p:nvSpPr>
              <p:cNvPr id="30" name="圆角矩形 1"/>
              <p:cNvSpPr>
                <a:spLocks noChangeArrowheads="1"/>
              </p:cNvSpPr>
              <p:nvPr/>
            </p:nvSpPr>
            <p:spPr bwMode="auto">
              <a:xfrm>
                <a:off x="2345713" y="2216440"/>
                <a:ext cx="938021" cy="33577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变更需求审核</a:t>
                </a:r>
              </a:p>
            </p:txBody>
          </p:sp>
          <p:sp>
            <p:nvSpPr>
              <p:cNvPr id="31" name="圆角矩形 1"/>
              <p:cNvSpPr>
                <a:spLocks noChangeArrowheads="1"/>
              </p:cNvSpPr>
              <p:nvPr/>
            </p:nvSpPr>
            <p:spPr bwMode="auto">
              <a:xfrm>
                <a:off x="3590806" y="2216440"/>
                <a:ext cx="1145857" cy="33577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变更方案填报</a:t>
                </a:r>
              </a:p>
            </p:txBody>
          </p:sp>
          <p:sp>
            <p:nvSpPr>
              <p:cNvPr id="32" name="圆角矩形 1"/>
              <p:cNvSpPr>
                <a:spLocks noChangeArrowheads="1"/>
              </p:cNvSpPr>
              <p:nvPr/>
            </p:nvSpPr>
            <p:spPr bwMode="auto">
              <a:xfrm>
                <a:off x="3590806" y="2703310"/>
                <a:ext cx="1145857" cy="33577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变更回退方案填报</a:t>
                </a:r>
              </a:p>
            </p:txBody>
          </p:sp>
          <p:sp>
            <p:nvSpPr>
              <p:cNvPr id="33" name="圆角矩形 1"/>
              <p:cNvSpPr>
                <a:spLocks noChangeArrowheads="1"/>
              </p:cNvSpPr>
              <p:nvPr/>
            </p:nvSpPr>
            <p:spPr bwMode="auto">
              <a:xfrm>
                <a:off x="3590806" y="3190205"/>
                <a:ext cx="1145857" cy="33406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配置变更项列表</a:t>
                </a:r>
              </a:p>
            </p:txBody>
          </p:sp>
          <p:sp>
            <p:nvSpPr>
              <p:cNvPr id="34" name="圆角矩形 1"/>
              <p:cNvSpPr>
                <a:spLocks noChangeArrowheads="1"/>
              </p:cNvSpPr>
              <p:nvPr/>
            </p:nvSpPr>
            <p:spPr bwMode="auto">
              <a:xfrm>
                <a:off x="4863724" y="2216440"/>
                <a:ext cx="1249143" cy="33577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风险与影响评估</a:t>
                </a:r>
              </a:p>
            </p:txBody>
          </p:sp>
          <p:sp>
            <p:nvSpPr>
              <p:cNvPr id="35" name="圆角矩形 1"/>
              <p:cNvSpPr>
                <a:spLocks noChangeArrowheads="1"/>
              </p:cNvSpPr>
              <p:nvPr/>
            </p:nvSpPr>
            <p:spPr bwMode="auto">
              <a:xfrm>
                <a:off x="992017" y="3675370"/>
                <a:ext cx="939589" cy="33073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关联配置</a:t>
                </a:r>
              </a:p>
            </p:txBody>
          </p:sp>
          <p:sp>
            <p:nvSpPr>
              <p:cNvPr id="36" name="圆角矩形 1"/>
              <p:cNvSpPr>
                <a:spLocks noChangeArrowheads="1"/>
              </p:cNvSpPr>
              <p:nvPr/>
            </p:nvSpPr>
            <p:spPr bwMode="auto">
              <a:xfrm>
                <a:off x="4876271" y="2698300"/>
                <a:ext cx="1249143" cy="33406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变更准备工作检查</a:t>
                </a:r>
              </a:p>
            </p:txBody>
          </p:sp>
          <p:sp>
            <p:nvSpPr>
              <p:cNvPr id="37" name="圆角矩形 1"/>
              <p:cNvSpPr>
                <a:spLocks noChangeArrowheads="1"/>
              </p:cNvSpPr>
              <p:nvPr/>
            </p:nvSpPr>
            <p:spPr bwMode="auto">
              <a:xfrm>
                <a:off x="4876271" y="3183465"/>
                <a:ext cx="1249143" cy="33577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审批通过</a:t>
                </a:r>
                <a:r>
                  <a:rPr 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/</a:t>
                </a: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退回</a:t>
                </a:r>
              </a:p>
            </p:txBody>
          </p:sp>
          <p:sp>
            <p:nvSpPr>
              <p:cNvPr id="38" name="圆角矩形 1"/>
              <p:cNvSpPr>
                <a:spLocks noChangeArrowheads="1"/>
              </p:cNvSpPr>
              <p:nvPr/>
            </p:nvSpPr>
            <p:spPr bwMode="auto">
              <a:xfrm>
                <a:off x="6244456" y="2224834"/>
                <a:ext cx="1378795" cy="32737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过程记录</a:t>
                </a:r>
              </a:p>
            </p:txBody>
          </p:sp>
          <p:sp>
            <p:nvSpPr>
              <p:cNvPr id="39" name="圆角矩形 1"/>
              <p:cNvSpPr>
                <a:spLocks noChangeArrowheads="1"/>
              </p:cNvSpPr>
              <p:nvPr/>
            </p:nvSpPr>
            <p:spPr bwMode="auto">
              <a:xfrm>
                <a:off x="6244456" y="2704989"/>
                <a:ext cx="1378795" cy="32737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 smtClean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变更转发</a:t>
                </a: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布</a:t>
                </a:r>
              </a:p>
            </p:txBody>
          </p:sp>
          <p:sp>
            <p:nvSpPr>
              <p:cNvPr id="40" name="圆角矩形 1"/>
              <p:cNvSpPr>
                <a:spLocks noChangeArrowheads="1"/>
              </p:cNvSpPr>
              <p:nvPr/>
            </p:nvSpPr>
            <p:spPr bwMode="auto">
              <a:xfrm>
                <a:off x="7885989" y="2224834"/>
                <a:ext cx="853316" cy="329056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 smtClean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变更跟踪</a:t>
                </a:r>
                <a:endPara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  <p:sp>
            <p:nvSpPr>
              <p:cNvPr id="41" name="TextBox 95"/>
              <p:cNvSpPr>
                <a:spLocks noChangeArrowheads="1"/>
              </p:cNvSpPr>
              <p:nvPr/>
            </p:nvSpPr>
            <p:spPr bwMode="auto">
              <a:xfrm>
                <a:off x="992017" y="4429900"/>
                <a:ext cx="938020" cy="43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lIns="18000" rIns="1800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变更分类规则</a:t>
                </a:r>
              </a:p>
            </p:txBody>
          </p:sp>
          <p:sp>
            <p:nvSpPr>
              <p:cNvPr id="42" name="TextBox 97"/>
              <p:cNvSpPr>
                <a:spLocks noChangeArrowheads="1"/>
              </p:cNvSpPr>
              <p:nvPr/>
            </p:nvSpPr>
            <p:spPr bwMode="auto">
              <a:xfrm>
                <a:off x="2261010" y="4437111"/>
                <a:ext cx="3796171" cy="288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lIns="18000" rIns="1800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变更审批规则</a:t>
                </a:r>
              </a:p>
            </p:txBody>
          </p:sp>
          <p:sp>
            <p:nvSpPr>
              <p:cNvPr id="43" name="TextBox 98"/>
              <p:cNvSpPr>
                <a:spLocks noChangeArrowheads="1"/>
              </p:cNvSpPr>
              <p:nvPr/>
            </p:nvSpPr>
            <p:spPr bwMode="auto">
              <a:xfrm>
                <a:off x="6547978" y="4311658"/>
                <a:ext cx="2150542" cy="288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lIns="18000" rIns="1800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变更转发布规则</a:t>
                </a:r>
              </a:p>
            </p:txBody>
          </p:sp>
          <p:sp>
            <p:nvSpPr>
              <p:cNvPr id="44" name="圆角矩形 1"/>
              <p:cNvSpPr>
                <a:spLocks noChangeArrowheads="1"/>
              </p:cNvSpPr>
              <p:nvPr/>
            </p:nvSpPr>
            <p:spPr bwMode="auto">
              <a:xfrm>
                <a:off x="7885989" y="2686761"/>
                <a:ext cx="853316" cy="330735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配置项变更</a:t>
                </a:r>
              </a:p>
            </p:txBody>
          </p:sp>
          <p:sp>
            <p:nvSpPr>
              <p:cNvPr id="45" name="TextBox 101"/>
              <p:cNvSpPr>
                <a:spLocks noChangeArrowheads="1"/>
              </p:cNvSpPr>
              <p:nvPr/>
            </p:nvSpPr>
            <p:spPr bwMode="auto">
              <a:xfrm>
                <a:off x="2261010" y="5299102"/>
                <a:ext cx="3796171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查询与浏览</a:t>
                </a:r>
              </a:p>
            </p:txBody>
          </p:sp>
          <p:sp>
            <p:nvSpPr>
              <p:cNvPr id="46" name="TextBox 102"/>
              <p:cNvSpPr>
                <a:spLocks noChangeArrowheads="1"/>
              </p:cNvSpPr>
              <p:nvPr/>
            </p:nvSpPr>
            <p:spPr bwMode="auto">
              <a:xfrm>
                <a:off x="6547978" y="5589240"/>
                <a:ext cx="2150542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统计分析</a:t>
                </a:r>
              </a:p>
            </p:txBody>
          </p:sp>
          <p:sp>
            <p:nvSpPr>
              <p:cNvPr id="47" name="TextBox 103"/>
              <p:cNvSpPr>
                <a:spLocks noChangeArrowheads="1"/>
              </p:cNvSpPr>
              <p:nvPr/>
            </p:nvSpPr>
            <p:spPr bwMode="auto">
              <a:xfrm>
                <a:off x="1001655" y="5299102"/>
                <a:ext cx="928382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过程审计</a:t>
                </a:r>
              </a:p>
            </p:txBody>
          </p:sp>
          <p:sp>
            <p:nvSpPr>
              <p:cNvPr id="48" name="TextBox 104"/>
              <p:cNvSpPr>
                <a:spLocks noChangeArrowheads="1"/>
              </p:cNvSpPr>
              <p:nvPr/>
            </p:nvSpPr>
            <p:spPr bwMode="auto">
              <a:xfrm>
                <a:off x="6547978" y="5104232"/>
                <a:ext cx="2150542" cy="41300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流程</a:t>
                </a:r>
                <a:r>
                  <a:rPr 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KPI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监控</a:t>
                </a:r>
              </a:p>
            </p:txBody>
          </p:sp>
          <p:sp>
            <p:nvSpPr>
              <p:cNvPr id="49" name="TextBox 112"/>
              <p:cNvSpPr>
                <a:spLocks noChangeArrowheads="1"/>
              </p:cNvSpPr>
              <p:nvPr/>
            </p:nvSpPr>
            <p:spPr bwMode="auto">
              <a:xfrm>
                <a:off x="6547978" y="4639036"/>
                <a:ext cx="2150542" cy="288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lIns="18000" rIns="18000"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变更关闭规则</a:t>
                </a:r>
              </a:p>
            </p:txBody>
          </p:sp>
          <p:grpSp>
            <p:nvGrpSpPr>
              <p:cNvPr id="5" name="组合 17"/>
              <p:cNvGrpSpPr>
                <a:grpSpLocks/>
              </p:cNvGrpSpPr>
              <p:nvPr/>
            </p:nvGrpSpPr>
            <p:grpSpPr bwMode="auto">
              <a:xfrm>
                <a:off x="250661" y="1626144"/>
                <a:ext cx="569644" cy="4527501"/>
                <a:chOff x="179107" y="1520185"/>
                <a:chExt cx="576841" cy="3327944"/>
              </a:xfrm>
            </p:grpSpPr>
            <p:sp>
              <p:nvSpPr>
                <p:cNvPr id="9" name="圆角矩形 8"/>
                <p:cNvSpPr/>
                <p:nvPr/>
              </p:nvSpPr>
              <p:spPr bwMode="auto">
                <a:xfrm>
                  <a:off x="179354" y="1520185"/>
                  <a:ext cx="576594" cy="3327944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>
                  <a:solidFill>
                    <a:schemeClr val="accent2">
                      <a:lumMod val="20000"/>
                      <a:lumOff val="80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>
                    <a:defRPr/>
                  </a:pPr>
                  <a:endParaRPr lang="zh-CN" altLang="en-US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0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179107" y="4081516"/>
                  <a:ext cx="576073" cy="701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1pPr>
                  <a:lvl2pPr marL="742950" indent="-28575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2pPr>
                  <a:lvl3pPr marL="11430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3pPr>
                  <a:lvl4pPr marL="16002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4pPr>
                  <a:lvl5pPr marL="20574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dirty="0">
                      <a:latin typeface="微软雅黑" pitchFamily="34" charset="-122"/>
                      <a:ea typeface="微软雅黑" pitchFamily="34" charset="-122"/>
                    </a:rPr>
                    <a:t>变更管理功能设计</a:t>
                  </a:r>
                </a:p>
              </p:txBody>
            </p:sp>
            <p:sp>
              <p:nvSpPr>
                <p:cNvPr id="11" name="TextBox 167"/>
                <p:cNvSpPr txBox="1">
                  <a:spLocks noChangeArrowheads="1"/>
                </p:cNvSpPr>
                <p:nvPr/>
              </p:nvSpPr>
              <p:spPr bwMode="auto">
                <a:xfrm>
                  <a:off x="179107" y="3393434"/>
                  <a:ext cx="576073" cy="5429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1pPr>
                  <a:lvl2pPr marL="742950" indent="-28575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2pPr>
                  <a:lvl3pPr marL="11430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3pPr>
                  <a:lvl4pPr marL="16002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4pPr>
                  <a:lvl5pPr marL="20574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dirty="0">
                      <a:latin typeface="微软雅黑" pitchFamily="34" charset="-122"/>
                      <a:ea typeface="微软雅黑" pitchFamily="34" charset="-122"/>
                    </a:rPr>
                    <a:t>变更规则设计</a:t>
                  </a:r>
                </a:p>
              </p:txBody>
            </p:sp>
            <p:sp>
              <p:nvSpPr>
                <p:cNvPr id="12" name="TextBox 169"/>
                <p:cNvSpPr txBox="1">
                  <a:spLocks noChangeArrowheads="1"/>
                </p:cNvSpPr>
                <p:nvPr/>
              </p:nvSpPr>
              <p:spPr bwMode="auto">
                <a:xfrm>
                  <a:off x="251156" y="1873645"/>
                  <a:ext cx="432048" cy="10180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1pPr>
                  <a:lvl2pPr marL="742950" indent="-28575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2pPr>
                  <a:lvl3pPr marL="11430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3pPr>
                  <a:lvl4pPr marL="16002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4pPr>
                  <a:lvl5pPr marL="2057400" indent="-228600"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b="1">
                      <a:solidFill>
                        <a:schemeClr val="tx2"/>
                      </a:solidFill>
                      <a:latin typeface="Arial" pitchFamily="34" charset="0"/>
                      <a:ea typeface="新宋体" pitchFamily="49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dirty="0">
                      <a:latin typeface="微软雅黑" pitchFamily="34" charset="-122"/>
                      <a:ea typeface="微软雅黑" pitchFamily="34" charset="-122"/>
                    </a:rPr>
                    <a:t>变更流程设计</a:t>
                  </a:r>
                  <a:endParaRPr lang="en-US" altLang="zh-CN" sz="1400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cxnSp>
              <p:nvCxnSpPr>
                <p:cNvPr id="13" name="直接连接符 12"/>
                <p:cNvCxnSpPr/>
                <p:nvPr/>
              </p:nvCxnSpPr>
              <p:spPr bwMode="auto">
                <a:xfrm>
                  <a:off x="395255" y="3340503"/>
                  <a:ext cx="14419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olid"/>
                  <a:headEnd type="none" w="med" len="med"/>
                  <a:tailEnd type="none"/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" name="直接连接符 5"/>
              <p:cNvCxnSpPr/>
              <p:nvPr/>
            </p:nvCxnSpPr>
            <p:spPr bwMode="auto">
              <a:xfrm>
                <a:off x="464555" y="5063090"/>
                <a:ext cx="142399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olid"/>
                <a:headEnd type="none" w="med" len="med"/>
                <a:tailEnd type="non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 bwMode="auto">
              <a:xfrm>
                <a:off x="755576" y="4252508"/>
                <a:ext cx="8086741" cy="0"/>
              </a:xfrm>
              <a:prstGeom prst="lin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接连接符 7"/>
              <p:cNvCxnSpPr/>
              <p:nvPr/>
            </p:nvCxnSpPr>
            <p:spPr bwMode="auto">
              <a:xfrm>
                <a:off x="755576" y="4973732"/>
                <a:ext cx="8086741" cy="0"/>
              </a:xfrm>
              <a:prstGeom prst="lin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0" name="圆角矩形 3"/>
            <p:cNvSpPr>
              <a:spLocks noChangeArrowheads="1"/>
            </p:cNvSpPr>
            <p:nvPr/>
          </p:nvSpPr>
          <p:spPr bwMode="auto">
            <a:xfrm>
              <a:off x="384873" y="878637"/>
              <a:ext cx="8435599" cy="462131"/>
            </a:xfrm>
            <a:prstGeom prst="roundRect">
              <a:avLst>
                <a:gd name="adj" fmla="val 3727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lIns="0" rIns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rgbClr val="FF0000"/>
                </a:buClr>
                <a:defRPr/>
              </a:pPr>
              <a:r>
                <a:rPr lang="zh-CN" altLang="en-US" kern="0" dirty="0" smtClean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标准</a:t>
              </a:r>
              <a:r>
                <a:rPr lang="zh-CN" altLang="en-US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变更管理流程设计</a:t>
              </a:r>
              <a:endPara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cxnSp>
        <p:nvCxnSpPr>
          <p:cNvPr id="53" name="直接连接符 52"/>
          <p:cNvCxnSpPr/>
          <p:nvPr/>
        </p:nvCxnSpPr>
        <p:spPr bwMode="auto">
          <a:xfrm>
            <a:off x="2143108" y="1874387"/>
            <a:ext cx="0" cy="3930876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接连接符 53"/>
          <p:cNvCxnSpPr/>
          <p:nvPr/>
        </p:nvCxnSpPr>
        <p:spPr bwMode="auto">
          <a:xfrm>
            <a:off x="6286512" y="1857364"/>
            <a:ext cx="0" cy="3930876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xmlns="" val="344352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/>
              <a:t>变更</a:t>
            </a:r>
            <a:r>
              <a:rPr lang="zh-CN" altLang="en-US" dirty="0">
                <a:sym typeface="微软雅黑" pitchFamily="34" charset="-122"/>
              </a:rPr>
              <a:t>管理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237500" y="908720"/>
            <a:ext cx="6934899" cy="2671861"/>
            <a:chOff x="4006228" y="1045171"/>
            <a:chExt cx="5097349" cy="2671861"/>
          </a:xfrm>
        </p:grpSpPr>
        <p:grpSp>
          <p:nvGrpSpPr>
            <p:cNvPr id="4" name="组合 3"/>
            <p:cNvGrpSpPr/>
            <p:nvPr/>
          </p:nvGrpSpPr>
          <p:grpSpPr>
            <a:xfrm>
              <a:off x="4006228" y="1045171"/>
              <a:ext cx="5097349" cy="2671861"/>
              <a:chOff x="3575050" y="836712"/>
              <a:chExt cx="5097349" cy="2671861"/>
            </a:xfrm>
          </p:grpSpPr>
          <p:grpSp>
            <p:nvGrpSpPr>
              <p:cNvPr id="6" name="组合 5"/>
              <p:cNvGrpSpPr>
                <a:grpSpLocks/>
              </p:cNvGrpSpPr>
              <p:nvPr/>
            </p:nvGrpSpPr>
            <p:grpSpPr bwMode="auto">
              <a:xfrm>
                <a:off x="3701773" y="1080760"/>
                <a:ext cx="4970626" cy="1916192"/>
                <a:chOff x="617573" y="948878"/>
                <a:chExt cx="5181976" cy="1916192"/>
              </a:xfrm>
            </p:grpSpPr>
            <p:cxnSp>
              <p:nvCxnSpPr>
                <p:cNvPr id="8" name="肘形连接符 10"/>
                <p:cNvCxnSpPr/>
                <p:nvPr/>
              </p:nvCxnSpPr>
              <p:spPr bwMode="auto">
                <a:xfrm flipH="1">
                  <a:off x="3667618" y="1518791"/>
                  <a:ext cx="723759" cy="527050"/>
                </a:xfrm>
                <a:prstGeom prst="straightConnector1">
                  <a:avLst/>
                </a:prstGeom>
                <a:ln w="1905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" name="组合 14"/>
                <p:cNvGrpSpPr>
                  <a:grpSpLocks/>
                </p:cNvGrpSpPr>
                <p:nvPr/>
              </p:nvGrpSpPr>
              <p:grpSpPr bwMode="auto">
                <a:xfrm>
                  <a:off x="2530113" y="1769617"/>
                  <a:ext cx="1232896" cy="988685"/>
                  <a:chOff x="6748720" y="2841546"/>
                  <a:chExt cx="1007471" cy="1191134"/>
                </a:xfrm>
              </p:grpSpPr>
              <p:pic>
                <p:nvPicPr>
                  <p:cNvPr id="22" name="Picture 80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876256" y="2841546"/>
                    <a:ext cx="752475" cy="838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" name="Text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48720" y="3717501"/>
                    <a:ext cx="1007471" cy="31517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100" b="1" dirty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变更实施工程师</a:t>
                    </a:r>
                  </a:p>
                </p:txBody>
              </p:sp>
            </p:grpSp>
            <p:grpSp>
              <p:nvGrpSpPr>
                <p:cNvPr id="10" name="组合 24"/>
                <p:cNvGrpSpPr>
                  <a:grpSpLocks/>
                </p:cNvGrpSpPr>
                <p:nvPr/>
              </p:nvGrpSpPr>
              <p:grpSpPr bwMode="auto">
                <a:xfrm>
                  <a:off x="4088518" y="948878"/>
                  <a:ext cx="1711031" cy="891847"/>
                  <a:chOff x="2624295" y="3836466"/>
                  <a:chExt cx="1398114" cy="891579"/>
                </a:xfrm>
              </p:grpSpPr>
              <p:pic>
                <p:nvPicPr>
                  <p:cNvPr id="20" name="Picture 63" descr="j0292014s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9174" y="3836466"/>
                    <a:ext cx="726722" cy="630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1" name="Text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24295" y="4466514"/>
                    <a:ext cx="1398114" cy="2615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100" b="1" dirty="0" smtClean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运维主管</a:t>
                    </a:r>
                    <a:endParaRPr lang="zh-CN" altLang="en-US" sz="1100" b="1" dirty="0">
                      <a:solidFill>
                        <a:schemeClr val="tx1"/>
                      </a:solidFill>
                      <a:latin typeface="微软雅黑" pitchFamily="34" charset="-122"/>
                    </a:endParaRPr>
                  </a:p>
                </p:txBody>
              </p:sp>
            </p:grpSp>
            <p:pic>
              <p:nvPicPr>
                <p:cNvPr id="11" name="Picture 53" descr="j0343443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7336" y="1907729"/>
                  <a:ext cx="909233" cy="5540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2" name="肘形连接符 10"/>
                <p:cNvCxnSpPr/>
                <p:nvPr/>
              </p:nvCxnSpPr>
              <p:spPr bwMode="auto">
                <a:xfrm rot="10800000" flipV="1">
                  <a:off x="1794427" y="2349054"/>
                  <a:ext cx="802456" cy="0"/>
                </a:xfrm>
                <a:prstGeom prst="bentConnector3">
                  <a:avLst>
                    <a:gd name="adj1" fmla="val 50000"/>
                  </a:avLst>
                </a:prstGeom>
                <a:ln w="1905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肘形连接符 10"/>
                <p:cNvCxnSpPr/>
                <p:nvPr/>
              </p:nvCxnSpPr>
              <p:spPr bwMode="auto">
                <a:xfrm flipH="1">
                  <a:off x="3665234" y="2634804"/>
                  <a:ext cx="835841" cy="0"/>
                </a:xfrm>
                <a:prstGeom prst="straightConnector1">
                  <a:avLst/>
                </a:prstGeom>
                <a:ln w="1905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圆角矩形 13"/>
                <p:cNvSpPr/>
                <p:nvPr/>
              </p:nvSpPr>
              <p:spPr bwMode="ltGray">
                <a:xfrm>
                  <a:off x="4571424" y="2407870"/>
                  <a:ext cx="913344" cy="457200"/>
                </a:xfrm>
                <a:prstGeom prst="roundRect">
                  <a:avLst/>
                </a:prstGeom>
                <a:ln w="19050">
                  <a:headEnd type="triangle" w="med" len="med"/>
                  <a:tailEnd type="none" w="med" len="med"/>
                </a:ln>
                <a:ex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zh-CN" altLang="en-US" sz="1100" dirty="0">
                      <a:latin typeface="微软雅黑" pitchFamily="34" charset="-122"/>
                      <a:ea typeface="微软雅黑" pitchFamily="34" charset="-122"/>
                    </a:rPr>
                    <a:t>变更完成</a:t>
                  </a:r>
                </a:p>
              </p:txBody>
            </p:sp>
            <p:sp>
              <p:nvSpPr>
                <p:cNvPr id="15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3424378" y="2350641"/>
                  <a:ext cx="1285359" cy="2616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dirty="0" smtClean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实施变更</a:t>
                  </a:r>
                  <a:endParaRPr lang="zh-CN" altLang="en-US"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endParaRPr>
                </a:p>
              </p:txBody>
            </p:sp>
            <p:sp>
              <p:nvSpPr>
                <p:cNvPr id="16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1582188" y="2071241"/>
                  <a:ext cx="1262705" cy="2616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  <a:ea typeface="微软雅黑" pitchFamily="34" charset="-122"/>
                    </a:rPr>
                    <a:t>提交变更</a:t>
                  </a:r>
                </a:p>
              </p:txBody>
            </p:sp>
            <p:sp>
              <p:nvSpPr>
                <p:cNvPr id="17" name="TextBox 85"/>
                <p:cNvSpPr txBox="1">
                  <a:spLocks noChangeArrowheads="1"/>
                </p:cNvSpPr>
                <p:nvPr/>
              </p:nvSpPr>
              <p:spPr bwMode="auto">
                <a:xfrm rot="19441255">
                  <a:off x="3263825" y="1406982"/>
                  <a:ext cx="1262704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  <a:ea typeface="微软雅黑" pitchFamily="34" charset="-122"/>
                    </a:rPr>
                    <a:t>需求审批</a:t>
                  </a:r>
                  <a:endParaRPr lang="en-US" altLang="zh-CN"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  <a:ea typeface="微软雅黑" pitchFamily="34" charset="-122"/>
                  </a:endParaRPr>
                </a:p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  <a:ea typeface="微软雅黑" pitchFamily="34" charset="-122"/>
                    </a:rPr>
                    <a:t>（可选）</a:t>
                  </a:r>
                </a:p>
              </p:txBody>
            </p:sp>
            <p:sp>
              <p:nvSpPr>
                <p:cNvPr id="18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17573" y="2496691"/>
                  <a:ext cx="1234088" cy="2616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b="1" dirty="0">
                      <a:solidFill>
                        <a:schemeClr val="tx1"/>
                      </a:solidFill>
                      <a:latin typeface="微软雅黑" pitchFamily="34" charset="-122"/>
                    </a:rPr>
                    <a:t>变更申请工程师</a:t>
                  </a:r>
                </a:p>
              </p:txBody>
            </p:sp>
            <p:sp>
              <p:nvSpPr>
                <p:cNvPr id="19" name="TextBox 85"/>
                <p:cNvSpPr txBox="1">
                  <a:spLocks noChangeArrowheads="1"/>
                </p:cNvSpPr>
                <p:nvPr/>
              </p:nvSpPr>
              <p:spPr bwMode="auto">
                <a:xfrm rot="19200000">
                  <a:off x="4207753" y="1794321"/>
                  <a:ext cx="528812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变更</a:t>
                  </a:r>
                  <a:endParaRPr lang="en-US" altLang="zh-CN"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endParaRPr>
                </a:p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批准</a:t>
                  </a:r>
                </a:p>
              </p:txBody>
            </p:sp>
          </p:grpSp>
          <p:sp>
            <p:nvSpPr>
              <p:cNvPr id="7" name="圆角矩形 6"/>
              <p:cNvSpPr/>
              <p:nvPr/>
            </p:nvSpPr>
            <p:spPr>
              <a:xfrm>
                <a:off x="3575050" y="836712"/>
                <a:ext cx="5029397" cy="2671861"/>
              </a:xfrm>
              <a:prstGeom prst="roundRect">
                <a:avLst>
                  <a:gd name="adj" fmla="val 8251"/>
                </a:avLst>
              </a:prstGeom>
              <a:noFill/>
              <a:ln>
                <a:solidFill>
                  <a:schemeClr val="accent4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" name="圆角矩形标注 4"/>
            <p:cNvSpPr/>
            <p:nvPr/>
          </p:nvSpPr>
          <p:spPr bwMode="auto">
            <a:xfrm>
              <a:off x="4243809" y="1196752"/>
              <a:ext cx="1984375" cy="917653"/>
            </a:xfrm>
            <a:prstGeom prst="wedgeRoundRectCallout">
              <a:avLst>
                <a:gd name="adj1" fmla="val 67686"/>
                <a:gd name="adj2" fmla="val 19730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>
                <a:defRPr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参与角色：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algn="l">
                <a:defRPr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    变更申请工程师、变更执行工程师；运维主管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169152" y="3710586"/>
            <a:ext cx="7198481" cy="2701478"/>
            <a:chOff x="3347864" y="4069507"/>
            <a:chExt cx="5904656" cy="2701478"/>
          </a:xfrm>
        </p:grpSpPr>
        <p:sp>
          <p:nvSpPr>
            <p:cNvPr id="25" name="圆角矩形标注 24"/>
            <p:cNvSpPr/>
            <p:nvPr/>
          </p:nvSpPr>
          <p:spPr bwMode="auto">
            <a:xfrm>
              <a:off x="3560785" y="5288120"/>
              <a:ext cx="1816539" cy="857256"/>
            </a:xfrm>
            <a:prstGeom prst="wedgeRoundRectCallout">
              <a:avLst>
                <a:gd name="adj1" fmla="val 82418"/>
                <a:gd name="adj2" fmla="val -53818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>
                <a:defRPr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参与角色：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algn="l">
                <a:defRPr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    变更申请工程师、变更执行工程师、运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维主管；配置管理员；配置经理</a:t>
              </a: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  <a:p>
              <a:pPr algn="l">
                <a:defRPr/>
              </a:pPr>
              <a:endParaRPr lang="en-US" altLang="zh-CN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3347864" y="4069507"/>
              <a:ext cx="5904656" cy="2701478"/>
              <a:chOff x="3203848" y="4069507"/>
              <a:chExt cx="5904656" cy="2701478"/>
            </a:xfrm>
          </p:grpSpPr>
          <p:grpSp>
            <p:nvGrpSpPr>
              <p:cNvPr id="27" name="组合 26"/>
              <p:cNvGrpSpPr>
                <a:grpSpLocks/>
              </p:cNvGrpSpPr>
              <p:nvPr/>
            </p:nvGrpSpPr>
            <p:grpSpPr bwMode="auto">
              <a:xfrm>
                <a:off x="3203848" y="4149080"/>
                <a:ext cx="5904656" cy="2621905"/>
                <a:chOff x="211431" y="4088184"/>
                <a:chExt cx="7640403" cy="2621204"/>
              </a:xfrm>
            </p:grpSpPr>
            <p:cxnSp>
              <p:nvCxnSpPr>
                <p:cNvPr id="33" name="肘形连接符 10"/>
                <p:cNvCxnSpPr/>
                <p:nvPr/>
              </p:nvCxnSpPr>
              <p:spPr bwMode="auto">
                <a:xfrm flipH="1">
                  <a:off x="3351488" y="4464322"/>
                  <a:ext cx="763593" cy="6348"/>
                </a:xfrm>
                <a:prstGeom prst="straightConnector1">
                  <a:avLst/>
                </a:prstGeom>
                <a:ln w="1905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4" name="组合 14"/>
                <p:cNvGrpSpPr>
                  <a:grpSpLocks/>
                </p:cNvGrpSpPr>
                <p:nvPr/>
              </p:nvGrpSpPr>
              <p:grpSpPr bwMode="auto">
                <a:xfrm>
                  <a:off x="3728564" y="4088184"/>
                  <a:ext cx="1793878" cy="924824"/>
                  <a:chOff x="6477781" y="2841546"/>
                  <a:chExt cx="1465883" cy="1114197"/>
                </a:xfrm>
              </p:grpSpPr>
              <p:pic>
                <p:nvPicPr>
                  <p:cNvPr id="58" name="Picture 80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876256" y="2841546"/>
                    <a:ext cx="752475" cy="838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9" name="Text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77781" y="3622113"/>
                    <a:ext cx="1465883" cy="3336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200" b="1" dirty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变更实施工程师</a:t>
                    </a:r>
                  </a:p>
                </p:txBody>
              </p:sp>
            </p:grpSp>
            <p:grpSp>
              <p:nvGrpSpPr>
                <p:cNvPr id="35" name="组合 24"/>
                <p:cNvGrpSpPr>
                  <a:grpSpLocks/>
                </p:cNvGrpSpPr>
                <p:nvPr/>
              </p:nvGrpSpPr>
              <p:grpSpPr bwMode="auto">
                <a:xfrm>
                  <a:off x="1971679" y="4183435"/>
                  <a:ext cx="1711610" cy="908050"/>
                  <a:chOff x="2624096" y="3836466"/>
                  <a:chExt cx="1398587" cy="907777"/>
                </a:xfrm>
              </p:grpSpPr>
              <p:pic>
                <p:nvPicPr>
                  <p:cNvPr id="56" name="Picture 63" descr="j0292014s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9174" y="3836466"/>
                    <a:ext cx="726722" cy="630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7" name="Text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23918" y="4466321"/>
                    <a:ext cx="1398867" cy="2776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200" b="1" dirty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运维主管</a:t>
                    </a:r>
                  </a:p>
                </p:txBody>
              </p:sp>
            </p:grpSp>
            <p:pic>
              <p:nvPicPr>
                <p:cNvPr id="36" name="Picture 53" descr="j0343443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5719" y="4186610"/>
                  <a:ext cx="909233" cy="5540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7" name="肘形连接符 10"/>
                <p:cNvCxnSpPr/>
                <p:nvPr/>
              </p:nvCxnSpPr>
              <p:spPr bwMode="auto">
                <a:xfrm rot="10800000" flipV="1">
                  <a:off x="1446899" y="4507173"/>
                  <a:ext cx="801201" cy="0"/>
                </a:xfrm>
                <a:prstGeom prst="bentConnector3">
                  <a:avLst>
                    <a:gd name="adj1" fmla="val 50000"/>
                  </a:avLst>
                </a:prstGeom>
                <a:ln w="190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肘形连接符 10"/>
                <p:cNvCxnSpPr>
                  <a:stCxn id="52" idx="1"/>
                </p:cNvCxnSpPr>
                <p:nvPr/>
              </p:nvCxnSpPr>
              <p:spPr bwMode="auto">
                <a:xfrm flipH="1" flipV="1">
                  <a:off x="5454231" y="5624474"/>
                  <a:ext cx="990873" cy="317415"/>
                </a:xfrm>
                <a:prstGeom prst="straightConnector1">
                  <a:avLst/>
                </a:pr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圆柱形 38"/>
                <p:cNvSpPr/>
                <p:nvPr/>
              </p:nvSpPr>
              <p:spPr bwMode="ltGray">
                <a:xfrm>
                  <a:off x="3083890" y="5869689"/>
                  <a:ext cx="1118411" cy="387246"/>
                </a:xfrm>
                <a:prstGeom prst="can">
                  <a:avLst/>
                </a:prstGeom>
                <a:gradFill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  <a:ln/>
                <a:ex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zh-CN" altLang="en-US" sz="1200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配置变更</a:t>
                  </a:r>
                </a:p>
              </p:txBody>
            </p:sp>
            <p:sp>
              <p:nvSpPr>
                <p:cNvPr id="40" name="TextBox 85"/>
                <p:cNvSpPr txBox="1">
                  <a:spLocks noChangeArrowheads="1"/>
                </p:cNvSpPr>
                <p:nvPr/>
              </p:nvSpPr>
              <p:spPr bwMode="auto">
                <a:xfrm rot="1373116">
                  <a:off x="5377380" y="5510039"/>
                  <a:ext cx="1286828" cy="2777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200" dirty="0" smtClean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配置变更申请</a:t>
                  </a:r>
                  <a:endParaRPr lang="zh-CN" altLang="en-US" sz="1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endParaRPr>
                </a:p>
              </p:txBody>
            </p:sp>
            <p:cxnSp>
              <p:nvCxnSpPr>
                <p:cNvPr id="41" name="肘形连接符 10"/>
                <p:cNvCxnSpPr/>
                <p:nvPr/>
              </p:nvCxnSpPr>
              <p:spPr bwMode="auto">
                <a:xfrm flipH="1">
                  <a:off x="5249843" y="4634139"/>
                  <a:ext cx="1079168" cy="0"/>
                </a:xfrm>
                <a:prstGeom prst="straightConnector1">
                  <a:avLst/>
                </a:prstGeom>
                <a:ln w="19050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5249843" y="4160173"/>
                  <a:ext cx="1137345" cy="4615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2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变更方案、</a:t>
                  </a:r>
                  <a:endParaRPr lang="en-US" altLang="zh-CN" sz="1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endParaRPr>
                </a:p>
                <a:p>
                  <a:pPr algn="ctr" eaLnBrk="1" hangingPunct="1">
                    <a:defRPr/>
                  </a:pPr>
                  <a:r>
                    <a:rPr lang="zh-CN" altLang="en-US" sz="12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计划提报</a:t>
                  </a:r>
                  <a:endParaRPr lang="en-US" altLang="zh-CN" sz="1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endParaRPr>
                </a:p>
              </p:txBody>
            </p:sp>
            <p:cxnSp>
              <p:nvCxnSpPr>
                <p:cNvPr id="43" name="肘形连接符 10"/>
                <p:cNvCxnSpPr/>
                <p:nvPr/>
              </p:nvCxnSpPr>
              <p:spPr bwMode="auto">
                <a:xfrm flipV="1">
                  <a:off x="6969971" y="5038844"/>
                  <a:ext cx="0" cy="539606"/>
                </a:xfrm>
                <a:prstGeom prst="straightConnector1">
                  <a:avLst/>
                </a:prstGeom>
                <a:ln w="1905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圆角矩形 43"/>
                <p:cNvSpPr/>
                <p:nvPr/>
              </p:nvSpPr>
              <p:spPr bwMode="ltGray">
                <a:xfrm>
                  <a:off x="4515758" y="6140274"/>
                  <a:ext cx="1051369" cy="457078"/>
                </a:xfrm>
                <a:prstGeom prst="roundRect">
                  <a:avLst/>
                </a:prstGeom>
                <a:ln w="19050">
                  <a:headEnd type="triangle" w="med" len="med"/>
                  <a:tailEnd type="none" w="med" len="med"/>
                </a:ln>
                <a:ex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zh-CN" altLang="en-US" sz="1200" dirty="0">
                      <a:latin typeface="微软雅黑" pitchFamily="34" charset="-122"/>
                      <a:ea typeface="微软雅黑" pitchFamily="34" charset="-122"/>
                    </a:rPr>
                    <a:t>转发布</a:t>
                  </a:r>
                </a:p>
              </p:txBody>
            </p:sp>
            <p:sp>
              <p:nvSpPr>
                <p:cNvPr id="45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6565006" y="5049953"/>
                  <a:ext cx="1286828" cy="4618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2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实施</a:t>
                  </a:r>
                  <a:endParaRPr lang="en-US" altLang="zh-CN" sz="1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endParaRPr>
                </a:p>
                <a:p>
                  <a:pPr algn="ctr" eaLnBrk="1" hangingPunct="1">
                    <a:defRPr/>
                  </a:pPr>
                  <a:r>
                    <a:rPr lang="zh-CN" altLang="en-US" sz="12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</a:rPr>
                    <a:t>变更</a:t>
                  </a:r>
                </a:p>
              </p:txBody>
            </p:sp>
            <p:sp>
              <p:nvSpPr>
                <p:cNvPr id="46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1224399" y="4258576"/>
                  <a:ext cx="1262301" cy="261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  <a:ea typeface="微软雅黑" pitchFamily="34" charset="-122"/>
                    </a:rPr>
                    <a:t>提交变更</a:t>
                  </a:r>
                </a:p>
              </p:txBody>
            </p:sp>
            <p:sp>
              <p:nvSpPr>
                <p:cNvPr id="47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1224399" y="4487483"/>
                  <a:ext cx="1262301" cy="2615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000">
                      <a:solidFill>
                        <a:schemeClr val="tx2"/>
                      </a:solidFill>
                      <a:latin typeface="Arial" pitchFamily="34" charset="0"/>
                      <a:ea typeface="黑体" pitchFamily="49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100" dirty="0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atin typeface="微软雅黑" pitchFamily="34" charset="-122"/>
                      <a:ea typeface="微软雅黑" pitchFamily="34" charset="-122"/>
                    </a:rPr>
                    <a:t>需求审批</a:t>
                  </a:r>
                </a:p>
              </p:txBody>
            </p:sp>
            <p:sp>
              <p:nvSpPr>
                <p:cNvPr id="48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211431" y="4787242"/>
                  <a:ext cx="1883639" cy="276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r>
                    <a:rPr lang="zh-CN" altLang="en-US" sz="1200" b="1">
                      <a:solidFill>
                        <a:schemeClr val="tx1"/>
                      </a:solidFill>
                      <a:latin typeface="微软雅黑" pitchFamily="34" charset="-122"/>
                    </a:rPr>
                    <a:t>变更申请工程师</a:t>
                  </a:r>
                  <a:endParaRPr lang="zh-CN" altLang="en-US" sz="1200" b="1" dirty="0">
                    <a:solidFill>
                      <a:schemeClr val="tx1"/>
                    </a:solidFill>
                    <a:latin typeface="微软雅黑" pitchFamily="34" charset="-122"/>
                  </a:endParaRPr>
                </a:p>
              </p:txBody>
            </p:sp>
            <p:grpSp>
              <p:nvGrpSpPr>
                <p:cNvPr id="49" name="组合 24"/>
                <p:cNvGrpSpPr>
                  <a:grpSpLocks/>
                </p:cNvGrpSpPr>
                <p:nvPr/>
              </p:nvGrpSpPr>
              <p:grpSpPr bwMode="auto">
                <a:xfrm>
                  <a:off x="6038306" y="4180260"/>
                  <a:ext cx="1711610" cy="908050"/>
                  <a:chOff x="2624096" y="3836466"/>
                  <a:chExt cx="1398587" cy="907777"/>
                </a:xfrm>
              </p:grpSpPr>
              <p:pic>
                <p:nvPicPr>
                  <p:cNvPr id="54" name="Picture 63" descr="j0292014s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9174" y="3836466"/>
                    <a:ext cx="726722" cy="630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5" name="TextBox 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23815" y="4466321"/>
                    <a:ext cx="1398868" cy="2776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200" b="1" dirty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运</a:t>
                    </a:r>
                    <a:r>
                      <a:rPr lang="zh-CN" altLang="en-US" sz="1200" b="1" dirty="0" smtClean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维主管</a:t>
                    </a:r>
                    <a:endParaRPr lang="zh-CN" altLang="en-US" sz="1200" b="1" dirty="0">
                      <a:solidFill>
                        <a:schemeClr val="tx1"/>
                      </a:solidFill>
                      <a:latin typeface="微软雅黑" pitchFamily="34" charset="-122"/>
                    </a:endParaRPr>
                  </a:p>
                </p:txBody>
              </p:sp>
            </p:grpSp>
            <p:grpSp>
              <p:nvGrpSpPr>
                <p:cNvPr id="50" name="组合 14"/>
                <p:cNvGrpSpPr>
                  <a:grpSpLocks/>
                </p:cNvGrpSpPr>
                <p:nvPr/>
              </p:nvGrpSpPr>
              <p:grpSpPr bwMode="auto">
                <a:xfrm>
                  <a:off x="6339439" y="5594052"/>
                  <a:ext cx="1232867" cy="1115336"/>
                  <a:chOff x="6789619" y="2841546"/>
                  <a:chExt cx="1007448" cy="1343719"/>
                </a:xfrm>
              </p:grpSpPr>
              <p:pic>
                <p:nvPicPr>
                  <p:cNvPr id="52" name="Picture 80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876256" y="2841546"/>
                    <a:ext cx="752475" cy="8382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3" name="Text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89619" y="3629215"/>
                    <a:ext cx="1007448" cy="5560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1pPr>
                    <a:lvl2pPr marL="742950" indent="-28575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2pPr>
                    <a:lvl3pPr marL="11430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3pPr>
                    <a:lvl4pPr marL="16002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4pPr>
                    <a:lvl5pPr marL="2057400" indent="-228600" eaLnBrk="0" hangingPunct="0"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1600">
                        <a:solidFill>
                          <a:schemeClr val="tx2"/>
                        </a:solidFill>
                        <a:latin typeface="Arial" pitchFamily="34" charset="0"/>
                        <a:ea typeface="微软雅黑" pitchFamily="34" charset="-122"/>
                      </a:defRPr>
                    </a:lvl9pPr>
                  </a:lstStyle>
                  <a:p>
                    <a:pPr algn="ctr" eaLnBrk="1" hangingPunct="1">
                      <a:defRPr/>
                    </a:pPr>
                    <a:r>
                      <a:rPr lang="zh-CN" altLang="en-US" sz="1200" b="1" dirty="0">
                        <a:solidFill>
                          <a:schemeClr val="tx1"/>
                        </a:solidFill>
                        <a:latin typeface="微软雅黑" pitchFamily="34" charset="-122"/>
                      </a:rPr>
                      <a:t>变更实施工程师</a:t>
                    </a:r>
                  </a:p>
                </p:txBody>
              </p:sp>
            </p:grpSp>
            <p:cxnSp>
              <p:nvCxnSpPr>
                <p:cNvPr id="51" name="肘形连接符 10"/>
                <p:cNvCxnSpPr>
                  <a:endCxn id="52" idx="1"/>
                </p:cNvCxnSpPr>
                <p:nvPr/>
              </p:nvCxnSpPr>
              <p:spPr bwMode="auto">
                <a:xfrm flipV="1">
                  <a:off x="5567127" y="5941921"/>
                  <a:ext cx="878334" cy="427700"/>
                </a:xfrm>
                <a:prstGeom prst="straightConnector1">
                  <a:avLst/>
                </a:prstGeom>
                <a:ln w="19050"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矩形 27"/>
              <p:cNvSpPr/>
              <p:nvPr/>
            </p:nvSpPr>
            <p:spPr>
              <a:xfrm>
                <a:off x="5551270" y="4293096"/>
                <a:ext cx="748923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eaLnBrk="1" hangingPunct="1">
                  <a:defRPr/>
                </a:pPr>
                <a:r>
                  <a:rPr lang="zh-CN" altLang="en-US" sz="11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变更执行</a:t>
                </a:r>
              </a:p>
            </p:txBody>
          </p:sp>
          <p:sp>
            <p:nvSpPr>
              <p:cNvPr id="29" name="TextBox 85"/>
              <p:cNvSpPr txBox="1">
                <a:spLocks noChangeArrowheads="1"/>
              </p:cNvSpPr>
              <p:nvPr/>
            </p:nvSpPr>
            <p:spPr bwMode="auto">
              <a:xfrm>
                <a:off x="7020272" y="4725144"/>
                <a:ext cx="994486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rPr>
                  <a:t>方案审核</a:t>
                </a:r>
              </a:p>
            </p:txBody>
          </p:sp>
          <p:sp>
            <p:nvSpPr>
              <p:cNvPr id="31" name="TextBox 85"/>
              <p:cNvSpPr txBox="1">
                <a:spLocks noChangeArrowheads="1"/>
              </p:cNvSpPr>
              <p:nvPr/>
            </p:nvSpPr>
            <p:spPr bwMode="auto">
              <a:xfrm rot="19750690">
                <a:off x="7221150" y="6222041"/>
                <a:ext cx="994486" cy="2778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2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微软雅黑" pitchFamily="34" charset="-122"/>
                  </a:rPr>
                  <a:t>触发发布</a:t>
                </a: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3260866" y="4069507"/>
                <a:ext cx="5656496" cy="2671861"/>
              </a:xfrm>
              <a:prstGeom prst="roundRect">
                <a:avLst>
                  <a:gd name="adj" fmla="val 7690"/>
                </a:avLst>
              </a:prstGeom>
              <a:noFill/>
              <a:ln>
                <a:solidFill>
                  <a:schemeClr val="accent4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60" name="矩形 59"/>
          <p:cNvSpPr/>
          <p:nvPr/>
        </p:nvSpPr>
        <p:spPr bwMode="auto">
          <a:xfrm>
            <a:off x="539552" y="1328295"/>
            <a:ext cx="432000" cy="2081374"/>
          </a:xfrm>
          <a:prstGeom prst="rect">
            <a:avLst/>
          </a:prstGeom>
        </p:spPr>
        <p:txBody>
          <a:bodyPr vert="eaVert" wrap="square">
            <a:noAutofit/>
          </a:bodyPr>
          <a:lstStyle/>
          <a:p>
            <a:pPr>
              <a:defRPr/>
            </a:pP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简单变</a:t>
            </a:r>
            <a:r>
              <a:rPr lang="zh-CN" altLang="en-US" sz="1600" b="1" kern="0" dirty="0">
                <a:solidFill>
                  <a:sysClr val="windowText" lastClr="000000"/>
                </a:solidFill>
                <a:latin typeface="微软雅黑"/>
                <a:ea typeface="微软雅黑"/>
              </a:rPr>
              <a:t>更</a:t>
            </a: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流程示意图</a:t>
            </a:r>
            <a:endParaRPr lang="zh-CN" altLang="en-US" sz="16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61" name="矩形 60"/>
          <p:cNvSpPr/>
          <p:nvPr/>
        </p:nvSpPr>
        <p:spPr bwMode="auto">
          <a:xfrm>
            <a:off x="539552" y="3799154"/>
            <a:ext cx="432000" cy="2081374"/>
          </a:xfrm>
          <a:prstGeom prst="rect">
            <a:avLst/>
          </a:prstGeom>
        </p:spPr>
        <p:txBody>
          <a:bodyPr vert="eaVert" wrap="square">
            <a:noAutofit/>
          </a:bodyPr>
          <a:lstStyle/>
          <a:p>
            <a:pPr>
              <a:defRPr/>
            </a:pP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标准变更流程示意图</a:t>
            </a:r>
            <a:endParaRPr lang="zh-CN" altLang="en-US" sz="16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pic>
        <p:nvPicPr>
          <p:cNvPr id="62" name="Picture 8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86380" y="4857760"/>
            <a:ext cx="797598" cy="57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77"/>
          <p:cNvSpPr txBox="1">
            <a:spLocks noChangeArrowheads="1"/>
          </p:cNvSpPr>
          <p:nvPr/>
        </p:nvSpPr>
        <p:spPr bwMode="auto">
          <a:xfrm>
            <a:off x="4635254" y="5366579"/>
            <a:ext cx="169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b="1" dirty="0" smtClean="0">
                <a:solidFill>
                  <a:schemeClr val="tx1"/>
                </a:solidFill>
                <a:latin typeface="微软雅黑" pitchFamily="34" charset="-122"/>
              </a:rPr>
              <a:t>配置管理员</a:t>
            </a:r>
            <a:endParaRPr lang="en-US" altLang="zh-CN" sz="1200" b="1" dirty="0" smtClean="0">
              <a:solidFill>
                <a:schemeClr val="tx1"/>
              </a:solidFill>
              <a:latin typeface="微软雅黑" pitchFamily="34" charset="-122"/>
            </a:endParaRPr>
          </a:p>
          <a:p>
            <a:pPr algn="ctr" eaLnBrk="1" hangingPunct="1">
              <a:defRPr/>
            </a:pPr>
            <a:r>
              <a:rPr lang="zh-CN" altLang="en-US" sz="1200" b="1" dirty="0" smtClean="0">
                <a:solidFill>
                  <a:schemeClr val="tx1"/>
                </a:solidFill>
                <a:latin typeface="微软雅黑" pitchFamily="34" charset="-122"/>
              </a:rPr>
              <a:t>配置经理</a:t>
            </a:r>
            <a:endParaRPr lang="zh-CN" altLang="en-US" sz="1200" b="1" dirty="0">
              <a:solidFill>
                <a:schemeClr val="tx1"/>
              </a:solidFill>
              <a:latin typeface="微软雅黑" pitchFamily="34" charset="-122"/>
            </a:endParaRPr>
          </a:p>
        </p:txBody>
      </p:sp>
      <p:cxnSp>
        <p:nvCxnSpPr>
          <p:cNvPr id="67" name="肘形连接符 10"/>
          <p:cNvCxnSpPr>
            <a:stCxn id="39" idx="1"/>
            <a:endCxn id="62" idx="1"/>
          </p:cNvCxnSpPr>
          <p:nvPr/>
        </p:nvCxnSpPr>
        <p:spPr bwMode="auto">
          <a:xfrm rot="5400000" flipH="1" flipV="1">
            <a:off x="4630536" y="4916297"/>
            <a:ext cx="427637" cy="884051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85"/>
          <p:cNvSpPr txBox="1">
            <a:spLocks noChangeArrowheads="1"/>
          </p:cNvSpPr>
          <p:nvPr/>
        </p:nvSpPr>
        <p:spPr bwMode="auto">
          <a:xfrm rot="19946892">
            <a:off x="4210315" y="5082569"/>
            <a:ext cx="121239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itchFamily="34" charset="-122"/>
              </a:rPr>
              <a:t>配置变更</a:t>
            </a:r>
            <a:endParaRPr lang="zh-CN" altLang="en-US" sz="1200" dirty="0">
              <a:solidFill>
                <a:schemeClr val="accent2">
                  <a:lumMod val="40000"/>
                  <a:lumOff val="60000"/>
                </a:schemeClr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352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>
                <a:sym typeface="微软雅黑" pitchFamily="34" charset="-122"/>
              </a:rPr>
              <a:t>发布管理</a:t>
            </a:r>
            <a:endParaRPr lang="zh-CN" altLang="en-US" dirty="0"/>
          </a:p>
        </p:txBody>
      </p:sp>
      <p:grpSp>
        <p:nvGrpSpPr>
          <p:cNvPr id="61" name="组合 60"/>
          <p:cNvGrpSpPr/>
          <p:nvPr/>
        </p:nvGrpSpPr>
        <p:grpSpPr>
          <a:xfrm>
            <a:off x="384874" y="878637"/>
            <a:ext cx="8311388" cy="5364266"/>
            <a:chOff x="384874" y="878637"/>
            <a:chExt cx="8311388" cy="5364266"/>
          </a:xfrm>
        </p:grpSpPr>
        <p:grpSp>
          <p:nvGrpSpPr>
            <p:cNvPr id="6" name="组合 5"/>
            <p:cNvGrpSpPr/>
            <p:nvPr/>
          </p:nvGrpSpPr>
          <p:grpSpPr>
            <a:xfrm>
              <a:off x="1086952" y="3930250"/>
              <a:ext cx="7453157" cy="864065"/>
              <a:chOff x="731588" y="4005064"/>
              <a:chExt cx="7890617" cy="451741"/>
            </a:xfrm>
          </p:grpSpPr>
          <p:sp>
            <p:nvSpPr>
              <p:cNvPr id="49" name="TextBox 82"/>
              <p:cNvSpPr>
                <a:spLocks noChangeArrowheads="1"/>
              </p:cNvSpPr>
              <p:nvPr/>
            </p:nvSpPr>
            <p:spPr bwMode="auto">
              <a:xfrm>
                <a:off x="731588" y="4005064"/>
                <a:ext cx="1979876" cy="15056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发布生成规则</a:t>
                </a:r>
              </a:p>
            </p:txBody>
          </p:sp>
          <p:sp>
            <p:nvSpPr>
              <p:cNvPr id="50" name="TextBox 84"/>
              <p:cNvSpPr>
                <a:spLocks noChangeArrowheads="1"/>
              </p:cNvSpPr>
              <p:nvPr/>
            </p:nvSpPr>
            <p:spPr bwMode="auto">
              <a:xfrm>
                <a:off x="3097227" y="4005064"/>
                <a:ext cx="3263901" cy="15056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发布实施准备规则</a:t>
                </a:r>
              </a:p>
            </p:txBody>
          </p:sp>
          <p:sp>
            <p:nvSpPr>
              <p:cNvPr id="51" name="TextBox 86"/>
              <p:cNvSpPr>
                <a:spLocks noChangeArrowheads="1"/>
              </p:cNvSpPr>
              <p:nvPr/>
            </p:nvSpPr>
            <p:spPr bwMode="auto">
              <a:xfrm>
                <a:off x="6681801" y="4005064"/>
                <a:ext cx="1939662" cy="15056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发布回退规则</a:t>
                </a:r>
              </a:p>
            </p:txBody>
          </p:sp>
          <p:sp>
            <p:nvSpPr>
              <p:cNvPr id="52" name="TextBox 87"/>
              <p:cNvSpPr>
                <a:spLocks noChangeArrowheads="1"/>
              </p:cNvSpPr>
              <p:nvPr/>
            </p:nvSpPr>
            <p:spPr bwMode="auto">
              <a:xfrm>
                <a:off x="731588" y="4306236"/>
                <a:ext cx="1979876" cy="15056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发布申请规则</a:t>
                </a:r>
              </a:p>
            </p:txBody>
          </p:sp>
          <p:sp>
            <p:nvSpPr>
              <p:cNvPr id="53" name="TextBox 88"/>
              <p:cNvSpPr>
                <a:spLocks noChangeArrowheads="1"/>
              </p:cNvSpPr>
              <p:nvPr/>
            </p:nvSpPr>
            <p:spPr bwMode="auto">
              <a:xfrm>
                <a:off x="3067062" y="4306235"/>
                <a:ext cx="3294064" cy="15056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发布审核规则</a:t>
                </a:r>
              </a:p>
            </p:txBody>
          </p:sp>
          <p:sp>
            <p:nvSpPr>
              <p:cNvPr id="54" name="TextBox 89"/>
              <p:cNvSpPr>
                <a:spLocks noChangeArrowheads="1"/>
              </p:cNvSpPr>
              <p:nvPr/>
            </p:nvSpPr>
            <p:spPr bwMode="auto">
              <a:xfrm>
                <a:off x="6688152" y="4306235"/>
                <a:ext cx="1934053" cy="15056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发布验证关闭规则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00100" y="1556792"/>
              <a:ext cx="7696161" cy="2072734"/>
              <a:chOff x="636200" y="1415579"/>
              <a:chExt cx="8147886" cy="1707219"/>
            </a:xfrm>
          </p:grpSpPr>
          <p:sp>
            <p:nvSpPr>
              <p:cNvPr id="24" name="TextBox 16"/>
              <p:cNvSpPr>
                <a:spLocks noChangeArrowheads="1"/>
              </p:cNvSpPr>
              <p:nvPr/>
            </p:nvSpPr>
            <p:spPr bwMode="auto">
              <a:xfrm>
                <a:off x="660151" y="1415579"/>
                <a:ext cx="2047875" cy="382587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发布申请</a:t>
                </a:r>
              </a:p>
            </p:txBody>
          </p:sp>
          <p:sp>
            <p:nvSpPr>
              <p:cNvPr id="25" name="TextBox 18"/>
              <p:cNvSpPr>
                <a:spLocks noChangeArrowheads="1"/>
              </p:cNvSpPr>
              <p:nvPr/>
            </p:nvSpPr>
            <p:spPr bwMode="auto">
              <a:xfrm>
                <a:off x="3063625" y="1415579"/>
                <a:ext cx="893763" cy="382587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</a:t>
                </a:r>
                <a:endParaRPr 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审核</a:t>
                </a:r>
              </a:p>
            </p:txBody>
          </p:sp>
          <p:sp>
            <p:nvSpPr>
              <p:cNvPr id="26" name="TextBox 19"/>
              <p:cNvSpPr>
                <a:spLocks noChangeArrowheads="1"/>
              </p:cNvSpPr>
              <p:nvPr/>
            </p:nvSpPr>
            <p:spPr bwMode="auto">
              <a:xfrm>
                <a:off x="4274889" y="1415579"/>
                <a:ext cx="893762" cy="382587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发布实施准备</a:t>
                </a:r>
              </a:p>
            </p:txBody>
          </p:sp>
          <p:cxnSp>
            <p:nvCxnSpPr>
              <p:cNvPr id="27" name="直接箭头连接符 20"/>
              <p:cNvCxnSpPr>
                <a:cxnSpLocks noChangeShapeType="1"/>
              </p:cNvCxnSpPr>
              <p:nvPr/>
            </p:nvCxnSpPr>
            <p:spPr bwMode="auto">
              <a:xfrm flipV="1">
                <a:off x="2708026" y="1606079"/>
                <a:ext cx="355599" cy="1587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8" name="直接箭头连接符 22"/>
              <p:cNvCxnSpPr>
                <a:cxnSpLocks noChangeShapeType="1"/>
                <a:stCxn id="25" idx="3"/>
                <a:endCxn id="26" idx="1"/>
              </p:cNvCxnSpPr>
              <p:nvPr/>
            </p:nvCxnSpPr>
            <p:spPr bwMode="auto">
              <a:xfrm>
                <a:off x="3957388" y="1606079"/>
                <a:ext cx="317500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9" name="直接箭头连接符 59"/>
              <p:cNvCxnSpPr>
                <a:cxnSpLocks noChangeShapeType="1"/>
                <a:stCxn id="26" idx="3"/>
                <a:endCxn id="30" idx="1"/>
              </p:cNvCxnSpPr>
              <p:nvPr/>
            </p:nvCxnSpPr>
            <p:spPr bwMode="auto">
              <a:xfrm>
                <a:off x="5168651" y="1606079"/>
                <a:ext cx="311150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30" name="TextBox 61"/>
              <p:cNvSpPr>
                <a:spLocks noChangeArrowheads="1"/>
              </p:cNvSpPr>
              <p:nvPr/>
            </p:nvSpPr>
            <p:spPr bwMode="auto">
              <a:xfrm>
                <a:off x="5479801" y="1415579"/>
                <a:ext cx="893763" cy="382587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发布审批</a:t>
                </a:r>
              </a:p>
            </p:txBody>
          </p:sp>
          <p:cxnSp>
            <p:nvCxnSpPr>
              <p:cNvPr id="31" name="直接箭头连接符 65"/>
              <p:cNvCxnSpPr>
                <a:cxnSpLocks noChangeShapeType="1"/>
                <a:stCxn id="30" idx="3"/>
                <a:endCxn id="32" idx="1"/>
              </p:cNvCxnSpPr>
              <p:nvPr/>
            </p:nvCxnSpPr>
            <p:spPr bwMode="auto">
              <a:xfrm>
                <a:off x="6373564" y="1606079"/>
                <a:ext cx="311150" cy="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32" name="TextBox 68"/>
              <p:cNvSpPr>
                <a:spLocks noChangeArrowheads="1"/>
              </p:cNvSpPr>
              <p:nvPr/>
            </p:nvSpPr>
            <p:spPr bwMode="auto">
              <a:xfrm>
                <a:off x="6684714" y="1415579"/>
                <a:ext cx="893762" cy="382587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发布</a:t>
                </a:r>
                <a:endParaRPr 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实施</a:t>
                </a:r>
              </a:p>
            </p:txBody>
          </p:sp>
          <p:sp>
            <p:nvSpPr>
              <p:cNvPr id="33" name="TextBox 46"/>
              <p:cNvSpPr>
                <a:spLocks noChangeArrowheads="1"/>
              </p:cNvSpPr>
              <p:nvPr/>
            </p:nvSpPr>
            <p:spPr bwMode="auto">
              <a:xfrm>
                <a:off x="7856289" y="1415579"/>
                <a:ext cx="892175" cy="382587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25400" cap="flat" cmpd="sng">
                    <a:solidFill>
                      <a:srgbClr val="00957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验证</a:t>
                </a:r>
                <a:endParaRPr 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ctr"/>
                <a:r>
                  <a:rPr lang="zh-CN" altLang="en-US" sz="14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并关闭</a:t>
                </a:r>
              </a:p>
            </p:txBody>
          </p:sp>
          <p:cxnSp>
            <p:nvCxnSpPr>
              <p:cNvPr id="34" name="直接箭头连接符 47"/>
              <p:cNvCxnSpPr>
                <a:cxnSpLocks noChangeShapeType="1"/>
                <a:stCxn id="32" idx="3"/>
                <a:endCxn id="33" idx="1"/>
              </p:cNvCxnSpPr>
              <p:nvPr/>
            </p:nvCxnSpPr>
            <p:spPr bwMode="auto">
              <a:xfrm>
                <a:off x="7578476" y="1606079"/>
                <a:ext cx="277813" cy="1587"/>
              </a:xfrm>
              <a:prstGeom prst="straightConnector1">
                <a:avLst/>
              </a:prstGeom>
              <a:noFill/>
              <a:ln w="25400" cap="flat" cmpd="sng">
                <a:solidFill>
                  <a:srgbClr val="000000"/>
                </a:solidFill>
                <a:bevel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35" name="圆角矩形 1"/>
              <p:cNvSpPr>
                <a:spLocks noChangeArrowheads="1"/>
              </p:cNvSpPr>
              <p:nvPr/>
            </p:nvSpPr>
            <p:spPr bwMode="auto">
              <a:xfrm>
                <a:off x="720476" y="1942629"/>
                <a:ext cx="863600" cy="306387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lIns="18000" rIns="18000"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变更触发发布</a:t>
                </a:r>
              </a:p>
            </p:txBody>
          </p:sp>
          <p:sp>
            <p:nvSpPr>
              <p:cNvPr id="36" name="圆角矩形 1"/>
              <p:cNvSpPr>
                <a:spLocks noChangeArrowheads="1"/>
              </p:cNvSpPr>
              <p:nvPr/>
            </p:nvSpPr>
            <p:spPr bwMode="auto">
              <a:xfrm>
                <a:off x="636200" y="2353791"/>
                <a:ext cx="863600" cy="304800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主动生成</a:t>
                </a:r>
              </a:p>
            </p:txBody>
          </p:sp>
          <p:sp>
            <p:nvSpPr>
              <p:cNvPr id="37" name="圆角矩形 1"/>
              <p:cNvSpPr>
                <a:spLocks noChangeArrowheads="1"/>
              </p:cNvSpPr>
              <p:nvPr/>
            </p:nvSpPr>
            <p:spPr bwMode="auto">
              <a:xfrm>
                <a:off x="711831" y="2777395"/>
                <a:ext cx="2022282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发布对应变更、问题关联</a:t>
                </a:r>
              </a:p>
            </p:txBody>
          </p:sp>
          <p:sp>
            <p:nvSpPr>
              <p:cNvPr id="38" name="圆角矩形 1"/>
              <p:cNvSpPr>
                <a:spLocks noChangeArrowheads="1"/>
              </p:cNvSpPr>
              <p:nvPr/>
            </p:nvSpPr>
            <p:spPr bwMode="auto">
              <a:xfrm>
                <a:off x="1684088" y="1942629"/>
                <a:ext cx="1023938" cy="306387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lIns="18000" rIns="18000" anchor="ctr"/>
              <a:lstStyle/>
              <a:p>
                <a:pPr>
                  <a:buClr>
                    <a:schemeClr val="accent2"/>
                  </a:buClr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发布申请信息填报</a:t>
                </a:r>
              </a:p>
            </p:txBody>
          </p:sp>
          <p:sp>
            <p:nvSpPr>
              <p:cNvPr id="39" name="圆角矩形 1"/>
              <p:cNvSpPr>
                <a:spLocks noChangeArrowheads="1"/>
              </p:cNvSpPr>
              <p:nvPr/>
            </p:nvSpPr>
            <p:spPr bwMode="auto">
              <a:xfrm>
                <a:off x="1619404" y="2353791"/>
                <a:ext cx="1023938" cy="304800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发布实施人分派</a:t>
                </a:r>
                <a:endParaRPr lang="zh-CN" altLang="en-US" sz="1200" dirty="0">
                  <a:ea typeface="华文楷体" pitchFamily="2" charset="-122"/>
                </a:endParaRPr>
              </a:p>
            </p:txBody>
          </p:sp>
          <p:sp>
            <p:nvSpPr>
              <p:cNvPr id="40" name="圆角矩形 1"/>
              <p:cNvSpPr>
                <a:spLocks noChangeArrowheads="1"/>
              </p:cNvSpPr>
              <p:nvPr/>
            </p:nvSpPr>
            <p:spPr bwMode="auto">
              <a:xfrm>
                <a:off x="3063623" y="1963266"/>
                <a:ext cx="1052514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发布计划审核</a:t>
                </a:r>
              </a:p>
            </p:txBody>
          </p:sp>
          <p:sp>
            <p:nvSpPr>
              <p:cNvPr id="41" name="圆角矩形 1"/>
              <p:cNvSpPr>
                <a:spLocks noChangeArrowheads="1"/>
              </p:cNvSpPr>
              <p:nvPr/>
            </p:nvSpPr>
            <p:spPr bwMode="auto">
              <a:xfrm>
                <a:off x="4115228" y="1963266"/>
                <a:ext cx="1047750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发布清单</a:t>
                </a:r>
              </a:p>
            </p:txBody>
          </p:sp>
          <p:sp>
            <p:nvSpPr>
              <p:cNvPr id="42" name="圆角矩形 1"/>
              <p:cNvSpPr>
                <a:spLocks noChangeArrowheads="1"/>
              </p:cNvSpPr>
              <p:nvPr/>
            </p:nvSpPr>
            <p:spPr bwMode="auto">
              <a:xfrm>
                <a:off x="4211126" y="2399829"/>
                <a:ext cx="1047750" cy="306387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发布前备份</a:t>
                </a:r>
              </a:p>
            </p:txBody>
          </p:sp>
          <p:sp>
            <p:nvSpPr>
              <p:cNvPr id="43" name="圆角矩形 1"/>
              <p:cNvSpPr>
                <a:spLocks noChangeArrowheads="1"/>
              </p:cNvSpPr>
              <p:nvPr/>
            </p:nvSpPr>
            <p:spPr bwMode="auto">
              <a:xfrm>
                <a:off x="6678364" y="1969616"/>
                <a:ext cx="1039018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实施过程记录</a:t>
                </a:r>
              </a:p>
            </p:txBody>
          </p:sp>
          <p:sp>
            <p:nvSpPr>
              <p:cNvPr id="44" name="圆角矩形 1"/>
              <p:cNvSpPr>
                <a:spLocks noChangeArrowheads="1"/>
              </p:cNvSpPr>
              <p:nvPr/>
            </p:nvSpPr>
            <p:spPr bwMode="auto">
              <a:xfrm>
                <a:off x="6684714" y="2428577"/>
                <a:ext cx="1040933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</a:t>
                </a:r>
                <a:r>
                  <a:rPr lang="zh-CN" altLang="en-US" sz="1200" dirty="0" smtClean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结果与</a:t>
                </a: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回退</a:t>
                </a:r>
              </a:p>
            </p:txBody>
          </p:sp>
          <p:sp>
            <p:nvSpPr>
              <p:cNvPr id="45" name="圆角矩形 1"/>
              <p:cNvSpPr>
                <a:spLocks noChangeArrowheads="1"/>
              </p:cNvSpPr>
              <p:nvPr/>
            </p:nvSpPr>
            <p:spPr bwMode="auto">
              <a:xfrm>
                <a:off x="7792855" y="1972791"/>
                <a:ext cx="991231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验证结果填写</a:t>
                </a:r>
              </a:p>
            </p:txBody>
          </p:sp>
          <p:sp>
            <p:nvSpPr>
              <p:cNvPr id="46" name="圆角矩形 1"/>
              <p:cNvSpPr>
                <a:spLocks noChangeArrowheads="1"/>
              </p:cNvSpPr>
              <p:nvPr/>
            </p:nvSpPr>
            <p:spPr bwMode="auto">
              <a:xfrm>
                <a:off x="6686683" y="2816411"/>
                <a:ext cx="1040933" cy="306387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发布后备份</a:t>
                </a:r>
              </a:p>
            </p:txBody>
          </p:sp>
          <p:sp>
            <p:nvSpPr>
              <p:cNvPr id="47" name="圆角矩形 1"/>
              <p:cNvSpPr>
                <a:spLocks noChangeArrowheads="1"/>
              </p:cNvSpPr>
              <p:nvPr/>
            </p:nvSpPr>
            <p:spPr bwMode="auto">
              <a:xfrm>
                <a:off x="7745518" y="2411697"/>
                <a:ext cx="991231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algn="ctr"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发布关闭</a:t>
                </a:r>
              </a:p>
            </p:txBody>
          </p:sp>
          <p:sp>
            <p:nvSpPr>
              <p:cNvPr id="48" name="圆角矩形 1"/>
              <p:cNvSpPr>
                <a:spLocks noChangeArrowheads="1"/>
              </p:cNvSpPr>
              <p:nvPr/>
            </p:nvSpPr>
            <p:spPr bwMode="auto">
              <a:xfrm>
                <a:off x="5442965" y="1947058"/>
                <a:ext cx="1033463" cy="306388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FFFFFF"/>
                  </a:gs>
                  <a:gs pos="34999">
                    <a:srgbClr val="FFFFFF"/>
                  </a:gs>
                  <a:gs pos="100000">
                    <a:srgbClr val="FFFFFF"/>
                  </a:gs>
                </a:gsLst>
                <a:lin ang="16200000" scaled="1"/>
              </a:gra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 anchor="ctr"/>
              <a:lstStyle/>
              <a:p>
                <a:pPr eaLnBrk="1" hangingPunct="1"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1200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发布实施审批</a:t>
                </a:r>
              </a:p>
            </p:txBody>
          </p:sp>
        </p:grpSp>
        <p:sp>
          <p:nvSpPr>
            <p:cNvPr id="8" name="TextBox 113"/>
            <p:cNvSpPr>
              <a:spLocks noChangeArrowheads="1"/>
            </p:cNvSpPr>
            <p:nvPr/>
          </p:nvSpPr>
          <p:spPr bwMode="auto">
            <a:xfrm>
              <a:off x="3292948" y="5485710"/>
              <a:ext cx="3111438" cy="3825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查询与浏览</a:t>
              </a:r>
            </a:p>
          </p:txBody>
        </p:sp>
        <p:sp>
          <p:nvSpPr>
            <p:cNvPr id="9" name="TextBox 114"/>
            <p:cNvSpPr>
              <a:spLocks noChangeArrowheads="1"/>
            </p:cNvSpPr>
            <p:nvPr/>
          </p:nvSpPr>
          <p:spPr bwMode="auto">
            <a:xfrm>
              <a:off x="6707669" y="5224126"/>
              <a:ext cx="1814381" cy="3825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统计分析</a:t>
              </a:r>
            </a:p>
          </p:txBody>
        </p:sp>
        <p:sp>
          <p:nvSpPr>
            <p:cNvPr id="10" name="TextBox 115"/>
            <p:cNvSpPr>
              <a:spLocks noChangeArrowheads="1"/>
            </p:cNvSpPr>
            <p:nvPr/>
          </p:nvSpPr>
          <p:spPr bwMode="auto">
            <a:xfrm>
              <a:off x="1118468" y="5485710"/>
              <a:ext cx="1814381" cy="3825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过程审计</a:t>
              </a:r>
            </a:p>
          </p:txBody>
        </p:sp>
        <p:sp>
          <p:nvSpPr>
            <p:cNvPr id="11" name="TextBox 116"/>
            <p:cNvSpPr>
              <a:spLocks noChangeArrowheads="1"/>
            </p:cNvSpPr>
            <p:nvPr/>
          </p:nvSpPr>
          <p:spPr bwMode="auto">
            <a:xfrm>
              <a:off x="6707668" y="5723164"/>
              <a:ext cx="1814382" cy="38258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流程</a:t>
              </a:r>
              <a:r>
                <a:rPr 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KPI</a:t>
              </a:r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监控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>
              <a:off x="602180" y="4938365"/>
              <a:ext cx="140278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  <a:headEnd type="none" w="med" len="med"/>
              <a:tailEnd type="non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4" name="圆角矩形 1"/>
            <p:cNvSpPr>
              <a:spLocks noChangeArrowheads="1"/>
            </p:cNvSpPr>
            <p:nvPr/>
          </p:nvSpPr>
          <p:spPr bwMode="auto">
            <a:xfrm>
              <a:off x="4384399" y="3263586"/>
              <a:ext cx="987845" cy="37198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发布计划填写</a:t>
              </a:r>
            </a:p>
          </p:txBody>
        </p:sp>
        <p:cxnSp>
          <p:nvCxnSpPr>
            <p:cNvPr id="15" name="直接连接符 14"/>
            <p:cNvCxnSpPr/>
            <p:nvPr/>
          </p:nvCxnSpPr>
          <p:spPr bwMode="auto">
            <a:xfrm flipH="1">
              <a:off x="3068054" y="1842021"/>
              <a:ext cx="4976" cy="4400882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>
              <a:off x="6507477" y="1842021"/>
              <a:ext cx="9064" cy="4400882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899593" y="3786237"/>
              <a:ext cx="7773701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899592" y="5010373"/>
              <a:ext cx="7727658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5" name="圆角矩形 3"/>
            <p:cNvSpPr>
              <a:spLocks noChangeArrowheads="1"/>
            </p:cNvSpPr>
            <p:nvPr/>
          </p:nvSpPr>
          <p:spPr bwMode="auto">
            <a:xfrm>
              <a:off x="384874" y="878637"/>
              <a:ext cx="8311388" cy="462131"/>
            </a:xfrm>
            <a:prstGeom prst="roundRect">
              <a:avLst>
                <a:gd name="adj" fmla="val 3727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lIns="0" rIns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rgbClr val="FF0000"/>
                </a:buClr>
                <a:defRPr/>
              </a:pPr>
              <a:r>
                <a:rPr lang="zh-CN" altLang="en-US" kern="0" dirty="0" smtClean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发布管理</a:t>
              </a:r>
              <a:r>
                <a:rPr lang="zh-CN" altLang="en-US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流程设计</a:t>
              </a:r>
              <a:endPara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grpSp>
          <p:nvGrpSpPr>
            <p:cNvPr id="12" name="组合 17"/>
            <p:cNvGrpSpPr>
              <a:grpSpLocks/>
            </p:cNvGrpSpPr>
            <p:nvPr/>
          </p:nvGrpSpPr>
          <p:grpSpPr bwMode="auto">
            <a:xfrm>
              <a:off x="391472" y="1591166"/>
              <a:ext cx="561160" cy="4527501"/>
              <a:chOff x="179107" y="1549463"/>
              <a:chExt cx="576841" cy="3327944"/>
            </a:xfrm>
          </p:grpSpPr>
          <p:sp>
            <p:nvSpPr>
              <p:cNvPr id="19" name="圆角矩形 18"/>
              <p:cNvSpPr/>
              <p:nvPr/>
            </p:nvSpPr>
            <p:spPr bwMode="auto">
              <a:xfrm>
                <a:off x="179354" y="1549463"/>
                <a:ext cx="576594" cy="332794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2">
                    <a:lumMod val="20000"/>
                    <a:lumOff val="80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TextBox 1"/>
              <p:cNvSpPr txBox="1">
                <a:spLocks noChangeArrowheads="1"/>
              </p:cNvSpPr>
              <p:nvPr/>
            </p:nvSpPr>
            <p:spPr bwMode="auto">
              <a:xfrm>
                <a:off x="179107" y="4102451"/>
                <a:ext cx="576073" cy="701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发布管理功能设计</a:t>
                </a:r>
              </a:p>
            </p:txBody>
          </p:sp>
          <p:sp>
            <p:nvSpPr>
              <p:cNvPr id="21" name="TextBox 167"/>
              <p:cNvSpPr txBox="1">
                <a:spLocks noChangeArrowheads="1"/>
              </p:cNvSpPr>
              <p:nvPr/>
            </p:nvSpPr>
            <p:spPr bwMode="auto">
              <a:xfrm>
                <a:off x="179107" y="3321743"/>
                <a:ext cx="576073" cy="5429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发布规则设计</a:t>
                </a:r>
              </a:p>
            </p:txBody>
          </p:sp>
          <p:sp>
            <p:nvSpPr>
              <p:cNvPr id="22" name="TextBox 169"/>
              <p:cNvSpPr txBox="1">
                <a:spLocks noChangeArrowheads="1"/>
              </p:cNvSpPr>
              <p:nvPr/>
            </p:nvSpPr>
            <p:spPr bwMode="auto">
              <a:xfrm>
                <a:off x="251156" y="1873645"/>
                <a:ext cx="432048" cy="1018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发布流程设计</a:t>
                </a:r>
                <a:endParaRPr lang="en-US" altLang="zh-CN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23" name="直接连接符 22"/>
              <p:cNvCxnSpPr/>
              <p:nvPr/>
            </p:nvCxnSpPr>
            <p:spPr bwMode="auto">
              <a:xfrm>
                <a:off x="395255" y="3162953"/>
                <a:ext cx="144198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olid"/>
                <a:headEnd type="none" w="med" len="med"/>
                <a:tailEnd type="non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70849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>
                <a:sym typeface="微软雅黑" pitchFamily="34" charset="-122"/>
              </a:rPr>
              <a:t>发布管理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827122" y="1103870"/>
            <a:ext cx="7674078" cy="3201815"/>
            <a:chOff x="34925" y="1412777"/>
            <a:chExt cx="8794750" cy="3222724"/>
          </a:xfrm>
        </p:grpSpPr>
        <p:grpSp>
          <p:nvGrpSpPr>
            <p:cNvPr id="4" name="组合 3"/>
            <p:cNvGrpSpPr>
              <a:grpSpLocks/>
            </p:cNvGrpSpPr>
            <p:nvPr/>
          </p:nvGrpSpPr>
          <p:grpSpPr bwMode="auto">
            <a:xfrm>
              <a:off x="34925" y="1611313"/>
              <a:ext cx="8794750" cy="2839654"/>
              <a:chOff x="25644" y="2024063"/>
              <a:chExt cx="7858724" cy="2840472"/>
            </a:xfrm>
          </p:grpSpPr>
          <p:grpSp>
            <p:nvGrpSpPr>
              <p:cNvPr id="6" name="组合 14"/>
              <p:cNvGrpSpPr>
                <a:grpSpLocks/>
              </p:cNvGrpSpPr>
              <p:nvPr/>
            </p:nvGrpSpPr>
            <p:grpSpPr bwMode="auto">
              <a:xfrm>
                <a:off x="6195496" y="3824138"/>
                <a:ext cx="1349251" cy="1004183"/>
                <a:chOff x="6639155" y="2841546"/>
                <a:chExt cx="1117393" cy="1209108"/>
              </a:xfrm>
            </p:grpSpPr>
            <p:pic>
              <p:nvPicPr>
                <p:cNvPr id="35" name="Picture 80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76256" y="2841546"/>
                  <a:ext cx="752475" cy="838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6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639155" y="3717032"/>
                  <a:ext cx="1117393" cy="3336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 dirty="0">
                      <a:solidFill>
                        <a:schemeClr val="tx1"/>
                      </a:solidFill>
                      <a:latin typeface="微软雅黑" pitchFamily="34" charset="-122"/>
                    </a:rPr>
                    <a:t>发布实施工程师实施</a:t>
                  </a:r>
                </a:p>
              </p:txBody>
            </p:sp>
          </p:grpSp>
          <p:cxnSp>
            <p:nvCxnSpPr>
              <p:cNvPr id="7" name="肘形连接符 10"/>
              <p:cNvCxnSpPr/>
              <p:nvPr/>
            </p:nvCxnSpPr>
            <p:spPr bwMode="auto">
              <a:xfrm flipH="1">
                <a:off x="3267013" y="2397232"/>
                <a:ext cx="1305059" cy="0"/>
              </a:xfrm>
              <a:prstGeom prst="straightConnector1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组合 14"/>
              <p:cNvGrpSpPr>
                <a:grpSpLocks/>
              </p:cNvGrpSpPr>
              <p:nvPr/>
            </p:nvGrpSpPr>
            <p:grpSpPr bwMode="auto">
              <a:xfrm>
                <a:off x="4499992" y="2024063"/>
                <a:ext cx="1217294" cy="1189037"/>
                <a:chOff x="6748436" y="2841546"/>
                <a:chExt cx="1008112" cy="1431685"/>
              </a:xfrm>
            </p:grpSpPr>
            <p:pic>
              <p:nvPicPr>
                <p:cNvPr id="33" name="Picture 80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76256" y="2841546"/>
                  <a:ext cx="752475" cy="838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4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748436" y="3717032"/>
                  <a:ext cx="1008112" cy="556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>
                      <a:solidFill>
                        <a:schemeClr val="tx1"/>
                      </a:solidFill>
                      <a:latin typeface="微软雅黑" pitchFamily="34" charset="-122"/>
                    </a:rPr>
                    <a:t>发布实施工程师处理</a:t>
                  </a:r>
                </a:p>
              </p:txBody>
            </p:sp>
          </p:grpSp>
          <p:grpSp>
            <p:nvGrpSpPr>
              <p:cNvPr id="9" name="组合 24"/>
              <p:cNvGrpSpPr>
                <a:grpSpLocks/>
              </p:cNvGrpSpPr>
              <p:nvPr/>
            </p:nvGrpSpPr>
            <p:grpSpPr bwMode="auto">
              <a:xfrm>
                <a:off x="1906218" y="2128842"/>
                <a:ext cx="1688874" cy="1092384"/>
                <a:chOff x="2624096" y="3836466"/>
                <a:chExt cx="1398587" cy="1092487"/>
              </a:xfrm>
            </p:grpSpPr>
            <p:pic>
              <p:nvPicPr>
                <p:cNvPr id="31" name="Picture 63" descr="j0292014s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26881" y="3836466"/>
                  <a:ext cx="545793" cy="630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2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2624096" y="4467244"/>
                  <a:ext cx="1398587" cy="4617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 dirty="0">
                      <a:solidFill>
                        <a:schemeClr val="tx1"/>
                      </a:solidFill>
                      <a:latin typeface="微软雅黑" pitchFamily="34" charset="-122"/>
                    </a:rPr>
                    <a:t>领域主</a:t>
                  </a:r>
                  <a:endParaRPr lang="en-US" altLang="zh-CN" sz="1200" b="1" dirty="0">
                    <a:solidFill>
                      <a:schemeClr val="tx1"/>
                    </a:solidFill>
                    <a:latin typeface="微软雅黑" pitchFamily="34" charset="-122"/>
                  </a:endParaRPr>
                </a:p>
                <a:p>
                  <a:pPr algn="ctr" eaLnBrk="1" hangingPunct="1"/>
                  <a:r>
                    <a:rPr lang="zh-CN" altLang="en-US" sz="1200" b="1" dirty="0">
                      <a:solidFill>
                        <a:schemeClr val="tx1"/>
                      </a:solidFill>
                      <a:latin typeface="微软雅黑" pitchFamily="34" charset="-122"/>
                    </a:rPr>
                    <a:t>管审批</a:t>
                  </a:r>
                </a:p>
              </p:txBody>
            </p:sp>
          </p:grpSp>
          <p:pic>
            <p:nvPicPr>
              <p:cNvPr id="10" name="Picture 53" descr="j0343443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719" y="2132013"/>
                <a:ext cx="779944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1" name="肘形连接符 10"/>
              <p:cNvCxnSpPr/>
              <p:nvPr/>
            </p:nvCxnSpPr>
            <p:spPr bwMode="auto">
              <a:xfrm rot="10800000" flipV="1">
                <a:off x="1454116" y="2452811"/>
                <a:ext cx="791547" cy="0"/>
              </a:xfrm>
              <a:prstGeom prst="bentConnector3">
                <a:avLst>
                  <a:gd name="adj1" fmla="val 50000"/>
                </a:avLst>
              </a:prstGeom>
              <a:ln w="19050"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85"/>
              <p:cNvSpPr txBox="1">
                <a:spLocks noChangeArrowheads="1"/>
              </p:cNvSpPr>
              <p:nvPr/>
            </p:nvSpPr>
            <p:spPr bwMode="auto">
              <a:xfrm>
                <a:off x="2985646" y="2100101"/>
                <a:ext cx="1801978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/>
                <a:r>
                  <a:rPr lang="zh-CN" altLang="en-US" sz="1200" b="1" dirty="0">
                    <a:solidFill>
                      <a:srgbClr val="558ED5"/>
                    </a:solidFill>
                    <a:latin typeface="微软雅黑" pitchFamily="34" charset="-122"/>
                  </a:rPr>
                  <a:t>分派发布工程师</a:t>
                </a:r>
              </a:p>
            </p:txBody>
          </p:sp>
          <p:cxnSp>
            <p:nvCxnSpPr>
              <p:cNvPr id="13" name="肘形连接符 10"/>
              <p:cNvCxnSpPr/>
              <p:nvPr/>
            </p:nvCxnSpPr>
            <p:spPr bwMode="auto">
              <a:xfrm flipH="1">
                <a:off x="5672861" y="2452811"/>
                <a:ext cx="824173" cy="0"/>
              </a:xfrm>
              <a:prstGeom prst="straightConnector1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85"/>
              <p:cNvSpPr txBox="1">
                <a:spLocks noChangeArrowheads="1"/>
              </p:cNvSpPr>
              <p:nvPr/>
            </p:nvSpPr>
            <p:spPr bwMode="auto">
              <a:xfrm>
                <a:off x="5429660" y="2179637"/>
                <a:ext cx="1269052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/>
                <a:r>
                  <a:rPr lang="zh-CN" altLang="en-US" sz="1200" b="1" dirty="0">
                    <a:solidFill>
                      <a:srgbClr val="558ED5"/>
                    </a:solidFill>
                    <a:latin typeface="微软雅黑" pitchFamily="34" charset="-122"/>
                  </a:rPr>
                  <a:t>提交方案</a:t>
                </a:r>
              </a:p>
            </p:txBody>
          </p:sp>
          <p:sp>
            <p:nvSpPr>
              <p:cNvPr id="15" name="TextBox 85"/>
              <p:cNvSpPr txBox="1">
                <a:spLocks noChangeArrowheads="1"/>
              </p:cNvSpPr>
              <p:nvPr/>
            </p:nvSpPr>
            <p:spPr bwMode="auto">
              <a:xfrm>
                <a:off x="1223469" y="2179637"/>
                <a:ext cx="1245480" cy="277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提交发布</a:t>
                </a:r>
              </a:p>
            </p:txBody>
          </p:sp>
          <p:sp>
            <p:nvSpPr>
              <p:cNvPr id="16" name="TextBox 85"/>
              <p:cNvSpPr txBox="1">
                <a:spLocks noChangeArrowheads="1"/>
              </p:cNvSpPr>
              <p:nvPr/>
            </p:nvSpPr>
            <p:spPr bwMode="auto">
              <a:xfrm>
                <a:off x="1224335" y="2483949"/>
                <a:ext cx="1246898" cy="2778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2"/>
                    </a:solidFill>
                    <a:latin typeface="Arial" pitchFamily="34" charset="0"/>
                    <a:ea typeface="黑体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12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微软雅黑" pitchFamily="34" charset="-122"/>
                    <a:ea typeface="微软雅黑" pitchFamily="34" charset="-122"/>
                  </a:rPr>
                  <a:t>审批</a:t>
                </a:r>
              </a:p>
            </p:txBody>
          </p:sp>
          <p:grpSp>
            <p:nvGrpSpPr>
              <p:cNvPr id="17" name="组合 24"/>
              <p:cNvGrpSpPr>
                <a:grpSpLocks/>
              </p:cNvGrpSpPr>
              <p:nvPr/>
            </p:nvGrpSpPr>
            <p:grpSpPr bwMode="auto">
              <a:xfrm>
                <a:off x="6195494" y="2120774"/>
                <a:ext cx="1688874" cy="909606"/>
                <a:chOff x="2624096" y="3836466"/>
                <a:chExt cx="1398587" cy="909693"/>
              </a:xfrm>
            </p:grpSpPr>
            <p:pic>
              <p:nvPicPr>
                <p:cNvPr id="29" name="Picture 63" descr="j0292014s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09174" y="3836466"/>
                  <a:ext cx="726722" cy="630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TextBox 85"/>
                <p:cNvSpPr txBox="1">
                  <a:spLocks noChangeArrowheads="1"/>
                </p:cNvSpPr>
                <p:nvPr/>
              </p:nvSpPr>
              <p:spPr bwMode="auto">
                <a:xfrm>
                  <a:off x="2624096" y="4467244"/>
                  <a:ext cx="1398587" cy="2789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 dirty="0">
                      <a:solidFill>
                        <a:schemeClr val="tx1"/>
                      </a:solidFill>
                      <a:latin typeface="微软雅黑" pitchFamily="34" charset="-122"/>
                    </a:rPr>
                    <a:t>发布</a:t>
                  </a:r>
                  <a:r>
                    <a:rPr lang="zh-CN" altLang="en-US" sz="1200" b="1" dirty="0" smtClean="0">
                      <a:solidFill>
                        <a:schemeClr val="tx1"/>
                      </a:solidFill>
                      <a:latin typeface="微软雅黑" pitchFamily="34" charset="-122"/>
                    </a:rPr>
                    <a:t>经理审核</a:t>
                  </a:r>
                  <a:endParaRPr lang="zh-CN" altLang="en-US" sz="1200" b="1" dirty="0">
                    <a:solidFill>
                      <a:schemeClr val="tx1"/>
                    </a:solidFill>
                    <a:latin typeface="微软雅黑" pitchFamily="34" charset="-122"/>
                  </a:endParaRPr>
                </a:p>
              </p:txBody>
            </p:sp>
          </p:grpSp>
          <p:cxnSp>
            <p:nvCxnSpPr>
              <p:cNvPr id="18" name="肘形连接符 10"/>
              <p:cNvCxnSpPr/>
              <p:nvPr/>
            </p:nvCxnSpPr>
            <p:spPr bwMode="auto">
              <a:xfrm flipV="1">
                <a:off x="5596260" y="4301194"/>
                <a:ext cx="821336" cy="0"/>
              </a:xfrm>
              <a:prstGeom prst="straightConnector1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肘形连接符 10"/>
              <p:cNvCxnSpPr/>
              <p:nvPr/>
            </p:nvCxnSpPr>
            <p:spPr bwMode="auto">
              <a:xfrm>
                <a:off x="7055939" y="3213442"/>
                <a:ext cx="0" cy="647887"/>
              </a:xfrm>
              <a:prstGeom prst="straightConnector1">
                <a:avLst/>
              </a:prstGeom>
              <a:ln w="1905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85"/>
              <p:cNvSpPr txBox="1">
                <a:spLocks noChangeArrowheads="1"/>
              </p:cNvSpPr>
              <p:nvPr/>
            </p:nvSpPr>
            <p:spPr bwMode="auto">
              <a:xfrm>
                <a:off x="6228184" y="3255367"/>
                <a:ext cx="126905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/>
                <a:r>
                  <a:rPr lang="zh-CN" altLang="en-US" sz="1200" b="1">
                    <a:solidFill>
                      <a:srgbClr val="558ED5"/>
                    </a:solidFill>
                    <a:latin typeface="微软雅黑" pitchFamily="34" charset="-122"/>
                  </a:rPr>
                  <a:t>提交</a:t>
                </a:r>
                <a:endParaRPr lang="en-US" altLang="zh-CN" sz="1200" b="1" dirty="0">
                  <a:solidFill>
                    <a:srgbClr val="558ED5"/>
                  </a:solidFill>
                  <a:latin typeface="微软雅黑" pitchFamily="34" charset="-122"/>
                </a:endParaRPr>
              </a:p>
              <a:p>
                <a:pPr algn="ctr" eaLnBrk="1" hangingPunct="1"/>
                <a:r>
                  <a:rPr lang="zh-CN" altLang="en-US" sz="1200" b="1">
                    <a:solidFill>
                      <a:srgbClr val="558ED5"/>
                    </a:solidFill>
                    <a:latin typeface="微软雅黑" pitchFamily="34" charset="-122"/>
                  </a:rPr>
                  <a:t>执行</a:t>
                </a:r>
              </a:p>
            </p:txBody>
          </p:sp>
          <p:sp>
            <p:nvSpPr>
              <p:cNvPr id="21" name="TextBox 85"/>
              <p:cNvSpPr txBox="1">
                <a:spLocks noChangeArrowheads="1"/>
              </p:cNvSpPr>
              <p:nvPr/>
            </p:nvSpPr>
            <p:spPr bwMode="auto">
              <a:xfrm>
                <a:off x="25644" y="2686050"/>
                <a:ext cx="168887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/>
                <a:r>
                  <a:rPr lang="zh-CN" altLang="en-US" sz="1200" b="1" dirty="0">
                    <a:solidFill>
                      <a:schemeClr val="tx1"/>
                    </a:solidFill>
                    <a:latin typeface="微软雅黑" pitchFamily="34" charset="-122"/>
                  </a:rPr>
                  <a:t>发布申请工程师</a:t>
                </a:r>
              </a:p>
            </p:txBody>
          </p:sp>
          <p:sp>
            <p:nvSpPr>
              <p:cNvPr id="22" name="TextBox 85"/>
              <p:cNvSpPr txBox="1">
                <a:spLocks noChangeArrowheads="1"/>
              </p:cNvSpPr>
              <p:nvPr/>
            </p:nvSpPr>
            <p:spPr bwMode="auto">
              <a:xfrm>
                <a:off x="5429660" y="4034095"/>
                <a:ext cx="1269052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/>
                <a:r>
                  <a:rPr lang="zh-CN" altLang="en-US" sz="1200" b="1">
                    <a:solidFill>
                      <a:srgbClr val="558ED5"/>
                    </a:solidFill>
                    <a:latin typeface="微软雅黑" pitchFamily="34" charset="-122"/>
                  </a:rPr>
                  <a:t>实施发布</a:t>
                </a:r>
              </a:p>
            </p:txBody>
          </p:sp>
          <p:grpSp>
            <p:nvGrpSpPr>
              <p:cNvPr id="23" name="组合 7"/>
              <p:cNvGrpSpPr>
                <a:grpSpLocks/>
              </p:cNvGrpSpPr>
              <p:nvPr/>
            </p:nvGrpSpPr>
            <p:grpSpPr bwMode="auto">
              <a:xfrm>
                <a:off x="4676156" y="3861049"/>
                <a:ext cx="1139054" cy="1003486"/>
                <a:chOff x="6748437" y="2841546"/>
                <a:chExt cx="1139109" cy="1209429"/>
              </a:xfrm>
            </p:grpSpPr>
            <p:pic>
              <p:nvPicPr>
                <p:cNvPr id="27" name="Picture 80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76256" y="2841546"/>
                  <a:ext cx="752475" cy="838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" name="TextBox 77"/>
                <p:cNvSpPr txBox="1">
                  <a:spLocks noChangeArrowheads="1"/>
                </p:cNvSpPr>
                <p:nvPr/>
              </p:nvSpPr>
              <p:spPr bwMode="auto">
                <a:xfrm>
                  <a:off x="6748437" y="3717032"/>
                  <a:ext cx="1139109" cy="3339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1pPr>
                  <a:lvl2pPr marL="742950" indent="-28575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2pPr>
                  <a:lvl3pPr marL="11430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3pPr>
                  <a:lvl4pPr marL="16002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4pPr>
                  <a:lvl5pPr marL="2057400" indent="-228600" eaLnBrk="0" hangingPunct="0"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600">
                      <a:solidFill>
                        <a:schemeClr val="tx2"/>
                      </a:solidFill>
                      <a:latin typeface="Arial" pitchFamily="34" charset="0"/>
                      <a:ea typeface="微软雅黑" pitchFamily="34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200" b="1" dirty="0">
                      <a:solidFill>
                        <a:schemeClr val="tx1"/>
                      </a:solidFill>
                      <a:latin typeface="微软雅黑" pitchFamily="34" charset="-122"/>
                    </a:rPr>
                    <a:t>发布申请工程师</a:t>
                  </a:r>
                </a:p>
              </p:txBody>
            </p:sp>
          </p:grpSp>
          <p:sp>
            <p:nvSpPr>
              <p:cNvPr id="24" name="圆角矩形 23"/>
              <p:cNvSpPr/>
              <p:nvPr/>
            </p:nvSpPr>
            <p:spPr bwMode="ltGray">
              <a:xfrm>
                <a:off x="2836431" y="4177259"/>
                <a:ext cx="990905" cy="457332"/>
              </a:xfrm>
              <a:prstGeom prst="roundRect">
                <a:avLst/>
              </a:prstGeom>
              <a:ln w="19050">
                <a:headEnd type="triangle" w="med" len="med"/>
                <a:tailEnd type="none" w="med" len="med"/>
              </a:ln>
              <a:ex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algn="ctr">
                  <a:defRPr/>
                </a:pPr>
                <a:r>
                  <a:rPr lang="zh-CN" altLang="en-US" sz="1300" dirty="0">
                    <a:latin typeface="微软雅黑" pitchFamily="34" charset="-122"/>
                    <a:ea typeface="微软雅黑" pitchFamily="34" charset="-122"/>
                  </a:rPr>
                  <a:t>发布验证</a:t>
                </a:r>
                <a:endParaRPr lang="en-US" altLang="zh-CN" sz="1300" dirty="0">
                  <a:latin typeface="微软雅黑" pitchFamily="34" charset="-122"/>
                  <a:ea typeface="微软雅黑" pitchFamily="34" charset="-122"/>
                </a:endParaRPr>
              </a:p>
              <a:p>
                <a:pPr algn="ctr">
                  <a:defRPr/>
                </a:pPr>
                <a:r>
                  <a:rPr lang="zh-CN" altLang="en-US" sz="1300" dirty="0">
                    <a:latin typeface="微软雅黑" pitchFamily="34" charset="-122"/>
                    <a:ea typeface="微软雅黑" pitchFamily="34" charset="-122"/>
                  </a:rPr>
                  <a:t>结论填报</a:t>
                </a:r>
              </a:p>
            </p:txBody>
          </p:sp>
          <p:cxnSp>
            <p:nvCxnSpPr>
              <p:cNvPr id="25" name="肘形连接符 10"/>
              <p:cNvCxnSpPr/>
              <p:nvPr/>
            </p:nvCxnSpPr>
            <p:spPr bwMode="auto">
              <a:xfrm flipV="1">
                <a:off x="3882661" y="4310721"/>
                <a:ext cx="821336" cy="0"/>
              </a:xfrm>
              <a:prstGeom prst="straightConnector1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85"/>
              <p:cNvSpPr txBox="1">
                <a:spLocks noChangeArrowheads="1"/>
              </p:cNvSpPr>
              <p:nvPr/>
            </p:nvSpPr>
            <p:spPr bwMode="auto">
              <a:xfrm>
                <a:off x="3734996" y="4286337"/>
                <a:ext cx="1269052" cy="276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1pPr>
                <a:lvl2pPr marL="742950" indent="-28575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2pPr>
                <a:lvl3pPr marL="11430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3pPr>
                <a:lvl4pPr marL="16002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4pPr>
                <a:lvl5pPr marL="2057400" indent="-228600" eaLnBrk="0" hangingPunct="0"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chemeClr val="tx2"/>
                    </a:solidFill>
                    <a:latin typeface="Arial" pitchFamily="34" charset="0"/>
                    <a:ea typeface="微软雅黑" pitchFamily="34" charset="-122"/>
                  </a:defRPr>
                </a:lvl9pPr>
              </a:lstStyle>
              <a:p>
                <a:pPr algn="ctr" eaLnBrk="1" hangingPunct="1"/>
                <a:r>
                  <a:rPr lang="zh-CN" altLang="en-US" sz="1200" b="1" dirty="0">
                    <a:solidFill>
                      <a:srgbClr val="558ED5"/>
                    </a:solidFill>
                    <a:latin typeface="微软雅黑" pitchFamily="34" charset="-122"/>
                  </a:rPr>
                  <a:t>发布验证</a:t>
                </a:r>
              </a:p>
            </p:txBody>
          </p:sp>
        </p:grpSp>
        <p:sp>
          <p:nvSpPr>
            <p:cNvPr id="5" name="圆角矩形 4"/>
            <p:cNvSpPr/>
            <p:nvPr/>
          </p:nvSpPr>
          <p:spPr>
            <a:xfrm>
              <a:off x="290388" y="1412777"/>
              <a:ext cx="8386068" cy="3222724"/>
            </a:xfrm>
            <a:prstGeom prst="roundRect">
              <a:avLst>
                <a:gd name="adj" fmla="val 4108"/>
              </a:avLst>
            </a:prstGeom>
            <a:noFill/>
            <a:ln>
              <a:solidFill>
                <a:schemeClr val="accent4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 bwMode="auto">
          <a:xfrm>
            <a:off x="323528" y="1906005"/>
            <a:ext cx="432000" cy="1813746"/>
          </a:xfrm>
          <a:prstGeom prst="rect">
            <a:avLst/>
          </a:prstGeom>
        </p:spPr>
        <p:txBody>
          <a:bodyPr vert="eaVert" wrap="square">
            <a:noAutofit/>
          </a:bodyPr>
          <a:lstStyle/>
          <a:p>
            <a:pPr>
              <a:defRPr/>
            </a:pPr>
            <a:r>
              <a:rPr lang="zh-CN" altLang="en-US" sz="1600" b="1" kern="0" dirty="0" smtClean="0">
                <a:solidFill>
                  <a:sysClr val="windowText" lastClr="000000"/>
                </a:solidFill>
                <a:latin typeface="微软雅黑"/>
                <a:ea typeface="微软雅黑"/>
              </a:rPr>
              <a:t>发布流程示意图</a:t>
            </a:r>
            <a:endParaRPr lang="zh-CN" altLang="en-US" sz="1600" b="1" kern="0" dirty="0">
              <a:solidFill>
                <a:sysClr val="windowText" lastClr="000000"/>
              </a:solidFill>
              <a:latin typeface="微软雅黑"/>
              <a:ea typeface="微软雅黑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00386" y="4305685"/>
            <a:ext cx="49959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1、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发布</a:t>
            </a:r>
            <a:r>
              <a:rPr lang="zh-CN" altLang="en-US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管理的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定义：</a:t>
            </a:r>
            <a:endParaRPr lang="en-US" altLang="zh-CN" sz="16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288000" algn="l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发布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管理是对软件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版本和发布批次进行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控制，确保业务安全可靠运行，降低频繁的变更对业务的影响、提高整体可用性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2、</a:t>
            </a:r>
            <a:r>
              <a:rPr lang="zh-CN" altLang="en-US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发布管理的适用范围：</a:t>
            </a:r>
          </a:p>
          <a:p>
            <a:pPr indent="288000">
              <a:lnSpc>
                <a:spcPct val="150000"/>
              </a:lnSpc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发布管理主要适用于应用领域对变更、问题进行集中统一管理。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3、</a:t>
            </a:r>
            <a:r>
              <a:rPr lang="zh-CN" altLang="en-US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发布管理的分类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6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288000">
              <a:lnSpc>
                <a:spcPct val="150000"/>
              </a:lnSpc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发布的分类设置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按应用领域服务对象分类。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4324272"/>
            <a:ext cx="35198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en-US" altLang="zh-CN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发布的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来源</a:t>
            </a:r>
            <a:r>
              <a:rPr lang="zh-CN" altLang="en-US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6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0" name="Group 7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736518908"/>
              </p:ext>
            </p:extLst>
          </p:nvPr>
        </p:nvGraphicFramePr>
        <p:xfrm>
          <a:off x="5724128" y="4860705"/>
          <a:ext cx="2985051" cy="720080"/>
        </p:xfrm>
        <a:graphic>
          <a:graphicData uri="http://schemas.openxmlformats.org/drawingml/2006/table">
            <a:tbl>
              <a:tblPr/>
              <a:tblGrid>
                <a:gridCol w="873691"/>
                <a:gridCol w="2111360"/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发布来源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描   述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</a:txBody>
                  <a:tcPr marL="79266" marR="7926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>
                        <a:lumMod val="40000"/>
                        <a:lumOff val="60000"/>
                      </a:srgbClr>
                    </a:solidFill>
                  </a:tcPr>
                </a:tc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变更升级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变更触发发布</a:t>
                      </a:r>
                    </a:p>
                  </a:txBody>
                  <a:tcPr marL="79266" marR="7926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人工新建</a:t>
                      </a:r>
                      <a:endParaRPr kumimoji="0" lang="en-US" altLang="zh-CN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38"/>
                        </a:spcBef>
                        <a:spcAft>
                          <a:spcPts val="238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 pitchFamily="34" charset="0"/>
                        </a:rPr>
                        <a:t>人工建立发布单</a:t>
                      </a:r>
                    </a:p>
                  </a:txBody>
                  <a:tcPr marL="79266" marR="7926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" name="矩形 40"/>
          <p:cNvSpPr/>
          <p:nvPr/>
        </p:nvSpPr>
        <p:spPr>
          <a:xfrm>
            <a:off x="5406094" y="5625755"/>
            <a:ext cx="34778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、发布的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验证：</a:t>
            </a:r>
            <a:endParaRPr lang="en-US" altLang="zh-CN" sz="16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indent="288000" algn="l">
              <a:lnSpc>
                <a:spcPct val="150000"/>
              </a:lnSpc>
            </a:pP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发布验证按变更单列表逐一填报验证结论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圆角矩形标注 41"/>
          <p:cNvSpPr/>
          <p:nvPr/>
        </p:nvSpPr>
        <p:spPr bwMode="auto">
          <a:xfrm>
            <a:off x="1214414" y="2714620"/>
            <a:ext cx="2214578" cy="857256"/>
          </a:xfrm>
          <a:prstGeom prst="wedgeRoundRectCallout">
            <a:avLst>
              <a:gd name="adj1" fmla="val 82418"/>
              <a:gd name="adj2" fmla="val -5381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参与角色：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defRPr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发布申请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工程师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、发布执行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工程师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、领域主管；发布经理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algn="l">
              <a:defRPr/>
            </a:pP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517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运维业务模型设计</a:t>
            </a:r>
            <a:r>
              <a:rPr lang="en-US" altLang="zh-CN" dirty="0" smtClean="0"/>
              <a:t>-</a:t>
            </a:r>
            <a:r>
              <a:rPr lang="zh-CN" altLang="en-US" dirty="0" smtClean="0"/>
              <a:t>核心流程设计</a:t>
            </a:r>
            <a:r>
              <a:rPr lang="en-US" altLang="zh-CN" dirty="0" smtClean="0"/>
              <a:t>-</a:t>
            </a:r>
            <a:r>
              <a:rPr lang="zh-CN" altLang="en-US" dirty="0"/>
              <a:t>配置管理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384874" y="878637"/>
            <a:ext cx="8334166" cy="5133648"/>
            <a:chOff x="384874" y="878637"/>
            <a:chExt cx="8334166" cy="5133648"/>
          </a:xfrm>
        </p:grpSpPr>
        <p:sp>
          <p:nvSpPr>
            <p:cNvPr id="16" name="TextBox 16"/>
            <p:cNvSpPr>
              <a:spLocks noChangeArrowheads="1"/>
            </p:cNvSpPr>
            <p:nvPr/>
          </p:nvSpPr>
          <p:spPr bwMode="auto">
            <a:xfrm>
              <a:off x="1021723" y="1504267"/>
              <a:ext cx="981122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规划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Box 17"/>
            <p:cNvSpPr>
              <a:spLocks noChangeArrowheads="1"/>
            </p:cNvSpPr>
            <p:nvPr/>
          </p:nvSpPr>
          <p:spPr bwMode="auto">
            <a:xfrm>
              <a:off x="2320353" y="1504267"/>
              <a:ext cx="981122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识别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Box 18"/>
            <p:cNvSpPr>
              <a:spLocks noChangeArrowheads="1"/>
            </p:cNvSpPr>
            <p:nvPr/>
          </p:nvSpPr>
          <p:spPr bwMode="auto">
            <a:xfrm>
              <a:off x="3661119" y="1504267"/>
              <a:ext cx="979616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控</a:t>
              </a:r>
              <a:r>
                <a:rPr lang="zh-CN" altLang="en-US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制</a:t>
              </a:r>
            </a:p>
          </p:txBody>
        </p:sp>
        <p:sp>
          <p:nvSpPr>
            <p:cNvPr id="19" name="TextBox 19"/>
            <p:cNvSpPr>
              <a:spLocks noChangeArrowheads="1"/>
            </p:cNvSpPr>
            <p:nvPr/>
          </p:nvSpPr>
          <p:spPr bwMode="auto">
            <a:xfrm>
              <a:off x="4989846" y="1504267"/>
              <a:ext cx="981122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状态记录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0" name="直接箭头连接符 20"/>
            <p:cNvCxnSpPr>
              <a:cxnSpLocks noChangeShapeType="1"/>
              <a:stCxn id="16" idx="3"/>
              <a:endCxn id="17" idx="1"/>
            </p:cNvCxnSpPr>
            <p:nvPr/>
          </p:nvCxnSpPr>
          <p:spPr bwMode="auto">
            <a:xfrm>
              <a:off x="2002844" y="1710768"/>
              <a:ext cx="317510" cy="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1" name="直接箭头连接符 21"/>
            <p:cNvCxnSpPr>
              <a:cxnSpLocks noChangeShapeType="1"/>
              <a:stCxn id="17" idx="3"/>
              <a:endCxn id="18" idx="1"/>
            </p:cNvCxnSpPr>
            <p:nvPr/>
          </p:nvCxnSpPr>
          <p:spPr bwMode="auto">
            <a:xfrm>
              <a:off x="3301475" y="1710768"/>
              <a:ext cx="359644" cy="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2" name="直接箭头连接符 22"/>
            <p:cNvCxnSpPr>
              <a:cxnSpLocks noChangeShapeType="1"/>
              <a:stCxn id="18" idx="3"/>
              <a:endCxn id="19" idx="1"/>
            </p:cNvCxnSpPr>
            <p:nvPr/>
          </p:nvCxnSpPr>
          <p:spPr bwMode="auto">
            <a:xfrm>
              <a:off x="4640736" y="1710768"/>
              <a:ext cx="349110" cy="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3" name="直接箭头连接符 59"/>
            <p:cNvCxnSpPr>
              <a:cxnSpLocks noChangeShapeType="1"/>
              <a:stCxn id="19" idx="3"/>
              <a:endCxn id="24" idx="1"/>
            </p:cNvCxnSpPr>
            <p:nvPr/>
          </p:nvCxnSpPr>
          <p:spPr bwMode="auto">
            <a:xfrm>
              <a:off x="5970968" y="1710768"/>
              <a:ext cx="341587" cy="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4" name="TextBox 61"/>
            <p:cNvSpPr>
              <a:spLocks noChangeArrowheads="1"/>
            </p:cNvSpPr>
            <p:nvPr/>
          </p:nvSpPr>
          <p:spPr bwMode="auto">
            <a:xfrm>
              <a:off x="6312555" y="1504267"/>
              <a:ext cx="981122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审核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5" name="直接箭头连接符 65"/>
            <p:cNvCxnSpPr>
              <a:cxnSpLocks noChangeShapeType="1"/>
              <a:stCxn id="24" idx="3"/>
              <a:endCxn id="26" idx="1"/>
            </p:cNvCxnSpPr>
            <p:nvPr/>
          </p:nvCxnSpPr>
          <p:spPr bwMode="auto">
            <a:xfrm>
              <a:off x="7293675" y="1710768"/>
              <a:ext cx="341586" cy="1"/>
            </a:xfrm>
            <a:prstGeom prst="straightConnector1">
              <a:avLst/>
            </a:prstGeom>
            <a:noFill/>
            <a:ln w="25400" cap="flat" cmpd="sng">
              <a:solidFill>
                <a:srgbClr val="000000"/>
              </a:solidFill>
              <a:bevel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26" name="TextBox 68"/>
            <p:cNvSpPr>
              <a:spLocks noChangeArrowheads="1"/>
            </p:cNvSpPr>
            <p:nvPr/>
          </p:nvSpPr>
          <p:spPr bwMode="auto">
            <a:xfrm>
              <a:off x="7635262" y="1504267"/>
              <a:ext cx="981122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报告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圆角矩形 1"/>
            <p:cNvSpPr>
              <a:spLocks noChangeArrowheads="1"/>
            </p:cNvSpPr>
            <p:nvPr/>
          </p:nvSpPr>
          <p:spPr bwMode="auto">
            <a:xfrm>
              <a:off x="928662" y="2075080"/>
              <a:ext cx="1116000" cy="32905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战略、政策和目标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28" name="圆角矩形 1"/>
            <p:cNvSpPr>
              <a:spLocks noChangeArrowheads="1"/>
            </p:cNvSpPr>
            <p:nvPr/>
          </p:nvSpPr>
          <p:spPr bwMode="auto">
            <a:xfrm>
              <a:off x="928662" y="2561950"/>
              <a:ext cx="1116000" cy="32905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现有的信息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29" name="圆角矩形 1"/>
            <p:cNvSpPr>
              <a:spLocks noChangeArrowheads="1"/>
            </p:cNvSpPr>
            <p:nvPr/>
          </p:nvSpPr>
          <p:spPr bwMode="auto">
            <a:xfrm>
              <a:off x="930168" y="3047141"/>
              <a:ext cx="1116000" cy="33073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工具和资源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0" name="圆角矩形 1"/>
            <p:cNvSpPr>
              <a:spLocks noChangeArrowheads="1"/>
            </p:cNvSpPr>
            <p:nvPr/>
          </p:nvSpPr>
          <p:spPr bwMode="auto">
            <a:xfrm>
              <a:off x="2401612" y="2075080"/>
              <a:ext cx="899864" cy="3357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CI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1" name="圆角矩形 1"/>
            <p:cNvSpPr>
              <a:spLocks noChangeArrowheads="1"/>
            </p:cNvSpPr>
            <p:nvPr/>
          </p:nvSpPr>
          <p:spPr bwMode="auto">
            <a:xfrm>
              <a:off x="3596057" y="2075080"/>
              <a:ext cx="1099246" cy="3357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记录和监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控</a:t>
              </a:r>
            </a:p>
          </p:txBody>
        </p:sp>
        <p:sp>
          <p:nvSpPr>
            <p:cNvPr id="32" name="圆角矩形 1"/>
            <p:cNvSpPr>
              <a:spLocks noChangeArrowheads="1"/>
            </p:cNvSpPr>
            <p:nvPr/>
          </p:nvSpPr>
          <p:spPr bwMode="auto">
            <a:xfrm>
              <a:off x="3596057" y="2561950"/>
              <a:ext cx="1099246" cy="3357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CMDB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更新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3" name="圆角矩形 1"/>
            <p:cNvSpPr>
              <a:spLocks noChangeArrowheads="1"/>
            </p:cNvSpPr>
            <p:nvPr/>
          </p:nvSpPr>
          <p:spPr bwMode="auto">
            <a:xfrm>
              <a:off x="4817195" y="2075080"/>
              <a:ext cx="1198331" cy="3357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当前状态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4" name="圆角矩形 1"/>
            <p:cNvSpPr>
              <a:spLocks noChangeArrowheads="1"/>
            </p:cNvSpPr>
            <p:nvPr/>
          </p:nvSpPr>
          <p:spPr bwMode="auto">
            <a:xfrm>
              <a:off x="930168" y="3500438"/>
              <a:ext cx="1116000" cy="53793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关联流程、项目、供应商的接口等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5" name="圆角矩形 1"/>
            <p:cNvSpPr>
              <a:spLocks noChangeArrowheads="1"/>
            </p:cNvSpPr>
            <p:nvPr/>
          </p:nvSpPr>
          <p:spPr bwMode="auto">
            <a:xfrm>
              <a:off x="4829232" y="2556940"/>
              <a:ext cx="1198331" cy="33406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历史信息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6" name="圆角矩形 1"/>
            <p:cNvSpPr>
              <a:spLocks noChangeArrowheads="1"/>
            </p:cNvSpPr>
            <p:nvPr/>
          </p:nvSpPr>
          <p:spPr bwMode="auto">
            <a:xfrm>
              <a:off x="6141762" y="2083474"/>
              <a:ext cx="1322708" cy="32737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审计流程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7" name="圆角矩形 1"/>
            <p:cNvSpPr>
              <a:spLocks noChangeArrowheads="1"/>
            </p:cNvSpPr>
            <p:nvPr/>
          </p:nvSpPr>
          <p:spPr bwMode="auto">
            <a:xfrm>
              <a:off x="7704585" y="2083474"/>
              <a:ext cx="899863" cy="32905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审计结论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38" name="TextBox 95"/>
            <p:cNvSpPr>
              <a:spLocks noChangeArrowheads="1"/>
            </p:cNvSpPr>
            <p:nvPr/>
          </p:nvSpPr>
          <p:spPr bwMode="auto">
            <a:xfrm>
              <a:off x="1102982" y="4261717"/>
              <a:ext cx="2198493" cy="4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lIns="18000" rIns="18000"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配置项定义、分类、关系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Box 97"/>
            <p:cNvSpPr>
              <a:spLocks noChangeArrowheads="1"/>
            </p:cNvSpPr>
            <p:nvPr/>
          </p:nvSpPr>
          <p:spPr bwMode="auto">
            <a:xfrm>
              <a:off x="3661119" y="4261717"/>
              <a:ext cx="2300985" cy="4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lIns="18000" rIns="18000"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配置项监控、变更审批、更新规则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TextBox 98"/>
            <p:cNvSpPr>
              <a:spLocks noChangeArrowheads="1"/>
            </p:cNvSpPr>
            <p:nvPr/>
          </p:nvSpPr>
          <p:spPr bwMode="auto">
            <a:xfrm>
              <a:off x="6312555" y="4261717"/>
              <a:ext cx="2303830" cy="4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lIns="18000" rIns="18000" anchor="ctr"/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审计规则、报告模板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圆角矩形 1"/>
            <p:cNvSpPr>
              <a:spLocks noChangeArrowheads="1"/>
            </p:cNvSpPr>
            <p:nvPr/>
          </p:nvSpPr>
          <p:spPr bwMode="auto">
            <a:xfrm>
              <a:off x="7704585" y="2545401"/>
              <a:ext cx="899863" cy="330735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趋势分析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42" name="TextBox 101"/>
            <p:cNvSpPr>
              <a:spLocks noChangeArrowheads="1"/>
            </p:cNvSpPr>
            <p:nvPr/>
          </p:nvSpPr>
          <p:spPr bwMode="auto">
            <a:xfrm>
              <a:off x="3661119" y="5184338"/>
              <a:ext cx="2300985" cy="38640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查询与浏览</a:t>
              </a:r>
            </a:p>
          </p:txBody>
        </p:sp>
        <p:sp>
          <p:nvSpPr>
            <p:cNvPr id="43" name="TextBox 102"/>
            <p:cNvSpPr>
              <a:spLocks noChangeArrowheads="1"/>
            </p:cNvSpPr>
            <p:nvPr/>
          </p:nvSpPr>
          <p:spPr bwMode="auto">
            <a:xfrm>
              <a:off x="6312555" y="5447880"/>
              <a:ext cx="2303830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统计分析</a:t>
              </a:r>
            </a:p>
          </p:txBody>
        </p:sp>
        <p:sp>
          <p:nvSpPr>
            <p:cNvPr id="44" name="TextBox 103"/>
            <p:cNvSpPr>
              <a:spLocks noChangeArrowheads="1"/>
            </p:cNvSpPr>
            <p:nvPr/>
          </p:nvSpPr>
          <p:spPr bwMode="auto">
            <a:xfrm>
              <a:off x="1112227" y="5194680"/>
              <a:ext cx="2175904" cy="3760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CMDB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TextBox 104"/>
            <p:cNvSpPr>
              <a:spLocks noChangeArrowheads="1"/>
            </p:cNvSpPr>
            <p:nvPr/>
          </p:nvSpPr>
          <p:spPr bwMode="auto">
            <a:xfrm>
              <a:off x="6312555" y="4962872"/>
              <a:ext cx="2303830" cy="413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5400" cap="flat" cmpd="sng">
                  <a:solidFill>
                    <a:srgbClr val="00957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流程</a:t>
              </a:r>
              <a:r>
                <a:rPr 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KPI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监控</a:t>
              </a:r>
            </a:p>
          </p:txBody>
        </p:sp>
        <p:sp>
          <p:nvSpPr>
            <p:cNvPr id="46" name="圆角矩形 1"/>
            <p:cNvSpPr>
              <a:spLocks noChangeArrowheads="1"/>
            </p:cNvSpPr>
            <p:nvPr/>
          </p:nvSpPr>
          <p:spPr bwMode="auto">
            <a:xfrm>
              <a:off x="2401611" y="2585795"/>
              <a:ext cx="899864" cy="335772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FF"/>
                </a:gs>
                <a:gs pos="34999">
                  <a:srgbClr val="FFFFFF"/>
                </a:gs>
                <a:gs pos="100000">
                  <a:srgbClr val="FFFFFF"/>
                </a:gs>
              </a:gsLst>
              <a:lin ang="16200000" scaled="1"/>
            </a:gra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 anchor="ctr"/>
            <a:lstStyle/>
            <a:p>
              <a:pPr algn="ctr" eaLnBrk="1" hangingPunct="1">
                <a:buClr>
                  <a:schemeClr val="accent2"/>
                </a:buClr>
                <a:buFont typeface="Wingdings" pitchFamily="2" charset="2"/>
                <a:buNone/>
              </a:pPr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CMDB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grpSp>
          <p:nvGrpSpPr>
            <p:cNvPr id="5" name="组合 17"/>
            <p:cNvGrpSpPr>
              <a:grpSpLocks/>
            </p:cNvGrpSpPr>
            <p:nvPr/>
          </p:nvGrpSpPr>
          <p:grpSpPr bwMode="auto">
            <a:xfrm>
              <a:off x="391783" y="1484784"/>
              <a:ext cx="546472" cy="4527501"/>
              <a:chOff x="179107" y="1520185"/>
              <a:chExt cx="576841" cy="3327944"/>
            </a:xfrm>
          </p:grpSpPr>
          <p:sp>
            <p:nvSpPr>
              <p:cNvPr id="9" name="圆角矩形 8"/>
              <p:cNvSpPr/>
              <p:nvPr/>
            </p:nvSpPr>
            <p:spPr bwMode="auto">
              <a:xfrm>
                <a:off x="179354" y="1520185"/>
                <a:ext cx="576594" cy="332794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2">
                    <a:lumMod val="20000"/>
                    <a:lumOff val="80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" name="TextBox 1"/>
              <p:cNvSpPr txBox="1">
                <a:spLocks noChangeArrowheads="1"/>
              </p:cNvSpPr>
              <p:nvPr/>
            </p:nvSpPr>
            <p:spPr bwMode="auto">
              <a:xfrm>
                <a:off x="179107" y="4081516"/>
                <a:ext cx="576073" cy="701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400" dirty="0" smtClean="0">
                    <a:latin typeface="微软雅黑" pitchFamily="34" charset="-122"/>
                    <a:ea typeface="微软雅黑" pitchFamily="34" charset="-122"/>
                  </a:rPr>
                  <a:t>配置管理</a:t>
                </a:r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功能设计</a:t>
                </a:r>
              </a:p>
            </p:txBody>
          </p:sp>
          <p:sp>
            <p:nvSpPr>
              <p:cNvPr id="11" name="TextBox 167"/>
              <p:cNvSpPr txBox="1">
                <a:spLocks noChangeArrowheads="1"/>
              </p:cNvSpPr>
              <p:nvPr/>
            </p:nvSpPr>
            <p:spPr bwMode="auto">
              <a:xfrm>
                <a:off x="179107" y="3393434"/>
                <a:ext cx="576073" cy="5429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400" dirty="0" smtClean="0">
                    <a:latin typeface="微软雅黑" pitchFamily="34" charset="-122"/>
                    <a:ea typeface="微软雅黑" pitchFamily="34" charset="-122"/>
                  </a:rPr>
                  <a:t>配</a:t>
                </a:r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置</a:t>
                </a:r>
                <a:r>
                  <a:rPr lang="zh-CN" altLang="en-US" sz="1400" dirty="0" smtClean="0">
                    <a:latin typeface="微软雅黑" pitchFamily="34" charset="-122"/>
                    <a:ea typeface="微软雅黑" pitchFamily="34" charset="-122"/>
                  </a:rPr>
                  <a:t>规则</a:t>
                </a:r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设计</a:t>
                </a:r>
              </a:p>
            </p:txBody>
          </p:sp>
          <p:sp>
            <p:nvSpPr>
              <p:cNvPr id="12" name="TextBox 169"/>
              <p:cNvSpPr txBox="1">
                <a:spLocks noChangeArrowheads="1"/>
              </p:cNvSpPr>
              <p:nvPr/>
            </p:nvSpPr>
            <p:spPr bwMode="auto">
              <a:xfrm>
                <a:off x="251156" y="1873645"/>
                <a:ext cx="432048" cy="1018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1pPr>
                <a:lvl2pPr marL="742950" indent="-28575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2pPr>
                <a:lvl3pPr marL="11430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3pPr>
                <a:lvl4pPr marL="16002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4pPr>
                <a:lvl5pPr marL="2057400" indent="-228600"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2"/>
                    </a:solidFill>
                    <a:latin typeface="Arial" pitchFamily="34" charset="0"/>
                    <a:ea typeface="新宋体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1400" dirty="0" smtClean="0">
                    <a:latin typeface="微软雅黑" pitchFamily="34" charset="-122"/>
                    <a:ea typeface="微软雅黑" pitchFamily="34" charset="-122"/>
                  </a:rPr>
                  <a:t>配置流程</a:t>
                </a:r>
                <a:r>
                  <a:rPr lang="zh-CN" altLang="en-US" sz="1400" dirty="0">
                    <a:latin typeface="微软雅黑" pitchFamily="34" charset="-122"/>
                    <a:ea typeface="微软雅黑" pitchFamily="34" charset="-122"/>
                  </a:rPr>
                  <a:t>设计</a:t>
                </a:r>
                <a:endParaRPr lang="en-US" altLang="zh-CN" sz="14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 bwMode="auto">
              <a:xfrm>
                <a:off x="395255" y="3340503"/>
                <a:ext cx="144198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olid"/>
                <a:headEnd type="none" w="med" len="med"/>
                <a:tailEnd type="non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cxnSp>
          <p:nvCxnSpPr>
            <p:cNvPr id="6" name="直接连接符 5"/>
            <p:cNvCxnSpPr/>
            <p:nvPr/>
          </p:nvCxnSpPr>
          <p:spPr bwMode="auto">
            <a:xfrm>
              <a:off x="596976" y="4921730"/>
              <a:ext cx="13660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  <a:headEnd type="none" w="med" len="med"/>
              <a:tailEnd type="non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auto">
            <a:xfrm>
              <a:off x="961252" y="4111148"/>
              <a:ext cx="7757788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 bwMode="auto">
            <a:xfrm>
              <a:off x="961252" y="4832372"/>
              <a:ext cx="7757788" cy="0"/>
            </a:xfrm>
            <a:prstGeom prst="line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圆角矩形 3"/>
            <p:cNvSpPr>
              <a:spLocks noChangeArrowheads="1"/>
            </p:cNvSpPr>
            <p:nvPr/>
          </p:nvSpPr>
          <p:spPr bwMode="auto">
            <a:xfrm>
              <a:off x="384874" y="878637"/>
              <a:ext cx="8311388" cy="462131"/>
            </a:xfrm>
            <a:prstGeom prst="roundRect">
              <a:avLst>
                <a:gd name="adj" fmla="val 3727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/>
          </p:spPr>
          <p:txBody>
            <a:bodyPr lIns="0" rIns="0">
              <a:noAutofit/>
            </a:bodyPr>
            <a:lstStyle/>
            <a:p>
              <a:pPr algn="ctr">
                <a:lnSpc>
                  <a:spcPct val="120000"/>
                </a:lnSpc>
                <a:spcBef>
                  <a:spcPct val="20000"/>
                </a:spcBef>
                <a:buClr>
                  <a:srgbClr val="FF0000"/>
                </a:buClr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配置</a:t>
              </a:r>
              <a:r>
                <a:rPr lang="zh-CN" altLang="en-US" kern="0" dirty="0" smtClean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管理</a:t>
              </a:r>
              <a:r>
                <a:rPr lang="zh-CN" altLang="en-US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流程设计</a:t>
              </a:r>
              <a:endPara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70849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213243" y="1161304"/>
            <a:ext cx="5879976" cy="5004000"/>
            <a:chOff x="1213243" y="1161304"/>
            <a:chExt cx="5879976" cy="5004000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2917362" y="1393008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01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3588487" y="1393008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IT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运维管理发展趋势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MH_Number_3"/>
            <p:cNvSpPr/>
            <p:nvPr>
              <p:custDataLst>
                <p:tags r:id="rId4"/>
              </p:custDataLst>
            </p:nvPr>
          </p:nvSpPr>
          <p:spPr>
            <a:xfrm>
              <a:off x="2917362" y="3396172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03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MH_Entry_3"/>
            <p:cNvSpPr/>
            <p:nvPr>
              <p:custDataLst>
                <p:tags r:id="rId5"/>
              </p:custDataLst>
            </p:nvPr>
          </p:nvSpPr>
          <p:spPr>
            <a:xfrm>
              <a:off x="3588487" y="3396172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运维管理体系</a:t>
              </a:r>
            </a:p>
          </p:txBody>
        </p:sp>
        <p:sp>
          <p:nvSpPr>
            <p:cNvPr id="12" name="MH_Number_5"/>
            <p:cNvSpPr/>
            <p:nvPr>
              <p:custDataLst>
                <p:tags r:id="rId6"/>
              </p:custDataLst>
            </p:nvPr>
          </p:nvSpPr>
          <p:spPr>
            <a:xfrm>
              <a:off x="2917362" y="5399336"/>
              <a:ext cx="550238" cy="549944"/>
            </a:xfrm>
            <a:prstGeom prst="rect">
              <a:avLst/>
            </a:prstGeom>
            <a:noFill/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05</a:t>
              </a:r>
              <a:endParaRPr lang="zh-CN" altLang="en-US" sz="2400" b="1">
                <a:solidFill>
                  <a:srgbClr val="C03321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" name="MH_Entry_5"/>
            <p:cNvSpPr/>
            <p:nvPr>
              <p:custDataLst>
                <p:tags r:id="rId7"/>
              </p:custDataLst>
            </p:nvPr>
          </p:nvSpPr>
          <p:spPr>
            <a:xfrm>
              <a:off x="3588487" y="5399336"/>
              <a:ext cx="3504732" cy="549944"/>
            </a:xfrm>
            <a:prstGeom prst="rect">
              <a:avLst/>
            </a:prstGeom>
            <a:solidFill>
              <a:srgbClr val="C03321"/>
            </a:solidFill>
            <a:ln w="25400">
              <a:solidFill>
                <a:srgbClr val="C033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系统整体规划</a:t>
              </a:r>
            </a:p>
          </p:txBody>
        </p:sp>
        <p:sp>
          <p:nvSpPr>
            <p:cNvPr id="21" name="MH_Number_2"/>
            <p:cNvSpPr/>
            <p:nvPr>
              <p:custDataLst>
                <p:tags r:id="rId8"/>
              </p:custDataLst>
            </p:nvPr>
          </p:nvSpPr>
          <p:spPr>
            <a:xfrm>
              <a:off x="2917362" y="2394590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02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2" name="MH_Entry_2"/>
            <p:cNvSpPr/>
            <p:nvPr>
              <p:custDataLst>
                <p:tags r:id="rId9"/>
              </p:custDataLst>
            </p:nvPr>
          </p:nvSpPr>
          <p:spPr>
            <a:xfrm>
              <a:off x="3588487" y="2394590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运维管理对象</a:t>
              </a:r>
              <a:r>
                <a:rPr lang="en-US" altLang="zh-CN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要素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MH_Number_4"/>
            <p:cNvSpPr/>
            <p:nvPr>
              <p:custDataLst>
                <p:tags r:id="rId10"/>
              </p:custDataLst>
            </p:nvPr>
          </p:nvSpPr>
          <p:spPr>
            <a:xfrm>
              <a:off x="2917362" y="4397754"/>
              <a:ext cx="550238" cy="549944"/>
            </a:xfrm>
            <a:prstGeom prst="rect">
              <a:avLst/>
            </a:prstGeom>
            <a:noFill/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FDAA04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04</a:t>
              </a:r>
              <a:endParaRPr lang="zh-CN" altLang="en-US" sz="2400" b="1">
                <a:solidFill>
                  <a:srgbClr val="FDAA04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5" name="MH_Entry_4"/>
            <p:cNvSpPr/>
            <p:nvPr>
              <p:custDataLst>
                <p:tags r:id="rId11"/>
              </p:custDataLst>
            </p:nvPr>
          </p:nvSpPr>
          <p:spPr>
            <a:xfrm>
              <a:off x="3588487" y="4397754"/>
              <a:ext cx="3504732" cy="549944"/>
            </a:xfrm>
            <a:prstGeom prst="rect">
              <a:avLst/>
            </a:prstGeom>
            <a:solidFill>
              <a:srgbClr val="FDAA04"/>
            </a:solidFill>
            <a:ln w="25400">
              <a:solidFill>
                <a:srgbClr val="FDAA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r>
                <a:rPr lang="zh-CN" altLang="en-US" sz="2400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运维业务模型设计</a:t>
              </a:r>
              <a:endPara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5" name="MH_Others_1"/>
            <p:cNvCxnSpPr/>
            <p:nvPr>
              <p:custDataLst>
                <p:tags r:id="rId12"/>
              </p:custDataLst>
            </p:nvPr>
          </p:nvCxnSpPr>
          <p:spPr>
            <a:xfrm>
              <a:off x="2380336" y="1161304"/>
              <a:ext cx="0" cy="5004000"/>
            </a:xfrm>
            <a:prstGeom prst="line">
              <a:avLst/>
            </a:prstGeom>
            <a:ln w="41275">
              <a:solidFill>
                <a:srgbClr val="C033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1213243" y="1320643"/>
              <a:ext cx="1054501" cy="4196589"/>
              <a:chOff x="943190" y="632970"/>
              <a:chExt cx="1054501" cy="4196589"/>
            </a:xfrm>
          </p:grpSpPr>
          <p:sp>
            <p:nvSpPr>
              <p:cNvPr id="38" name="MH_Others_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43190" y="632970"/>
                <a:ext cx="1054501" cy="1188575"/>
              </a:xfrm>
              <a:prstGeom prst="rect">
                <a:avLst/>
              </a:prstGeom>
              <a:noFill/>
            </p:spPr>
            <p:txBody>
              <a:bodyPr vert="eaVert" wrap="square" rtlCol="0" anchor="ctr" anchorCtr="0">
                <a:noAutofit/>
              </a:bodyPr>
              <a:lstStyle/>
              <a:p>
                <a:r>
                  <a:rPr lang="en-US" altLang="zh-CN" sz="880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C</a:t>
                </a:r>
                <a:endParaRPr lang="zh-CN" altLang="en-US" sz="440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39" name="MH_Others_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32778" y="3331096"/>
                <a:ext cx="693893" cy="1498463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目</a:t>
                </a:r>
                <a:endParaRPr lang="en-US" altLang="zh-CN" sz="4800" b="1" dirty="0" smtClean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ctr"/>
                <a:r>
                  <a:rPr lang="zh-CN" altLang="en-US" sz="4800" b="1" dirty="0" smtClean="0">
                    <a:solidFill>
                      <a:srgbClr val="C0332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录</a:t>
                </a:r>
                <a:endParaRPr lang="zh-CN" altLang="en-US" sz="4800" b="1" dirty="0">
                  <a:solidFill>
                    <a:srgbClr val="C0332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1" name="MH_Others_4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71949" y="1384476"/>
                <a:ext cx="615553" cy="2062424"/>
              </a:xfrm>
              <a:prstGeom prst="rect">
                <a:avLst/>
              </a:prstGeom>
            </p:spPr>
            <p:txBody>
              <a:bodyPr vert="eaVert" wrap="square">
                <a:noAutofit/>
              </a:bodyPr>
              <a:lstStyle/>
              <a:p>
                <a:r>
                  <a:rPr lang="en-US" altLang="zh-CN" sz="2800" spc="500">
                    <a:solidFill>
                      <a:srgbClr val="C0C0C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ONTENTS</a:t>
                </a:r>
                <a:endParaRPr lang="zh-CN" altLang="en-US" sz="2800" spc="500">
                  <a:solidFill>
                    <a:srgbClr val="C0C0C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xmlns="" val="176325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系统整体规划</a:t>
            </a:r>
            <a:r>
              <a:rPr lang="en-US" altLang="zh-CN" dirty="0" smtClean="0"/>
              <a:t>-</a:t>
            </a:r>
            <a:r>
              <a:rPr lang="zh-CN" altLang="en-US" dirty="0" smtClean="0"/>
              <a:t>系统构建方法</a:t>
            </a:r>
            <a:endParaRPr lang="zh-CN" altLang="en-US" dirty="0">
              <a:solidFill>
                <a:srgbClr val="FFFFFF"/>
              </a:solidFill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0" y="1882444"/>
            <a:ext cx="9144000" cy="4714908"/>
            <a:chOff x="0" y="1882444"/>
            <a:chExt cx="9144000" cy="4714908"/>
          </a:xfrm>
        </p:grpSpPr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0" y="3861048"/>
              <a:ext cx="9144000" cy="0"/>
            </a:xfrm>
            <a:prstGeom prst="rect">
              <a:avLst/>
            </a:prstGeom>
            <a:noFill/>
            <a:ln w="9525">
              <a:solidFill>
                <a:srgbClr val="002060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" name="圆角矩形 3"/>
            <p:cNvSpPr/>
            <p:nvPr/>
          </p:nvSpPr>
          <p:spPr bwMode="auto">
            <a:xfrm>
              <a:off x="5034597" y="5097154"/>
              <a:ext cx="2987241" cy="1500198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圆角矩形 4"/>
            <p:cNvSpPr/>
            <p:nvPr/>
          </p:nvSpPr>
          <p:spPr bwMode="auto">
            <a:xfrm>
              <a:off x="997785" y="3239766"/>
              <a:ext cx="7346998" cy="142876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 bwMode="auto">
            <a:xfrm>
              <a:off x="5508104" y="1882444"/>
              <a:ext cx="2502824" cy="928694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TextBox 106"/>
            <p:cNvSpPr txBox="1"/>
            <p:nvPr/>
          </p:nvSpPr>
          <p:spPr>
            <a:xfrm>
              <a:off x="6877035" y="2534139"/>
              <a:ext cx="11338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组织配置</a:t>
              </a:r>
              <a:endParaRPr lang="zh-CN" altLang="en-US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/>
            <p:cNvSpPr>
              <a:spLocks noChangeArrowheads="1"/>
            </p:cNvSpPr>
            <p:nvPr/>
          </p:nvSpPr>
          <p:spPr bwMode="auto">
            <a:xfrm>
              <a:off x="5669576" y="2239634"/>
              <a:ext cx="814533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小组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5669576" y="1982601"/>
              <a:ext cx="814533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单位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矩形 11"/>
            <p:cNvSpPr>
              <a:spLocks noChangeArrowheads="1"/>
            </p:cNvSpPr>
            <p:nvPr/>
          </p:nvSpPr>
          <p:spPr bwMode="auto">
            <a:xfrm>
              <a:off x="6792713" y="2239634"/>
              <a:ext cx="1137478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人员名单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/>
          </p:nvSpPr>
          <p:spPr bwMode="auto">
            <a:xfrm>
              <a:off x="5669576" y="2523800"/>
              <a:ext cx="814533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角色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4" name="形状 369"/>
            <p:cNvCxnSpPr>
              <a:cxnSpLocks noChangeShapeType="1"/>
              <a:stCxn id="12" idx="1"/>
              <a:endCxn id="11" idx="3"/>
            </p:cNvCxnSpPr>
            <p:nvPr/>
          </p:nvCxnSpPr>
          <p:spPr bwMode="auto">
            <a:xfrm rot="10800000">
              <a:off x="6484110" y="2091346"/>
              <a:ext cx="308603" cy="257033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5" name="形状 369"/>
            <p:cNvCxnSpPr>
              <a:cxnSpLocks noChangeShapeType="1"/>
              <a:stCxn id="12" idx="1"/>
              <a:endCxn id="10" idx="3"/>
            </p:cNvCxnSpPr>
            <p:nvPr/>
          </p:nvCxnSpPr>
          <p:spPr bwMode="auto">
            <a:xfrm rot="10800000">
              <a:off x="6484110" y="2347584"/>
              <a:ext cx="308603" cy="794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6" name="形状 369"/>
            <p:cNvCxnSpPr>
              <a:cxnSpLocks noChangeShapeType="1"/>
              <a:stCxn id="12" idx="1"/>
              <a:endCxn id="13" idx="3"/>
            </p:cNvCxnSpPr>
            <p:nvPr/>
          </p:nvCxnSpPr>
          <p:spPr bwMode="auto">
            <a:xfrm rot="10800000" flipV="1">
              <a:off x="6484110" y="2348378"/>
              <a:ext cx="308603" cy="283372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17" name="圆角矩形 16"/>
            <p:cNvSpPr/>
            <p:nvPr/>
          </p:nvSpPr>
          <p:spPr bwMode="auto">
            <a:xfrm>
              <a:off x="755576" y="1882444"/>
              <a:ext cx="2422087" cy="928694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Box 106"/>
            <p:cNvSpPr txBox="1"/>
            <p:nvPr/>
          </p:nvSpPr>
          <p:spPr>
            <a:xfrm>
              <a:off x="2047356" y="2462701"/>
              <a:ext cx="11338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主数据配置</a:t>
              </a:r>
              <a:endParaRPr lang="zh-CN" altLang="en-US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矩形 18"/>
            <p:cNvSpPr>
              <a:spLocks noChangeArrowheads="1"/>
            </p:cNvSpPr>
            <p:nvPr/>
          </p:nvSpPr>
          <p:spPr bwMode="auto">
            <a:xfrm>
              <a:off x="917048" y="2380924"/>
              <a:ext cx="814533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标准数据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矩形 19"/>
            <p:cNvSpPr>
              <a:spLocks noChangeArrowheads="1"/>
            </p:cNvSpPr>
            <p:nvPr/>
          </p:nvSpPr>
          <p:spPr bwMode="auto">
            <a:xfrm>
              <a:off x="917048" y="1982601"/>
              <a:ext cx="814533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业务对象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矩形 20"/>
            <p:cNvSpPr>
              <a:spLocks noChangeArrowheads="1"/>
            </p:cNvSpPr>
            <p:nvPr/>
          </p:nvSpPr>
          <p:spPr bwMode="auto">
            <a:xfrm>
              <a:off x="1966620" y="2168196"/>
              <a:ext cx="1137478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主数据模型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2" name="形状 369"/>
            <p:cNvCxnSpPr>
              <a:cxnSpLocks noChangeShapeType="1"/>
              <a:stCxn id="21" idx="1"/>
              <a:endCxn id="20" idx="3"/>
            </p:cNvCxnSpPr>
            <p:nvPr/>
          </p:nvCxnSpPr>
          <p:spPr bwMode="auto">
            <a:xfrm rot="10800000">
              <a:off x="1731583" y="2091346"/>
              <a:ext cx="235038" cy="185595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形状 369"/>
            <p:cNvCxnSpPr>
              <a:cxnSpLocks noChangeShapeType="1"/>
              <a:stCxn id="21" idx="1"/>
              <a:endCxn id="19" idx="3"/>
            </p:cNvCxnSpPr>
            <p:nvPr/>
          </p:nvCxnSpPr>
          <p:spPr bwMode="auto">
            <a:xfrm rot="10800000" flipV="1">
              <a:off x="1731583" y="2276940"/>
              <a:ext cx="235038" cy="211934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4" name="形状 369"/>
            <p:cNvCxnSpPr>
              <a:cxnSpLocks noChangeShapeType="1"/>
              <a:stCxn id="17" idx="1"/>
              <a:endCxn id="87" idx="1"/>
            </p:cNvCxnSpPr>
            <p:nvPr/>
          </p:nvCxnSpPr>
          <p:spPr bwMode="auto">
            <a:xfrm rot="10800000" flipV="1">
              <a:off x="755576" y="2346791"/>
              <a:ext cx="1795" cy="3429024"/>
            </a:xfrm>
            <a:prstGeom prst="bentConnector3">
              <a:avLst>
                <a:gd name="adj1" fmla="val 14395466"/>
              </a:avLst>
            </a:prstGeom>
            <a:noFill/>
            <a:ln w="19050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26" name="Line 6"/>
            <p:cNvSpPr>
              <a:spLocks noChangeShapeType="1"/>
            </p:cNvSpPr>
            <p:nvPr/>
          </p:nvSpPr>
          <p:spPr bwMode="auto">
            <a:xfrm>
              <a:off x="2922908" y="3833516"/>
              <a:ext cx="6082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 flipV="1">
              <a:off x="4225443" y="3474741"/>
              <a:ext cx="65665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4225443" y="3906541"/>
              <a:ext cx="653062" cy="2921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5599751" y="3525517"/>
              <a:ext cx="662025" cy="2413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 flipV="1">
              <a:off x="5599752" y="4049416"/>
              <a:ext cx="665613" cy="119044"/>
            </a:xfrm>
            <a:prstGeom prst="line">
              <a:avLst/>
            </a:prstGeom>
            <a:noFill/>
            <a:ln w="1894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Rectangle 11"/>
            <p:cNvSpPr>
              <a:spLocks noChangeArrowheads="1"/>
            </p:cNvSpPr>
            <p:nvPr/>
          </p:nvSpPr>
          <p:spPr bwMode="auto">
            <a:xfrm>
              <a:off x="2190904" y="3474741"/>
              <a:ext cx="732003" cy="647700"/>
            </a:xfrm>
            <a:prstGeom prst="rect">
              <a:avLst/>
            </a:prstGeom>
            <a:gradFill rotWithShape="1">
              <a:gsLst>
                <a:gs pos="0">
                  <a:srgbClr val="99FF99">
                    <a:gamma/>
                    <a:shade val="46275"/>
                    <a:invGamma/>
                  </a:srgbClr>
                </a:gs>
                <a:gs pos="100000">
                  <a:srgbClr val="99FF99"/>
                </a:gs>
              </a:gsLst>
              <a:lin ang="18900000" scaled="1"/>
            </a:gradFill>
            <a:ln w="12700">
              <a:solidFill>
                <a:srgbClr val="99FF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342900" indent="-342900" algn="ctr"/>
              <a:r>
                <a:rPr lang="zh-CN" altLang="en-US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活动</a:t>
              </a:r>
            </a:p>
            <a:p>
              <a:pPr marL="342900" indent="-342900" algn="ctr"/>
              <a:r>
                <a:rPr lang="en-US" altLang="zh-CN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Activity</a:t>
              </a:r>
            </a:p>
          </p:txBody>
        </p:sp>
        <p:sp>
          <p:nvSpPr>
            <p:cNvPr id="32" name="Oval 13"/>
            <p:cNvSpPr>
              <a:spLocks noChangeArrowheads="1"/>
            </p:cNvSpPr>
            <p:nvPr/>
          </p:nvSpPr>
          <p:spPr bwMode="auto">
            <a:xfrm>
              <a:off x="1051633" y="3474741"/>
              <a:ext cx="732003" cy="64770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342900" indent="-342900"/>
              <a:r>
                <a:rPr lang="en-US" altLang="zh-CN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Start</a:t>
              </a:r>
            </a:p>
          </p:txBody>
        </p:sp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7399252" y="3474741"/>
              <a:ext cx="732003" cy="64770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342900" indent="-342900"/>
              <a:r>
                <a:rPr lang="en-US" altLang="zh-CN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End</a:t>
              </a: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>
              <a:off x="1783637" y="3833516"/>
              <a:ext cx="4072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>
              <a:off x="6991986" y="3833516"/>
              <a:ext cx="4072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18"/>
            <p:cNvSpPr txBox="1">
              <a:spLocks noChangeArrowheads="1"/>
            </p:cNvSpPr>
            <p:nvPr/>
          </p:nvSpPr>
          <p:spPr bwMode="auto">
            <a:xfrm>
              <a:off x="5438278" y="2811138"/>
              <a:ext cx="2522541" cy="402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marL="457200" indent="-457200" algn="l"/>
              <a:r>
                <a:rPr lang="zh-CN" altLang="en-US" sz="1000" b="0" dirty="0">
                  <a:latin typeface="微软雅黑" pitchFamily="34" charset="-122"/>
                  <a:ea typeface="微软雅黑" pitchFamily="34" charset="-122"/>
                </a:rPr>
                <a:t>参与者</a:t>
              </a:r>
            </a:p>
            <a:p>
              <a:pPr marL="457200" indent="-457200" algn="l"/>
              <a:r>
                <a:rPr lang="en-US" altLang="zh-CN" sz="1000" b="0" dirty="0">
                  <a:latin typeface="微软雅黑" pitchFamily="34" charset="-122"/>
                  <a:ea typeface="微软雅黑" pitchFamily="34" charset="-122"/>
                </a:rPr>
                <a:t>Participant</a:t>
              </a:r>
            </a:p>
          </p:txBody>
        </p:sp>
        <p:grpSp>
          <p:nvGrpSpPr>
            <p:cNvPr id="37" name="Group 19"/>
            <p:cNvGrpSpPr>
              <a:grpSpLocks/>
            </p:cNvGrpSpPr>
            <p:nvPr/>
          </p:nvGrpSpPr>
          <p:grpSpPr bwMode="auto">
            <a:xfrm>
              <a:off x="4873124" y="2739700"/>
              <a:ext cx="565154" cy="352420"/>
              <a:chOff x="4334" y="2667"/>
              <a:chExt cx="1056" cy="1056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4622" y="2667"/>
                <a:ext cx="336" cy="144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9" name="Oval 21"/>
              <p:cNvSpPr>
                <a:spLocks noChangeArrowheads="1"/>
              </p:cNvSpPr>
              <p:nvPr/>
            </p:nvSpPr>
            <p:spPr bwMode="auto">
              <a:xfrm>
                <a:off x="4334" y="3051"/>
                <a:ext cx="192" cy="144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0" name="Oval 22"/>
              <p:cNvSpPr>
                <a:spLocks noChangeArrowheads="1"/>
              </p:cNvSpPr>
              <p:nvPr/>
            </p:nvSpPr>
            <p:spPr bwMode="auto">
              <a:xfrm>
                <a:off x="4688" y="3051"/>
                <a:ext cx="240" cy="144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Oval 23"/>
              <p:cNvSpPr>
                <a:spLocks noChangeArrowheads="1"/>
              </p:cNvSpPr>
              <p:nvPr/>
            </p:nvSpPr>
            <p:spPr bwMode="auto">
              <a:xfrm>
                <a:off x="5150" y="3051"/>
                <a:ext cx="240" cy="144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Oval 24"/>
              <p:cNvSpPr>
                <a:spLocks noChangeArrowheads="1"/>
              </p:cNvSpPr>
              <p:nvPr/>
            </p:nvSpPr>
            <p:spPr bwMode="auto">
              <a:xfrm>
                <a:off x="4430" y="3531"/>
                <a:ext cx="192" cy="192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Oval 25"/>
              <p:cNvSpPr>
                <a:spLocks noChangeArrowheads="1"/>
              </p:cNvSpPr>
              <p:nvPr/>
            </p:nvSpPr>
            <p:spPr bwMode="auto">
              <a:xfrm>
                <a:off x="4718" y="3531"/>
                <a:ext cx="192" cy="192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Oval 26"/>
              <p:cNvSpPr>
                <a:spLocks noChangeArrowheads="1"/>
              </p:cNvSpPr>
              <p:nvPr/>
            </p:nvSpPr>
            <p:spPr bwMode="auto">
              <a:xfrm>
                <a:off x="5006" y="3531"/>
                <a:ext cx="192" cy="192"/>
              </a:xfrm>
              <a:prstGeom prst="ellipse">
                <a:avLst/>
              </a:prstGeom>
              <a:solidFill>
                <a:srgbClr val="FF99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5" name="Line 27"/>
              <p:cNvSpPr>
                <a:spLocks noChangeShapeType="1"/>
              </p:cNvSpPr>
              <p:nvPr/>
            </p:nvSpPr>
            <p:spPr bwMode="auto">
              <a:xfrm>
                <a:off x="4814" y="2849"/>
                <a:ext cx="0" cy="192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6" name="Line 28"/>
              <p:cNvSpPr>
                <a:spLocks noChangeShapeType="1"/>
              </p:cNvSpPr>
              <p:nvPr/>
            </p:nvSpPr>
            <p:spPr bwMode="auto">
              <a:xfrm flipH="1">
                <a:off x="4430" y="2859"/>
                <a:ext cx="384" cy="144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Line 29"/>
              <p:cNvSpPr>
                <a:spLocks noChangeShapeType="1"/>
              </p:cNvSpPr>
              <p:nvPr/>
            </p:nvSpPr>
            <p:spPr bwMode="auto">
              <a:xfrm>
                <a:off x="4814" y="2859"/>
                <a:ext cx="384" cy="144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Line 30"/>
              <p:cNvSpPr>
                <a:spLocks noChangeShapeType="1"/>
              </p:cNvSpPr>
              <p:nvPr/>
            </p:nvSpPr>
            <p:spPr bwMode="auto">
              <a:xfrm>
                <a:off x="4814" y="3195"/>
                <a:ext cx="0" cy="336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Line 31"/>
              <p:cNvSpPr>
                <a:spLocks noChangeShapeType="1"/>
              </p:cNvSpPr>
              <p:nvPr/>
            </p:nvSpPr>
            <p:spPr bwMode="auto">
              <a:xfrm flipH="1">
                <a:off x="4526" y="3195"/>
                <a:ext cx="288" cy="288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0" name="Line 32"/>
              <p:cNvSpPr>
                <a:spLocks noChangeShapeType="1"/>
              </p:cNvSpPr>
              <p:nvPr/>
            </p:nvSpPr>
            <p:spPr bwMode="auto">
              <a:xfrm>
                <a:off x="4814" y="3195"/>
                <a:ext cx="288" cy="288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1" name="Text Box 37"/>
            <p:cNvSpPr txBox="1">
              <a:spLocks noChangeArrowheads="1"/>
            </p:cNvSpPr>
            <p:nvPr/>
          </p:nvSpPr>
          <p:spPr bwMode="auto">
            <a:xfrm>
              <a:off x="3016191" y="4311336"/>
              <a:ext cx="1856934" cy="248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pPr marL="457200" indent="-457200" algn="l"/>
              <a:r>
                <a:rPr lang="zh-CN" altLang="en-US" sz="1000" dirty="0" smtClean="0">
                  <a:latin typeface="微软雅黑" pitchFamily="34" charset="-122"/>
                  <a:ea typeface="微软雅黑" pitchFamily="34" charset="-122"/>
                </a:rPr>
                <a:t>活动触发、分发、分配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Rectangle 38"/>
            <p:cNvSpPr>
              <a:spLocks noChangeArrowheads="1"/>
            </p:cNvSpPr>
            <p:nvPr/>
          </p:nvSpPr>
          <p:spPr bwMode="auto">
            <a:xfrm>
              <a:off x="3491645" y="3474741"/>
              <a:ext cx="732003" cy="647700"/>
            </a:xfrm>
            <a:prstGeom prst="rect">
              <a:avLst/>
            </a:prstGeom>
            <a:gradFill rotWithShape="1">
              <a:gsLst>
                <a:gs pos="0">
                  <a:srgbClr val="99FF99">
                    <a:gamma/>
                    <a:shade val="46275"/>
                    <a:invGamma/>
                  </a:srgbClr>
                </a:gs>
                <a:gs pos="100000">
                  <a:srgbClr val="99FF99"/>
                </a:gs>
              </a:gsLst>
              <a:lin ang="18900000" scaled="1"/>
            </a:gradFill>
            <a:ln w="12700">
              <a:solidFill>
                <a:srgbClr val="99FF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342900" indent="-342900" algn="ctr"/>
              <a:r>
                <a:rPr lang="zh-CN" altLang="en-US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活动</a:t>
              </a:r>
            </a:p>
            <a:p>
              <a:pPr marL="342900" indent="-342900" algn="ctr"/>
              <a:r>
                <a:rPr lang="en-US" altLang="zh-CN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Activity</a:t>
              </a:r>
            </a:p>
          </p:txBody>
        </p:sp>
        <p:sp>
          <p:nvSpPr>
            <p:cNvPr id="53" name="Rectangle 39"/>
            <p:cNvSpPr>
              <a:spLocks noChangeArrowheads="1"/>
            </p:cNvSpPr>
            <p:nvPr/>
          </p:nvSpPr>
          <p:spPr bwMode="auto">
            <a:xfrm>
              <a:off x="4874917" y="3360396"/>
              <a:ext cx="732003" cy="522312"/>
            </a:xfrm>
            <a:prstGeom prst="rect">
              <a:avLst/>
            </a:prstGeom>
            <a:gradFill rotWithShape="1">
              <a:gsLst>
                <a:gs pos="0">
                  <a:srgbClr val="99FF99">
                    <a:gamma/>
                    <a:shade val="46275"/>
                    <a:invGamma/>
                  </a:srgbClr>
                </a:gs>
                <a:gs pos="100000">
                  <a:srgbClr val="99FF99"/>
                </a:gs>
              </a:gsLst>
              <a:lin ang="18900000" scaled="1"/>
            </a:gradFill>
            <a:ln w="12700">
              <a:solidFill>
                <a:srgbClr val="99FF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342900" indent="-342900" algn="ctr"/>
              <a:r>
                <a:rPr lang="zh-CN" altLang="en-US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活动</a:t>
              </a:r>
            </a:p>
            <a:p>
              <a:pPr marL="342900" indent="-342900" algn="ctr"/>
              <a:r>
                <a:rPr lang="en-US" altLang="zh-CN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Activity</a:t>
              </a:r>
            </a:p>
          </p:txBody>
        </p:sp>
        <p:sp>
          <p:nvSpPr>
            <p:cNvPr id="54" name="Rectangle 40"/>
            <p:cNvSpPr>
              <a:spLocks noChangeArrowheads="1"/>
            </p:cNvSpPr>
            <p:nvPr/>
          </p:nvSpPr>
          <p:spPr bwMode="auto">
            <a:xfrm>
              <a:off x="4876710" y="3954146"/>
              <a:ext cx="732003" cy="500067"/>
            </a:xfrm>
            <a:prstGeom prst="rect">
              <a:avLst/>
            </a:prstGeom>
            <a:gradFill rotWithShape="1">
              <a:gsLst>
                <a:gs pos="0">
                  <a:srgbClr val="99FF99">
                    <a:gamma/>
                    <a:shade val="46275"/>
                    <a:invGamma/>
                  </a:srgbClr>
                </a:gs>
                <a:gs pos="100000">
                  <a:srgbClr val="99FF99"/>
                </a:gs>
              </a:gsLst>
              <a:lin ang="18900000" scaled="1"/>
            </a:gradFill>
            <a:ln w="12700">
              <a:solidFill>
                <a:srgbClr val="99FF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342900" indent="-342900" algn="ctr"/>
              <a:r>
                <a:rPr lang="zh-CN" altLang="en-US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活动</a:t>
              </a:r>
            </a:p>
            <a:p>
              <a:pPr marL="342900" indent="-342900" algn="ctr"/>
              <a:r>
                <a:rPr lang="en-US" altLang="zh-CN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Activity</a:t>
              </a:r>
            </a:p>
          </p:txBody>
        </p:sp>
        <p:sp>
          <p:nvSpPr>
            <p:cNvPr id="55" name="Rectangle 41"/>
            <p:cNvSpPr>
              <a:spLocks noChangeArrowheads="1"/>
            </p:cNvSpPr>
            <p:nvPr/>
          </p:nvSpPr>
          <p:spPr bwMode="auto">
            <a:xfrm>
              <a:off x="6259982" y="3546178"/>
              <a:ext cx="732003" cy="647700"/>
            </a:xfrm>
            <a:prstGeom prst="rect">
              <a:avLst/>
            </a:prstGeom>
            <a:gradFill rotWithShape="1">
              <a:gsLst>
                <a:gs pos="0">
                  <a:srgbClr val="99FF99">
                    <a:gamma/>
                    <a:shade val="46275"/>
                    <a:invGamma/>
                  </a:srgbClr>
                </a:gs>
                <a:gs pos="100000">
                  <a:srgbClr val="99FF99"/>
                </a:gs>
              </a:gsLst>
              <a:lin ang="18900000" scaled="1"/>
            </a:gradFill>
            <a:ln w="12700">
              <a:solidFill>
                <a:srgbClr val="99FF99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342900" indent="-342900" algn="ctr"/>
              <a:r>
                <a:rPr lang="zh-CN" altLang="en-US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活动</a:t>
              </a:r>
            </a:p>
            <a:p>
              <a:pPr marL="342900" indent="-342900" algn="ctr"/>
              <a:r>
                <a:rPr lang="en-US" altLang="zh-CN" sz="1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Activity</a:t>
              </a:r>
            </a:p>
          </p:txBody>
        </p:sp>
        <p:sp>
          <p:nvSpPr>
            <p:cNvPr id="56" name="Text Box 70"/>
            <p:cNvSpPr txBox="1">
              <a:spLocks noChangeArrowheads="1"/>
            </p:cNvSpPr>
            <p:nvPr/>
          </p:nvSpPr>
          <p:spPr bwMode="auto">
            <a:xfrm>
              <a:off x="3258400" y="4882840"/>
              <a:ext cx="1627273" cy="248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 marL="457200" indent="-457200" algn="l"/>
              <a:r>
                <a:rPr lang="zh-CN" altLang="en-US" sz="1000" b="0" dirty="0">
                  <a:latin typeface="微软雅黑" pitchFamily="34" charset="-122"/>
                  <a:ea typeface="微软雅黑" pitchFamily="34" charset="-122"/>
                </a:rPr>
                <a:t>表单</a:t>
              </a:r>
              <a:r>
                <a:rPr lang="en-US" altLang="zh-CN" sz="1000" b="0" dirty="0">
                  <a:latin typeface="微软雅黑" pitchFamily="34" charset="-122"/>
                  <a:ea typeface="微软雅黑" pitchFamily="34" charset="-122"/>
                </a:rPr>
                <a:t>Form</a:t>
              </a:r>
            </a:p>
          </p:txBody>
        </p:sp>
        <p:sp>
          <p:nvSpPr>
            <p:cNvPr id="57" name="AutoShape 71"/>
            <p:cNvSpPr>
              <a:spLocks noChangeArrowheads="1"/>
            </p:cNvSpPr>
            <p:nvPr/>
          </p:nvSpPr>
          <p:spPr bwMode="auto">
            <a:xfrm>
              <a:off x="3086172" y="3330278"/>
              <a:ext cx="1385065" cy="935038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F9900"/>
              </a:solidFill>
              <a:prstDash val="dash"/>
              <a:round/>
              <a:headEnd/>
              <a:tailEnd/>
            </a:ln>
            <a:effectLst>
              <a:prstShdw prst="shdw18" dist="17961" dir="13500000">
                <a:srgbClr val="FF9900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Text Box 72"/>
            <p:cNvSpPr txBox="1">
              <a:spLocks noChangeArrowheads="1"/>
            </p:cNvSpPr>
            <p:nvPr/>
          </p:nvSpPr>
          <p:spPr bwMode="auto">
            <a:xfrm>
              <a:off x="6730058" y="4311336"/>
              <a:ext cx="1546537" cy="30777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 algn="l"/>
              <a:r>
                <a:rPr lang="zh-CN" altLang="en-US" sz="1400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业务流程配置</a:t>
              </a:r>
              <a:endPara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9" name="Group 47"/>
            <p:cNvGrpSpPr>
              <a:grpSpLocks/>
            </p:cNvGrpSpPr>
            <p:nvPr/>
          </p:nvGrpSpPr>
          <p:grpSpPr bwMode="auto">
            <a:xfrm>
              <a:off x="2612510" y="4790512"/>
              <a:ext cx="645890" cy="731634"/>
              <a:chOff x="1488" y="3077"/>
              <a:chExt cx="864" cy="1569"/>
            </a:xfrm>
          </p:grpSpPr>
          <p:pic>
            <p:nvPicPr>
              <p:cNvPr id="60" name="Picture 48" descr="blatt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488" y="3275"/>
                <a:ext cx="864" cy="761"/>
              </a:xfrm>
              <a:prstGeom prst="rect">
                <a:avLst/>
              </a:prstGeom>
              <a:noFill/>
            </p:spPr>
          </p:pic>
          <p:sp>
            <p:nvSpPr>
              <p:cNvPr id="61" name="Rectangle 49"/>
              <p:cNvSpPr>
                <a:spLocks noChangeAspect="1" noChangeArrowheads="1"/>
              </p:cNvSpPr>
              <p:nvPr/>
            </p:nvSpPr>
            <p:spPr bwMode="auto">
              <a:xfrm>
                <a:off x="1761" y="3901"/>
                <a:ext cx="189" cy="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9850" tIns="34925" rIns="69850" bIns="34925">
                <a:spAutoFit/>
              </a:bodyPr>
              <a:lstStyle/>
              <a:p>
                <a:pPr algn="l" defTabSz="514350" eaLnBrk="0" hangingPunct="0">
                  <a:lnSpc>
                    <a:spcPct val="100000"/>
                  </a:lnSpc>
                  <a:spcBef>
                    <a:spcPct val="0"/>
                  </a:spcBef>
                </a:pPr>
                <a:endParaRPr kumimoji="0" lang="en-GB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" name="Rectangle 50"/>
              <p:cNvSpPr>
                <a:spLocks noChangeAspect="1" noChangeArrowheads="1"/>
              </p:cNvSpPr>
              <p:nvPr/>
            </p:nvSpPr>
            <p:spPr bwMode="auto">
              <a:xfrm rot="112079">
                <a:off x="1718" y="3077"/>
                <a:ext cx="189" cy="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9850" tIns="34925" rIns="69850" bIns="34925">
                <a:spAutoFit/>
              </a:bodyPr>
              <a:lstStyle/>
              <a:p>
                <a:pPr algn="l" defTabSz="514350" eaLnBrk="0" hangingPunct="0">
                  <a:lnSpc>
                    <a:spcPct val="100000"/>
                  </a:lnSpc>
                  <a:spcBef>
                    <a:spcPct val="0"/>
                  </a:spcBef>
                </a:pPr>
                <a:endParaRPr kumimoji="0" lang="zh-CN" altLang="zh-CN" sz="1800">
                  <a:solidFill>
                    <a:schemeClr val="accent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63" name="Group 51"/>
              <p:cNvGrpSpPr>
                <a:grpSpLocks/>
              </p:cNvGrpSpPr>
              <p:nvPr/>
            </p:nvGrpSpPr>
            <p:grpSpPr bwMode="auto">
              <a:xfrm>
                <a:off x="1705" y="3622"/>
                <a:ext cx="355" cy="121"/>
                <a:chOff x="2655" y="2861"/>
                <a:chExt cx="990" cy="323"/>
              </a:xfrm>
            </p:grpSpPr>
            <p:sp>
              <p:nvSpPr>
                <p:cNvPr id="74" name="Line 52"/>
                <p:cNvSpPr>
                  <a:spLocks noChangeShapeType="1"/>
                </p:cNvSpPr>
                <p:nvPr/>
              </p:nvSpPr>
              <p:spPr bwMode="auto">
                <a:xfrm>
                  <a:off x="2839" y="2861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5" name="Line 53"/>
                <p:cNvSpPr>
                  <a:spLocks noChangeShapeType="1"/>
                </p:cNvSpPr>
                <p:nvPr/>
              </p:nvSpPr>
              <p:spPr bwMode="auto">
                <a:xfrm>
                  <a:off x="3421" y="2892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6" name="Line 54"/>
                <p:cNvSpPr>
                  <a:spLocks noChangeShapeType="1"/>
                </p:cNvSpPr>
                <p:nvPr/>
              </p:nvSpPr>
              <p:spPr bwMode="auto">
                <a:xfrm>
                  <a:off x="2774" y="2957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7" name="Line 55"/>
                <p:cNvSpPr>
                  <a:spLocks noChangeShapeType="1"/>
                </p:cNvSpPr>
                <p:nvPr/>
              </p:nvSpPr>
              <p:spPr bwMode="auto">
                <a:xfrm>
                  <a:off x="3356" y="2988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8" name="Line 56"/>
                <p:cNvSpPr>
                  <a:spLocks noChangeShapeType="1"/>
                </p:cNvSpPr>
                <p:nvPr/>
              </p:nvSpPr>
              <p:spPr bwMode="auto">
                <a:xfrm>
                  <a:off x="2718" y="3055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9" name="Line 57"/>
                <p:cNvSpPr>
                  <a:spLocks noChangeShapeType="1"/>
                </p:cNvSpPr>
                <p:nvPr/>
              </p:nvSpPr>
              <p:spPr bwMode="auto">
                <a:xfrm>
                  <a:off x="3300" y="3086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80" name="Line 58"/>
                <p:cNvSpPr>
                  <a:spLocks noChangeShapeType="1"/>
                </p:cNvSpPr>
                <p:nvPr/>
              </p:nvSpPr>
              <p:spPr bwMode="auto">
                <a:xfrm>
                  <a:off x="2655" y="3146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81" name="Line 59"/>
                <p:cNvSpPr>
                  <a:spLocks noChangeShapeType="1"/>
                </p:cNvSpPr>
                <p:nvPr/>
              </p:nvSpPr>
              <p:spPr bwMode="auto">
                <a:xfrm>
                  <a:off x="3237" y="3177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64" name="Group 60"/>
              <p:cNvGrpSpPr>
                <a:grpSpLocks/>
              </p:cNvGrpSpPr>
              <p:nvPr/>
            </p:nvGrpSpPr>
            <p:grpSpPr bwMode="auto">
              <a:xfrm>
                <a:off x="1625" y="3749"/>
                <a:ext cx="357" cy="121"/>
                <a:chOff x="2655" y="2861"/>
                <a:chExt cx="990" cy="323"/>
              </a:xfrm>
            </p:grpSpPr>
            <p:sp>
              <p:nvSpPr>
                <p:cNvPr id="66" name="Line 61"/>
                <p:cNvSpPr>
                  <a:spLocks noChangeShapeType="1"/>
                </p:cNvSpPr>
                <p:nvPr/>
              </p:nvSpPr>
              <p:spPr bwMode="auto">
                <a:xfrm>
                  <a:off x="2839" y="2861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Line 62"/>
                <p:cNvSpPr>
                  <a:spLocks noChangeShapeType="1"/>
                </p:cNvSpPr>
                <p:nvPr/>
              </p:nvSpPr>
              <p:spPr bwMode="auto">
                <a:xfrm>
                  <a:off x="3421" y="2892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Line 63"/>
                <p:cNvSpPr>
                  <a:spLocks noChangeShapeType="1"/>
                </p:cNvSpPr>
                <p:nvPr/>
              </p:nvSpPr>
              <p:spPr bwMode="auto">
                <a:xfrm>
                  <a:off x="2774" y="2957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Line 64"/>
                <p:cNvSpPr>
                  <a:spLocks noChangeShapeType="1"/>
                </p:cNvSpPr>
                <p:nvPr/>
              </p:nvSpPr>
              <p:spPr bwMode="auto">
                <a:xfrm>
                  <a:off x="3356" y="2988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Line 65"/>
                <p:cNvSpPr>
                  <a:spLocks noChangeShapeType="1"/>
                </p:cNvSpPr>
                <p:nvPr/>
              </p:nvSpPr>
              <p:spPr bwMode="auto">
                <a:xfrm>
                  <a:off x="2718" y="3055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1" name="Line 66"/>
                <p:cNvSpPr>
                  <a:spLocks noChangeShapeType="1"/>
                </p:cNvSpPr>
                <p:nvPr/>
              </p:nvSpPr>
              <p:spPr bwMode="auto">
                <a:xfrm>
                  <a:off x="3300" y="3086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Line 67"/>
                <p:cNvSpPr>
                  <a:spLocks noChangeShapeType="1"/>
                </p:cNvSpPr>
                <p:nvPr/>
              </p:nvSpPr>
              <p:spPr bwMode="auto">
                <a:xfrm>
                  <a:off x="2655" y="3146"/>
                  <a:ext cx="482" cy="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Line 68"/>
                <p:cNvSpPr>
                  <a:spLocks noChangeShapeType="1"/>
                </p:cNvSpPr>
                <p:nvPr/>
              </p:nvSpPr>
              <p:spPr bwMode="auto">
                <a:xfrm>
                  <a:off x="3237" y="3177"/>
                  <a:ext cx="224" cy="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65" name="Text Box 69"/>
              <p:cNvSpPr txBox="1">
                <a:spLocks noChangeAspect="1" noChangeArrowheads="1"/>
              </p:cNvSpPr>
              <p:nvPr/>
            </p:nvSpPr>
            <p:spPr bwMode="auto">
              <a:xfrm rot="20335901">
                <a:off x="1564" y="3436"/>
                <a:ext cx="247" cy="72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 eaLnBrk="0" hangingPunct="0">
                  <a:lnSpc>
                    <a:spcPct val="100000"/>
                  </a:lnSpc>
                  <a:spcBef>
                    <a:spcPct val="0"/>
                  </a:spcBef>
                </a:pPr>
                <a:endParaRPr kumimoji="0" lang="zh-CN" altLang="en-GB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2" name="Text Box 72"/>
            <p:cNvSpPr txBox="1">
              <a:spLocks noChangeArrowheads="1"/>
            </p:cNvSpPr>
            <p:nvPr/>
          </p:nvSpPr>
          <p:spPr bwMode="auto">
            <a:xfrm>
              <a:off x="5196069" y="6097286"/>
              <a:ext cx="1546537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 algn="l"/>
              <a:r>
                <a:rPr lang="zh-CN" altLang="en-US" sz="1200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应用功能配置</a:t>
              </a:r>
              <a:endParaRPr lang="en-US" altLang="zh-CN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右箭头标注 82"/>
            <p:cNvSpPr/>
            <p:nvPr/>
          </p:nvSpPr>
          <p:spPr>
            <a:xfrm>
              <a:off x="5438278" y="5382906"/>
              <a:ext cx="1291780" cy="571504"/>
            </a:xfrm>
            <a:prstGeom prst="rightArrowCallou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功能框架</a:t>
              </a:r>
              <a:endParaRPr lang="zh-CN" altLang="en-US" sz="1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矩形 83"/>
            <p:cNvSpPr>
              <a:spLocks noChangeArrowheads="1"/>
            </p:cNvSpPr>
            <p:nvPr/>
          </p:nvSpPr>
          <p:spPr bwMode="auto">
            <a:xfrm>
              <a:off x="6722887" y="5168592"/>
              <a:ext cx="895270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菜单配置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矩形 84"/>
            <p:cNvSpPr>
              <a:spLocks noChangeArrowheads="1"/>
            </p:cNvSpPr>
            <p:nvPr/>
          </p:nvSpPr>
          <p:spPr bwMode="auto">
            <a:xfrm>
              <a:off x="6730058" y="5451170"/>
              <a:ext cx="888099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功能配置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6" name="矩形 85"/>
            <p:cNvSpPr>
              <a:spLocks noChangeArrowheads="1"/>
            </p:cNvSpPr>
            <p:nvPr/>
          </p:nvSpPr>
          <p:spPr bwMode="auto">
            <a:xfrm>
              <a:off x="6730058" y="6022674"/>
              <a:ext cx="888099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数据接口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圆角矩形 86"/>
            <p:cNvSpPr/>
            <p:nvPr/>
          </p:nvSpPr>
          <p:spPr bwMode="auto">
            <a:xfrm>
              <a:off x="755576" y="5311468"/>
              <a:ext cx="2422087" cy="928694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TextBox 106"/>
            <p:cNvSpPr txBox="1"/>
            <p:nvPr/>
          </p:nvSpPr>
          <p:spPr>
            <a:xfrm>
              <a:off x="2043771" y="5954410"/>
              <a:ext cx="11338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表单配置</a:t>
              </a:r>
              <a:endParaRPr lang="zh-CN" altLang="en-US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矩形 88"/>
            <p:cNvSpPr>
              <a:spLocks noChangeArrowheads="1"/>
            </p:cNvSpPr>
            <p:nvPr/>
          </p:nvSpPr>
          <p:spPr bwMode="auto">
            <a:xfrm>
              <a:off x="913464" y="5809948"/>
              <a:ext cx="814533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报表配置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矩形 89"/>
            <p:cNvSpPr>
              <a:spLocks noChangeArrowheads="1"/>
            </p:cNvSpPr>
            <p:nvPr/>
          </p:nvSpPr>
          <p:spPr bwMode="auto">
            <a:xfrm>
              <a:off x="913464" y="5411625"/>
              <a:ext cx="814533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界面配置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矩形 90"/>
            <p:cNvSpPr>
              <a:spLocks noChangeArrowheads="1"/>
            </p:cNvSpPr>
            <p:nvPr/>
          </p:nvSpPr>
          <p:spPr bwMode="auto">
            <a:xfrm>
              <a:off x="1963035" y="5597220"/>
              <a:ext cx="1137478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数据模型配置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2" name="形状 369"/>
            <p:cNvCxnSpPr>
              <a:cxnSpLocks noChangeShapeType="1"/>
              <a:stCxn id="91" idx="1"/>
              <a:endCxn id="90" idx="3"/>
            </p:cNvCxnSpPr>
            <p:nvPr/>
          </p:nvCxnSpPr>
          <p:spPr bwMode="auto">
            <a:xfrm rot="10800000">
              <a:off x="1727998" y="5520370"/>
              <a:ext cx="235038" cy="185595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93" name="形状 369"/>
            <p:cNvCxnSpPr>
              <a:cxnSpLocks noChangeShapeType="1"/>
              <a:stCxn id="91" idx="1"/>
              <a:endCxn id="89" idx="3"/>
            </p:cNvCxnSpPr>
            <p:nvPr/>
          </p:nvCxnSpPr>
          <p:spPr bwMode="auto">
            <a:xfrm rot="10800000" flipV="1">
              <a:off x="1727998" y="5705964"/>
              <a:ext cx="235038" cy="211934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94" name="矩形 93"/>
            <p:cNvSpPr>
              <a:spLocks noChangeArrowheads="1"/>
            </p:cNvSpPr>
            <p:nvPr/>
          </p:nvSpPr>
          <p:spPr bwMode="auto">
            <a:xfrm>
              <a:off x="6730058" y="5736922"/>
              <a:ext cx="888099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权限控制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Line 8"/>
            <p:cNvSpPr>
              <a:spLocks noChangeShapeType="1"/>
            </p:cNvSpPr>
            <p:nvPr/>
          </p:nvSpPr>
          <p:spPr bwMode="auto">
            <a:xfrm>
              <a:off x="3177664" y="2453949"/>
              <a:ext cx="645890" cy="9286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Line 8"/>
            <p:cNvSpPr>
              <a:spLocks noChangeShapeType="1"/>
            </p:cNvSpPr>
            <p:nvPr/>
          </p:nvSpPr>
          <p:spPr bwMode="auto">
            <a:xfrm flipH="1">
              <a:off x="4065762" y="2311072"/>
              <a:ext cx="1291780" cy="10096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7" name="形状 369"/>
            <p:cNvCxnSpPr>
              <a:cxnSpLocks noChangeShapeType="1"/>
              <a:stCxn id="8" idx="3"/>
              <a:endCxn id="4" idx="3"/>
            </p:cNvCxnSpPr>
            <p:nvPr/>
          </p:nvCxnSpPr>
          <p:spPr bwMode="auto">
            <a:xfrm>
              <a:off x="8010928" y="2346791"/>
              <a:ext cx="10910" cy="3500462"/>
            </a:xfrm>
            <a:prstGeom prst="bentConnector3">
              <a:avLst>
                <a:gd name="adj1" fmla="val 5697956"/>
              </a:avLst>
            </a:prstGeom>
            <a:noFill/>
            <a:ln w="12700" algn="ctr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98" name="圆柱形 97"/>
            <p:cNvSpPr/>
            <p:nvPr/>
          </p:nvSpPr>
          <p:spPr>
            <a:xfrm>
              <a:off x="2773982" y="2739700"/>
              <a:ext cx="645890" cy="357190"/>
            </a:xfrm>
            <a:prstGeom prst="can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数据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9" name="下箭头 98"/>
            <p:cNvSpPr/>
            <p:nvPr/>
          </p:nvSpPr>
          <p:spPr>
            <a:xfrm>
              <a:off x="6164904" y="4739964"/>
              <a:ext cx="322945" cy="357190"/>
            </a:xfrm>
            <a:prstGeom prst="downArrow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Line 8"/>
            <p:cNvSpPr>
              <a:spLocks noChangeShapeType="1"/>
            </p:cNvSpPr>
            <p:nvPr/>
          </p:nvSpPr>
          <p:spPr bwMode="auto">
            <a:xfrm flipV="1">
              <a:off x="1966620" y="4239897"/>
              <a:ext cx="1695461" cy="10001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</p:spPr>
          <p:txBody>
            <a:bodyPr wrap="none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右箭头 100"/>
            <p:cNvSpPr/>
            <p:nvPr/>
          </p:nvSpPr>
          <p:spPr>
            <a:xfrm>
              <a:off x="3339136" y="5597220"/>
              <a:ext cx="1695461" cy="285752"/>
            </a:xfrm>
            <a:prstGeom prst="rightArrow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Text Box 70"/>
            <p:cNvSpPr txBox="1">
              <a:spLocks noChangeArrowheads="1"/>
            </p:cNvSpPr>
            <p:nvPr/>
          </p:nvSpPr>
          <p:spPr bwMode="auto">
            <a:xfrm>
              <a:off x="6568585" y="4739964"/>
              <a:ext cx="2179879" cy="248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pPr marL="457200" indent="-457200" algn="l"/>
              <a:r>
                <a:rPr lang="zh-CN" altLang="en-US" sz="1000" dirty="0" smtClean="0">
                  <a:latin typeface="微软雅黑" pitchFamily="34" charset="-122"/>
                  <a:ea typeface="微软雅黑" pitchFamily="34" charset="-122"/>
                </a:rPr>
                <a:t>配置化流程模式应用</a:t>
              </a:r>
              <a:endParaRPr lang="en-US" altLang="zh-CN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70"/>
            <p:cNvSpPr txBox="1">
              <a:spLocks noChangeArrowheads="1"/>
            </p:cNvSpPr>
            <p:nvPr/>
          </p:nvSpPr>
          <p:spPr bwMode="auto">
            <a:xfrm>
              <a:off x="3662081" y="5382906"/>
              <a:ext cx="2179879" cy="248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pPr marL="457200" indent="-457200" algn="l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表单模式应用</a:t>
              </a:r>
              <a:endParaRPr lang="en-US" altLang="zh-CN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" name="矩形 103"/>
            <p:cNvSpPr>
              <a:spLocks noChangeArrowheads="1"/>
            </p:cNvSpPr>
            <p:nvPr/>
          </p:nvSpPr>
          <p:spPr bwMode="auto">
            <a:xfrm>
              <a:off x="6730058" y="6308426"/>
              <a:ext cx="888099" cy="2174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0" dirty="0" smtClean="0">
                  <a:latin typeface="微软雅黑" pitchFamily="34" charset="-122"/>
                  <a:ea typeface="微软雅黑" pitchFamily="34" charset="-122"/>
                </a:rPr>
                <a:t>数据安全</a:t>
              </a:r>
              <a:endParaRPr lang="zh-CN" altLang="en-US" sz="1000" b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5" name="Rectangle 3"/>
          <p:cNvSpPr txBox="1">
            <a:spLocks noChangeArrowheads="1"/>
          </p:cNvSpPr>
          <p:nvPr/>
        </p:nvSpPr>
        <p:spPr>
          <a:xfrm>
            <a:off x="323527" y="727084"/>
            <a:ext cx="8527045" cy="1261756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indent="360000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342900" indent="-342900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Clr>
                <a:srgbClr val="922E39"/>
              </a:buClr>
              <a:defRPr/>
            </a:pPr>
            <a:r>
              <a:rPr lang="zh-CN" altLang="en-US" sz="1800" kern="0" dirty="0" smtClean="0"/>
              <a:t>标准化</a:t>
            </a:r>
            <a:r>
              <a:rPr lang="zh-CN" altLang="en-US" sz="1800" kern="0" dirty="0"/>
              <a:t>系统集成框架，提供多种配置方式，实现系统的柔性和可维护性：</a:t>
            </a:r>
            <a:endParaRPr lang="en-US" altLang="zh-CN" sz="1800" kern="0" dirty="0"/>
          </a:p>
          <a:p>
            <a:pPr marL="342900" indent="-342900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Clr>
                <a:srgbClr val="922E39"/>
              </a:buClr>
              <a:buFont typeface="Arial" pitchFamily="34" charset="0"/>
              <a:buChar char="•"/>
              <a:defRPr/>
            </a:pPr>
            <a:r>
              <a:rPr lang="zh-CN" altLang="en-US" sz="1800" kern="0" dirty="0" smtClean="0">
                <a:solidFill>
                  <a:srgbClr val="FF0000"/>
                </a:solidFill>
              </a:rPr>
              <a:t>多层次</a:t>
            </a:r>
            <a:r>
              <a:rPr lang="zh-CN" altLang="en-US" sz="1800" kern="0" dirty="0">
                <a:solidFill>
                  <a:srgbClr val="FF0000"/>
                </a:solidFill>
              </a:rPr>
              <a:t>配置：主数据分类、用户组织、表单、工作流、应用功能</a:t>
            </a:r>
            <a:endParaRPr lang="en-US" altLang="zh-CN" sz="1800" kern="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Clr>
                <a:srgbClr val="922E39"/>
              </a:buClr>
              <a:buFont typeface="Arial" pitchFamily="34" charset="0"/>
              <a:buChar char="•"/>
              <a:defRPr/>
            </a:pPr>
            <a:r>
              <a:rPr lang="zh-CN" altLang="en-US" sz="1800" kern="0" dirty="0" smtClean="0">
                <a:solidFill>
                  <a:srgbClr val="FF0000"/>
                </a:solidFill>
              </a:rPr>
              <a:t>应用</a:t>
            </a:r>
            <a:r>
              <a:rPr lang="zh-CN" altLang="en-US" sz="1800" kern="0" dirty="0">
                <a:solidFill>
                  <a:srgbClr val="FF0000"/>
                </a:solidFill>
              </a:rPr>
              <a:t>模式：配置化流程模式应用、配置化表单模式应用</a:t>
            </a:r>
            <a:endParaRPr lang="en-US" altLang="zh-CN" sz="1800" kern="0" dirty="0"/>
          </a:p>
          <a:p>
            <a:pPr>
              <a:lnSpc>
                <a:spcPct val="150000"/>
              </a:lnSpc>
              <a:defRPr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59579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系统整体</a:t>
            </a:r>
            <a:r>
              <a:rPr lang="zh-CN" altLang="en-US" dirty="0" smtClean="0">
                <a:solidFill>
                  <a:srgbClr val="FFFFFF"/>
                </a:solidFill>
              </a:rPr>
              <a:t>规划</a:t>
            </a:r>
            <a:r>
              <a:rPr lang="en-US" altLang="zh-CN" dirty="0" smtClean="0"/>
              <a:t>-</a:t>
            </a:r>
            <a:r>
              <a:rPr lang="zh-CN" altLang="en-US" dirty="0"/>
              <a:t>实施策略</a:t>
            </a:r>
          </a:p>
        </p:txBody>
      </p: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214414" y="1857364"/>
            <a:ext cx="6786563" cy="3960813"/>
            <a:chOff x="839" y="1253"/>
            <a:chExt cx="4275" cy="2495"/>
          </a:xfrm>
        </p:grpSpPr>
        <p:sp>
          <p:nvSpPr>
            <p:cNvPr id="4" name="Oval 2">
              <a:extLst>
                <a:ext uri="{FF2B5EF4-FFF2-40B4-BE49-F238E27FC236}">
                  <a16:creationId xmlns:a16="http://schemas.microsoft.com/office/drawing/2014/main" xmlns="" id="{C870D773-C77C-4A61-A7BD-AAC72BFC4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253"/>
              <a:ext cx="4275" cy="2495"/>
            </a:xfrm>
            <a:prstGeom prst="ellipse">
              <a:avLst/>
            </a:prstGeom>
            <a:solidFill>
              <a:srgbClr val="3366FF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635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endParaRPr lang="en-US" altLang="zh-CN" sz="1600" kern="0">
                <a:solidFill>
                  <a:srgbClr val="000000"/>
                </a:solidFill>
              </a:endParaRPr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xmlns="" id="{4C7D0B55-6952-4429-B38D-9A61BF0FD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1838"/>
              <a:ext cx="3509" cy="1728"/>
            </a:xfrm>
            <a:prstGeom prst="ellipse">
              <a:avLst/>
            </a:prstGeom>
            <a:solidFill>
              <a:srgbClr val="99CC00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635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auto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endParaRPr lang="en-US" altLang="zh-CN" sz="1600" kern="0">
                <a:solidFill>
                  <a:srgbClr val="000000"/>
                </a:solidFill>
              </a:endParaRP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xmlns="" id="{2A7D85AC-CA57-4D47-9CCA-26E6966BA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28" y="3571876"/>
            <a:ext cx="4000528" cy="1500198"/>
          </a:xfrm>
          <a:prstGeom prst="ellipse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6350" algn="ctr">
                <a:solidFill>
                  <a:srgbClr val="000000"/>
                </a:solidFill>
                <a:round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endParaRPr lang="en-US" altLang="zh-CN" sz="1600" kern="0" dirty="0">
              <a:solidFill>
                <a:srgbClr val="000000"/>
              </a:solidFill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xmlns="" id="{F611EB4D-0F55-4945-93B7-2A743B49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2" y="3643314"/>
            <a:ext cx="1008063" cy="3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1600" b="1" kern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二期</a:t>
            </a:r>
            <a:endParaRPr lang="zh-CN" altLang="en-US" sz="16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xmlns="" id="{5301672F-6BBB-4ABF-88BF-6847668B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10" y="4171957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1200" kern="0" dirty="0">
                <a:latin typeface="微软雅黑" pitchFamily="34" charset="-122"/>
                <a:ea typeface="微软雅黑" pitchFamily="34" charset="-122"/>
              </a:rPr>
              <a:t>事件管理</a:t>
            </a:r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xmlns="" id="{1A930278-8A27-468E-B3B3-9FF7A5534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50" y="2957511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latin typeface="微软雅黑" pitchFamily="34" charset="-122"/>
                <a:ea typeface="微软雅黑" pitchFamily="34" charset="-122"/>
              </a:rPr>
              <a:t>问题管理</a:t>
            </a:r>
          </a:p>
        </p:txBody>
      </p:sp>
      <p:sp>
        <p:nvSpPr>
          <p:cNvPr id="19" name="Rectangle 31">
            <a:extLst>
              <a:ext uri="{FF2B5EF4-FFF2-40B4-BE49-F238E27FC236}">
                <a16:creationId xmlns:a16="http://schemas.microsoft.com/office/drawing/2014/main" xmlns="" id="{83AC5C3D-EF00-404A-9725-4E00EDF6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46" y="3671891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latin typeface="微软雅黑" pitchFamily="34" charset="-122"/>
                <a:ea typeface="微软雅黑" pitchFamily="34" charset="-122"/>
              </a:rPr>
              <a:t>变更管理</a:t>
            </a: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xmlns="" id="{CD3B797F-F0C3-4181-97E7-DB5A1FA30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957643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latin typeface="微软雅黑" pitchFamily="34" charset="-122"/>
                <a:ea typeface="微软雅黑" pitchFamily="34" charset="-122"/>
              </a:rPr>
              <a:t>配置管理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xmlns="" id="{E4E65AA3-69A4-45C1-B12E-0ECEC842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08" y="3571876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latin typeface="微软雅黑" pitchFamily="34" charset="-122"/>
                <a:ea typeface="微软雅黑" pitchFamily="34" charset="-122"/>
              </a:rPr>
              <a:t>任务管理</a:t>
            </a:r>
          </a:p>
        </p:txBody>
      </p:sp>
      <p:sp>
        <p:nvSpPr>
          <p:cNvPr id="23" name="Rectangle 35">
            <a:extLst>
              <a:ext uri="{FF2B5EF4-FFF2-40B4-BE49-F238E27FC236}">
                <a16:creationId xmlns:a16="http://schemas.microsoft.com/office/drawing/2014/main" xmlns="" id="{898EEB66-A6EB-4BB9-BAC6-11165806C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94" y="4814899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latin typeface="微软雅黑" pitchFamily="34" charset="-122"/>
                <a:ea typeface="微软雅黑" pitchFamily="34" charset="-122"/>
              </a:rPr>
              <a:t>知识管理</a:t>
            </a: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xmlns="" id="{96968D10-0453-4E93-A97D-DB310C0C2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2" y="4714884"/>
            <a:ext cx="954107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latin typeface="微软雅黑" pitchFamily="34" charset="-122"/>
                <a:ea typeface="微软雅黑" pitchFamily="34" charset="-122"/>
              </a:rPr>
              <a:t>满意度管理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Rectangle 37">
            <a:extLst>
              <a:ext uri="{FF2B5EF4-FFF2-40B4-BE49-F238E27FC236}">
                <a16:creationId xmlns:a16="http://schemas.microsoft.com/office/drawing/2014/main" xmlns="" id="{95E2B41C-A3E6-479A-8983-5CB20B9C0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6" y="3286124"/>
            <a:ext cx="10985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服务级别管理</a:t>
            </a:r>
          </a:p>
        </p:txBody>
      </p:sp>
      <p:sp>
        <p:nvSpPr>
          <p:cNvPr id="26" name="Rectangle 38">
            <a:extLst>
              <a:ext uri="{FF2B5EF4-FFF2-40B4-BE49-F238E27FC236}">
                <a16:creationId xmlns:a16="http://schemas.microsoft.com/office/drawing/2014/main" xmlns="" id="{7550C637-203E-4192-B795-BF083D11B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6" y="2928934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发布管理</a:t>
            </a:r>
          </a:p>
        </p:txBody>
      </p:sp>
      <p:sp>
        <p:nvSpPr>
          <p:cNvPr id="27" name="Rectangle 39">
            <a:extLst>
              <a:ext uri="{FF2B5EF4-FFF2-40B4-BE49-F238E27FC236}">
                <a16:creationId xmlns:a16="http://schemas.microsoft.com/office/drawing/2014/main" xmlns="" id="{A7679E0D-DE96-4696-B347-9CC63279F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08" y="2428868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监控管理</a:t>
            </a:r>
            <a:endParaRPr lang="zh-CN" altLang="en-US" sz="12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Rectangle 40">
            <a:extLst>
              <a:ext uri="{FF2B5EF4-FFF2-40B4-BE49-F238E27FC236}">
                <a16:creationId xmlns:a16="http://schemas.microsoft.com/office/drawing/2014/main" xmlns="" id="{6BE10235-1EB3-4909-99BB-9615DCA2F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54" y="2000240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机房管理</a:t>
            </a:r>
          </a:p>
        </p:txBody>
      </p:sp>
      <p:sp>
        <p:nvSpPr>
          <p:cNvPr id="29" name="Rectangle 41">
            <a:extLst>
              <a:ext uri="{FF2B5EF4-FFF2-40B4-BE49-F238E27FC236}">
                <a16:creationId xmlns:a16="http://schemas.microsoft.com/office/drawing/2014/main" xmlns="" id="{4A23C797-B134-465B-B477-CB795C7D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58" y="3643314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latin typeface="微软雅黑" pitchFamily="34" charset="-122"/>
                <a:ea typeface="微软雅黑" pitchFamily="34" charset="-122"/>
              </a:rPr>
              <a:t>资产管理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Rectangle 45">
            <a:extLst>
              <a:ext uri="{FF2B5EF4-FFF2-40B4-BE49-F238E27FC236}">
                <a16:creationId xmlns:a16="http://schemas.microsoft.com/office/drawing/2014/main" xmlns="" id="{0E73C6B8-14E1-48E4-B765-D739DD41E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14" y="3814767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报表管理</a:t>
            </a:r>
          </a:p>
        </p:txBody>
      </p:sp>
      <p:sp>
        <p:nvSpPr>
          <p:cNvPr id="33" name="Rectangle 48">
            <a:extLst>
              <a:ext uri="{FF2B5EF4-FFF2-40B4-BE49-F238E27FC236}">
                <a16:creationId xmlns:a16="http://schemas.microsoft.com/office/drawing/2014/main" xmlns="" id="{CCCE738C-2FBC-4192-856C-044EE91F8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22" y="4500570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智能分析</a:t>
            </a:r>
          </a:p>
        </p:txBody>
      </p:sp>
      <p:sp>
        <p:nvSpPr>
          <p:cNvPr id="34" name="Rectangle 49">
            <a:extLst>
              <a:ext uri="{FF2B5EF4-FFF2-40B4-BE49-F238E27FC236}">
                <a16:creationId xmlns:a16="http://schemas.microsoft.com/office/drawing/2014/main" xmlns="" id="{A7099E97-41A8-4A27-B043-88230074C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428" y="4357694"/>
            <a:ext cx="9461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可用性管理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xmlns="" id="{7456A2AC-347C-4471-9A6C-B2C355D6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304" y="3786190"/>
            <a:ext cx="9461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持续性管理</a:t>
            </a:r>
          </a:p>
        </p:txBody>
      </p:sp>
      <p:sp>
        <p:nvSpPr>
          <p:cNvPr id="36" name="Rectangle 51">
            <a:extLst>
              <a:ext uri="{FF2B5EF4-FFF2-40B4-BE49-F238E27FC236}">
                <a16:creationId xmlns:a16="http://schemas.microsoft.com/office/drawing/2014/main" xmlns="" id="{533E64D4-13F6-4699-A0F8-64609506F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62" y="4886337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能力管理</a:t>
            </a:r>
          </a:p>
        </p:txBody>
      </p:sp>
      <p:sp>
        <p:nvSpPr>
          <p:cNvPr id="38" name="Rectangle 53">
            <a:extLst>
              <a:ext uri="{FF2B5EF4-FFF2-40B4-BE49-F238E27FC236}">
                <a16:creationId xmlns:a16="http://schemas.microsoft.com/office/drawing/2014/main" xmlns="" id="{6CA6CD8E-FC45-41F0-B67E-668E71C2C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12" y="2571744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财务管理</a:t>
            </a:r>
          </a:p>
        </p:txBody>
      </p:sp>
      <p:sp>
        <p:nvSpPr>
          <p:cNvPr id="39" name="Rectangle 54">
            <a:extLst>
              <a:ext uri="{FF2B5EF4-FFF2-40B4-BE49-F238E27FC236}">
                <a16:creationId xmlns:a16="http://schemas.microsoft.com/office/drawing/2014/main" xmlns="" id="{3CBFE355-75E9-41D6-9BE9-3A01095F9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68" y="3714752"/>
            <a:ext cx="793750" cy="2571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文档管理</a:t>
            </a:r>
          </a:p>
        </p:txBody>
      </p:sp>
      <p:sp>
        <p:nvSpPr>
          <p:cNvPr id="45" name="Text Box 11">
            <a:extLst>
              <a:ext uri="{FF2B5EF4-FFF2-40B4-BE49-F238E27FC236}">
                <a16:creationId xmlns:a16="http://schemas.microsoft.com/office/drawing/2014/main" xmlns="" id="{F611EB4D-0F55-4945-93B7-2A743B49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71" y="4184457"/>
            <a:ext cx="1008063" cy="3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1600" b="1" kern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一期</a:t>
            </a:r>
            <a:endParaRPr lang="zh-CN" altLang="en-US" sz="16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Text Box 11">
            <a:extLst>
              <a:ext uri="{FF2B5EF4-FFF2-40B4-BE49-F238E27FC236}">
                <a16:creationId xmlns:a16="http://schemas.microsoft.com/office/drawing/2014/main" xmlns="" id="{F611EB4D-0F55-4945-93B7-2A743B49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64" y="2970011"/>
            <a:ext cx="1008063" cy="3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1600" b="1" kern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三期</a:t>
            </a:r>
            <a:endParaRPr lang="zh-CN" altLang="en-US" sz="16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Rectangle 40">
            <a:extLst>
              <a:ext uri="{FF2B5EF4-FFF2-40B4-BE49-F238E27FC236}">
                <a16:creationId xmlns:a16="http://schemas.microsoft.com/office/drawing/2014/main" xmlns="" id="{6BE10235-1EB3-4909-99BB-9615DCA2F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384914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latin typeface="微软雅黑" pitchFamily="34" charset="-122"/>
                <a:ea typeface="微软雅黑" pitchFamily="34" charset="-122"/>
              </a:rPr>
              <a:t>值班管理</a:t>
            </a:r>
            <a:endParaRPr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Rectangle 28">
            <a:extLst>
              <a:ext uri="{FF2B5EF4-FFF2-40B4-BE49-F238E27FC236}">
                <a16:creationId xmlns:a16="http://schemas.microsoft.com/office/drawing/2014/main" xmlns="" id="{5301672F-6BBB-4ABF-88BF-6847668B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56" y="4643446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1200" kern="0" dirty="0" smtClean="0">
                <a:latin typeface="微软雅黑" pitchFamily="34" charset="-122"/>
                <a:ea typeface="微软雅黑" pitchFamily="34" charset="-122"/>
              </a:rPr>
              <a:t>系统管理</a:t>
            </a:r>
            <a:endParaRPr kumimoji="1" lang="zh-CN" altLang="en-US" sz="1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Rectangle 28">
            <a:extLst>
              <a:ext uri="{FF2B5EF4-FFF2-40B4-BE49-F238E27FC236}">
                <a16:creationId xmlns:a16="http://schemas.microsoft.com/office/drawing/2014/main" xmlns="" id="{5301672F-6BBB-4ABF-88BF-6847668B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44" y="2786058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操作审计</a:t>
            </a:r>
            <a:endParaRPr kumimoji="1" lang="zh-CN" altLang="en-US" sz="12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Rectangle 28">
            <a:extLst>
              <a:ext uri="{FF2B5EF4-FFF2-40B4-BE49-F238E27FC236}">
                <a16:creationId xmlns:a16="http://schemas.microsoft.com/office/drawing/2014/main" xmlns="" id="{5301672F-6BBB-4ABF-88BF-6847668B9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56" y="3241906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</a:pPr>
            <a:r>
              <a:rPr kumimoji="1"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公告管</a:t>
            </a:r>
            <a:r>
              <a:rPr kumimoji="1" lang="zh-CN" altLang="en-US" sz="120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理</a:t>
            </a:r>
          </a:p>
        </p:txBody>
      </p:sp>
      <p:sp>
        <p:nvSpPr>
          <p:cNvPr id="55" name="Rectangle 34">
            <a:extLst>
              <a:ext uri="{FF2B5EF4-FFF2-40B4-BE49-F238E27FC236}">
                <a16:creationId xmlns:a16="http://schemas.microsoft.com/office/drawing/2014/main" xmlns="" id="{E4E65AA3-69A4-45C1-B12E-0ECEC842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2" y="2071678"/>
            <a:ext cx="954107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供应商管理</a:t>
            </a:r>
            <a:endParaRPr lang="zh-CN" altLang="en-US" sz="12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Rectangle 49">
            <a:extLst>
              <a:ext uri="{FF2B5EF4-FFF2-40B4-BE49-F238E27FC236}">
                <a16:creationId xmlns:a16="http://schemas.microsoft.com/office/drawing/2014/main" xmlns="" id="{A7099E97-41A8-4A27-B043-88230074C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0" y="5214950"/>
            <a:ext cx="800220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意见反馈</a:t>
            </a:r>
            <a:endParaRPr lang="zh-CN" altLang="en-US" sz="12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Rectangle 50">
            <a:extLst>
              <a:ext uri="{FF2B5EF4-FFF2-40B4-BE49-F238E27FC236}">
                <a16:creationId xmlns:a16="http://schemas.microsoft.com/office/drawing/2014/main" xmlns="" id="{7456A2AC-347C-4471-9A6C-B2C355D66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4" y="5143512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用户投诉</a:t>
            </a:r>
            <a:endParaRPr lang="zh-CN" altLang="en-US" sz="12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Rectangle 51">
            <a:extLst>
              <a:ext uri="{FF2B5EF4-FFF2-40B4-BE49-F238E27FC236}">
                <a16:creationId xmlns:a16="http://schemas.microsoft.com/office/drawing/2014/main" xmlns="" id="{533E64D4-13F6-4699-A0F8-64609506F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74" y="5143512"/>
            <a:ext cx="800219" cy="258532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12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设备维修</a:t>
            </a:r>
            <a:endParaRPr lang="zh-CN" altLang="en-US" sz="120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337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F"/>
                </a:solidFill>
              </a:rPr>
              <a:t>系统整体</a:t>
            </a:r>
            <a:r>
              <a:rPr lang="zh-CN" altLang="en-US" dirty="0" smtClean="0">
                <a:solidFill>
                  <a:srgbClr val="FFFFFF"/>
                </a:solidFill>
              </a:rPr>
              <a:t>规划</a:t>
            </a:r>
            <a:r>
              <a:rPr lang="en-US" altLang="zh-CN" dirty="0" smtClean="0"/>
              <a:t>-</a:t>
            </a:r>
            <a:r>
              <a:rPr lang="zh-CN" altLang="en-US" dirty="0" smtClean="0"/>
              <a:t>后续工作</a:t>
            </a:r>
            <a:endParaRPr lang="zh-CN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500166" y="1142984"/>
            <a:ext cx="62865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近期需要开展工作内容：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项目整体的推进计划制定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服务设计内容的规划确认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 服务目录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 资产与配置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 知识库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服务流程规划确认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）整体流程框架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）核心流程的设计（问题流程、变更流程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配置流程、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······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 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）报表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整体功能规划确认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337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9"/>
          <p:cNvSpPr txBox="1">
            <a:spLocks noChangeArrowheads="1"/>
          </p:cNvSpPr>
          <p:nvPr/>
        </p:nvSpPr>
        <p:spPr bwMode="auto">
          <a:xfrm>
            <a:off x="1997075" y="3141673"/>
            <a:ext cx="5729288" cy="17160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FFFF00"/>
            </a:outerShdw>
          </a:effectLst>
        </p:spPr>
        <p:txBody>
          <a:bodyPr lIns="82550" tIns="41275" rIns="82550" bIns="41275"/>
          <a:lstStyle>
            <a:lvl1pPr defTabSz="677863" eaLnBrk="0" hangingPunct="0"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1pPr>
            <a:lvl2pPr marL="742950" indent="-285750" defTabSz="677863" eaLnBrk="0" hangingPunct="0"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defTabSz="677863" eaLnBrk="0" hangingPunct="0"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defTabSz="677863" eaLnBrk="0" hangingPunct="0"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defTabSz="677863" eaLnBrk="0" hangingPunct="0"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defTabSz="677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defTabSz="677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defTabSz="677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defTabSz="677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333399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6000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</a:rPr>
              <a:t>谢  谢！</a:t>
            </a:r>
            <a:r>
              <a:rPr lang="zh-CN" altLang="en-US" sz="6000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1"/>
  <p:tag name="MH_CONTENTSID" val="4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AUTOCOLOR" val="FALSE"/>
  <p:tag name="MH_TYPE" val="CONTENTS"/>
  <p:tag name="ID" val="5452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AUTOCOLOR" val="FALSE"/>
  <p:tag name="MH_TYPE" val="CONTENTS"/>
  <p:tag name="ID" val="54529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47"/>
  <p:tag name="MH_LIBRARY" val="GRAPHIC"/>
  <p:tag name="MH_TYPE" val="Title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47"/>
  <p:tag name="MH_LIBRARY" val="GRAPHIC"/>
  <p:tag name="MH_TYPE" val="Other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33"/>
  <p:tag name="MH_LIBRARY" val="GRAPHIC"/>
  <p:tag name="MH_TYPE" val="Other"/>
  <p:tag name="MH_ORDER" val="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33"/>
  <p:tag name="MH_LIBRARY" val="GRAPHIC"/>
  <p:tag name="MH_TYPE" val="Other"/>
  <p:tag name="MH_ORDER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33"/>
  <p:tag name="MH_LIBRARY" val="GRAPHIC"/>
  <p:tag name="MH_TYPE" val="Other"/>
  <p:tag name="MH_ORDER" val="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33"/>
  <p:tag name="MH_LIBRARY" val="GRAPHIC"/>
  <p:tag name="MH_TYPE" val="Other"/>
  <p:tag name="MH_ORDER" val="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33"/>
  <p:tag name="MH_LIBRARY" val="GRAPHIC"/>
  <p:tag name="MH_TYPE" val="Other"/>
  <p:tag name="MH_ORDER" val="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8134533"/>
  <p:tag name="MH_LIBRARY" val="GRAPHIC"/>
  <p:tag name="MH_TYPE" val="Other"/>
  <p:tag name="MH_ORDER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AUTOCOLOR" val="FALSE"/>
  <p:tag name="MH_TYPE" val="CONTENTS"/>
  <p:tag name="ID" val="54529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9145044"/>
  <p:tag name="MH_LIBRARY" val="GRAPHIC"/>
  <p:tag name="MH_TYPE" val="Other"/>
  <p:tag name="MH_ORDER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9145044"/>
  <p:tag name="MH_LIBRARY" val="GRAPHIC"/>
  <p:tag name="MH_TYPE" val="Other"/>
  <p:tag name="MH_ORDER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9145044"/>
  <p:tag name="MH_LIBRARY" val="GRAPHIC"/>
  <p:tag name="MH_TYPE" val="SubTitle"/>
  <p:tag name="MH_ORDE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9145044"/>
  <p:tag name="MH_LIBRARY" val="GRAPHIC"/>
  <p:tag name="MH_TYPE" val="Other"/>
  <p:tag name="MH_ORDER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9145044"/>
  <p:tag name="MH_LIBRARY" val="GRAPHIC"/>
  <p:tag name="MH_TYPE" val="Other"/>
  <p:tag name="MH_ORDER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9145044"/>
  <p:tag name="MH_LIBRARY" val="GRAPHIC"/>
  <p:tag name="MH_TYPE" val="SubTitle"/>
  <p:tag name="MH_ORDER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AUTOCOLOR" val="FALSE"/>
  <p:tag name="MH_TYPE" val="CONTENTS"/>
  <p:tag name="ID" val="54529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AUTOCOLOR" val="FALSE"/>
  <p:tag name="MH_TYPE" val="CONTENTS"/>
  <p:tag name="ID" val="54529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NUMBER"/>
  <p:tag name="ID" val="545290"/>
  <p:tag name="MH_ORDER" val="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ENTRY"/>
  <p:tag name="ID" val="545290"/>
  <p:tag name="MH_ORDER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27185251"/>
  <p:tag name="MH_LIBRARY" val="CONTENTS"/>
  <p:tag name="MH_TYPE" val="OTHERS"/>
  <p:tag name="ID" val="54529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5000</TotalTime>
  <Words>3506</Words>
  <Application>Microsoft Office PowerPoint</Application>
  <PresentationFormat>全屏显示(4:3)</PresentationFormat>
  <Paragraphs>927</Paragraphs>
  <Slides>30</Slides>
  <Notes>17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Office 主题</vt:lpstr>
      <vt:lpstr>Visio</vt:lpstr>
      <vt:lpstr>工作表</vt:lpstr>
      <vt:lpstr>VISIO</vt:lpstr>
      <vt:lpstr>ITSM整体规划</vt:lpstr>
      <vt:lpstr>幻灯片 2</vt:lpstr>
      <vt:lpstr>1.1 IT运维管理发展趋势</vt:lpstr>
      <vt:lpstr>1.2 一体化运维管理模式</vt:lpstr>
      <vt:lpstr>幻灯片 5</vt:lpstr>
      <vt:lpstr>运维管理对象&amp;要素</vt:lpstr>
      <vt:lpstr>幻灯片 7</vt:lpstr>
      <vt:lpstr>运维管理体系-运维管理框架</vt:lpstr>
      <vt:lpstr>运维管理体系-运维服务管理方法</vt:lpstr>
      <vt:lpstr>幻灯片 10</vt:lpstr>
      <vt:lpstr>运维业务模型设计-整体业务框架</vt:lpstr>
      <vt:lpstr>运维业务模型设计-配置模型</vt:lpstr>
      <vt:lpstr>运维业务模型设计-服务目录</vt:lpstr>
      <vt:lpstr>运维业务模型设计-知识库</vt:lpstr>
      <vt:lpstr>运维业务模型设计-监控</vt:lpstr>
      <vt:lpstr>运维业务模型设计-统计分析</vt:lpstr>
      <vt:lpstr>运维业务模型设计-核心流程设计-事件管理</vt:lpstr>
      <vt:lpstr>运维业务模型设计-核心流程设计-事件管理</vt:lpstr>
      <vt:lpstr>运维业务模型设计-核心流程设计-问题管理</vt:lpstr>
      <vt:lpstr>运维业务模型设计-核心流程设计-问题管理</vt:lpstr>
      <vt:lpstr>运维业务模型设计-核心流程设计-变更管理</vt:lpstr>
      <vt:lpstr>运维业务模型设计-核心流程设计-变更管理</vt:lpstr>
      <vt:lpstr>运维业务模型设计-核心流程设计-发布管理</vt:lpstr>
      <vt:lpstr>运维业务模型设计-核心流程设计-发布管理</vt:lpstr>
      <vt:lpstr>运维业务模型设计-核心流程设计-配置管理</vt:lpstr>
      <vt:lpstr>幻灯片 26</vt:lpstr>
      <vt:lpstr>系统整体规划-系统构建方法</vt:lpstr>
      <vt:lpstr>系统整体规划-实施策略</vt:lpstr>
      <vt:lpstr>系统整体规划-后续工作</vt:lpstr>
      <vt:lpstr>幻灯片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hhy</cp:lastModifiedBy>
  <cp:revision>1605</cp:revision>
  <dcterms:created xsi:type="dcterms:W3CDTF">2011-05-17T13:02:00Z</dcterms:created>
  <dcterms:modified xsi:type="dcterms:W3CDTF">2017-08-30T04:28:02Z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2052-10.1.0.5745</vt:lpwstr>
  </property>
</Properties>
</file>