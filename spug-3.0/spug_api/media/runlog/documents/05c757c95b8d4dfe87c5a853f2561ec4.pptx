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483870"/>
            <a:ext cx="11353800" cy="5890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 66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D9D9D9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方正公文黑体" panose="02000500000000000000" charset="-122"/>
              <a:ea typeface="方正公文黑体" panose="02000500000000000000" charset="-122"/>
              <a:sym typeface="方正公文黑体" panose="02000500000000000000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-12700" y="-12637"/>
            <a:ext cx="12217400" cy="789305"/>
            <a:chOff x="-12700" y="-12700"/>
            <a:chExt cx="12217400" cy="789305"/>
          </a:xfrm>
        </p:grpSpPr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2192000" cy="763587"/>
            </a:xfrm>
            <a:prstGeom prst="rect">
              <a:avLst/>
            </a:prstGeom>
          </p:spPr>
        </p:pic>
        <p:sp>
          <p:nvSpPr>
            <p:cNvPr id="74" name="textbox 74"/>
            <p:cNvSpPr/>
            <p:nvPr/>
          </p:nvSpPr>
          <p:spPr>
            <a:xfrm>
              <a:off x="-12700" y="-12700"/>
              <a:ext cx="12217400" cy="789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</a:pPr>
              <a:r>
                <a:rPr lang="en-US" altLang="zh-CN" sz="3900" kern="0" spc="-360" dirty="0">
                  <a:solidFill>
                    <a:srgbClr val="FFFFFF">
                      <a:alpha val="100000"/>
                    </a:srgbClr>
                  </a:solidFill>
                  <a:latin typeface="方正公文黑体" panose="02000500000000000000" charset="-122"/>
                  <a:ea typeface="方正公文黑体" panose="02000500000000000000" charset="-122"/>
                  <a:cs typeface="华文新魏" panose="02010800040101010101" charset="-122"/>
                  <a:sym typeface="方正公文黑体" panose="02000500000000000000" charset="-122"/>
                </a:rPr>
                <a:t> </a:t>
              </a:r>
              <a:r>
                <a:rPr lang="zh-CN" altLang="en-US" sz="3900" kern="0" spc="-360" dirty="0">
                  <a:solidFill>
                    <a:srgbClr val="FFFFFF">
                      <a:alpha val="100000"/>
                    </a:srgbClr>
                  </a:solidFill>
                  <a:latin typeface="方正公文黑体" panose="02000500000000000000" charset="-122"/>
                  <a:ea typeface="方正公文黑体" panose="02000500000000000000" charset="-122"/>
                  <a:cs typeface="华文新魏" panose="02010800040101010101" charset="-122"/>
                  <a:sym typeface="方正公文黑体" panose="02000500000000000000" charset="-122"/>
                </a:rPr>
                <a:t>命令操作</a:t>
              </a:r>
              <a:r>
                <a:rPr lang="en-US" altLang="zh-CN" sz="3900" kern="0" spc="-360" dirty="0">
                  <a:solidFill>
                    <a:srgbClr val="FFFFFF">
                      <a:alpha val="100000"/>
                    </a:srgbClr>
                  </a:solidFill>
                  <a:latin typeface="方正公文黑体" panose="02000500000000000000" charset="-122"/>
                  <a:ea typeface="方正公文黑体" panose="02000500000000000000" charset="-122"/>
                  <a:cs typeface="华文新魏" panose="02010800040101010101" charset="-122"/>
                  <a:sym typeface="方正公文黑体" panose="02000500000000000000" charset="-122"/>
                </a:rPr>
                <a:t>-</a:t>
              </a:r>
              <a:r>
                <a:rPr lang="zh-CN" altLang="en-US" sz="3900" kern="0" spc="-360" dirty="0">
                  <a:solidFill>
                    <a:srgbClr val="FFFFFF">
                      <a:alpha val="100000"/>
                    </a:srgbClr>
                  </a:solidFill>
                  <a:latin typeface="方正公文黑体" panose="02000500000000000000" charset="-122"/>
                  <a:ea typeface="方正公文黑体" panose="02000500000000000000" charset="-122"/>
                  <a:cs typeface="华文新魏" panose="02010800040101010101" charset="-122"/>
                  <a:sym typeface="方正公文黑体" panose="02000500000000000000" charset="-122"/>
                </a:rPr>
                <a:t>系统控制</a:t>
              </a:r>
              <a:r>
                <a:rPr sz="3900" kern="0" spc="-20" dirty="0">
                  <a:solidFill>
                    <a:srgbClr val="FFFFFF">
                      <a:alpha val="100000"/>
                    </a:srgbClr>
                  </a:solidFill>
                  <a:latin typeface="方正公文黑体" panose="02000500000000000000" charset="-122"/>
                  <a:ea typeface="方正公文黑体" panose="02000500000000000000" charset="-122"/>
                  <a:cs typeface="华文新魏" panose="02010800040101010101" charset="-122"/>
                  <a:sym typeface="方正公文黑体" panose="02000500000000000000" charset="-122"/>
                </a:rPr>
                <a:t>   </a:t>
              </a:r>
              <a:r>
                <a:rPr sz="3900" kern="0" spc="-30" dirty="0">
                  <a:solidFill>
                    <a:srgbClr val="FFFFFF">
                      <a:alpha val="100000"/>
                    </a:srgbClr>
                  </a:solidFill>
                  <a:latin typeface="方正公文黑体" panose="02000500000000000000" charset="-122"/>
                  <a:ea typeface="方正公文黑体" panose="02000500000000000000" charset="-122"/>
                  <a:cs typeface="华文新魏" panose="02010800040101010101" charset="-122"/>
                  <a:sym typeface="方正公文黑体" panose="02000500000000000000" charset="-122"/>
                </a:rPr>
                <a:t>                  </a:t>
              </a:r>
              <a:endParaRPr sz="3900" kern="0" spc="-30" dirty="0">
                <a:solidFill>
                  <a:srgbClr val="FFFFFF">
                    <a:alpha val="100000"/>
                  </a:srgbClr>
                </a:solidFill>
                <a:latin typeface="方正公文黑体" panose="02000500000000000000" charset="-122"/>
                <a:ea typeface="方正公文黑体" panose="02000500000000000000" charset="-122"/>
                <a:cs typeface="华文新魏" panose="02010800040101010101" charset="-122"/>
                <a:sym typeface="方正公文黑体" panose="02000500000000000000" charset="-122"/>
              </a:endParaRPr>
            </a:p>
          </p:txBody>
        </p:sp>
      </p:grpSp>
      <p:pic>
        <p:nvPicPr>
          <p:cNvPr id="3" name="图片 2" descr="72ba0940-e4a5-49a9-8759-bfe6ef3857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355" y="221615"/>
            <a:ext cx="2911475" cy="3206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08635" y="1042670"/>
            <a:ext cx="5462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常见长报警及其处理办法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826578" y="1750280"/>
          <a:ext cx="7578725" cy="417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3325"/>
                <a:gridCol w="2565400"/>
              </a:tblGrid>
              <a:tr h="3848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报警文字</a:t>
                      </a:r>
                      <a:endParaRPr lang="zh-CN" altLang="en-US" sz="1600" spc="120"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处理办法</a:t>
                      </a:r>
                      <a:endParaRPr lang="zh-CN" altLang="en-US" sz="1600" spc="120"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（主机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备机）进入单机状态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某号处理器故障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处理机主备切换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切换报警板故障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某路收报超时（系统路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</a:rPr>
                        <a:t>重要路）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宋体" panose="02010600030101010101" pitchFamily="2" charset="-122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某路收、发线故障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  <a:sym typeface="+mn-ea"/>
                        </a:rPr>
                        <a:t>（系统路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  <a:sym typeface="+mn-ea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  <a:sym typeface="+mn-ea"/>
                        </a:rPr>
                        <a:t>重要路）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  <a:sym typeface="+mn-ea"/>
                        </a:rPr>
                        <a:t>某路电报中包含特定字符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  <a:sym typeface="+mn-ea"/>
                        </a:rPr>
                        <a:t>（系统路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  <a:sym typeface="+mn-ea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  <a:sym typeface="+mn-ea"/>
                        </a:rPr>
                        <a:t>重要路）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  <a:sym typeface="+mn-ea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  <a:sym typeface="+mn-ea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某路收到一等级电报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某路流水号不顺号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  <a:sym typeface="+mn-ea"/>
                        </a:rPr>
                        <a:t>（系统路</a:t>
                      </a:r>
                      <a:r>
                        <a:rPr lang="en-US" altLang="zh-CN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  <a:sym typeface="+mn-ea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宋体" panose="02010600030101010101" pitchFamily="2" charset="-122"/>
                          <a:sym typeface="+mn-ea"/>
                        </a:rPr>
                        <a:t>重要路）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  <a:tr h="3441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latin typeface="Calibri" panose="020F0502020204030204" charset="0"/>
                          <a:ea typeface="Arial" panose="020B0604020202020204" pitchFamily="34" charset="0"/>
                        </a:rPr>
                        <a:t>某路电路短路</a:t>
                      </a: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400">
                        <a:solidFill>
                          <a:srgbClr val="FF0000"/>
                        </a:solidFill>
                        <a:latin typeface="Calibri" panose="020F0502020204030204" charset="0"/>
                        <a:ea typeface="Arial" panose="020B0604020202020204" pitchFamily="34" charset="0"/>
                      </a:endParaRPr>
                    </a:p>
                  </a:txBody>
                  <a:tcPr marL="254000" marR="254000" marT="25400" marB="2540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WPS 演示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方正公文黑体</vt:lpstr>
      <vt:lpstr>华文新魏</vt:lpstr>
      <vt:lpstr>华文中宋</vt:lpstr>
      <vt:lpstr>Calibri</vt:lpstr>
      <vt:lpstr>微软雅黑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好好</cp:lastModifiedBy>
  <cp:revision>8</cp:revision>
  <dcterms:created xsi:type="dcterms:W3CDTF">2023-08-09T12:44:00Z</dcterms:created>
  <dcterms:modified xsi:type="dcterms:W3CDTF">2026-05-25T14:52:51Z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4A9E5EFFBC6F4AA496B20765F1EC52FD_12</vt:lpwstr>
  </property>
</Properties>
</file>